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(%)</c:v>
                </c:pt>
              </c:strCache>
            </c:strRef>
          </c:tx>
          <c:spPr>
            <a:solidFill>
              <a:srgbClr val="2B7A7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1B222C"/>
                    </a:solidFill>
                    <a:latin typeface="Carlito"/>
                    <a:ea typeface="Carlito"/>
                    <a:cs typeface="Carlito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ΔIV (-5m)</c:v>
                </c:pt>
                <c:pt idx="1">
                  <c:v>Market IV</c:v>
                </c:pt>
                <c:pt idx="2">
                  <c:v>IV Lag 5m</c:v>
                </c:pt>
                <c:pt idx="3">
                  <c:v>Bid-Ask</c:v>
                </c:pt>
                <c:pt idx="4">
                  <c:v>Spot Lag 5m</c:v>
                </c:pt>
                <c:pt idx="5">
                  <c:v>Spread Lag 5m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7.21</c:v>
                </c:pt>
                <c:pt idx="1">
                  <c:v>6.53</c:v>
                </c:pt>
                <c:pt idx="2">
                  <c:v>4.2699999999999996</c:v>
                </c:pt>
                <c:pt idx="3">
                  <c:v>3.52</c:v>
                </c:pt>
                <c:pt idx="4">
                  <c:v>3.39</c:v>
                </c:pt>
                <c:pt idx="5">
                  <c:v>3.36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C72-413A-A996-C6D20A3189A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 b="1">
                <a:solidFill>
                  <a:srgbClr val="1B222C"/>
                </a:solidFill>
                <a:latin typeface="Carlito"/>
                <a:ea typeface="Carlito"/>
                <a:cs typeface="Carlito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8.5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4A5568"/>
                </a:solidFill>
                <a:latin typeface="Carlito"/>
                <a:ea typeface="Carlito"/>
                <a:cs typeface="Carlito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MAE (Lower is Better)</c:v>
                </c:pt>
              </c:strCache>
            </c:strRef>
          </c:tx>
          <c:spPr>
            <a:solidFill>
              <a:srgbClr val="C84B31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1B222C"/>
                    </a:solidFill>
                    <a:latin typeface="Carlito"/>
                    <a:ea typeface="Carlito"/>
                    <a:cs typeface="Carlito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Persistence</c:v>
                </c:pt>
                <c:pt idx="1">
                  <c:v>XGBoost ΔIV</c:v>
                </c:pt>
                <c:pt idx="2">
                  <c:v>Random Forest ΔIV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0.5756</c:v>
                </c:pt>
                <c:pt idx="1">
                  <c:v>0.55500000000000005</c:v>
                </c:pt>
                <c:pt idx="2">
                  <c:v>0.54430000000000001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59D-4B98-BEC8-9A51F2D16A3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 b="1">
                <a:solidFill>
                  <a:srgbClr val="1B222C"/>
                </a:solidFill>
                <a:latin typeface="Carlito"/>
                <a:ea typeface="Carlito"/>
                <a:cs typeface="Carlito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62"/>
          <c:min val="0.5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4A5568"/>
                </a:solidFill>
                <a:latin typeface="Carlito"/>
                <a:ea typeface="Carlito"/>
                <a:cs typeface="Carlito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Option Value (INR)</c:v>
                </c:pt>
              </c:strCache>
            </c:strRef>
          </c:tx>
          <c:spPr>
            <a:solidFill>
              <a:srgbClr val="D98A2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1B222C"/>
                    </a:solidFill>
                    <a:latin typeface="Carlito"/>
                    <a:ea typeface="Carlito"/>
                    <a:cs typeface="Carlito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Base</c:v>
                </c:pt>
                <c:pt idx="1">
                  <c:v>Bull (+1%)</c:v>
                </c:pt>
                <c:pt idx="2">
                  <c:v>Bear (-1%)</c:v>
                </c:pt>
                <c:pt idx="3">
                  <c:v>Fall+Spike</c:v>
                </c:pt>
                <c:pt idx="4">
                  <c:v>Rise+Crash</c:v>
                </c:pt>
                <c:pt idx="5">
                  <c:v>IV Crash</c:v>
                </c:pt>
                <c:pt idx="6">
                  <c:v>IV Spike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85.07</c:v>
                </c:pt>
                <c:pt idx="1">
                  <c:v>245.7</c:v>
                </c:pt>
                <c:pt idx="2">
                  <c:v>21.85</c:v>
                </c:pt>
                <c:pt idx="3">
                  <c:v>4.3899999999999997</c:v>
                </c:pt>
                <c:pt idx="4">
                  <c:v>450.42</c:v>
                </c:pt>
                <c:pt idx="5">
                  <c:v>66.819999999999993</c:v>
                </c:pt>
                <c:pt idx="6">
                  <c:v>103.22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BBB-445A-A54B-859CF6B1BCA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 b="1">
                <a:solidFill>
                  <a:srgbClr val="1B222C"/>
                </a:solidFill>
                <a:latin typeface="Carlito"/>
                <a:ea typeface="Carlito"/>
                <a:cs typeface="Carlito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20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4A5568"/>
                </a:solidFill>
                <a:latin typeface="Carlito"/>
                <a:ea typeface="Carlito"/>
                <a:cs typeface="Carlito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ropped_final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Rounded Rectangle 2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1B222C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D98A2B"/>
                </a:solidFill>
                <a:latin typeface="Carlito"/>
              </a:rPr>
              <a:t>NSE NIFTY 50 OPTIONS  |  QUANTITATIVE DERIVATIVES</a:t>
            </a:r>
          </a:p>
          <a:p>
            <a:pPr algn="l"/>
            <a:r>
              <a:rPr sz="4200" b="1">
                <a:solidFill>
                  <a:srgbClr val="FAF6EE"/>
                </a:solidFill>
                <a:latin typeface="Caladea"/>
              </a:rPr>
              <a:t>ML-Driven ΔIV Forecasting &amp; Option 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>
                <a:solidFill>
                  <a:srgbClr val="E2E8F0"/>
                </a:solidFill>
                <a:latin typeface="Carlito"/>
              </a:rPr>
              <a:t>5-Minute Implied Volatility Change (ΔIV₅ₘ) &amp; Relative Mispricing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492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FAF6EE"/>
                </a:solidFill>
                <a:latin typeface="Caladea"/>
              </a:rPr>
              <a:t>Diviya Sekar
</a:t>
            </a:r>
            <a:r>
              <a:rPr sz="1600" b="1">
                <a:solidFill>
                  <a:srgbClr val="D98A2B"/>
                </a:solidFill>
                <a:latin typeface="Carlito"/>
              </a:rPr>
              <a:t>Department: M.Sc. Quantitative Finance, Pondicherry University  |  Reg. No: 25MSQUFPY0018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ropped_final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6446520" y="457200"/>
            <a:ext cx="5010912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4B31"/>
                </a:solidFill>
                <a:latin typeface="Carlito"/>
              </a:rPr>
              <a:t>1. PROBLEM &amp; CORE ML INNOVATION</a:t>
            </a:r>
          </a:p>
          <a:p>
            <a:pPr algn="l"/>
            <a:r>
              <a:rPr sz="2800" b="1">
                <a:solidFill>
                  <a:srgbClr val="1B222C"/>
                </a:solidFill>
                <a:latin typeface="Caladea"/>
              </a:rPr>
              <a:t>Predicting ΔIV₅ₘ Beats Raw IV Lag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95AA22C-7CE6-8F4B-778D-91192E737B34}"/>
              </a:ext>
            </a:extLst>
          </p:cNvPr>
          <p:cNvSpPr/>
          <p:nvPr/>
        </p:nvSpPr>
        <p:spPr>
          <a:xfrm>
            <a:off x="6400800" y="1965960"/>
            <a:ext cx="5120640" cy="4343400"/>
          </a:xfrm>
          <a:prstGeom prst="roundRect">
            <a:avLst/>
          </a:prstGeom>
          <a:solidFill>
            <a:srgbClr val="F4EFE6"/>
          </a:solidFill>
          <a:ln w="15240">
            <a:solidFill>
              <a:srgbClr val="E2D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6583680" y="2011680"/>
            <a:ext cx="4754880" cy="2677656"/>
          </a:xfrm>
          <a:prstGeom prst="rect">
            <a:avLst/>
          </a:prstGeom>
          <a:noFill/>
        </p:spPr>
        <p:txBody>
          <a:bodyPr wrap="square" lIns="177800" tIns="228600" rIns="17780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2B7A78"/>
                </a:solidFill>
                <a:latin typeface="Caladea"/>
              </a:rPr>
              <a:t>Why Forecasting ΔIV₅ₘ Is Essential</a:t>
            </a:r>
          </a:p>
          <a:p>
            <a:pPr marL="237744" indent="-237744" algn="l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1B222C"/>
                </a:solidFill>
                <a:latin typeface="Carlito"/>
              </a:rPr>
              <a:t>Smile &amp; Skew Reality: </a:t>
            </a:r>
            <a:r>
              <a:rPr sz="1600">
                <a:solidFill>
                  <a:srgbClr val="4A5568"/>
                </a:solidFill>
                <a:latin typeface="Carlito"/>
              </a:rPr>
              <a:t>NIFTY 50 options violate flat-volatility rules across strikes and expiries.</a:t>
            </a:r>
          </a:p>
          <a:p>
            <a:pPr marL="237744" indent="-237744" algn="l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1B222C"/>
                </a:solidFill>
                <a:latin typeface="Carlito"/>
              </a:rPr>
              <a:t>Autocorrelation Trap: </a:t>
            </a:r>
            <a:r>
              <a:rPr sz="1600">
                <a:solidFill>
                  <a:srgbClr val="4A5568"/>
                </a:solidFill>
                <a:latin typeface="Carlito"/>
              </a:rPr>
              <a:t>Predicting raw IVₜ₊₅ₘ mimics a naive persistence lag (IVₜ) without alpha.</a:t>
            </a:r>
          </a:p>
          <a:p>
            <a:pPr marL="237744" indent="-237744" algn="l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1B222C"/>
                </a:solidFill>
                <a:latin typeface="Carlito"/>
              </a:rPr>
              <a:t>ΔIV₅ₘ Target Shift: </a:t>
            </a:r>
            <a:r>
              <a:rPr sz="1600">
                <a:solidFill>
                  <a:srgbClr val="4A5568"/>
                </a:solidFill>
                <a:latin typeface="Carlito"/>
              </a:rPr>
              <a:t>Models predict 5-min change (ΔIV₅ₘ) so IV_pred = IVₜ + ΔIV₅ₘ_pred.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ropped_final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5010912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4B31"/>
                </a:solidFill>
                <a:latin typeface="Carlito"/>
              </a:rPr>
              <a:t>2. INDUSTRY INTERNSHIP &amp; PRACTICAL MOTIVATION</a:t>
            </a:r>
          </a:p>
          <a:p>
            <a:pPr algn="l"/>
            <a:r>
              <a:rPr sz="2800" b="1">
                <a:solidFill>
                  <a:srgbClr val="1B222C"/>
                </a:solidFill>
                <a:latin typeface="Caladea"/>
              </a:rPr>
              <a:t>Internship Context: Options Trading Desk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7E8465-CB26-B3FB-080C-62794867DB41}"/>
              </a:ext>
            </a:extLst>
          </p:cNvPr>
          <p:cNvSpPr/>
          <p:nvPr/>
        </p:nvSpPr>
        <p:spPr>
          <a:xfrm>
            <a:off x="640080" y="1965960"/>
            <a:ext cx="5120640" cy="4343400"/>
          </a:xfrm>
          <a:prstGeom prst="roundRect">
            <a:avLst/>
          </a:prstGeom>
          <a:solidFill>
            <a:srgbClr val="F4EFE6"/>
          </a:solidFill>
          <a:ln w="15240">
            <a:solidFill>
              <a:srgbClr val="E2D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4754880" cy="4380686"/>
          </a:xfrm>
          <a:prstGeom prst="rect">
            <a:avLst/>
          </a:prstGeom>
          <a:noFill/>
        </p:spPr>
        <p:txBody>
          <a:bodyPr wrap="square" lIns="177800" tIns="228600" rIns="17780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C84B31"/>
                </a:solidFill>
                <a:latin typeface="Caladea"/>
              </a:rPr>
              <a:t>Surabhi Investment Services Pvt. Ltd., Trichy</a:t>
            </a:r>
          </a:p>
          <a:p>
            <a:pPr marL="237744" indent="-237744" algn="l">
              <a:spcAft>
                <a:spcPts val="1000"/>
              </a:spcAft>
              <a:buFont typeface="Arial"/>
              <a:buChar char="•"/>
            </a:pPr>
            <a:r>
              <a:rPr sz="1800" b="1">
                <a:solidFill>
                  <a:srgbClr val="1B222C"/>
                </a:solidFill>
                <a:latin typeface="Carlito"/>
              </a:rPr>
              <a:t>Tenure &amp; Domain: </a:t>
            </a:r>
            <a:r>
              <a:rPr sz="1600">
                <a:solidFill>
                  <a:srgbClr val="4A5568"/>
                </a:solidFill>
                <a:latin typeface="Carlito"/>
              </a:rPr>
              <a:t>18 June to 15 August 2026 internship focused on live index option trading.</a:t>
            </a:r>
          </a:p>
          <a:p>
            <a:pPr marL="237744" indent="-237744" algn="l">
              <a:spcAft>
                <a:spcPts val="1000"/>
              </a:spcAft>
              <a:buFont typeface="Arial"/>
              <a:buChar char="•"/>
            </a:pPr>
            <a:r>
              <a:rPr sz="1800" b="1">
                <a:solidFill>
                  <a:srgbClr val="1B222C"/>
                </a:solidFill>
                <a:latin typeface="Carlito"/>
              </a:rPr>
              <a:t>Observable Market Variable: </a:t>
            </a:r>
            <a:r>
              <a:rPr sz="1600">
                <a:solidFill>
                  <a:srgbClr val="4A5568"/>
                </a:solidFill>
                <a:latin typeface="Carlito"/>
              </a:rPr>
              <a:t>Options trading makes implied volatility directly observable and economically vital.</a:t>
            </a:r>
          </a:p>
          <a:p>
            <a:pPr marL="237744" indent="-237744" algn="l">
              <a:spcAft>
                <a:spcPts val="1000"/>
              </a:spcAft>
              <a:buFont typeface="Arial"/>
              <a:buChar char="•"/>
            </a:pPr>
            <a:r>
              <a:rPr sz="1800" b="1">
                <a:solidFill>
                  <a:srgbClr val="1B222C"/>
                </a:solidFill>
                <a:latin typeface="Carlito"/>
              </a:rPr>
              <a:t>Short-Horizon Impact: </a:t>
            </a:r>
            <a:r>
              <a:rPr sz="1600">
                <a:solidFill>
                  <a:srgbClr val="4A5568"/>
                </a:solidFill>
                <a:latin typeface="Carlito"/>
              </a:rPr>
              <a:t>Near-term IV changes drive option premiums, relative value, and risk decisions.</a:t>
            </a:r>
          </a:p>
          <a:p>
            <a:pPr marL="237744" indent="-237744" algn="l">
              <a:spcAft>
                <a:spcPts val="1000"/>
              </a:spcAft>
              <a:buFont typeface="Arial"/>
              <a:buChar char="•"/>
            </a:pPr>
            <a:r>
              <a:rPr sz="1800" b="1">
                <a:solidFill>
                  <a:srgbClr val="1B222C"/>
                </a:solidFill>
                <a:latin typeface="Carlito"/>
              </a:rPr>
              <a:t>Core Practical Question: </a:t>
            </a:r>
            <a:r>
              <a:rPr sz="1600">
                <a:solidFill>
                  <a:srgbClr val="4A5568"/>
                </a:solidFill>
                <a:latin typeface="Carlito"/>
              </a:rPr>
              <a:t>Can near-term 5-minute IV movement be forecast and interpreted in a usable way?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4B31"/>
                </a:solidFill>
                <a:latin typeface="Carlito"/>
              </a:rPr>
              <a:t>3. PYTHON CODEBASE ARCHITECTURE (.PY FILES)</a:t>
            </a:r>
          </a:p>
          <a:p>
            <a:pPr algn="l"/>
            <a:r>
              <a:rPr sz="3200" b="1">
                <a:solidFill>
                  <a:srgbClr val="1B222C"/>
                </a:solidFill>
                <a:latin typeface="Caladea"/>
              </a:rPr>
              <a:t>Three Core Python Scripts Power the Live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3931920"/>
          </a:xfrm>
          <a:prstGeom prst="roundRect">
            <a:avLst>
              <a:gd name="adj" fmla="val 6000"/>
            </a:avLst>
          </a:prstGeom>
          <a:solidFill>
            <a:srgbClr val="F4EFE6"/>
          </a:solidFill>
          <a:ln w="12700">
            <a:solidFill>
              <a:srgbClr val="E2D9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3931920"/>
          </a:xfrm>
          <a:prstGeom prst="roundRect">
            <a:avLst>
              <a:gd name="adj" fmla="val 6000"/>
            </a:avLst>
          </a:prstGeom>
          <a:solidFill>
            <a:srgbClr val="F4EFE6"/>
          </a:solidFill>
          <a:ln w="12700">
            <a:solidFill>
              <a:srgbClr val="E2D9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3931920"/>
          </a:xfrm>
          <a:prstGeom prst="roundRect">
            <a:avLst>
              <a:gd name="adj" fmla="val 6000"/>
            </a:avLst>
          </a:prstGeom>
          <a:solidFill>
            <a:srgbClr val="F4EFE6"/>
          </a:solidFill>
          <a:ln w="12700">
            <a:solidFill>
              <a:srgbClr val="E2D9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582D4B-4382-BF15-37D2-448D838CA65B}"/>
              </a:ext>
            </a:extLst>
          </p:cNvPr>
          <p:cNvSpPr/>
          <p:nvPr/>
        </p:nvSpPr>
        <p:spPr>
          <a:xfrm>
            <a:off x="731520" y="2011680"/>
            <a:ext cx="3291840" cy="82296"/>
          </a:xfrm>
          <a:prstGeom prst="rect">
            <a:avLst/>
          </a:prstGeom>
          <a:solidFill>
            <a:srgbClr val="C84B31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3DB041-62C5-19DA-C2F3-E04CFD25BD43}"/>
              </a:ext>
            </a:extLst>
          </p:cNvPr>
          <p:cNvSpPr/>
          <p:nvPr/>
        </p:nvSpPr>
        <p:spPr>
          <a:xfrm>
            <a:off x="4434840" y="2011680"/>
            <a:ext cx="3291840" cy="82296"/>
          </a:xfrm>
          <a:prstGeom prst="rect">
            <a:avLst/>
          </a:prstGeom>
          <a:solidFill>
            <a:srgbClr val="2B7A78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CFBAF4-6360-DAE3-2D9B-3C403BF9DC2F}"/>
              </a:ext>
            </a:extLst>
          </p:cNvPr>
          <p:cNvSpPr/>
          <p:nvPr/>
        </p:nvSpPr>
        <p:spPr>
          <a:xfrm>
            <a:off x="8138160" y="2011680"/>
            <a:ext cx="3291840" cy="82296"/>
          </a:xfrm>
          <a:prstGeom prst="rect">
            <a:avLst/>
          </a:prstGeom>
          <a:solidFill>
            <a:srgbClr val="D98A2B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4663440" y="2240280"/>
            <a:ext cx="2834640" cy="21852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2B7A78"/>
                </a:solidFill>
                <a:latin typeface="Caladea"/>
              </a:rPr>
              <a:t>2. Live Daemon</a:t>
            </a:r>
          </a:p>
          <a:p>
            <a:pPr marL="237744" indent="-237744" algn="l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1B222C"/>
                </a:solidFill>
                <a:latin typeface="Carlito"/>
              </a:rPr>
              <a:t>live_iv_predictor: </a:t>
            </a:r>
            <a:r>
              <a:rPr sz="1600">
                <a:solidFill>
                  <a:srgbClr val="4A5568"/>
                </a:solidFill>
                <a:latin typeface="Carlito"/>
              </a:rPr>
              <a:t>Computes exact TTE, BSM IV, and 5-min lags.</a:t>
            </a:r>
          </a:p>
          <a:p>
            <a:pPr marL="237744" indent="-237744" algn="l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1B222C"/>
                </a:solidFill>
                <a:latin typeface="Carlito"/>
              </a:rPr>
              <a:t>Signal Logger: </a:t>
            </a:r>
            <a:r>
              <a:rPr sz="1600">
                <a:solidFill>
                  <a:srgbClr val="4A5568"/>
                </a:solidFill>
                <a:latin typeface="Carlito"/>
              </a:rPr>
              <a:t>Runs Random Forest and writes data/live/*.csv.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2834640" cy="21852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C84B31"/>
                </a:solidFill>
                <a:latin typeface="Caladea"/>
              </a:rPr>
              <a:t>1. API Connector</a:t>
            </a:r>
          </a:p>
          <a:p>
            <a:pPr marL="237744" indent="-237744" algn="l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1B222C"/>
                </a:solidFill>
                <a:latin typeface="Carlito"/>
              </a:rPr>
              <a:t>connect to api.py: </a:t>
            </a:r>
            <a:r>
              <a:rPr sz="1600">
                <a:solidFill>
                  <a:srgbClr val="4A5568"/>
                </a:solidFill>
                <a:latin typeface="Carlito"/>
              </a:rPr>
              <a:t>Queries /v2/option/chain for NSE_INDEX|Nifty 50.</a:t>
            </a:r>
          </a:p>
          <a:p>
            <a:pPr marL="237744" indent="-237744" algn="l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1B222C"/>
                </a:solidFill>
                <a:latin typeface="Carlito"/>
              </a:rPr>
              <a:t>Auth &amp; Payload: </a:t>
            </a:r>
            <a:r>
              <a:rPr sz="1600">
                <a:solidFill>
                  <a:srgbClr val="4A5568"/>
                </a:solidFill>
                <a:latin typeface="Carlito"/>
              </a:rPr>
              <a:t>Loads UPSTOX_ACCESS_TOKEN from .env for quotes.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240280"/>
            <a:ext cx="2834640" cy="21852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D98A2B"/>
                </a:solidFill>
                <a:latin typeface="Caladea"/>
              </a:rPr>
              <a:t>3. Streamlit App</a:t>
            </a:r>
          </a:p>
          <a:p>
            <a:pPr marL="237744" indent="-237744" algn="l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1B222C"/>
                </a:solidFill>
                <a:latin typeface="Carlito"/>
              </a:rPr>
              <a:t>dashboard.py UI: </a:t>
            </a:r>
            <a:r>
              <a:rPr sz="1600">
                <a:solidFill>
                  <a:srgbClr val="4A5568"/>
                </a:solidFill>
                <a:latin typeface="Carlito"/>
              </a:rPr>
              <a:t>7-tab institutional app for chain and SHAP.</a:t>
            </a:r>
          </a:p>
          <a:p>
            <a:pPr marL="237744" indent="-237744" algn="l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1B222C"/>
                </a:solidFill>
                <a:latin typeface="Carlito"/>
              </a:rPr>
              <a:t>Stress Sliders: </a:t>
            </a:r>
            <a:r>
              <a:rPr sz="1600">
                <a:solidFill>
                  <a:srgbClr val="4A5568"/>
                </a:solidFill>
                <a:latin typeface="Carlito"/>
              </a:rPr>
              <a:t>Simulates ±1–2% spot and ±10–20% IV shocks.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3931920"/>
          </a:xfrm>
          <a:prstGeom prst="roundRect">
            <a:avLst>
              <a:gd name="adj" fmla="val 6000"/>
            </a:avLst>
          </a:prstGeom>
          <a:solidFill>
            <a:srgbClr val="F4EFE6"/>
          </a:solidFill>
          <a:ln w="12700">
            <a:solidFill>
              <a:srgbClr val="E2D9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3931920"/>
          </a:xfrm>
          <a:prstGeom prst="roundRect">
            <a:avLst>
              <a:gd name="adj" fmla="val 6000"/>
            </a:avLst>
          </a:prstGeom>
          <a:solidFill>
            <a:srgbClr val="F4EFE6"/>
          </a:solidFill>
          <a:ln w="12700">
            <a:solidFill>
              <a:srgbClr val="E2D9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3931920"/>
          </a:xfrm>
          <a:prstGeom prst="roundRect">
            <a:avLst>
              <a:gd name="adj" fmla="val 6000"/>
            </a:avLst>
          </a:prstGeom>
          <a:solidFill>
            <a:srgbClr val="F4EFE6"/>
          </a:solidFill>
          <a:ln w="12700">
            <a:solidFill>
              <a:srgbClr val="E2D9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51CAE6-80BE-D0A2-BF91-9B5DBDC61AC1}"/>
              </a:ext>
            </a:extLst>
          </p:cNvPr>
          <p:cNvSpPr/>
          <p:nvPr/>
        </p:nvSpPr>
        <p:spPr>
          <a:xfrm>
            <a:off x="731520" y="2011680"/>
            <a:ext cx="3291840" cy="82296"/>
          </a:xfrm>
          <a:prstGeom prst="rect">
            <a:avLst/>
          </a:prstGeom>
          <a:solidFill>
            <a:srgbClr val="C84B31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2FCFDC-AA00-A4AF-9BA9-4D72427AB989}"/>
              </a:ext>
            </a:extLst>
          </p:cNvPr>
          <p:cNvSpPr/>
          <p:nvPr/>
        </p:nvSpPr>
        <p:spPr>
          <a:xfrm>
            <a:off x="4434840" y="2011680"/>
            <a:ext cx="3291840" cy="82296"/>
          </a:xfrm>
          <a:prstGeom prst="rect">
            <a:avLst/>
          </a:prstGeom>
          <a:solidFill>
            <a:srgbClr val="2B7A78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4A0E4B-C940-A640-CA8B-3DE06C2F86BB}"/>
              </a:ext>
            </a:extLst>
          </p:cNvPr>
          <p:cNvSpPr/>
          <p:nvPr/>
        </p:nvSpPr>
        <p:spPr>
          <a:xfrm>
            <a:off x="8138160" y="2011680"/>
            <a:ext cx="3291840" cy="82296"/>
          </a:xfrm>
          <a:prstGeom prst="rect">
            <a:avLst/>
          </a:prstGeom>
          <a:solidFill>
            <a:srgbClr val="D98A2B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2834640" cy="21852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C84B31"/>
                </a:solidFill>
                <a:latin typeface="Caladea"/>
              </a:rPr>
              <a:t>Trained Models</a:t>
            </a:r>
          </a:p>
          <a:p>
            <a:pPr marL="237744" indent="-237744" algn="l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1B222C"/>
                </a:solidFill>
                <a:latin typeface="Carlito"/>
              </a:rPr>
              <a:t>RF Regressor: </a:t>
            </a:r>
            <a:r>
              <a:rPr sz="1600">
                <a:solidFill>
                  <a:srgbClr val="4A5568"/>
                </a:solidFill>
                <a:latin typeface="Carlito"/>
              </a:rPr>
              <a:t>Saved Random Forest model predicts 5-min ΔIV.</a:t>
            </a:r>
          </a:p>
          <a:p>
            <a:pPr marL="237744" indent="-237744" algn="l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1B222C"/>
                </a:solidFill>
                <a:latin typeface="Carlito"/>
              </a:rPr>
              <a:t>Feature Medians: </a:t>
            </a:r>
            <a:r>
              <a:rPr sz="1600">
                <a:solidFill>
                  <a:srgbClr val="4A5568"/>
                </a:solidFill>
                <a:latin typeface="Carlito"/>
              </a:rPr>
              <a:t>Precomputed training medians impute live inputs.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240280"/>
            <a:ext cx="2834640" cy="21852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D98A2B"/>
                </a:solidFill>
                <a:latin typeface="Caladea"/>
              </a:rPr>
              <a:t>int project.ipynb</a:t>
            </a:r>
          </a:p>
          <a:p>
            <a:pPr marL="237744" indent="-237744" algn="l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1B222C"/>
                </a:solidFill>
                <a:latin typeface="Carlito"/>
              </a:rPr>
              <a:t>Training Pipeline: </a:t>
            </a:r>
            <a:r>
              <a:rPr sz="1600">
                <a:solidFill>
                  <a:srgbClr val="4A5568"/>
                </a:solidFill>
                <a:latin typeface="Carlito"/>
              </a:rPr>
              <a:t>Cleans 19 Oct option chains and builds exact TTE.</a:t>
            </a:r>
          </a:p>
          <a:p>
            <a:pPr marL="237744" indent="-237744" algn="l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1B222C"/>
                </a:solidFill>
                <a:latin typeface="Carlito"/>
              </a:rPr>
              <a:t>8 Research Plots: </a:t>
            </a:r>
            <a:r>
              <a:rPr sz="1600">
                <a:solidFill>
                  <a:srgbClr val="4A5568"/>
                </a:solidFill>
                <a:latin typeface="Carlito"/>
              </a:rPr>
              <a:t>Exports publication figures to final_charts/.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240280"/>
            <a:ext cx="2834640" cy="21852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2B7A78"/>
                </a:solidFill>
                <a:latin typeface="Caladea"/>
              </a:rPr>
              <a:t>Processed CSVs</a:t>
            </a:r>
          </a:p>
          <a:p>
            <a:pPr marL="237744" indent="-237744" algn="l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1B222C"/>
                </a:solidFill>
                <a:latin typeface="Carlito"/>
              </a:rPr>
              <a:t>Eval &amp; Signals: </a:t>
            </a:r>
            <a:r>
              <a:rPr sz="1600">
                <a:solidFill>
                  <a:srgbClr val="4A5568"/>
                </a:solidFill>
                <a:latin typeface="Carlito"/>
              </a:rPr>
              <a:t>Stores model benchmarks and 984 option signals.</a:t>
            </a:r>
          </a:p>
          <a:p>
            <a:pPr marL="237744" indent="-237744" algn="l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1B222C"/>
                </a:solidFill>
                <a:latin typeface="Carlito"/>
              </a:rPr>
              <a:t>Stress &amp; Lags: </a:t>
            </a:r>
            <a:r>
              <a:rPr sz="1600">
                <a:solidFill>
                  <a:srgbClr val="4A5568"/>
                </a:solidFill>
                <a:latin typeface="Carlito"/>
              </a:rPr>
              <a:t>Combines 7 stress scenarios and 5-min rankings.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>
                <a:solidFill>
                  <a:srgbClr val="C84B31"/>
                </a:solidFill>
                <a:latin typeface="Carlito"/>
              </a:rPr>
              <a:t>4. SUPPORTING REPOSITORY FILES &amp; DATA ARTIFACTS</a:t>
            </a:r>
          </a:p>
          <a:p>
            <a:pPr algn="l">
              <a:spcAft>
                <a:spcPts val="1200"/>
              </a:spcAft>
            </a:pPr>
            <a:r>
              <a:rPr sz="3200" b="1">
                <a:solidFill>
                  <a:srgbClr val="1B222C"/>
                </a:solidFill>
                <a:latin typeface="Caladea"/>
              </a:rPr>
              <a:t>Trained ML Models, Processed CSVs, and Notebooks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ropped_final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5010912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4B31"/>
                </a:solidFill>
                <a:latin typeface="Carlito"/>
              </a:rPr>
              <a:t>5. MATHEMATICAL FORMULATION &amp; MINUTE-EXACT TTE</a:t>
            </a:r>
          </a:p>
          <a:p>
            <a:pPr algn="l"/>
            <a:r>
              <a:rPr sz="2800" b="1">
                <a:solidFill>
                  <a:srgbClr val="1B222C"/>
                </a:solidFill>
                <a:latin typeface="Caladea"/>
              </a:rPr>
              <a:t>How Minute-Exact TTE Tracks Intraday Decay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6B0344-27A5-E950-C57E-8D0756861525}"/>
              </a:ext>
            </a:extLst>
          </p:cNvPr>
          <p:cNvSpPr/>
          <p:nvPr/>
        </p:nvSpPr>
        <p:spPr>
          <a:xfrm>
            <a:off x="640080" y="1965960"/>
            <a:ext cx="5120640" cy="4343400"/>
          </a:xfrm>
          <a:prstGeom prst="roundRect">
            <a:avLst/>
          </a:prstGeom>
          <a:solidFill>
            <a:srgbClr val="F4EFE6"/>
          </a:solidFill>
          <a:ln w="15240">
            <a:solidFill>
              <a:srgbClr val="E2D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4754880" cy="3754874"/>
          </a:xfrm>
          <a:prstGeom prst="rect">
            <a:avLst/>
          </a:prstGeom>
          <a:noFill/>
        </p:spPr>
        <p:txBody>
          <a:bodyPr wrap="square" lIns="177800" tIns="228600" rIns="17780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C84B31"/>
                </a:solidFill>
                <a:latin typeface="Caladea"/>
              </a:rPr>
              <a:t>What Is Minute-Exact TTE (Time-to-Expiry)?</a:t>
            </a:r>
          </a:p>
          <a:p>
            <a:pPr marL="237744" indent="-237744" algn="l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1B222C"/>
                </a:solidFill>
                <a:latin typeface="Carlito"/>
              </a:rPr>
              <a:t>Exact Minute Formula: </a:t>
            </a:r>
            <a:r>
              <a:rPr sz="1600">
                <a:solidFill>
                  <a:srgbClr val="4A5568"/>
                </a:solidFill>
                <a:latin typeface="Carlito"/>
              </a:rPr>
              <a:t>TTE = Remaining_Minutes / (365 × 1440 = 525,600 mins) until 15:30 IST expiry.</a:t>
            </a:r>
          </a:p>
          <a:p>
            <a:pPr marL="237744" indent="-237744" algn="l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1B222C"/>
                </a:solidFill>
                <a:latin typeface="Carlito"/>
              </a:rPr>
              <a:t>Fixes Daily Step Error: </a:t>
            </a:r>
            <a:r>
              <a:rPr sz="1600">
                <a:solidFill>
                  <a:srgbClr val="4A5568"/>
                </a:solidFill>
                <a:latin typeface="Carlito"/>
              </a:rPr>
              <a:t>Whole-day TTE treats 9:15 AM and 3:15 PM identically; minute TTE tracks true Θ burn.</a:t>
            </a:r>
          </a:p>
          <a:p>
            <a:pPr marL="237744" indent="-237744" algn="l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1B222C"/>
                </a:solidFill>
                <a:latin typeface="Carlito"/>
              </a:rPr>
              <a:t>BSM &amp; ΔIV₅ₘ Forecast: </a:t>
            </a:r>
            <a:r>
              <a:rPr sz="1600">
                <a:solidFill>
                  <a:srgbClr val="4A5568"/>
                </a:solidFill>
                <a:latin typeface="Carlito"/>
              </a:rPr>
              <a:t>Inverts BSM via Newton-Raphson for IVₜ, then reconstructs IV_pred = IVₜ + ΔIV₅ₘ.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4B31"/>
                </a:solidFill>
                <a:latin typeface="Carlito"/>
              </a:rPr>
              <a:t>6. 5-MINUTE MICROSTRUCTURE FEATURE IMPORTANCE</a:t>
            </a:r>
          </a:p>
          <a:p>
            <a:pPr algn="l"/>
            <a:r>
              <a:rPr sz="3200" b="1">
                <a:solidFill>
                  <a:srgbClr val="1B222C"/>
                </a:solidFill>
                <a:latin typeface="Caladea"/>
              </a:rPr>
              <a:t>5-Minute IV Change Leads All Engineered Features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2057400"/>
          <a:ext cx="5303520" cy="39776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0C2E27A-0369-95F3-794E-8ECC80C60787}"/>
              </a:ext>
            </a:extLst>
          </p:cNvPr>
          <p:cNvSpPr/>
          <p:nvPr/>
        </p:nvSpPr>
        <p:spPr>
          <a:xfrm>
            <a:off x="6126480" y="1965960"/>
            <a:ext cx="5349240" cy="4343400"/>
          </a:xfrm>
          <a:prstGeom prst="roundRect">
            <a:avLst/>
          </a:prstGeom>
          <a:solidFill>
            <a:srgbClr val="F4EFE6"/>
          </a:solidFill>
          <a:ln w="15240">
            <a:solidFill>
              <a:srgbClr val="E2D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6309360" y="2011680"/>
            <a:ext cx="4983480" cy="3416320"/>
          </a:xfrm>
          <a:prstGeom prst="rect">
            <a:avLst/>
          </a:prstGeom>
          <a:noFill/>
        </p:spPr>
        <p:txBody>
          <a:bodyPr wrap="square" lIns="177800" tIns="228600" rIns="17780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2B7A78"/>
                </a:solidFill>
                <a:latin typeface="Caladea"/>
              </a:rPr>
              <a:t>5-Minute Horizon Feature Engineering</a:t>
            </a:r>
          </a:p>
          <a:p>
            <a:pPr marL="237744" indent="-237744" algn="l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1B222C"/>
                </a:solidFill>
                <a:latin typeface="Carlito"/>
              </a:rPr>
              <a:t>5-Min IV Momentum: </a:t>
            </a:r>
            <a:r>
              <a:rPr sz="1600">
                <a:solidFill>
                  <a:srgbClr val="4A5568"/>
                </a:solidFill>
                <a:latin typeface="Carlito"/>
              </a:rPr>
              <a:t>IV_change_prev_5m (7.21%), current Market IV (6.53%), and IV_lag_5m (4.27%) lead.</a:t>
            </a:r>
          </a:p>
          <a:p>
            <a:pPr marL="237744" indent="-237744" algn="l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1B222C"/>
                </a:solidFill>
                <a:latin typeface="Carlito"/>
              </a:rPr>
              <a:t>Spread Microstructure: </a:t>
            </a:r>
            <a:r>
              <a:rPr sz="1600">
                <a:solidFill>
                  <a:srgbClr val="4A5568"/>
                </a:solidFill>
                <a:latin typeface="Carlito"/>
              </a:rPr>
              <a:t>bid_ask_spread (3.52%), bid_ask_spread_lag_5m (3.36%), Bid (3.28%), Ask, Volume, and OI.</a:t>
            </a:r>
          </a:p>
          <a:p>
            <a:pPr marL="237744" indent="-237744" algn="l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1B222C"/>
                </a:solidFill>
                <a:latin typeface="Carlito"/>
              </a:rPr>
              <a:t>5-Min Spot &amp; Moneyness: </a:t>
            </a:r>
            <a:r>
              <a:rPr sz="1600">
                <a:solidFill>
                  <a:srgbClr val="4A5568"/>
                </a:solidFill>
                <a:latin typeface="Carlito"/>
              </a:rPr>
              <a:t>spot_lag_5m (3.39%), spot (3.25%), spot_change_prev_5m, strike moneyness, and exact TTE.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ropped_final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6446520" y="457200"/>
            <a:ext cx="5010912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4B31"/>
                </a:solidFill>
                <a:latin typeface="Carlito"/>
              </a:rPr>
              <a:t>7. MACHINE LEARNING ALGORITHMS</a:t>
            </a:r>
          </a:p>
          <a:p>
            <a:pPr algn="l"/>
            <a:r>
              <a:rPr sz="2800" b="1">
                <a:solidFill>
                  <a:srgbClr val="1B222C"/>
                </a:solidFill>
                <a:latin typeface="Caladea"/>
              </a:rPr>
              <a:t>Tree Ensembles Learn ΔIV₅ₘ Dynamics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2232686-CDE6-F332-224C-947C5298315A}"/>
              </a:ext>
            </a:extLst>
          </p:cNvPr>
          <p:cNvSpPr/>
          <p:nvPr/>
        </p:nvSpPr>
        <p:spPr>
          <a:xfrm>
            <a:off x="6400800" y="1965960"/>
            <a:ext cx="5120640" cy="4343400"/>
          </a:xfrm>
          <a:prstGeom prst="roundRect">
            <a:avLst/>
          </a:prstGeom>
          <a:solidFill>
            <a:srgbClr val="F4EFE6"/>
          </a:solidFill>
          <a:ln w="15240">
            <a:solidFill>
              <a:srgbClr val="E2D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6583680" y="2011680"/>
            <a:ext cx="4754880" cy="2923877"/>
          </a:xfrm>
          <a:prstGeom prst="rect">
            <a:avLst/>
          </a:prstGeom>
          <a:noFill/>
        </p:spPr>
        <p:txBody>
          <a:bodyPr wrap="square" lIns="177800" tIns="228600" rIns="17780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C84B31"/>
                </a:solidFill>
                <a:latin typeface="Caladea"/>
              </a:rPr>
              <a:t>How the Three Core Models Operate</a:t>
            </a:r>
          </a:p>
          <a:p>
            <a:pPr marL="237744" indent="-237744" algn="l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1B222C"/>
                </a:solidFill>
                <a:latin typeface="Carlito"/>
              </a:rPr>
              <a:t>Random Forest ΔIV: </a:t>
            </a:r>
            <a:r>
              <a:rPr sz="1600">
                <a:solidFill>
                  <a:srgbClr val="4A5568"/>
                </a:solidFill>
                <a:latin typeface="Carlito"/>
              </a:rPr>
              <a:t>Bagged decision trees split on 5-min lag and spread features to cut variance.</a:t>
            </a:r>
          </a:p>
          <a:p>
            <a:pPr marL="237744" indent="-237744" algn="l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1B222C"/>
                </a:solidFill>
                <a:latin typeface="Carlito"/>
              </a:rPr>
              <a:t>XGBoost ΔIV: </a:t>
            </a:r>
            <a:r>
              <a:rPr sz="1600">
                <a:solidFill>
                  <a:srgbClr val="4A5568"/>
                </a:solidFill>
                <a:latin typeface="Carlito"/>
              </a:rPr>
              <a:t>Sequential gradient-boosted trees fit second-order Taylor loss residuals.</a:t>
            </a:r>
          </a:p>
          <a:p>
            <a:pPr marL="237744" indent="-237744" algn="l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1B222C"/>
                </a:solidFill>
                <a:latin typeface="Carlito"/>
              </a:rPr>
              <a:t>Persistence &amp; Linear: </a:t>
            </a:r>
            <a:r>
              <a:rPr sz="1600">
                <a:solidFill>
                  <a:srgbClr val="4A5568"/>
                </a:solidFill>
                <a:latin typeface="Carlito"/>
              </a:rPr>
              <a:t>Benchmarked against Persistence (ΔIV=0), Linear Regression, and Direction Models.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4B31"/>
                </a:solidFill>
                <a:latin typeface="Carlito"/>
              </a:rPr>
              <a:t>8. EMPIRICAL MODEL BENCHMARK (MODEL_PERFORMANCE_SUMMARY.CSV)</a:t>
            </a:r>
          </a:p>
          <a:p>
            <a:pPr algn="l"/>
            <a:r>
              <a:rPr sz="3200" b="1">
                <a:solidFill>
                  <a:srgbClr val="1B222C"/>
                </a:solidFill>
                <a:latin typeface="Caladea"/>
              </a:rPr>
              <a:t>Random Forest ΔIV Beats Persistence (0.5443 vs 0.5756 MAE)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2057400"/>
          <a:ext cx="5029200" cy="39776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626572"/>
              </p:ext>
            </p:extLst>
          </p:nvPr>
        </p:nvGraphicFramePr>
        <p:xfrm>
          <a:off x="6080760" y="2240280"/>
          <a:ext cx="5349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AF6EE"/>
                          </a:solidFill>
                          <a:latin typeface="Caladea"/>
                        </a:rPr>
                        <a:t>Model</a:t>
                      </a:r>
                    </a:p>
                  </a:txBody>
                  <a:tcPr anchor="ctr">
                    <a:solidFill>
                      <a:srgbClr val="1B22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AF6EE"/>
                          </a:solidFill>
                          <a:latin typeface="Caladea"/>
                        </a:rPr>
                        <a:t>MAE</a:t>
                      </a:r>
                    </a:p>
                  </a:txBody>
                  <a:tcPr anchor="ctr">
                    <a:solidFill>
                      <a:srgbClr val="1B22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AF6EE"/>
                          </a:solidFill>
                          <a:latin typeface="Caladea"/>
                        </a:rPr>
                        <a:t>RMSE</a:t>
                      </a:r>
                    </a:p>
                  </a:txBody>
                  <a:tcPr anchor="ctr">
                    <a:solidFill>
                      <a:srgbClr val="1B22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AF6EE"/>
                          </a:solidFill>
                          <a:latin typeface="Caladea"/>
                        </a:rPr>
                        <a:t>MAE Gain</a:t>
                      </a:r>
                    </a:p>
                  </a:txBody>
                  <a:tcPr anchor="ctr">
                    <a:solidFill>
                      <a:srgbClr val="1B2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84B31"/>
                          </a:solidFill>
                          <a:latin typeface="Carlito"/>
                        </a:rPr>
                        <a:t>Random Forest ΔIV</a:t>
                      </a:r>
                    </a:p>
                  </a:txBody>
                  <a:tcPr anchor="ctr">
                    <a:solidFill>
                      <a:srgbClr val="F1E8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C84B31"/>
                          </a:solidFill>
                          <a:latin typeface="Carlito"/>
                        </a:rPr>
                        <a:t>0.5443</a:t>
                      </a:r>
                    </a:p>
                  </a:txBody>
                  <a:tcPr anchor="ctr">
                    <a:solidFill>
                      <a:srgbClr val="F1E8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C84B31"/>
                          </a:solidFill>
                          <a:latin typeface="Carlito"/>
                        </a:rPr>
                        <a:t>1.2921</a:t>
                      </a:r>
                    </a:p>
                  </a:txBody>
                  <a:tcPr anchor="ctr">
                    <a:solidFill>
                      <a:srgbClr val="F1E8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C84B31"/>
                          </a:solidFill>
                          <a:latin typeface="Carlito"/>
                        </a:rPr>
                        <a:t>−5.44% (Best)</a:t>
                      </a:r>
                    </a:p>
                  </a:txBody>
                  <a:tcPr anchor="ctr">
                    <a:solidFill>
                      <a:srgbClr val="F1E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22C"/>
                          </a:solidFill>
                          <a:latin typeface="Carlito"/>
                        </a:rPr>
                        <a:t>XGBoost ΔIV</a:t>
                      </a:r>
                    </a:p>
                  </a:txBody>
                  <a:tcPr anchor="ctr"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22C"/>
                          </a:solidFill>
                          <a:latin typeface="Carlito"/>
                        </a:rPr>
                        <a:t>0.5550</a:t>
                      </a:r>
                    </a:p>
                  </a:txBody>
                  <a:tcPr anchor="ctr"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22C"/>
                          </a:solidFill>
                          <a:latin typeface="Carlito"/>
                        </a:rPr>
                        <a:t>1.2919</a:t>
                      </a:r>
                    </a:p>
                  </a:txBody>
                  <a:tcPr anchor="ctr"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22C"/>
                          </a:solidFill>
                          <a:latin typeface="Carlito"/>
                        </a:rPr>
                        <a:t>−3.57%</a:t>
                      </a:r>
                    </a:p>
                  </a:txBody>
                  <a:tcPr anchor="ctr">
                    <a:solidFill>
                      <a:srgbClr val="FA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22C"/>
                          </a:solidFill>
                          <a:latin typeface="Carlito"/>
                        </a:rPr>
                        <a:t>Persistence Baseline</a:t>
                      </a:r>
                    </a:p>
                  </a:txBody>
                  <a:tcPr anchor="ctr">
                    <a:solidFill>
                      <a:srgbClr val="E6DC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22C"/>
                          </a:solidFill>
                          <a:latin typeface="Carlito"/>
                        </a:rPr>
                        <a:t>0.5756</a:t>
                      </a:r>
                    </a:p>
                  </a:txBody>
                  <a:tcPr anchor="ctr">
                    <a:solidFill>
                      <a:srgbClr val="E6DC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22C"/>
                          </a:solidFill>
                          <a:latin typeface="Carlito"/>
                        </a:rPr>
                        <a:t>1.3834</a:t>
                      </a:r>
                    </a:p>
                  </a:txBody>
                  <a:tcPr anchor="ctr">
                    <a:solidFill>
                      <a:srgbClr val="E6DC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22C"/>
                          </a:solidFill>
                          <a:latin typeface="Carlito"/>
                        </a:rPr>
                        <a:t>Baseline</a:t>
                      </a:r>
                    </a:p>
                  </a:txBody>
                  <a:tcPr anchor="ctr">
                    <a:solidFill>
                      <a:srgbClr val="E6DC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ropped_fina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5010912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4B31"/>
                </a:solidFill>
                <a:latin typeface="Carlito"/>
              </a:rPr>
              <a:t>9. RELATIVE OPTION VALUATION (984 SNAPSHOT RECORDS)</a:t>
            </a:r>
          </a:p>
          <a:p>
            <a:pPr algn="l"/>
            <a:r>
              <a:rPr sz="2800" b="1">
                <a:solidFill>
                  <a:srgbClr val="1B222C"/>
                </a:solidFill>
                <a:latin typeface="Caladea"/>
              </a:rPr>
              <a:t>±0.10 Spread Flags Vol Arbitrage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BF18BCA-DCA5-490C-1220-E47DDCAF79E3}"/>
              </a:ext>
            </a:extLst>
          </p:cNvPr>
          <p:cNvSpPr/>
          <p:nvPr/>
        </p:nvSpPr>
        <p:spPr>
          <a:xfrm>
            <a:off x="640080" y="1965960"/>
            <a:ext cx="5120640" cy="4343400"/>
          </a:xfrm>
          <a:prstGeom prst="roundRect">
            <a:avLst/>
          </a:prstGeom>
          <a:solidFill>
            <a:srgbClr val="F4EFE6"/>
          </a:solidFill>
          <a:ln w="15240">
            <a:solidFill>
              <a:srgbClr val="E2D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4754880" cy="3170099"/>
          </a:xfrm>
          <a:prstGeom prst="rect">
            <a:avLst/>
          </a:prstGeom>
          <a:noFill/>
        </p:spPr>
        <p:txBody>
          <a:bodyPr wrap="square" lIns="177800" tIns="228600" rIns="17780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C84B31"/>
                </a:solidFill>
                <a:latin typeface="Caladea"/>
              </a:rPr>
              <a:t>Signal Rules (Threshold = 0.10)</a:t>
            </a:r>
          </a:p>
          <a:p>
            <a:pPr marL="237744" indent="-237744" algn="l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1B222C"/>
                </a:solidFill>
                <a:latin typeface="Carlito"/>
              </a:rPr>
              <a:t>IV Spread Formula: </a:t>
            </a:r>
            <a:r>
              <a:rPr sz="1600">
                <a:solidFill>
                  <a:srgbClr val="4A5568"/>
                </a:solidFill>
                <a:latin typeface="Carlito"/>
              </a:rPr>
              <a:t>IV_diff = IV_market − IV_pred compares live market IV against 5-min ML forecast.</a:t>
            </a:r>
          </a:p>
          <a:p>
            <a:pPr marL="237744" indent="-237744" algn="l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1B222C"/>
                </a:solidFill>
                <a:latin typeface="Carlito"/>
              </a:rPr>
              <a:t>Overvalued (&gt; +0.10): </a:t>
            </a:r>
            <a:r>
              <a:rPr sz="1600">
                <a:solidFill>
                  <a:srgbClr val="4A5568"/>
                </a:solidFill>
                <a:latin typeface="Carlito"/>
              </a:rPr>
              <a:t>IV_market &gt; IV_pred + 0.10 flags rich options to Sell / Write Volatility.</a:t>
            </a:r>
          </a:p>
          <a:p>
            <a:pPr marL="237744" indent="-237744" algn="l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1B222C"/>
                </a:solidFill>
                <a:latin typeface="Carlito"/>
              </a:rPr>
              <a:t>Undervalued (&lt; −0.10): </a:t>
            </a:r>
            <a:r>
              <a:rPr sz="1600">
                <a:solidFill>
                  <a:srgbClr val="4A5568"/>
                </a:solidFill>
                <a:latin typeface="Carlito"/>
              </a:rPr>
              <a:t>IV_market &lt; IV_pred − 0.10 flags cheap options to Buy Volatility (±0.10 Fair).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4B31"/>
                </a:solidFill>
                <a:latin typeface="Carlito"/>
              </a:rPr>
              <a:t>10. SCENARIO ENGINE (STRESS_TEST_COMBINED_SCENARIOS.CSV)</a:t>
            </a:r>
          </a:p>
          <a:p>
            <a:pPr algn="l"/>
            <a:r>
              <a:rPr sz="3200" b="1">
                <a:solidFill>
                  <a:srgbClr val="1B222C"/>
                </a:solidFill>
                <a:latin typeface="Caladea"/>
              </a:rPr>
              <a:t>Multi-Factor Stress Tests Quantify Spot, IV, and Theta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2057400"/>
          <a:ext cx="4846320" cy="39776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432914"/>
              </p:ext>
            </p:extLst>
          </p:nvPr>
        </p:nvGraphicFramePr>
        <p:xfrm>
          <a:off x="5669280" y="2029968"/>
          <a:ext cx="585216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AF6EE"/>
                          </a:solidFill>
                          <a:latin typeface="Caladea"/>
                        </a:rPr>
                        <a:t>Scenario</a:t>
                      </a:r>
                    </a:p>
                  </a:txBody>
                  <a:tcPr anchor="ctr">
                    <a:solidFill>
                      <a:srgbClr val="1B22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AF6EE"/>
                          </a:solidFill>
                          <a:latin typeface="Caladea"/>
                        </a:rPr>
                        <a:t>Spot</a:t>
                      </a:r>
                    </a:p>
                  </a:txBody>
                  <a:tcPr anchor="ctr">
                    <a:solidFill>
                      <a:srgbClr val="1B22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AF6EE"/>
                          </a:solidFill>
                          <a:latin typeface="Caladea"/>
                        </a:rPr>
                        <a:t>IV (%)</a:t>
                      </a:r>
                    </a:p>
                  </a:txBody>
                  <a:tcPr anchor="ctr">
                    <a:solidFill>
                      <a:srgbClr val="1B22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AF6EE"/>
                          </a:solidFill>
                          <a:latin typeface="Caladea"/>
                        </a:rPr>
                        <a:t>Value (Δ%)</a:t>
                      </a:r>
                    </a:p>
                  </a:txBody>
                  <a:tcPr anchor="ctr">
                    <a:solidFill>
                      <a:srgbClr val="1B2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22C"/>
                          </a:solidFill>
                          <a:latin typeface="Carlito"/>
                        </a:rPr>
                        <a:t>Base Case</a:t>
                      </a:r>
                    </a:p>
                  </a:txBody>
                  <a:tcPr anchor="ctr">
                    <a:solidFill>
                      <a:srgbClr val="E6DC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22C"/>
                          </a:solidFill>
                          <a:latin typeface="Carlito"/>
                        </a:rPr>
                        <a:t>23,125.65</a:t>
                      </a:r>
                    </a:p>
                  </a:txBody>
                  <a:tcPr anchor="ctr">
                    <a:solidFill>
                      <a:srgbClr val="E6DC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22C"/>
                          </a:solidFill>
                          <a:latin typeface="Carlito"/>
                        </a:rPr>
                        <a:t>10.71%</a:t>
                      </a:r>
                    </a:p>
                  </a:txBody>
                  <a:tcPr anchor="ctr">
                    <a:solidFill>
                      <a:srgbClr val="E6DC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22C"/>
                          </a:solidFill>
                          <a:latin typeface="Carlito"/>
                        </a:rPr>
                        <a:t>85.07 (0.0%)</a:t>
                      </a:r>
                    </a:p>
                  </a:txBody>
                  <a:tcPr anchor="ctr">
                    <a:solidFill>
                      <a:srgbClr val="E6DC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22C"/>
                          </a:solidFill>
                          <a:latin typeface="Carlito"/>
                        </a:rPr>
                        <a:t>Moderate Bullish</a:t>
                      </a:r>
                    </a:p>
                  </a:txBody>
                  <a:tcPr anchor="ctr">
                    <a:solidFill>
                      <a:srgbClr val="F1E8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22C"/>
                          </a:solidFill>
                          <a:latin typeface="Carlito"/>
                        </a:rPr>
                        <a:t>23,356.91</a:t>
                      </a:r>
                    </a:p>
                  </a:txBody>
                  <a:tcPr anchor="ctr">
                    <a:solidFill>
                      <a:srgbClr val="F1E8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22C"/>
                          </a:solidFill>
                          <a:latin typeface="Carlito"/>
                        </a:rPr>
                        <a:t>11.78%</a:t>
                      </a:r>
                    </a:p>
                  </a:txBody>
                  <a:tcPr anchor="ctr">
                    <a:solidFill>
                      <a:srgbClr val="F1E8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22C"/>
                          </a:solidFill>
                          <a:latin typeface="Carlito"/>
                        </a:rPr>
                        <a:t>245.70 (+188.8%)</a:t>
                      </a:r>
                    </a:p>
                  </a:txBody>
                  <a:tcPr anchor="ctr">
                    <a:solidFill>
                      <a:srgbClr val="F1E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22C"/>
                          </a:solidFill>
                          <a:latin typeface="Carlito"/>
                        </a:rPr>
                        <a:t>Moderate Bearish</a:t>
                      </a:r>
                    </a:p>
                  </a:txBody>
                  <a:tcPr anchor="ctr">
                    <a:solidFill>
                      <a:srgbClr val="E6DC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22C"/>
                          </a:solidFill>
                          <a:latin typeface="Carlito"/>
                        </a:rPr>
                        <a:t>22,894.39</a:t>
                      </a:r>
                    </a:p>
                  </a:txBody>
                  <a:tcPr anchor="ctr">
                    <a:solidFill>
                      <a:srgbClr val="E6DC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22C"/>
                          </a:solidFill>
                          <a:latin typeface="Carlito"/>
                        </a:rPr>
                        <a:t>11.78%</a:t>
                      </a:r>
                    </a:p>
                  </a:txBody>
                  <a:tcPr anchor="ctr">
                    <a:solidFill>
                      <a:srgbClr val="E6DC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22C"/>
                          </a:solidFill>
                          <a:latin typeface="Carlito"/>
                        </a:rPr>
                        <a:t>21.85 (−74.3%)</a:t>
                      </a:r>
                    </a:p>
                  </a:txBody>
                  <a:tcPr anchor="ctr">
                    <a:solidFill>
                      <a:srgbClr val="E6DC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22C"/>
                          </a:solidFill>
                          <a:latin typeface="Carlito"/>
                        </a:rPr>
                        <a:t>Spot Fall + IV Spike</a:t>
                      </a:r>
                    </a:p>
                  </a:txBody>
                  <a:tcPr anchor="ctr"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22C"/>
                          </a:solidFill>
                          <a:latin typeface="Carlito"/>
                        </a:rPr>
                        <a:t>22,663.14</a:t>
                      </a:r>
                    </a:p>
                  </a:txBody>
                  <a:tcPr anchor="ctr"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22C"/>
                          </a:solidFill>
                          <a:latin typeface="Carlito"/>
                        </a:rPr>
                        <a:t>12.85%</a:t>
                      </a:r>
                    </a:p>
                  </a:txBody>
                  <a:tcPr anchor="ctr"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22C"/>
                          </a:solidFill>
                          <a:latin typeface="Carlito"/>
                        </a:rPr>
                        <a:t>4.39 (−94.8%)</a:t>
                      </a:r>
                    </a:p>
                  </a:txBody>
                  <a:tcPr anchor="ctr">
                    <a:solidFill>
                      <a:srgbClr val="FA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22C"/>
                          </a:solidFill>
                          <a:latin typeface="Carlito"/>
                        </a:rPr>
                        <a:t>Spot Rise + IV Crash</a:t>
                      </a:r>
                    </a:p>
                  </a:txBody>
                  <a:tcPr anchor="ctr">
                    <a:solidFill>
                      <a:srgbClr val="F1E8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22C"/>
                          </a:solidFill>
                          <a:latin typeface="Carlito"/>
                        </a:rPr>
                        <a:t>23,588.16</a:t>
                      </a:r>
                    </a:p>
                  </a:txBody>
                  <a:tcPr anchor="ctr">
                    <a:solidFill>
                      <a:srgbClr val="F1E8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22C"/>
                          </a:solidFill>
                          <a:latin typeface="Carlito"/>
                        </a:rPr>
                        <a:t>8.57%</a:t>
                      </a:r>
                    </a:p>
                  </a:txBody>
                  <a:tcPr anchor="ctr">
                    <a:solidFill>
                      <a:srgbClr val="F1E8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22C"/>
                          </a:solidFill>
                          <a:latin typeface="Carlito"/>
                        </a:rPr>
                        <a:t>450.42 (+429.5%)</a:t>
                      </a:r>
                    </a:p>
                  </a:txBody>
                  <a:tcPr anchor="ctr">
                    <a:solidFill>
                      <a:srgbClr val="F1E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22C"/>
                          </a:solidFill>
                          <a:latin typeface="Carlito"/>
                        </a:rPr>
                        <a:t>IV Crash Only (−20%)</a:t>
                      </a:r>
                    </a:p>
                  </a:txBody>
                  <a:tcPr anchor="ctr"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22C"/>
                          </a:solidFill>
                          <a:latin typeface="Carlito"/>
                        </a:rPr>
                        <a:t>23,125.65</a:t>
                      </a:r>
                    </a:p>
                  </a:txBody>
                  <a:tcPr anchor="ctr"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22C"/>
                          </a:solidFill>
                          <a:latin typeface="Carlito"/>
                        </a:rPr>
                        <a:t>8.57%</a:t>
                      </a:r>
                    </a:p>
                  </a:txBody>
                  <a:tcPr anchor="ctr"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22C"/>
                          </a:solidFill>
                          <a:latin typeface="Carlito"/>
                        </a:rPr>
                        <a:t>66.82 (−21.5%)</a:t>
                      </a:r>
                    </a:p>
                  </a:txBody>
                  <a:tcPr anchor="ctr">
                    <a:solidFill>
                      <a:srgbClr val="FA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22C"/>
                          </a:solidFill>
                          <a:latin typeface="Carlito"/>
                        </a:rPr>
                        <a:t>IV Spike Only (+20%)</a:t>
                      </a:r>
                    </a:p>
                  </a:txBody>
                  <a:tcPr anchor="ctr">
                    <a:solidFill>
                      <a:srgbClr val="E6DC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22C"/>
                          </a:solidFill>
                          <a:latin typeface="Carlito"/>
                        </a:rPr>
                        <a:t>23,125.65</a:t>
                      </a:r>
                    </a:p>
                  </a:txBody>
                  <a:tcPr anchor="ctr">
                    <a:solidFill>
                      <a:srgbClr val="E6DC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22C"/>
                          </a:solidFill>
                          <a:latin typeface="Carlito"/>
                        </a:rPr>
                        <a:t>12.85%</a:t>
                      </a:r>
                    </a:p>
                  </a:txBody>
                  <a:tcPr anchor="ctr">
                    <a:solidFill>
                      <a:srgbClr val="E6DC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22C"/>
                          </a:solidFill>
                          <a:latin typeface="Carlito"/>
                        </a:rPr>
                        <a:t>103.22 (+21.3%)</a:t>
                      </a:r>
                    </a:p>
                  </a:txBody>
                  <a:tcPr anchor="ctr">
                    <a:solidFill>
                      <a:srgbClr val="E6DC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4B31"/>
                </a:solidFill>
                <a:latin typeface="Carlito"/>
              </a:rPr>
              <a:t>11. INTERACTIVE WEB APPLICATION (STREAMLIT DASHBOARD.PY)</a:t>
            </a:r>
          </a:p>
          <a:p>
            <a:pPr algn="l"/>
            <a:r>
              <a:rPr sz="3200" b="1">
                <a:solidFill>
                  <a:srgbClr val="1B222C"/>
                </a:solidFill>
                <a:latin typeface="Caladea"/>
              </a:rPr>
              <a:t>Redesigned 7-Tab Institutional Streamlit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3931920"/>
          </a:xfrm>
          <a:prstGeom prst="roundRect">
            <a:avLst>
              <a:gd name="adj" fmla="val 6000"/>
            </a:avLst>
          </a:prstGeom>
          <a:solidFill>
            <a:srgbClr val="F4EFE6"/>
          </a:solidFill>
          <a:ln w="12700">
            <a:solidFill>
              <a:srgbClr val="E2D9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3931920"/>
          </a:xfrm>
          <a:prstGeom prst="roundRect">
            <a:avLst>
              <a:gd name="adj" fmla="val 6000"/>
            </a:avLst>
          </a:prstGeom>
          <a:solidFill>
            <a:srgbClr val="F4EFE6"/>
          </a:solidFill>
          <a:ln w="12700">
            <a:solidFill>
              <a:srgbClr val="E2D9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3931920"/>
          </a:xfrm>
          <a:prstGeom prst="roundRect">
            <a:avLst>
              <a:gd name="adj" fmla="val 6000"/>
            </a:avLst>
          </a:prstGeom>
          <a:solidFill>
            <a:srgbClr val="F4EFE6"/>
          </a:solidFill>
          <a:ln w="12700">
            <a:solidFill>
              <a:srgbClr val="E2D9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DF4166-28D3-841B-204F-93BF4FC674E0}"/>
              </a:ext>
            </a:extLst>
          </p:cNvPr>
          <p:cNvSpPr/>
          <p:nvPr/>
        </p:nvSpPr>
        <p:spPr>
          <a:xfrm>
            <a:off x="731520" y="2011680"/>
            <a:ext cx="3291840" cy="82296"/>
          </a:xfrm>
          <a:prstGeom prst="rect">
            <a:avLst/>
          </a:prstGeom>
          <a:solidFill>
            <a:srgbClr val="C84B31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7C1CC9-8DE5-89BC-5702-FBD92C7D3045}"/>
              </a:ext>
            </a:extLst>
          </p:cNvPr>
          <p:cNvSpPr/>
          <p:nvPr/>
        </p:nvSpPr>
        <p:spPr>
          <a:xfrm>
            <a:off x="4434840" y="2011680"/>
            <a:ext cx="3291840" cy="82296"/>
          </a:xfrm>
          <a:prstGeom prst="rect">
            <a:avLst/>
          </a:prstGeom>
          <a:solidFill>
            <a:srgbClr val="2B7A78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5E2362-0E6A-9EED-FEAC-BF1A56E2DD72}"/>
              </a:ext>
            </a:extLst>
          </p:cNvPr>
          <p:cNvSpPr/>
          <p:nvPr/>
        </p:nvSpPr>
        <p:spPr>
          <a:xfrm>
            <a:off x="8138160" y="2011680"/>
            <a:ext cx="3291840" cy="82296"/>
          </a:xfrm>
          <a:prstGeom prst="rect">
            <a:avLst/>
          </a:prstGeom>
          <a:solidFill>
            <a:srgbClr val="D98A2B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4663440" y="2240280"/>
            <a:ext cx="2834640" cy="2431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2B7A78"/>
                </a:solidFill>
                <a:latin typeface="Caladea"/>
              </a:rPr>
              <a:t>Tabs 3–5: Pricing</a:t>
            </a:r>
          </a:p>
          <a:p>
            <a:pPr marL="237744" indent="-237744" algn="l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1B222C"/>
                </a:solidFill>
                <a:latin typeface="Carlito"/>
              </a:rPr>
              <a:t>3–4. Benchmarks: </a:t>
            </a:r>
            <a:r>
              <a:rPr sz="1600">
                <a:solidFill>
                  <a:srgbClr val="4A5568"/>
                </a:solidFill>
                <a:latin typeface="Carlito"/>
              </a:rPr>
              <a:t>Plots MAE/RMSE and Over/Undervalued distributions.</a:t>
            </a:r>
          </a:p>
          <a:p>
            <a:pPr marL="237744" indent="-237744" algn="l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1B222C"/>
                </a:solidFill>
                <a:latin typeface="Carlito"/>
              </a:rPr>
              <a:t>5. Stress Sliders: </a:t>
            </a:r>
            <a:r>
              <a:rPr sz="1600">
                <a:solidFill>
                  <a:srgbClr val="4A5568"/>
                </a:solidFill>
                <a:latin typeface="Carlito"/>
              </a:rPr>
              <a:t>Simulates ±1–2% spot, ±10–20% IV, and theta burn.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2834640" cy="21852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C84B31"/>
                </a:solidFill>
                <a:latin typeface="Caladea"/>
              </a:rPr>
              <a:t>Tabs 1–2: Live</a:t>
            </a:r>
          </a:p>
          <a:p>
            <a:pPr marL="237744" indent="-237744" algn="l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1B222C"/>
                </a:solidFill>
                <a:latin typeface="Carlito"/>
              </a:rPr>
              <a:t>1. Exec Summary: </a:t>
            </a:r>
            <a:r>
              <a:rPr sz="1600">
                <a:solidFill>
                  <a:srgbClr val="4A5568"/>
                </a:solidFill>
                <a:latin typeface="Carlito"/>
              </a:rPr>
              <a:t>Displays KPI cards, model wins, and system status.</a:t>
            </a:r>
          </a:p>
          <a:p>
            <a:pPr marL="237744" indent="-237744" algn="l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1B222C"/>
                </a:solidFill>
                <a:latin typeface="Carlito"/>
              </a:rPr>
              <a:t>2. Live Predictor: </a:t>
            </a:r>
            <a:r>
              <a:rPr sz="1600">
                <a:solidFill>
                  <a:srgbClr val="4A5568"/>
                </a:solidFill>
                <a:latin typeface="Carlito"/>
              </a:rPr>
              <a:t>Streams NIFTY chain with IV_pred and ±0.10 tags.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240280"/>
            <a:ext cx="2834640" cy="21852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D98A2B"/>
                </a:solidFill>
                <a:latin typeface="Caladea"/>
              </a:rPr>
              <a:t>Tabs 6–7: SHAP</a:t>
            </a:r>
          </a:p>
          <a:p>
            <a:pPr marL="237744" indent="-237744" algn="l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1B222C"/>
                </a:solidFill>
                <a:latin typeface="Carlito"/>
              </a:rPr>
              <a:t>6. Feature &amp; SHAP: </a:t>
            </a:r>
            <a:r>
              <a:rPr sz="1600">
                <a:solidFill>
                  <a:srgbClr val="4A5568"/>
                </a:solidFill>
                <a:latin typeface="Carlito"/>
              </a:rPr>
              <a:t>Visualizes 5-min feature rankings and lag drivers.</a:t>
            </a:r>
          </a:p>
          <a:p>
            <a:pPr marL="237744" indent="-237744" algn="l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1B222C"/>
                </a:solidFill>
                <a:latin typeface="Carlito"/>
              </a:rPr>
              <a:t>7. API Monitor: </a:t>
            </a:r>
            <a:r>
              <a:rPr sz="1600">
                <a:solidFill>
                  <a:srgbClr val="4A5568"/>
                </a:solidFill>
                <a:latin typeface="Carlito"/>
              </a:rPr>
              <a:t>Tracks Upstox API v2 latency and snapshot logs.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ropped_final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Rounded Rectangle 2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1B222C">
              <a:alpha val="7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D98A2B"/>
                </a:solidFill>
                <a:latin typeface="Carlito"/>
              </a:rPr>
              <a:t>CLOSING TAKEAWAY</a:t>
            </a:r>
          </a:p>
          <a:p>
            <a:pPr algn="l"/>
            <a:r>
              <a:rPr sz="3800" b="1">
                <a:solidFill>
                  <a:srgbClr val="FAF6EE"/>
                </a:solidFill>
                <a:latin typeface="Caladea"/>
              </a:rPr>
              <a:t>Forecasting ΔIV₅ₘ Powers Actionable NIFTY 50 Volatility Arbitrage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>
                <a:solidFill>
                  <a:srgbClr val="E2E8F0"/>
                </a:solidFill>
                <a:latin typeface="Carlito"/>
              </a:rPr>
              <a:t>Thank You — Questions &amp; Class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1108</Words>
  <Application>Microsoft Office PowerPoint</Application>
  <PresentationFormat>Widescreen</PresentationFormat>
  <Paragraphs>129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Caladea</vt:lpstr>
      <vt:lpstr>Carlito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Diviya Chandrasekaran</cp:lastModifiedBy>
  <cp:revision>2</cp:revision>
  <dcterms:created xsi:type="dcterms:W3CDTF">2013-01-27T09:14:16Z</dcterms:created>
  <dcterms:modified xsi:type="dcterms:W3CDTF">2026-10-26T20:22:36Z</dcterms:modified>
  <cp:category/>
</cp:coreProperties>
</file>