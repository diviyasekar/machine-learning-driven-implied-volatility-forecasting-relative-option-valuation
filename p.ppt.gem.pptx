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MAE (IV pts)</c:v>
                </c:pt>
              </c:strCache>
            </c:strRef>
          </c:tx>
          <c:spPr>
            <a:solidFill>
              <a:srgbClr val="00B4D8"/>
            </a:solidFill>
          </c:spPr>
          <c:dLbls>
            <c:numFmt formatCode="0.0000" sourceLinked="0"/>
            <c:txPr>
              <a:bodyPr/>
              <a:lstStyle/>
              <a:p>
                <a:pPr>
                  <a:defRPr sz="1000" b="1">
                    <a:solidFill>
                      <a:srgbClr val="F8FAFC"/>
                    </a:solidFill>
                    <a:latin typeface="Inter"/>
                  </a:defRPr>
                </a:pPr>
              </a:p>
            </c:txPr>
            <c:dLblPos val="outEnd"/>
            <c:showLegendKey val="0"/>
            <c:showVal val="0"/>
            <c:showCatName val="0"/>
            <c:showSerName val="0"/>
            <c:showPercent val="0"/>
            <c:showBubbleSize val="0"/>
            <c:showLeaderLines val="1"/>
          </c:dLbls>
          <c:cat>
            <c:strRef>
              <c:f>Sheet1!$A$2:$A$4</c:f>
              <c:strCache>
                <c:ptCount val="3"/>
                <c:pt idx="0">
                  <c:v>Persistence Baseline</c:v>
                </c:pt>
                <c:pt idx="1">
                  <c:v>Random Forest + Lag</c:v>
                </c:pt>
                <c:pt idx="2">
                  <c:v>XGBoost + Lag</c:v>
                </c:pt>
              </c:strCache>
            </c:strRef>
          </c:cat>
          <c:val>
            <c:numRef>
              <c:f>Sheet1!$B$2:$B$4</c:f>
              <c:numCache>
                <c:formatCode>General</c:formatCode>
                <c:ptCount val="3"/>
                <c:pt idx="0">
                  <c:v>0.5505</c:v>
                </c:pt>
                <c:pt idx="1">
                  <c:v>0.5214</c:v>
                </c:pt>
                <c:pt idx="2">
                  <c:v>0.553</c:v>
                </c:pt>
              </c:numCache>
            </c:numRef>
          </c:val>
        </c:ser>
        <c:ser>
          <c:idx val="1"/>
          <c:order val="1"/>
          <c:tx>
            <c:strRef>
              <c:f>Sheet1!$C$1</c:f>
              <c:strCache>
                <c:ptCount val="1"/>
                <c:pt idx="0">
                  <c:v>RMSE (IV pts)</c:v>
                </c:pt>
              </c:strCache>
            </c:strRef>
          </c:tx>
          <c:spPr>
            <a:solidFill>
              <a:srgbClr val="2DD4BF"/>
            </a:solidFill>
          </c:spPr>
          <c:dLbls>
            <c:numFmt formatCode="0.0000" sourceLinked="0"/>
            <c:txPr>
              <a:bodyPr/>
              <a:lstStyle/>
              <a:p>
                <a:pPr>
                  <a:defRPr sz="1000" b="1">
                    <a:solidFill>
                      <a:srgbClr val="F8FAFC"/>
                    </a:solidFill>
                    <a:latin typeface="Inter"/>
                  </a:defRPr>
                </a:pPr>
              </a:p>
            </c:txPr>
            <c:dLblPos val="outEnd"/>
            <c:showLegendKey val="0"/>
            <c:showVal val="0"/>
            <c:showCatName val="0"/>
            <c:showSerName val="0"/>
            <c:showPercent val="0"/>
            <c:showBubbleSize val="0"/>
            <c:showLeaderLines val="1"/>
          </c:dLbls>
          <c:cat>
            <c:strRef>
              <c:f>Sheet1!$A$2:$A$4</c:f>
              <c:strCache>
                <c:ptCount val="3"/>
                <c:pt idx="0">
                  <c:v>Persistence Baseline</c:v>
                </c:pt>
                <c:pt idx="1">
                  <c:v>Random Forest + Lag</c:v>
                </c:pt>
                <c:pt idx="2">
                  <c:v>XGBoost + Lag</c:v>
                </c:pt>
              </c:strCache>
            </c:strRef>
          </c:cat>
          <c:val>
            <c:numRef>
              <c:f>Sheet1!$C$2:$C$4</c:f>
              <c:numCache>
                <c:formatCode>General</c:formatCode>
                <c:ptCount val="3"/>
                <c:pt idx="0">
                  <c:v>1.3207</c:v>
                </c:pt>
                <c:pt idx="1">
                  <c:v>1.2188</c:v>
                </c:pt>
                <c:pt idx="2">
                  <c:v>1.2964</c:v>
                </c:pt>
              </c:numCache>
            </c:numRef>
          </c:val>
        </c:ser>
        <c:dLbls>
          <c:showLegendKey val="0"/>
          <c:showVal val="1"/>
          <c:showCatName val="0"/>
          <c:showSerName val="0"/>
          <c:showPercent val="0"/>
          <c:showBubbleSize val="0"/>
          <c:showLeaderLines val="1"/>
        </c:dLbls>
        <c:gapWidth val="120"/>
        <c:axId val="-2068027336"/>
        <c:axId val="-2113994440"/>
      </c:barChart>
      <c:catAx>
        <c:axId val="-2068027336"/>
        <c:scaling>
          <c:orientation val="minMax"/>
        </c:scaling>
        <c:delete val="0"/>
        <c:axPos val="b"/>
        <c:majorTickMark val="out"/>
        <c:minorTickMark val="none"/>
        <c:tickLblPos val="nextTo"/>
        <c:txPr>
          <a:bodyPr/>
          <a:lstStyle/>
          <a:p>
            <a:pPr>
              <a:defRPr sz="1050" b="1">
                <a:solidFill>
                  <a:srgbClr val="F8FAFC"/>
                </a:solidFill>
                <a:latin typeface="Inter"/>
              </a:defRPr>
            </a:pPr>
          </a:p>
        </c:txPr>
        <c:crossAx val="-2113994440"/>
        <c:crosses val="autoZero"/>
        <c:auto val="1"/>
        <c:lblAlgn val="ctr"/>
        <c:lblOffset val="100"/>
        <c:noMultiLvlLbl val="0"/>
      </c:catAx>
      <c:valAx>
        <c:axId val="-2113994440"/>
        <c:scaling>
          <c:max val="1.55"/>
          <c:min val="0.0"/>
        </c:scaling>
        <c:delete val="0"/>
        <c:axPos val="l"/>
        <c:majorGridlines>
          <c:spPr>
            <a:ln>
              <a:solidFill>
                <a:srgbClr val="334155"/>
              </a:solidFill>
            </a:ln>
          </c:spPr>
        </c:majorGridlines>
        <c:majorTickMark val="out"/>
        <c:minorTickMark val="none"/>
        <c:tickLblPos val="nextTo"/>
        <c:txPr>
          <a:bodyPr/>
          <a:lstStyle/>
          <a:p>
            <a:pPr>
              <a:defRPr sz="950">
                <a:solidFill>
                  <a:srgbClr val="94A3B8"/>
                </a:solidFill>
                <a:latin typeface="Inter"/>
              </a:defRPr>
            </a:pPr>
          </a:p>
        </c:txPr>
        <c:crossAx val="-2068027336"/>
        <c:crosses val="autoZero"/>
      </c:valAx>
    </c:plotArea>
    <c:legend>
      <c:legendPos val="t"/>
      <c:overlay val="0"/>
      <c:txPr>
        <a:bodyPr/>
        <a:lstStyle/>
        <a:p>
          <a:pPr>
            <a:defRPr sz="1050">
              <a:solidFill>
                <a:srgbClr val="F8FAFC"/>
              </a:solidFill>
              <a:latin typeface="Inter"/>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Importance</c:v>
                </c:pt>
              </c:strCache>
            </c:strRef>
          </c:tx>
          <c:spPr>
            <a:solidFill>
              <a:srgbClr val="00B4D8"/>
            </a:solidFill>
          </c:spPr>
          <c:dLbls>
            <c:numFmt formatCode="0.0000" sourceLinked="0"/>
            <c:txPr>
              <a:bodyPr/>
              <a:lstStyle/>
              <a:p>
                <a:pPr>
                  <a:defRPr sz="950" b="1">
                    <a:solidFill>
                      <a:srgbClr val="F8FAFC"/>
                    </a:solidFill>
                    <a:latin typeface="Inter"/>
                  </a:defRPr>
                </a:pPr>
              </a:p>
            </c:txPr>
            <c:dLblPos val="outEnd"/>
            <c:showLegendKey val="0"/>
            <c:showVal val="0"/>
            <c:showCatName val="0"/>
            <c:showSerName val="0"/>
            <c:showPercent val="0"/>
            <c:showBubbleSize val="0"/>
            <c:showLeaderLines val="1"/>
          </c:dLbls>
          <c:cat>
            <c:strRef>
              <c:f>Sheet1!$A$2:$A$7</c:f>
              <c:strCache>
                <c:ptCount val="6"/>
                <c:pt idx="0">
                  <c:v>Spot lag 5m</c:v>
                </c:pt>
                <c:pt idx="1">
                  <c:v>Bid-ask spread</c:v>
                </c:pt>
                <c:pt idx="2">
                  <c:v>IV lag 5m</c:v>
                </c:pt>
                <c:pt idx="3">
                  <c:v>Current IV</c:v>
                </c:pt>
                <c:pt idx="4">
                  <c:v>IV change 10m</c:v>
                </c:pt>
                <c:pt idx="5">
                  <c:v>IV change 5m</c:v>
                </c:pt>
              </c:strCache>
            </c:strRef>
          </c:cat>
          <c:val>
            <c:numRef>
              <c:f>Sheet1!$B$2:$B$7</c:f>
              <c:numCache>
                <c:formatCode>General</c:formatCode>
                <c:ptCount val="6"/>
                <c:pt idx="0">
                  <c:v>0.034</c:v>
                </c:pt>
                <c:pt idx="1">
                  <c:v>0.03515</c:v>
                </c:pt>
                <c:pt idx="2">
                  <c:v>0.042729</c:v>
                </c:pt>
                <c:pt idx="3">
                  <c:v>0.065294</c:v>
                </c:pt>
                <c:pt idx="4">
                  <c:v>0.067392</c:v>
                </c:pt>
                <c:pt idx="5">
                  <c:v>0.072086</c:v>
                </c:pt>
              </c:numCache>
            </c:numRef>
          </c:val>
        </c:ser>
        <c:dLbls>
          <c:showLegendKey val="0"/>
          <c:showVal val="1"/>
          <c:showCatName val="0"/>
          <c:showSerName val="0"/>
          <c:showPercent val="0"/>
          <c:showBubbleSize val="0"/>
          <c:showLeaderLines val="1"/>
        </c:dLbls>
        <c:gapWidth val="85"/>
        <c:axId val="-2068027336"/>
        <c:axId val="-2113994440"/>
      </c:barChart>
      <c:catAx>
        <c:axId val="-2068027336"/>
        <c:scaling>
          <c:orientation val="minMax"/>
        </c:scaling>
        <c:delete val="0"/>
        <c:axPos val="l"/>
        <c:majorTickMark val="out"/>
        <c:minorTickMark val="none"/>
        <c:tickLblPos val="nextTo"/>
        <c:txPr>
          <a:bodyPr/>
          <a:lstStyle/>
          <a:p>
            <a:pPr>
              <a:defRPr sz="1000" b="1">
                <a:solidFill>
                  <a:srgbClr val="F8FAFC"/>
                </a:solidFill>
                <a:latin typeface="Inter"/>
              </a:defRPr>
            </a:pPr>
          </a:p>
        </c:txPr>
        <c:crossAx val="-2113994440"/>
        <c:crosses val="autoZero"/>
        <c:auto val="1"/>
        <c:lblAlgn val="ctr"/>
        <c:lblOffset val="100"/>
        <c:noMultiLvlLbl val="0"/>
      </c:catAx>
      <c:valAx>
        <c:axId val="-2113994440"/>
        <c:scaling>
          <c:max val="0.088"/>
          <c:min val="0.0"/>
        </c:scaling>
        <c:delete val="0"/>
        <c:axPos val="b"/>
        <c:majorGridlines>
          <c:spPr>
            <a:ln>
              <a:solidFill>
                <a:srgbClr val="334155"/>
              </a:solidFill>
            </a:ln>
          </c:spPr>
        </c:majorGridlines>
        <c:majorTickMark val="out"/>
        <c:minorTickMark val="none"/>
        <c:tickLblPos val="nextTo"/>
        <c:txPr>
          <a:bodyPr/>
          <a:lstStyle/>
          <a:p>
            <a:pPr>
              <a:defRPr sz="900">
                <a:solidFill>
                  <a:srgbClr val="94A3B8"/>
                </a:solidFill>
                <a:latin typeface="Inter"/>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Actual Mean |ΔIV| (Persistence Error)</c:v>
                </c:pt>
              </c:strCache>
            </c:strRef>
          </c:tx>
          <c:spPr>
            <a:ln w="27940">
              <a:solidFill>
                <a:srgbClr val="F59E0B"/>
              </a:solidFill>
            </a:ln>
          </c:spPr>
          <c:dLbls>
            <c:numFmt formatCode="0.0" sourceLinked="0"/>
            <c:txPr>
              <a:bodyPr/>
              <a:lstStyle/>
              <a:p>
                <a:pPr>
                  <a:defRPr sz="850" b="1">
                    <a:solidFill>
                      <a:srgbClr val="F59E0B"/>
                    </a:solidFill>
                    <a:latin typeface="Inter"/>
                  </a:defRPr>
                </a:pPr>
              </a:p>
            </c:txPr>
            <c:dLblPos val="b"/>
            <c:showLegendKey val="0"/>
            <c:showVal val="0"/>
            <c:showCatName val="0"/>
            <c:showSerName val="0"/>
            <c:showPercent val="0"/>
            <c:showBubbleSize val="0"/>
            <c:showLeaderLines val="1"/>
          </c:dLbls>
          <c:cat>
            <c:strRef>
              <c:f>Sheet1!$A$2:$A$7</c:f>
              <c:strCache>
                <c:ptCount val="6"/>
                <c:pt idx="0">
                  <c:v>13:55</c:v>
                </c:pt>
                <c:pt idx="1">
                  <c:v>14:20</c:v>
                </c:pt>
                <c:pt idx="2">
                  <c:v>14:45</c:v>
                </c:pt>
                <c:pt idx="3">
                  <c:v>15:00</c:v>
                </c:pt>
                <c:pt idx="4">
                  <c:v>15:10</c:v>
                </c:pt>
                <c:pt idx="5">
                  <c:v>15:20</c:v>
                </c:pt>
              </c:strCache>
            </c:strRef>
          </c:cat>
          <c:val>
            <c:numRef>
              <c:f>Sheet1!$B$2:$B$7</c:f>
              <c:numCache>
                <c:formatCode>General</c:formatCode>
                <c:ptCount val="6"/>
                <c:pt idx="0">
                  <c:v>5.406</c:v>
                </c:pt>
                <c:pt idx="1">
                  <c:v>8.351</c:v>
                </c:pt>
                <c:pt idx="2">
                  <c:v>12.958</c:v>
                </c:pt>
                <c:pt idx="3">
                  <c:v>21.487</c:v>
                </c:pt>
                <c:pt idx="4">
                  <c:v>32.832</c:v>
                </c:pt>
                <c:pt idx="5">
                  <c:v>53.232</c:v>
                </c:pt>
              </c:numCache>
            </c:numRef>
          </c:val>
          <c:smooth val="0"/>
        </c:ser>
        <c:ser>
          <c:idx val="1"/>
          <c:order val="1"/>
          <c:tx>
            <c:strRef>
              <c:f>Sheet1!$C$1</c:f>
              <c:strCache>
                <c:ptCount val="1"/>
                <c:pt idx="0">
                  <c:v>Random Forest MAE</c:v>
                </c:pt>
              </c:strCache>
            </c:strRef>
          </c:tx>
          <c:spPr>
            <a:ln w="27940">
              <a:solidFill>
                <a:srgbClr val="EF4444"/>
              </a:solidFill>
            </a:ln>
          </c:spPr>
          <c:dLbls>
            <c:numFmt formatCode="0.0" sourceLinked="0"/>
            <c:txPr>
              <a:bodyPr/>
              <a:lstStyle/>
              <a:p>
                <a:pPr>
                  <a:defRPr sz="850" b="1">
                    <a:solidFill>
                      <a:srgbClr val="EF4444"/>
                    </a:solidFill>
                    <a:latin typeface="Inter"/>
                  </a:defRPr>
                </a:pPr>
              </a:p>
            </c:txPr>
            <c:dLblPos val="t"/>
            <c:showLegendKey val="0"/>
            <c:showVal val="0"/>
            <c:showCatName val="0"/>
            <c:showSerName val="0"/>
            <c:showPercent val="0"/>
            <c:showBubbleSize val="0"/>
            <c:showLeaderLines val="1"/>
          </c:dLbls>
          <c:cat>
            <c:strRef>
              <c:f>Sheet1!$A$2:$A$7</c:f>
              <c:strCache>
                <c:ptCount val="6"/>
                <c:pt idx="0">
                  <c:v>13:55</c:v>
                </c:pt>
                <c:pt idx="1">
                  <c:v>14:20</c:v>
                </c:pt>
                <c:pt idx="2">
                  <c:v>14:45</c:v>
                </c:pt>
                <c:pt idx="3">
                  <c:v>15:00</c:v>
                </c:pt>
                <c:pt idx="4">
                  <c:v>15:10</c:v>
                </c:pt>
                <c:pt idx="5">
                  <c:v>15:20</c:v>
                </c:pt>
              </c:strCache>
            </c:strRef>
          </c:cat>
          <c:val>
            <c:numRef>
              <c:f>Sheet1!$C$2:$C$7</c:f>
              <c:numCache>
                <c:formatCode>General</c:formatCode>
                <c:ptCount val="6"/>
                <c:pt idx="0">
                  <c:v>7.079</c:v>
                </c:pt>
                <c:pt idx="1">
                  <c:v>11.707</c:v>
                </c:pt>
                <c:pt idx="2">
                  <c:v>15.856</c:v>
                </c:pt>
                <c:pt idx="3">
                  <c:v>25.509</c:v>
                </c:pt>
                <c:pt idx="4">
                  <c:v>35.395</c:v>
                </c:pt>
                <c:pt idx="5">
                  <c:v>56.922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950" b="1">
                <a:solidFill>
                  <a:srgbClr val="F8FAFC"/>
                </a:solidFill>
                <a:latin typeface="Inter"/>
              </a:defRPr>
            </a:pPr>
          </a:p>
        </c:txPr>
        <c:crossAx val="2140495176"/>
        <c:crosses val="autoZero"/>
        <c:auto val="1"/>
        <c:lblAlgn val="ctr"/>
        <c:lblOffset val="100"/>
        <c:noMultiLvlLbl val="0"/>
      </c:catAx>
      <c:valAx>
        <c:axId val="2140495176"/>
        <c:scaling>
          <c:max val="65.0"/>
          <c:min val="0.0"/>
        </c:scaling>
        <c:delete val="0"/>
        <c:axPos val="l"/>
        <c:majorGridlines>
          <c:spPr>
            <a:ln>
              <a:solidFill>
                <a:srgbClr val="334155"/>
              </a:solidFill>
            </a:ln>
          </c:spPr>
        </c:majorGridlines>
        <c:majorTickMark val="out"/>
        <c:minorTickMark val="none"/>
        <c:tickLblPos val="nextTo"/>
        <c:txPr>
          <a:bodyPr/>
          <a:lstStyle/>
          <a:p>
            <a:pPr>
              <a:defRPr sz="900">
                <a:solidFill>
                  <a:srgbClr val="94A3B8"/>
                </a:solidFill>
                <a:latin typeface="Inter"/>
              </a:defRPr>
            </a:pPr>
          </a:p>
        </c:txPr>
        <c:crossAx val="2118791784"/>
        <c:crosses val="autoZero"/>
      </c:valAx>
    </c:plotArea>
    <c:legend>
      <c:legendPos val="t"/>
      <c:layout/>
      <c:overlay val="0"/>
      <c:txPr>
        <a:bodyPr/>
        <a:lstStyle/>
        <a:p>
          <a:pPr>
            <a:defRPr sz="1000">
              <a:solidFill>
                <a:srgbClr val="F8FAFC"/>
              </a:solidFill>
              <a:latin typeface="Inter"/>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Introduce yourself (Diviya C., Reg. No. 25MSQUFPY0018, Second Year M.Sc. Quantitative Finance, Pondicherry University, Academic Year 2026-27) and state the full project title completed during your internship at Surabhi Investment Services Pvt. Ltd., Tiruchirappalli (18 June 2026 – 15 August 2026).</a:t>
            </a:r>
          </a:p>
          <a:p>
            <a:r>
              <a:t>2. Why the method/concept was used: Explain that this project builds an end-to-end 5-minute implied volatility forecasting and risk-aware decision-support prototype for NIFTY 50 index options.</a:t>
            </a:r>
          </a:p>
          <a:p>
            <a:r>
              <a:t>3. What the result means: Rather than treating ML predictions as standalone trading signals, the prototype integrates option-chain feature engineering, chronological holdout evaluation, relative-IV classification, and Black-Scholes stress testing.</a:t>
            </a:r>
          </a:p>
          <a:p>
            <a:r>
              <a:t>4. Likely Viva Question &amp; Answer:</a:t>
            </a:r>
          </a:p>
          <a:p>
            <a:r>
              <a:t>Q: In one sentence, what is the core contribution of your internship project?</a:t>
            </a:r>
          </a:p>
          <a:p>
            <a:r>
              <a:t>A: It develops and chronologically validates a 39-feature Random Forest model that predicts 5-minute changes in near-ATM NIFTY 50 implied volatility—outperforming the persistence baseline by 5.28% in MAE and 7.72% in RMSE in the development regime—and embeds the forecast into a relative-IV and Black-Scholes stress-testing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State the internship organisation (Surabhi Investment Services Pvt. Ltd., Tiruchirappalli, Tamil Nadu), nature (Investment company), domain (Options Trading), and exact duration (18 June 2026 to 15 August 2026, 59 calendar days inclusive).</a:t>
            </a:r>
          </a:p>
          <a:p>
            <a:r>
              <a:t>2. Why the method/concept was used: Explain why implied volatility is central to options trading—unlike historical volatility, IV is forward-looking and embedded directly in option premiums.</a:t>
            </a:r>
          </a:p>
          <a:p>
            <a:r>
              <a:t>3. What the result means: Emphasise how the internship bridged academic quantitative finance theory and practical index-options analytics without claiming undocumented corporate duties.</a:t>
            </a:r>
          </a:p>
          <a:p>
            <a:r>
              <a:t>4. Likely Viva Question &amp; Answer:</a:t>
            </a:r>
          </a:p>
          <a:p>
            <a:r>
              <a:t>Q: Why did you choose implied volatility forecasting as your internship topic at an investment firm?</a:t>
            </a:r>
          </a:p>
          <a:p>
            <a:r>
              <a:t>A: Because in options trading, every quote is effectively a quote on implied volatility. Short-horizon changes in IV directly affect option premiums and hedging costs, making short-term IV dynamics and risk-scenario analysis highly relevant to quantitative derivatives research.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Define implied volatility simply as the volatility level implied by an option's market price when inverted through an option pricing model. Explain the volatility smile/skew diagram on the right.</a:t>
            </a:r>
          </a:p>
          <a:p>
            <a:r>
              <a:t>2. Why the method/concept was used: Because IV varies across strikes (forming a smile or skew), a forecasting model cannot treat all strikes identically—it must incorporate moneyness, strike distance, and contract liquidity.</a:t>
            </a:r>
          </a:p>
          <a:p>
            <a:r>
              <a:t>3. What the result means: Positioning the model as a research signal rather than an automated trading bot ensures sound quantitative risk governance.</a:t>
            </a:r>
          </a:p>
          <a:p>
            <a:r>
              <a:t>4. Likely Viva Question &amp; Answer:</a:t>
            </a:r>
          </a:p>
          <a:p>
            <a:r>
              <a:t>Q: Why does a volatility smile or skew exist in index options like NIFTY 50 if Black-Scholes assumes constant volatility?</a:t>
            </a:r>
          </a:p>
          <a:p>
            <a:r>
              <a:t>A: In real markets, return distributions exhibit fat tails and negative skewness (crash risk), and hedging demand for OTM puts/calls creates strike-dependent supply-demand imbalances. Market participants therefore price different implied volatilities across strikes.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Frame the central research question: whether short-horizon (5-minute) changes in NIFTY 50 implied volatility can be predicted more accurately than the naive persistence benchmark (which assumes IV stays unchanged over the next 5 minutes).</a:t>
            </a:r>
          </a:p>
          <a:p>
            <a:r>
              <a:t>2. Why the method/concept was used: Over a 5-minute horizon, financial time series exhibit strong autocorrelation, making the persistence baseline (Predicted IV_{t+5} = IV_t) a tough benchmark to beat.</a:t>
            </a:r>
          </a:p>
          <a:p>
            <a:r>
              <a:t>3. What the result means: Furthermore, predicting IV alone is not enough for decision support because option prices also depend heavily on spot price movement (Delta/Gamma) and time decay (Theta). Hence, the motivation is a 4-part system: Forecast -&gt; Relative-IV -&gt; Stress Test -&gt; Dashboard.</a:t>
            </a:r>
          </a:p>
          <a:p>
            <a:r>
              <a:t>4. Likely Viva Question &amp; Answer:</a:t>
            </a:r>
          </a:p>
          <a:p>
            <a:r>
              <a:t>Q: Why is the persistence model (no-change forecast) considered such an important benchmark in short-horizon volatility forecasting?</a:t>
            </a:r>
          </a:p>
          <a:p>
            <a:r>
              <a:t>A: Because implied volatility is highly autocorrelated at 5-minute intervals. A complex machine-learning model can show a high R² simply by mimicking the current IV level; proving genuine predictive skill requires achieving lower out-of-sample MAE and RMSE than the persistence forecast.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Walk through the five sequential project objectives: (01) Collect option-chain snapshots via NSE CSVs and Upstox API, (02) Engineer 39 leakage-free features, (03) Forecast 5-minute IV change and benchmark against persistence, (04) Interpret predictions via a relative-IV layer, and (05) Stress-test option values via Black-Scholes and deploy in Streamlit.</a:t>
            </a:r>
          </a:p>
          <a:p>
            <a:r>
              <a:t>2. Why the method/concept was used: Structuring the objectives as a 5-stage pipeline shows the examiner that this was a complete quantitative systems engineering and empirical research project, not merely an isolated curve-fitting exercise.</a:t>
            </a:r>
          </a:p>
          <a:p>
            <a:r>
              <a:t>3. What the result means: Each objective feeds directly into the next, ensuring that data hygiene supports model validity, and model outputs support risk-aware option valuation.</a:t>
            </a:r>
          </a:p>
          <a:p>
            <a:r>
              <a:t>4. Likely Viva Question &amp; Answer:</a:t>
            </a:r>
          </a:p>
          <a:p>
            <a:r>
              <a:t>Q: Why did you include Objective 05 (Black-Scholes stress testing) when your primary ML model forecasts implied volatility?</a:t>
            </a:r>
          </a:p>
          <a:p>
            <a:r>
              <a:t>A: Because an option trader or risk analyst cares about option rupee value, not just volatility points. Even if IV rises as predicted, an adverse spot price move can wipe out a Call option's value. Stress testing quantifies that joint spot-and-IV exposure.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Explain the three mathematical pillars on this slide: (1) The Black-Scholes Call pricing equation and why IV requires numerical inversion, (2) Moneyness M = K/S and the exact near-ATM filter 0.95 &lt;= M &lt;= 1.05, and (3) The 5-minute IV change target Delta_IV(t+5) = IV(t+5) - IV(t) alongside the persistence benchmark IV_pred(t+5) = IV(t).</a:t>
            </a:r>
          </a:p>
          <a:p>
            <a:r>
              <a:t>2. Why the method/concept was used: Predicting the 5-minute change (Delta_IV) instead of raw IV levels focuses the tree ensemble on short-term dynamics, after initial direct-level Linear Regression proved much weaker (MAE approx. 6.17).</a:t>
            </a:r>
          </a:p>
          <a:p>
            <a:r>
              <a:t>3. What the result means: Restricting the universe to 0.95 &lt;= M &lt;= 1.05 ensures that model training and evaluation occur on actively traded near-ATM strikes where implied volatility signals are economically meaningful.</a:t>
            </a:r>
          </a:p>
          <a:p>
            <a:r>
              <a:t>4. Likely Viva Question &amp; Answer:</a:t>
            </a:r>
          </a:p>
          <a:p>
            <a:r>
              <a:t>Q: Why did you define your machine-learning target as the 5-minute change (Delta_IV_{t+5} = IV_{t+5} - IV_t) rather than predicting IV_{t+5} directly?</a:t>
            </a:r>
          </a:p>
          <a:p>
            <a:r>
              <a:t>A: Implied volatility levels are strongly autocorrelated over 5-minute intervals. Predicting Delta_IV centers the learning task on the increment over the current level, whereas direct-level regression (such as our initial Linear Regression baseline with MAE approx. 6.17) struggles with level shifts and cross-strike scale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Walk through the exact data sources and the 5-stage preprocessing funnel on the right: starting from 81 raw snapshots (8,424 wide rows where CE and PE sit side-by-side per strike), reshaping into long format (16,848 contract rows, of which 12,816 have valid positive IV), matching exact +5-minute targets (11,130 rows), applying the near-ATM filter 0.95 &lt;= M &lt;= 1.05 (5,620 rows), and requiring exact 5m and 10m lags to reach the final development sample of 4,853 rows across 64 timestamps.</a:t>
            </a:r>
          </a:p>
          <a:p>
            <a:r>
              <a:t>2. Why the method/concept was used: Highlight two critical methodological choices: (a) we never interpolate across missing timestamps—every 5m and 10m lag is an exact timestamp match, and (b) we did not delete large target movements as 'outliers', because volatility spikes are real market events.</a:t>
            </a:r>
          </a:p>
          <a:p>
            <a:r>
              <a:t>3. What the result means: Also note that the 19 October 2026 expiry-day sample (1,137 rows across 18 timestamps) is kept completely separate as an out-of-regime stress test.</a:t>
            </a:r>
          </a:p>
          <a:p>
            <a:r>
              <a:t>4. Likely Viva Question &amp; Answer:</a:t>
            </a:r>
          </a:p>
          <a:p>
            <a:r>
              <a:t>Q: How can 8,424 raw master rows become 12,816 valid IV rows in Step 2 of your funnel?</a:t>
            </a:r>
          </a:p>
          <a:p>
            <a:r>
              <a:t>A: Each row in the raw NSE master table is a wide strike snapshot containing both Call (CE) and Put (PE) columns side by side. Reshaping the 8,424 wide rows into long contract format (stacking CE and PE separately) produces 16,848 contract-level rows; removing zero or missing IV quotes leaves 12,816 valid positive-IV rows.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Walk through the 8-stage pipeline from option-chain snapshot acquisition to Black-Scholes risk testing, and focus heavily on the bottom validation diagram.</a:t>
            </a:r>
          </a:p>
          <a:p>
            <a:r>
              <a:t>2. Why the method/concept was used: Explain why standard random train/test splitting (like scikit-learn's default train_test_split on rows) is methodologically invalid for option-chain panel data: at any single timestamp t, dozens of near-ATM strikes are observed simultaneously. If some strikes at timestamp t are placed in training and adjacent strikes at the same timestamp t are placed in testing, the tree model memorises the market-wide volatility shock between t and t+5.</a:t>
            </a:r>
          </a:p>
          <a:p>
            <a:r>
              <a:t>3. What the result means: Splitting strictly by unique chronological timestamps guarantees zero look-ahead leakage and produces an honest out-of-sample holdout test (983 observations).</a:t>
            </a:r>
          </a:p>
          <a:p>
            <a:r>
              <a:t>4. Likely Viva Question &amp; Answer:</a:t>
            </a:r>
          </a:p>
          <a:p>
            <a:r>
              <a:t>Q: Why couldn't you use a standard random 80/20 row split across the 4,853 observations?</a:t>
            </a:r>
          </a:p>
          <a:p>
            <a:r>
              <a:t>A: Because the dataset is a panel of cross-sectional option strikes observed across 64 timestamps (~76 strikes per timestamp). Strikes at the same timestamp experience the same underlying NIFTY 50 spot and macro shock over the next 5 minutes. A random row split puts identical timestamps in both train and test sets, causing severe cross-sectional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Detail the selected Random Forest Regressor specifications (300 trees, max_depth=12, min_samples_leaf=3, max_features='sqrt', target = Delta_IV_{t+5}), the 39-feature design (15 current snapshot features + 24 exact 5m and 10m lag/momentum features across IV, spot, LTP, volume, OI, and bid-ask spread), and the live Upstox-to-Streamlit deployment pipeline.</a:t>
            </a:r>
          </a:p>
          <a:p>
            <a:r>
              <a:t>2. Why the method/concept was used: Constraining tree depth to 12 and requiring at least 3 samples per leaf prevents the 300-tree ensemble from memorising noisy single-strike ticks, while 'sqrt' feature subsampling decorrelates trees across the 39 collinear market features.</a:t>
            </a:r>
          </a:p>
          <a:p>
            <a:r>
              <a:t>3. What the result means: Exporting the trained model, exact 39-feature schema, and training medians via joblib ensures that the Streamlit dashboard applies identical preprocessing during live Upstox API polling.</a:t>
            </a:r>
          </a:p>
          <a:p>
            <a:r>
              <a:t>4. Likely Viva Question &amp; Answer:</a:t>
            </a:r>
          </a:p>
          <a:p>
            <a:r>
              <a:t>Q: Why did you set max_depth=12 and min_samples_leaf=3 in your Random Forest instead of letting trees grow unpruned?</a:t>
            </a:r>
          </a:p>
          <a:p>
            <a:r>
              <a:t>A: High-frequency 5-minute option-chain data contains microstructure noise and bid-ask bounce. Unpruned trees overfit to isolated noise observations; capping depth at 12 and requiring at least 3 observations per leaf acts as regularisation, improving out-of-sample generalisation.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Present the core out-of-sample comparison on the chronological development holdout. Random Forest + Lag achieved the lowest MAE (0.5214) and lowest RMSE (1.2188), beating the persistence baseline (MAE 0.5505, RMSE 1.3207) by 5.28% in MAE and 7.72% in RMSE. XGBoost + Lag reduced RMSE (1.2964) relative to persistence but had a slightly higher MAE (0.5530).</a:t>
            </a:r>
          </a:p>
          <a:p>
            <a:r>
              <a:t>2. Why the method/concept was used: Also note that an initial direct-level Linear Regression baseline yielded MAE approx. 6.17, proving why predicting Delta_IV with nonlinear tree ensembles was necessary.</a:t>
            </a:r>
          </a:p>
          <a:p>
            <a:r>
              <a:t>3. What the result means: Emphasise academic honesty regarding R²: although Random Forest achieves R² = 0.9866 on implied future IV levels, persistence already achieves R² = 0.9843 because IV moves slowly over 5 minutes. Therefore, MAE and RMSE reductions are the proper evaluation metrics.</a:t>
            </a:r>
          </a:p>
          <a:p>
            <a:r>
              <a:t>4. Likely Viva Question &amp; Answer:</a:t>
            </a:r>
          </a:p>
          <a:p>
            <a:r>
              <a:t>Q: Your R² is 0.9866—does that mean your model explains 98.66% of future volatility changes?</a:t>
            </a:r>
          </a:p>
          <a:p>
            <a:r>
              <a:t>A: No, and it is crucial not to overstate that figure. The R² of 0.9866 is measured on the reconstructed future IV level (IV_hat_{t+5}), where the naive persistence forecast already gets R² = 0.9843 due to strong autocorrelation. The genuine predictive gain of Random Forest is the 5.28% reduction in MAE and 7.72% reduction in RMSE over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Explain the three analytical layers on this slide: (1) Feature importance led by 5m IV change (0.0721), 10m IV change (0.0674), Current IV (0.0653), 5m IV lag (0.0427), bid-ask spread (0.0352), and 5m spot lag (0.0340); (2) Relative-IV holdout distribution (766 Fair/Neutral = 77.92%, 152 High IV vs forecast = 15.46%, 65 Low IV vs forecast = 6.61%); and (3) Directional accuracy and probability classification results.</a:t>
            </a:r>
          </a:p>
          <a:p>
            <a:r>
              <a:t>2. Why the method/concept was used: Most observations (77.92%) were classified as Fair/Neutral because over a 5-minute interval, expected IV changes are typically small unless a stronger move is predicted. When filtering for larger predicted movements (|Delta_IV_hat| between 0.05 and 0.25), directional accuracy improves from 53.20% overall to roughly 63–64%, though coverage drops to 16–28% of observations.</a:t>
            </a:r>
          </a:p>
          <a:p>
            <a:r>
              <a:t>3. What the result means: Emphasise two critical viva points: first, 'Low IV vs forecast' means current IV is below the model's 5-minute forecast, NOT that the option is guaranteed to be cheap or profitable to buy. Second, the experimental 3-class direction classifier achieved only 50.36% accuracy (51.44% balanced accuracy), so its uncalibrated probabilities were rightly rejected as trading confidence scores.</a:t>
            </a:r>
          </a:p>
          <a:p>
            <a:r>
              <a:t>4. Likely Viva Question &amp; Answer:</a:t>
            </a:r>
          </a:p>
          <a:p>
            <a:r>
              <a:t>Q: If an option is flagged as 'Low IV vs forecast' (6.61% of cases), should a trader immediately buy it?</a:t>
            </a:r>
          </a:p>
          <a:p>
            <a:r>
              <a:t>A: No. 'Low IV vs forecast' only means current IV is lower than the model's 5-minute forecast (i.e., IV is predicted to rise). Whether the option's rupee price actually rises depends heavily on underlying spot movement (Delta/Gamma) and bid-ask transaction costs, which is why we pair the signal with Black-Scholes stress testing.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Walk through the near-ATM 23,150 CE stress-test case (Spot = 23,125.65, Market LTP = Rs 81.70, Current IV = 10.71%, Time to expiry = 74.58 hours, Baseline Black-Scholes value = Rs 85.07 at r = 6%). Then compare the four stress scenarios: Spot -2% drops value to Rs 1.47 (-98.28%), IV +20% lifts value to Rs 103.29 (+21.41%), Severe spot fall + IV spike collapses value to Rs 4.39 (-94.84%), and Spot rise + IV crush surges value to Rs 450.42 (+429.47%).</a:t>
            </a:r>
          </a:p>
          <a:p>
            <a:r>
              <a:t>2. Why the method/concept was used: This concrete numerical test proves why an 'IV expected to rise' forecast is NEVER a standalone signal to buy a Call option.</a:t>
            </a:r>
          </a:p>
          <a:p>
            <a:r>
              <a:t>3. What the result means: If a trader buys the 23,150 CE expecting higher IV, and IV indeed spikes during a sharp market sell-off ('Severe spot fall + IV spike'), the negative Delta effect crushes the Call option from Rs 85.07 to Rs 4.39 (-94.84%), completely overwhelming the positive Vega effect.</a:t>
            </a:r>
          </a:p>
          <a:p>
            <a:r>
              <a:t>4. Likely Viva Question &amp; Answer:</a:t>
            </a:r>
          </a:p>
          <a:p>
            <a:r>
              <a:t>Q: Why is the theoretical Black-Scholes baseline price (Rs 85.07) slightly different from the observed market LTP (Rs 81.70)?</a:t>
            </a:r>
          </a:p>
          <a:p>
            <a:r>
              <a:t>A: The Black-Scholes calculation uses the continuous 6% annual risk-free rate assumption, spot price (23,125.65), reported IV (10.71%), and time to expiry (74.58 hours), whereas market LTP reflects discrete bid-ask quotes, implied dividend/futures basis, and microstructure timing. All stress percentage changes (-98.28%, +21.41%, -94.84%, +429.47%) are measured consistently against the Rs 85.07 Black-Scholes baseline.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Present the 19 October 2026 expiry-day robustness test transparently. Across 1,137 rows (18 timestamps with only 0.17 to 1.58 hours to expiry), Random Forest MAE jumped to 17.42 vs Persistence MAE of 14.47, and directional accuracy collapsed to 19.09%. Show on the line chart how both actual |Delta_IV| and RF error exploded between 13:55 and 15:20 as settlement approached.</a:t>
            </a:r>
          </a:p>
          <a:p>
            <a:r>
              <a:t>2. Why the method/concept was used: Rather than hiding or deleting the expiry-day sample, evaluating the model on 19 October provided crucial scientific evidence of regime shift: a model trained when 74.6 to 100.6 hours remained to expiry cannot extrapolate to the final 10–95 minutes before expiry when Vega approaches zero and Gamma/Theta explode.</a:t>
            </a:r>
          </a:p>
          <a:p>
            <a:r>
              <a:t>3. What the result means: Highlight the limitations (64 timestamps over 2 days, cross-sectional correlation, unmodelled transaction costs/slippage/latency) and the concrete roadmap for future research.</a:t>
            </a:r>
          </a:p>
          <a:p>
            <a:r>
              <a:t>4. Likely Viva Question &amp; Answer:</a:t>
            </a:r>
          </a:p>
          <a:p>
            <a:r>
              <a:t>Q: Why did your Random Forest model perform worse than persistence on 19 October (MAE 17.42 vs 14.47, direction accuracy 19.09%)?</a:t>
            </a:r>
          </a:p>
          <a:p>
            <a:r>
              <a:t>A: Because of a severe regime shift in time-to-expiry. During training (15–16 Oct), options had 74.6 to 100.6 hours left to expiry, where 5-minute IV changes averaged ~0.55 points. In the 19 Oct test window (13:55–15:20), only 0.17 to 1.58 hours remained. Near expiry, option Vega collapses toward zero, so tiny ₹0.05–₹0.50 price ticks cause massive inverted IV jumps (mean |Delta_IV| reached 53.23 points by 15:20). Because the tree ensemble never saw expiry-day observations in training, its mean-reversion splits misfired.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Summarise the four project objectives and their exact validation status: Forecasting (Achieved as a prototype: RF MAE 0.5214 vs Persistence 0.5505), Relative-IV Interpretation (Achieved), Black-Scholes Risk Stress Testing (Achieved), and Live Dashboard Deployment (Partially validated—API connection and 5-minute collection loop work, while full market-hours live validation remains to be completed).</a:t>
            </a:r>
          </a:p>
          <a:p>
            <a:r>
              <a:t>2. Why the method/concept was used: Presenting an honest scorecard that distinguishes completed offline validation from partial live validation demonstrates research maturity.</a:t>
            </a:r>
          </a:p>
          <a:p>
            <a:r>
              <a:t>3. What the result means: Close the technical narrative by reiterating that short-horizon IV forecasts provide useful context in normal regimes but are regime-dependent near expiry and must always be paired with spot/volatility risk analysis.</a:t>
            </a:r>
          </a:p>
          <a:p>
            <a:r>
              <a:t>4. Likely Viva Question &amp; Answer:</a:t>
            </a:r>
          </a:p>
          <a:p>
            <a:r>
              <a:t>Q: Why do you classify the Deployment Objective as 'Partially validated' rather than fully completed?</a:t>
            </a:r>
          </a:p>
          <a:p>
            <a:r>
              <a:t>A: While the Upstox API integration, automated 5-minute data collection loop, joblib model inference pipeline, and Streamlit dashboard interface were fully coded and verified functionally, continuous multi-week live market-hours validation was not completed within the internship window.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to explain: Conclude the presentation by acknowledging Surabhi Investment Services Pvt. Ltd. (Tiruchirappalli) and Pondicherry University, highlighting the open-source Python quantitative stack used, and inviting questions from the viva examination panel.</a:t>
            </a:r>
          </a:p>
          <a:p>
            <a:r>
              <a:t>2. Why the method/concept was used: Every theoretical equation (Black &amp; Scholes, 1973), market dataset (NSE Option Chain), live API endpoint (Upstox Developer API), and machine-learning implementation (scikit-learn, XGBoost, Streamlit) is formally cited and traceable.</a:t>
            </a:r>
          </a:p>
          <a:p>
            <a:r>
              <a:t>3. What the result means: The presentation is complete, transparent, and grounded entirely in the empirical findings of the internship project.</a:t>
            </a:r>
          </a:p>
          <a:p>
            <a:r>
              <a:t>4. Likely Viva Question &amp; Answer:</a:t>
            </a:r>
          </a:p>
          <a:p>
            <a:r>
              <a:t>Q: If you had to pick the single most important lesson from building this system end-to-end, what would it be?</a:t>
            </a:r>
          </a:p>
          <a:p>
            <a:r>
              <a:t>A: That rigorous chronological validation and regime awareness matter even more than algorithm complexity: a well-regularised Random Forest with exact lag features can beat persistence in normal market regimes, but understanding where the model breaks down (such as expiry day) and pairing forecasts with Black-Scholes stress tests is what turns a statistical model into responsible quantitative finance research.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384048"/>
            <a:ext cx="5669280" cy="384048"/>
          </a:xfrm>
          <a:prstGeom prst="roundRect">
            <a:avLst>
              <a:gd name="adj" fmla="val 20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31520" y="448056"/>
            <a:ext cx="5394960" cy="274320"/>
          </a:xfrm>
          <a:prstGeom prst="rect">
            <a:avLst/>
          </a:prstGeom>
          <a:noFill/>
        </p:spPr>
        <p:txBody>
          <a:bodyPr wrap="square" anchor="t" lIns="0" tIns="0" rIns="0" bIns="0">
            <a:spAutoFit/>
          </a:bodyPr>
          <a:lstStyle/>
          <a:p>
            <a:pPr algn="l">
              <a:spcBef>
                <a:spcPts val="0"/>
              </a:spcBef>
              <a:spcAft>
                <a:spcPts val="400"/>
              </a:spcAft>
            </a:pPr>
            <a:r>
              <a:rPr sz="1150" b="1">
                <a:solidFill>
                  <a:srgbClr val="00B4D8"/>
                </a:solidFill>
                <a:latin typeface="Inter"/>
              </a:rPr>
              <a:t>ACADEMIC INTERNSHIP PROJECT  •  M.Sc. QUANTITATIVE FINANCE</a:t>
            </a:r>
          </a:p>
        </p:txBody>
      </p:sp>
      <p:sp>
        <p:nvSpPr>
          <p:cNvPr id="6" name="TextBox 5"/>
          <p:cNvSpPr txBox="1"/>
          <p:nvPr/>
        </p:nvSpPr>
        <p:spPr>
          <a:xfrm>
            <a:off x="594360" y="914400"/>
            <a:ext cx="5897880" cy="2468880"/>
          </a:xfrm>
          <a:prstGeom prst="rect">
            <a:avLst/>
          </a:prstGeom>
          <a:noFill/>
        </p:spPr>
        <p:txBody>
          <a:bodyPr wrap="square" anchor="t" lIns="0" tIns="0" rIns="0" bIns="0">
            <a:spAutoFit/>
          </a:bodyPr>
          <a:lstStyle/>
          <a:p>
            <a:pPr algn="l">
              <a:spcBef>
                <a:spcPts val="0"/>
              </a:spcBef>
              <a:spcAft>
                <a:spcPts val="1000"/>
              </a:spcAft>
            </a:pPr>
            <a:r>
              <a:rPr sz="2550" b="1">
                <a:solidFill>
                  <a:srgbClr val="F8FAFC"/>
                </a:solidFill>
                <a:latin typeface="Inter"/>
              </a:rPr>
              <a:t>Real-Time Implied Volatility Forecasting and Relative Valuation of NIFTY 50 Options Using Machine Learning</a:t>
            </a:r>
          </a:p>
          <a:p>
            <a:pPr algn="l">
              <a:spcBef>
                <a:spcPts val="0"/>
              </a:spcBef>
              <a:spcAft>
                <a:spcPts val="1000"/>
              </a:spcAft>
            </a:pPr>
            <a:r>
              <a:rPr sz="1350" b="0">
                <a:solidFill>
                  <a:srgbClr val="CBD5E1"/>
                </a:solidFill>
                <a:latin typeface="Inter"/>
              </a:rPr>
              <a:t>A 5-minute forecasting prototype integrating option-chain analytics, machine learning, relative-IV interpretation, stress testing and a live dashboard.</a:t>
            </a:r>
          </a:p>
        </p:txBody>
      </p:sp>
      <p:sp>
        <p:nvSpPr>
          <p:cNvPr id="7" name="Rounded Rectangle 6"/>
          <p:cNvSpPr/>
          <p:nvPr/>
        </p:nvSpPr>
        <p:spPr>
          <a:xfrm>
            <a:off x="594360" y="3493008"/>
            <a:ext cx="1874519" cy="384048"/>
          </a:xfrm>
          <a:prstGeom prst="roundRect">
            <a:avLst>
              <a:gd name="adj" fmla="val 20000"/>
            </a:avLst>
          </a:prstGeom>
          <a:solidFill>
            <a:srgbClr val="172A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67512" y="3575303"/>
            <a:ext cx="1728216" cy="256032"/>
          </a:xfrm>
          <a:prstGeom prst="rect">
            <a:avLst/>
          </a:prstGeom>
          <a:noFill/>
        </p:spPr>
        <p:txBody>
          <a:bodyPr wrap="square" anchor="t" lIns="0" tIns="0" rIns="0" bIns="0">
            <a:spAutoFit/>
          </a:bodyPr>
          <a:lstStyle/>
          <a:p>
            <a:pPr algn="ctr">
              <a:spcBef>
                <a:spcPts val="0"/>
              </a:spcBef>
              <a:spcAft>
                <a:spcPts val="400"/>
              </a:spcAft>
            </a:pPr>
            <a:r>
              <a:rPr sz="1150" b="1">
                <a:solidFill>
                  <a:srgbClr val="2DD4BF"/>
                </a:solidFill>
                <a:latin typeface="Inter"/>
              </a:rPr>
              <a:t>NIFTY 50 Options</a:t>
            </a:r>
          </a:p>
        </p:txBody>
      </p:sp>
      <p:sp>
        <p:nvSpPr>
          <p:cNvPr id="9" name="Rounded Rectangle 8"/>
          <p:cNvSpPr/>
          <p:nvPr/>
        </p:nvSpPr>
        <p:spPr>
          <a:xfrm>
            <a:off x="2578608" y="3493008"/>
            <a:ext cx="1783080" cy="384048"/>
          </a:xfrm>
          <a:prstGeom prst="roundRect">
            <a:avLst>
              <a:gd name="adj" fmla="val 20000"/>
            </a:avLst>
          </a:prstGeom>
          <a:solidFill>
            <a:srgbClr val="172A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651760" y="3575303"/>
            <a:ext cx="1636776" cy="256032"/>
          </a:xfrm>
          <a:prstGeom prst="rect">
            <a:avLst/>
          </a:prstGeom>
          <a:noFill/>
        </p:spPr>
        <p:txBody>
          <a:bodyPr wrap="square" anchor="t" lIns="0" tIns="0" rIns="0" bIns="0">
            <a:spAutoFit/>
          </a:bodyPr>
          <a:lstStyle/>
          <a:p>
            <a:pPr algn="ctr">
              <a:spcBef>
                <a:spcPts val="0"/>
              </a:spcBef>
              <a:spcAft>
                <a:spcPts val="400"/>
              </a:spcAft>
            </a:pPr>
            <a:r>
              <a:rPr sz="1150" b="1">
                <a:solidFill>
                  <a:srgbClr val="2DD4BF"/>
                </a:solidFill>
                <a:latin typeface="Inter"/>
              </a:rPr>
              <a:t>5-Minute Horizon</a:t>
            </a:r>
          </a:p>
        </p:txBody>
      </p:sp>
      <p:sp>
        <p:nvSpPr>
          <p:cNvPr id="11" name="Rounded Rectangle 10"/>
          <p:cNvSpPr/>
          <p:nvPr/>
        </p:nvSpPr>
        <p:spPr>
          <a:xfrm>
            <a:off x="4471416" y="3493008"/>
            <a:ext cx="1874519" cy="384048"/>
          </a:xfrm>
          <a:prstGeom prst="roundRect">
            <a:avLst>
              <a:gd name="adj" fmla="val 20000"/>
            </a:avLst>
          </a:prstGeom>
          <a:solidFill>
            <a:srgbClr val="172A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544568" y="3575303"/>
            <a:ext cx="1728216" cy="256032"/>
          </a:xfrm>
          <a:prstGeom prst="rect">
            <a:avLst/>
          </a:prstGeom>
          <a:noFill/>
        </p:spPr>
        <p:txBody>
          <a:bodyPr wrap="square" anchor="t" lIns="0" tIns="0" rIns="0" bIns="0">
            <a:spAutoFit/>
          </a:bodyPr>
          <a:lstStyle/>
          <a:p>
            <a:pPr algn="ctr">
              <a:spcBef>
                <a:spcPts val="0"/>
              </a:spcBef>
              <a:spcAft>
                <a:spcPts val="400"/>
              </a:spcAft>
            </a:pPr>
            <a:r>
              <a:rPr sz="1150" b="1">
                <a:solidFill>
                  <a:srgbClr val="2DD4BF"/>
                </a:solidFill>
                <a:latin typeface="Inter"/>
              </a:rPr>
              <a:t>Random Forest ML</a:t>
            </a:r>
          </a:p>
        </p:txBody>
      </p:sp>
      <p:sp>
        <p:nvSpPr>
          <p:cNvPr id="13" name="Rounded Rectangle 12"/>
          <p:cNvSpPr/>
          <p:nvPr/>
        </p:nvSpPr>
        <p:spPr>
          <a:xfrm>
            <a:off x="594360" y="4069080"/>
            <a:ext cx="2971800" cy="2103120"/>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94360" y="4069080"/>
            <a:ext cx="73152" cy="210312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187952"/>
            <a:ext cx="2651760" cy="1874519"/>
          </a:xfrm>
          <a:prstGeom prst="rect">
            <a:avLst/>
          </a:prstGeom>
          <a:noFill/>
        </p:spPr>
        <p:txBody>
          <a:bodyPr wrap="square" anchor="t" lIns="0" tIns="0" rIns="0" bIns="0">
            <a:spAutoFit/>
          </a:bodyPr>
          <a:lstStyle/>
          <a:p>
            <a:pPr algn="l">
              <a:spcBef>
                <a:spcPts val="0"/>
              </a:spcBef>
              <a:spcAft>
                <a:spcPts val="400"/>
              </a:spcAft>
            </a:pPr>
            <a:r>
              <a:rPr sz="1050" b="1">
                <a:solidFill>
                  <a:srgbClr val="00B4D8"/>
                </a:solidFill>
                <a:latin typeface="Inter"/>
              </a:rPr>
              <a:t>PRESENTED BY</a:t>
            </a:r>
          </a:p>
          <a:p>
            <a:pPr algn="l">
              <a:spcBef>
                <a:spcPts val="0"/>
              </a:spcBef>
              <a:spcAft>
                <a:spcPts val="400"/>
              </a:spcAft>
            </a:pPr>
            <a:r>
              <a:rPr sz="2000" b="1">
                <a:solidFill>
                  <a:srgbClr val="F8FAFC"/>
                </a:solidFill>
                <a:latin typeface="Inter"/>
              </a:rPr>
              <a:t>Diviya C.</a:t>
            </a:r>
          </a:p>
          <a:p>
            <a:pPr algn="l">
              <a:spcBef>
                <a:spcPts val="0"/>
              </a:spcBef>
              <a:spcAft>
                <a:spcPts val="300"/>
              </a:spcAft>
            </a:pPr>
            <a:r>
              <a:rPr sz="1200" b="1">
                <a:solidFill>
                  <a:srgbClr val="CBD5E1"/>
                </a:solidFill>
                <a:latin typeface="Inter"/>
              </a:rPr>
              <a:t>Second Year M.Sc. Quantitative Finance</a:t>
            </a:r>
          </a:p>
          <a:p>
            <a:pPr algn="l">
              <a:spcBef>
                <a:spcPts val="0"/>
              </a:spcBef>
              <a:spcAft>
                <a:spcPts val="600"/>
              </a:spcAft>
            </a:pPr>
            <a:r>
              <a:rPr sz="1150" b="1">
                <a:solidFill>
                  <a:srgbClr val="F59E0B"/>
                </a:solidFill>
                <a:latin typeface="Inter"/>
              </a:rPr>
              <a:t>Registration No. 25MSQUFPY0018</a:t>
            </a:r>
          </a:p>
          <a:p>
            <a:pPr algn="l">
              <a:spcBef>
                <a:spcPts val="0"/>
              </a:spcBef>
              <a:spcAft>
                <a:spcPts val="0"/>
              </a:spcAft>
            </a:pPr>
            <a:r>
              <a:rPr sz="1150" b="0">
                <a:solidFill>
                  <a:srgbClr val="94A3B8"/>
                </a:solidFill>
                <a:latin typeface="Inter"/>
              </a:rPr>
              <a:t>Pondicherry University
Academic Year 2026–27</a:t>
            </a:r>
          </a:p>
        </p:txBody>
      </p:sp>
      <p:sp>
        <p:nvSpPr>
          <p:cNvPr id="16" name="Rounded Rectangle 15"/>
          <p:cNvSpPr/>
          <p:nvPr/>
        </p:nvSpPr>
        <p:spPr>
          <a:xfrm>
            <a:off x="3730752" y="4069080"/>
            <a:ext cx="2880360" cy="2103120"/>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730752" y="4069080"/>
            <a:ext cx="73152" cy="21031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0" y="4187952"/>
            <a:ext cx="2560320" cy="1874519"/>
          </a:xfrm>
          <a:prstGeom prst="rect">
            <a:avLst/>
          </a:prstGeom>
          <a:noFill/>
        </p:spPr>
        <p:txBody>
          <a:bodyPr wrap="square" anchor="t" lIns="0" tIns="0" rIns="0" bIns="0">
            <a:spAutoFit/>
          </a:bodyPr>
          <a:lstStyle/>
          <a:p>
            <a:pPr algn="l">
              <a:spcBef>
                <a:spcPts val="0"/>
              </a:spcBef>
              <a:spcAft>
                <a:spcPts val="400"/>
              </a:spcAft>
            </a:pPr>
            <a:r>
              <a:rPr sz="1050" b="1">
                <a:solidFill>
                  <a:srgbClr val="2DD4BF"/>
                </a:solidFill>
                <a:latin typeface="Inter"/>
              </a:rPr>
              <a:t>INTERNSHIP ORGANISATION</a:t>
            </a:r>
          </a:p>
          <a:p>
            <a:pPr algn="l">
              <a:spcBef>
                <a:spcPts val="0"/>
              </a:spcBef>
              <a:spcAft>
                <a:spcPts val="500"/>
              </a:spcAft>
            </a:pPr>
            <a:r>
              <a:rPr sz="1500" b="1">
                <a:solidFill>
                  <a:srgbClr val="F8FAFC"/>
                </a:solidFill>
                <a:latin typeface="Inter"/>
              </a:rPr>
              <a:t>Surabhi Investment Services Pvt. Ltd.</a:t>
            </a:r>
          </a:p>
          <a:p>
            <a:pPr algn="l">
              <a:spcBef>
                <a:spcPts val="0"/>
              </a:spcBef>
              <a:spcAft>
                <a:spcPts val="500"/>
              </a:spcAft>
            </a:pPr>
            <a:r>
              <a:rPr sz="1150" b="0">
                <a:solidFill>
                  <a:srgbClr val="CBD5E1"/>
                </a:solidFill>
                <a:latin typeface="Inter"/>
              </a:rPr>
              <a:t>Location: Tiruchirappalli, Tamil Nadu</a:t>
            </a:r>
          </a:p>
          <a:p>
            <a:pPr algn="l">
              <a:spcBef>
                <a:spcPts val="0"/>
              </a:spcBef>
              <a:spcAft>
                <a:spcPts val="0"/>
              </a:spcAft>
            </a:pPr>
            <a:r>
              <a:rPr sz="1150" b="0">
                <a:solidFill>
                  <a:srgbClr val="94A3B8"/>
                </a:solidFill>
                <a:latin typeface="Inter"/>
              </a:rPr>
              <a:t>Internship Period:
18 June 2026 – 15 August 2026
(59 Calendar Days)</a:t>
            </a:r>
          </a:p>
        </p:txBody>
      </p:sp>
      <p:sp>
        <p:nvSpPr>
          <p:cNvPr id="19" name="Rounded Rectangle 18"/>
          <p:cNvSpPr/>
          <p:nvPr/>
        </p:nvSpPr>
        <p:spPr>
          <a:xfrm>
            <a:off x="6784848" y="384048"/>
            <a:ext cx="4809744" cy="5788152"/>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s1_cover_smile.png"/>
          <p:cNvPicPr>
            <a:picLocks noChangeAspect="1"/>
          </p:cNvPicPr>
          <p:nvPr/>
        </p:nvPicPr>
        <p:blipFill>
          <a:blip r:embed="rId2"/>
          <a:stretch>
            <a:fillRect/>
          </a:stretch>
        </p:blipFill>
        <p:spPr>
          <a:xfrm>
            <a:off x="6876288" y="475488"/>
            <a:ext cx="4626864" cy="3304903"/>
          </a:xfrm>
          <a:prstGeom prst="rect">
            <a:avLst/>
          </a:prstGeom>
        </p:spPr>
      </p:pic>
      <p:sp>
        <p:nvSpPr>
          <p:cNvPr id="21" name="TextBox 20"/>
          <p:cNvSpPr txBox="1"/>
          <p:nvPr/>
        </p:nvSpPr>
        <p:spPr>
          <a:xfrm>
            <a:off x="6967728" y="3950208"/>
            <a:ext cx="4443984" cy="2103120"/>
          </a:xfrm>
          <a:prstGeom prst="rect">
            <a:avLst/>
          </a:prstGeom>
          <a:noFill/>
        </p:spPr>
        <p:txBody>
          <a:bodyPr wrap="square" anchor="t" lIns="0" tIns="0" rIns="0" bIns="0">
            <a:spAutoFit/>
          </a:bodyPr>
          <a:lstStyle/>
          <a:p>
            <a:pPr algn="l">
              <a:spcBef>
                <a:spcPts val="0"/>
              </a:spcBef>
              <a:spcAft>
                <a:spcPts val="600"/>
              </a:spcAft>
            </a:pPr>
            <a:r>
              <a:rPr sz="1100" b="1">
                <a:solidFill>
                  <a:srgbClr val="00B4D8"/>
                </a:solidFill>
                <a:latin typeface="Inter"/>
              </a:rPr>
              <a:t>END-TO-END QUANTITATIVE RESEARCH PIPELINE</a:t>
            </a:r>
          </a:p>
          <a:p>
            <a:pPr algn="l" marL="201168" indent="-201168">
              <a:spcAft>
                <a:spcPts val="400"/>
              </a:spcAft>
              <a:buFont typeface="Inter"/>
              <a:buChar char="•"/>
            </a:pPr>
            <a:r>
              <a:rPr sz="1150" b="1">
                <a:solidFill>
                  <a:srgbClr val="F8FAFC"/>
                </a:solidFill>
                <a:latin typeface="Inter"/>
              </a:rPr>
              <a:t>Data Pipeline: </a:t>
            </a:r>
            <a:r>
              <a:rPr sz="1150" b="0">
                <a:solidFill>
                  <a:srgbClr val="CBD5E1"/>
                </a:solidFill>
                <a:latin typeface="Inter"/>
              </a:rPr>
              <a:t>81 NSE option-chain snapshots &amp; live Upstox API integration.</a:t>
            </a:r>
          </a:p>
          <a:p>
            <a:pPr algn="l" marL="201168" indent="-201168">
              <a:spcAft>
                <a:spcPts val="400"/>
              </a:spcAft>
              <a:buFont typeface="Inter"/>
              <a:buChar char="•"/>
            </a:pPr>
            <a:r>
              <a:rPr sz="1150" b="1">
                <a:solidFill>
                  <a:srgbClr val="F8FAFC"/>
                </a:solidFill>
                <a:latin typeface="Inter"/>
              </a:rPr>
              <a:t>ML Forecasting: </a:t>
            </a:r>
            <a:r>
              <a:rPr sz="1150" b="0">
                <a:solidFill>
                  <a:srgbClr val="CBD5E1"/>
                </a:solidFill>
                <a:latin typeface="Inter"/>
              </a:rPr>
              <a:t>39-feature Random Forest vs Persistence &amp; XGBoost (+5m ΔIV).</a:t>
            </a:r>
          </a:p>
          <a:p>
            <a:pPr algn="l" marL="201168" indent="-201168">
              <a:spcAft>
                <a:spcPts val="0"/>
              </a:spcAft>
              <a:buFont typeface="Inter"/>
              <a:buChar char="•"/>
            </a:pPr>
            <a:r>
              <a:rPr sz="1150" b="1">
                <a:solidFill>
                  <a:srgbClr val="F8FAFC"/>
                </a:solidFill>
                <a:latin typeface="Inter"/>
              </a:rPr>
              <a:t>Risk &amp; Valuation: </a:t>
            </a:r>
            <a:r>
              <a:rPr sz="1150" b="0">
                <a:solidFill>
                  <a:srgbClr val="CBD5E1"/>
                </a:solidFill>
                <a:latin typeface="Inter"/>
              </a:rPr>
              <a:t>Relative-IV classification, Black–Scholes stress tests &amp; Streamlit app.</a:t>
            </a:r>
          </a:p>
        </p:txBody>
      </p:sp>
      <p:sp>
        <p:nvSpPr>
          <p:cNvPr id="22" name="TextBox 21"/>
          <p:cNvSpPr txBox="1"/>
          <p:nvPr/>
        </p:nvSpPr>
        <p:spPr>
          <a:xfrm>
            <a:off x="594360" y="6446520"/>
            <a:ext cx="11000232"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        •        Slide 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01  •  INTERNSHIP OVERVIEW &amp; INSTITUTIONAL CONTEXT</a:t>
            </a:r>
          </a:p>
          <a:p>
            <a:pPr algn="l">
              <a:spcBef>
                <a:spcPts val="0"/>
              </a:spcBef>
              <a:spcAft>
                <a:spcPts val="200"/>
              </a:spcAft>
            </a:pPr>
            <a:r>
              <a:rPr sz="2300" b="1">
                <a:solidFill>
                  <a:srgbClr val="F8FAFC"/>
                </a:solidFill>
                <a:latin typeface="Inter"/>
              </a:rPr>
              <a:t>Internship Context: Options-Trading Focus &amp; Quantitative Finance Relevance</a:t>
            </a:r>
          </a:p>
          <a:p>
            <a:pPr algn="l">
              <a:spcBef>
                <a:spcPts val="0"/>
              </a:spcBef>
              <a:spcAft>
                <a:spcPts val="0"/>
              </a:spcAft>
            </a:pPr>
            <a:r>
              <a:rPr sz="1300" b="0">
                <a:solidFill>
                  <a:srgbClr val="94A3B8"/>
                </a:solidFill>
                <a:latin typeface="Inter"/>
              </a:rPr>
              <a:t>Translating derivatives pricing, implied volatility dynamics, and risk management into an empirical research prototype</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2 / 15</a:t>
            </a:r>
          </a:p>
        </p:txBody>
      </p:sp>
      <p:sp>
        <p:nvSpPr>
          <p:cNvPr id="7" name="Rounded Rectangle 6"/>
          <p:cNvSpPr/>
          <p:nvPr/>
        </p:nvSpPr>
        <p:spPr>
          <a:xfrm>
            <a:off x="594360" y="1463040"/>
            <a:ext cx="3154680" cy="1325880"/>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463040"/>
            <a:ext cx="3154680"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591056"/>
            <a:ext cx="2825496" cy="1097280"/>
          </a:xfrm>
          <a:prstGeom prst="rect">
            <a:avLst/>
          </a:prstGeom>
          <a:noFill/>
        </p:spPr>
        <p:txBody>
          <a:bodyPr wrap="square" anchor="t" lIns="0" tIns="0" rIns="0" bIns="0">
            <a:spAutoFit/>
          </a:bodyPr>
          <a:lstStyle/>
          <a:p>
            <a:pPr algn="l">
              <a:spcBef>
                <a:spcPts val="0"/>
              </a:spcBef>
              <a:spcAft>
                <a:spcPts val="400"/>
              </a:spcAft>
            </a:pPr>
            <a:r>
              <a:rPr sz="1050" b="1">
                <a:solidFill>
                  <a:srgbClr val="00B4D8"/>
                </a:solidFill>
                <a:latin typeface="Inter"/>
              </a:rPr>
              <a:t>HOST ORGANISATION</a:t>
            </a:r>
          </a:p>
          <a:p>
            <a:pPr algn="l">
              <a:spcBef>
                <a:spcPts val="0"/>
              </a:spcBef>
              <a:spcAft>
                <a:spcPts val="400"/>
              </a:spcAft>
            </a:pPr>
            <a:r>
              <a:rPr sz="1400" b="1">
                <a:solidFill>
                  <a:srgbClr val="F8FAFC"/>
                </a:solidFill>
                <a:latin typeface="Inter"/>
              </a:rPr>
              <a:t>Surabhi Investment Services Pvt. Ltd.</a:t>
            </a:r>
          </a:p>
          <a:p>
            <a:pPr algn="l">
              <a:spcBef>
                <a:spcPts val="0"/>
              </a:spcBef>
              <a:spcAft>
                <a:spcPts val="0"/>
              </a:spcAft>
            </a:pPr>
            <a:r>
              <a:rPr sz="1100" b="0">
                <a:solidFill>
                  <a:srgbClr val="94A3B8"/>
                </a:solidFill>
                <a:latin typeface="Inter"/>
              </a:rPr>
              <a:t>Tiruchirappalli (Trichy), Tamil Nadu</a:t>
            </a:r>
          </a:p>
        </p:txBody>
      </p:sp>
      <p:sp>
        <p:nvSpPr>
          <p:cNvPr id="10" name="Rounded Rectangle 9"/>
          <p:cNvSpPr/>
          <p:nvPr/>
        </p:nvSpPr>
        <p:spPr>
          <a:xfrm>
            <a:off x="3931920" y="1463040"/>
            <a:ext cx="2514600" cy="1325880"/>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931920" y="1463040"/>
            <a:ext cx="2514600" cy="548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6511" y="1591056"/>
            <a:ext cx="2185416" cy="1097280"/>
          </a:xfrm>
          <a:prstGeom prst="rect">
            <a:avLst/>
          </a:prstGeom>
          <a:noFill/>
        </p:spPr>
        <p:txBody>
          <a:bodyPr wrap="square" anchor="t" lIns="0" tIns="0" rIns="0" bIns="0">
            <a:spAutoFit/>
          </a:bodyPr>
          <a:lstStyle/>
          <a:p>
            <a:pPr algn="l">
              <a:spcBef>
                <a:spcPts val="0"/>
              </a:spcBef>
              <a:spcAft>
                <a:spcPts val="400"/>
              </a:spcAft>
            </a:pPr>
            <a:r>
              <a:rPr sz="1050" b="1">
                <a:solidFill>
                  <a:srgbClr val="2DD4BF"/>
                </a:solidFill>
                <a:latin typeface="Inter"/>
              </a:rPr>
              <a:t>NATURE OF FIRM</a:t>
            </a:r>
          </a:p>
          <a:p>
            <a:pPr algn="l">
              <a:spcBef>
                <a:spcPts val="0"/>
              </a:spcBef>
              <a:spcAft>
                <a:spcPts val="400"/>
              </a:spcAft>
            </a:pPr>
            <a:r>
              <a:rPr sz="1600" b="1">
                <a:solidFill>
                  <a:srgbClr val="F8FAFC"/>
                </a:solidFill>
                <a:latin typeface="Inter"/>
              </a:rPr>
              <a:t>Investment Company</a:t>
            </a:r>
          </a:p>
          <a:p>
            <a:pPr algn="l">
              <a:spcBef>
                <a:spcPts val="0"/>
              </a:spcBef>
              <a:spcAft>
                <a:spcPts val="0"/>
              </a:spcAft>
            </a:pPr>
            <a:r>
              <a:rPr sz="1100" b="0">
                <a:solidFill>
                  <a:srgbClr val="94A3B8"/>
                </a:solidFill>
                <a:latin typeface="Inter"/>
              </a:rPr>
              <a:t>Financial &amp; derivatives market focus</a:t>
            </a:r>
          </a:p>
        </p:txBody>
      </p:sp>
      <p:sp>
        <p:nvSpPr>
          <p:cNvPr id="13" name="Rounded Rectangle 12"/>
          <p:cNvSpPr/>
          <p:nvPr/>
        </p:nvSpPr>
        <p:spPr>
          <a:xfrm>
            <a:off x="6629400" y="1463040"/>
            <a:ext cx="2514600" cy="1325880"/>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629400" y="1463040"/>
            <a:ext cx="251460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93992" y="1591056"/>
            <a:ext cx="2185416" cy="1097280"/>
          </a:xfrm>
          <a:prstGeom prst="rect">
            <a:avLst/>
          </a:prstGeom>
          <a:noFill/>
        </p:spPr>
        <p:txBody>
          <a:bodyPr wrap="square" anchor="t" lIns="0" tIns="0" rIns="0" bIns="0">
            <a:spAutoFit/>
          </a:bodyPr>
          <a:lstStyle/>
          <a:p>
            <a:pPr algn="l">
              <a:spcBef>
                <a:spcPts val="0"/>
              </a:spcBef>
              <a:spcAft>
                <a:spcPts val="400"/>
              </a:spcAft>
            </a:pPr>
            <a:r>
              <a:rPr sz="1050" b="1">
                <a:solidFill>
                  <a:srgbClr val="10B981"/>
                </a:solidFill>
                <a:latin typeface="Inter"/>
              </a:rPr>
              <a:t>INTERNSHIP AREA</a:t>
            </a:r>
          </a:p>
          <a:p>
            <a:pPr algn="l">
              <a:spcBef>
                <a:spcPts val="0"/>
              </a:spcBef>
              <a:spcAft>
                <a:spcPts val="400"/>
              </a:spcAft>
            </a:pPr>
            <a:r>
              <a:rPr sz="1600" b="1">
                <a:solidFill>
                  <a:srgbClr val="F8FAFC"/>
                </a:solidFill>
                <a:latin typeface="Inter"/>
              </a:rPr>
              <a:t>Options Trading</a:t>
            </a:r>
          </a:p>
          <a:p>
            <a:pPr algn="l">
              <a:spcBef>
                <a:spcPts val="0"/>
              </a:spcBef>
              <a:spcAft>
                <a:spcPts val="0"/>
              </a:spcAft>
            </a:pPr>
            <a:r>
              <a:rPr sz="1100" b="0">
                <a:solidFill>
                  <a:srgbClr val="94A3B8"/>
                </a:solidFill>
                <a:latin typeface="Inter"/>
              </a:rPr>
              <a:t>Index derivatives &amp; volatility analysis</a:t>
            </a:r>
          </a:p>
        </p:txBody>
      </p:sp>
      <p:sp>
        <p:nvSpPr>
          <p:cNvPr id="16" name="Rounded Rectangle 15"/>
          <p:cNvSpPr/>
          <p:nvPr/>
        </p:nvSpPr>
        <p:spPr>
          <a:xfrm>
            <a:off x="9326880" y="1463040"/>
            <a:ext cx="2267712" cy="1325880"/>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326880" y="1463040"/>
            <a:ext cx="2267712"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91472" y="1591056"/>
            <a:ext cx="1938528" cy="1097280"/>
          </a:xfrm>
          <a:prstGeom prst="rect">
            <a:avLst/>
          </a:prstGeom>
          <a:noFill/>
        </p:spPr>
        <p:txBody>
          <a:bodyPr wrap="square" anchor="t" lIns="0" tIns="0" rIns="0" bIns="0">
            <a:spAutoFit/>
          </a:bodyPr>
          <a:lstStyle/>
          <a:p>
            <a:pPr algn="l">
              <a:spcBef>
                <a:spcPts val="0"/>
              </a:spcBef>
              <a:spcAft>
                <a:spcPts val="400"/>
              </a:spcAft>
            </a:pPr>
            <a:r>
              <a:rPr sz="1050" b="1">
                <a:solidFill>
                  <a:srgbClr val="F59E0B"/>
                </a:solidFill>
                <a:latin typeface="Inter"/>
              </a:rPr>
              <a:t>INTERNSHIP DURATION</a:t>
            </a:r>
          </a:p>
          <a:p>
            <a:pPr algn="l">
              <a:spcBef>
                <a:spcPts val="0"/>
              </a:spcBef>
              <a:spcAft>
                <a:spcPts val="400"/>
              </a:spcAft>
            </a:pPr>
            <a:r>
              <a:rPr sz="1600" b="1">
                <a:solidFill>
                  <a:srgbClr val="F8FAFC"/>
                </a:solidFill>
                <a:latin typeface="Inter"/>
              </a:rPr>
              <a:t>59 Calendar Days</a:t>
            </a:r>
          </a:p>
          <a:p>
            <a:pPr algn="l">
              <a:spcBef>
                <a:spcPts val="0"/>
              </a:spcBef>
              <a:spcAft>
                <a:spcPts val="0"/>
              </a:spcAft>
            </a:pPr>
            <a:r>
              <a:rPr sz="1100" b="0">
                <a:solidFill>
                  <a:srgbClr val="94A3B8"/>
                </a:solidFill>
                <a:latin typeface="Inter"/>
              </a:rPr>
              <a:t>18 June 2026 – 15 August 2026</a:t>
            </a:r>
          </a:p>
        </p:txBody>
      </p:sp>
      <p:sp>
        <p:nvSpPr>
          <p:cNvPr id="19" name="Rounded Rectangle 18"/>
          <p:cNvSpPr/>
          <p:nvPr/>
        </p:nvSpPr>
        <p:spPr>
          <a:xfrm>
            <a:off x="594360" y="2962656"/>
            <a:ext cx="5669280" cy="3255264"/>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594360" y="2962656"/>
            <a:ext cx="73152" cy="32552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090672"/>
            <a:ext cx="5257800" cy="3017520"/>
          </a:xfrm>
          <a:prstGeom prst="rect">
            <a:avLst/>
          </a:prstGeom>
          <a:noFill/>
        </p:spPr>
        <p:txBody>
          <a:bodyPr wrap="square" anchor="t" lIns="0" tIns="0" rIns="0" bIns="0">
            <a:spAutoFit/>
          </a:bodyPr>
          <a:lstStyle/>
          <a:p>
            <a:pPr algn="l">
              <a:spcBef>
                <a:spcPts val="0"/>
              </a:spcBef>
              <a:spcAft>
                <a:spcPts val="800"/>
              </a:spcAft>
            </a:pPr>
            <a:r>
              <a:rPr sz="1150" b="1">
                <a:solidFill>
                  <a:srgbClr val="00B4D8"/>
                </a:solidFill>
                <a:latin typeface="Inter"/>
              </a:rPr>
              <a:t>WHY IMPLIED VOLATILITY MATTERS IN OPTIONS TRADING</a:t>
            </a:r>
          </a:p>
          <a:p>
            <a:pPr algn="l" marL="201168" indent="-201168">
              <a:spcAft>
                <a:spcPts val="700"/>
              </a:spcAft>
              <a:buFont typeface="Inter"/>
              <a:buChar char="•"/>
            </a:pPr>
            <a:r>
              <a:rPr sz="1200" b="1">
                <a:solidFill>
                  <a:srgbClr val="F8FAFC"/>
                </a:solidFill>
                <a:latin typeface="Inter"/>
              </a:rPr>
              <a:t>Directly Observable Market Expectation: </a:t>
            </a:r>
            <a:r>
              <a:rPr sz="1200" b="0">
                <a:solidFill>
                  <a:srgbClr val="CBD5E1"/>
                </a:solidFill>
                <a:latin typeface="Inter"/>
              </a:rPr>
              <a:t>Options trading makes implied volatility (IV) an economically vital variable reflecting forward-looking uncertainty embedded in option prices.</a:t>
            </a:r>
          </a:p>
          <a:p>
            <a:pPr algn="l" marL="201168" indent="-201168">
              <a:spcAft>
                <a:spcPts val="700"/>
              </a:spcAft>
              <a:buFont typeface="Inter"/>
              <a:buChar char="•"/>
            </a:pPr>
            <a:r>
              <a:rPr sz="1200" b="1">
                <a:solidFill>
                  <a:srgbClr val="F8FAFC"/>
                </a:solidFill>
                <a:latin typeface="Inter"/>
              </a:rPr>
              <a:t>Short-Horizon Price &amp; Risk Impact: </a:t>
            </a:r>
            <a:r>
              <a:rPr sz="1200" b="0">
                <a:solidFill>
                  <a:srgbClr val="CBD5E1"/>
                </a:solidFill>
                <a:latin typeface="Inter"/>
              </a:rPr>
              <a:t>Intraday 5-minute shifts in IV directly impact option premiums, relative strike valuation, and short-term risk exposure.</a:t>
            </a:r>
          </a:p>
          <a:p>
            <a:pPr algn="l" marL="201168" indent="-201168">
              <a:spcAft>
                <a:spcPts val="700"/>
              </a:spcAft>
              <a:buFont typeface="Inter"/>
              <a:buChar char="•"/>
            </a:pPr>
            <a:r>
              <a:rPr sz="1200" b="1">
                <a:solidFill>
                  <a:srgbClr val="F8FAFC"/>
                </a:solidFill>
                <a:latin typeface="Inter"/>
              </a:rPr>
              <a:t>Quantitative Finance Translation: </a:t>
            </a:r>
            <a:r>
              <a:rPr sz="1200" b="0">
                <a:solidFill>
                  <a:srgbClr val="CBD5E1"/>
                </a:solidFill>
                <a:latin typeface="Inter"/>
              </a:rPr>
              <a:t>The internship provided a practical derivatives setting to translate option-pricing theory, time-series engineering, and ML validation into a working tool.</a:t>
            </a:r>
          </a:p>
          <a:p>
            <a:pPr algn="l" marL="201168" indent="-201168">
              <a:spcAft>
                <a:spcPts val="0"/>
              </a:spcAft>
              <a:buFont typeface="Inter"/>
              <a:buChar char="•"/>
            </a:pPr>
            <a:r>
              <a:rPr sz="1200" b="1">
                <a:solidFill>
                  <a:srgbClr val="F8FAFC"/>
                </a:solidFill>
                <a:latin typeface="Inter"/>
              </a:rPr>
              <a:t>Core Practical Research Question: </a:t>
            </a:r>
            <a:r>
              <a:rPr sz="1200" b="0">
                <a:solidFill>
                  <a:srgbClr val="CBD5E1"/>
                </a:solidFill>
                <a:latin typeface="Inter"/>
              </a:rPr>
              <a:t>Can near-term (5-minute) IV movements be forecast accurately and interpreted alongside spot and volatility risk?</a:t>
            </a:r>
          </a:p>
        </p:txBody>
      </p:sp>
      <p:sp>
        <p:nvSpPr>
          <p:cNvPr id="22" name="Rounded Rectangle 21"/>
          <p:cNvSpPr/>
          <p:nvPr/>
        </p:nvSpPr>
        <p:spPr>
          <a:xfrm>
            <a:off x="6446520" y="2962656"/>
            <a:ext cx="5148072" cy="3255264"/>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656832" y="3072384"/>
            <a:ext cx="4754880" cy="320040"/>
          </a:xfrm>
          <a:prstGeom prst="rect">
            <a:avLst/>
          </a:prstGeom>
          <a:noFill/>
        </p:spPr>
        <p:txBody>
          <a:bodyPr wrap="square" anchor="t" lIns="0" tIns="0" rIns="0" bIns="0">
            <a:spAutoFit/>
          </a:bodyPr>
          <a:lstStyle/>
          <a:p>
            <a:pPr algn="l">
              <a:spcBef>
                <a:spcPts val="0"/>
              </a:spcBef>
              <a:spcAft>
                <a:spcPts val="200"/>
              </a:spcAft>
            </a:pPr>
            <a:r>
              <a:rPr sz="1150" b="1">
                <a:solidFill>
                  <a:srgbClr val="2DD4BF"/>
                </a:solidFill>
                <a:latin typeface="Inter"/>
              </a:rPr>
              <a:t>BRIDGING OPTIONS PRACTICE &amp; QUANTITATIVE RESEARCH</a:t>
            </a:r>
          </a:p>
        </p:txBody>
      </p:sp>
      <p:sp>
        <p:nvSpPr>
          <p:cNvPr id="24" name="Rounded Rectangle 23"/>
          <p:cNvSpPr/>
          <p:nvPr/>
        </p:nvSpPr>
        <p:spPr>
          <a:xfrm>
            <a:off x="6656832" y="3419856"/>
            <a:ext cx="4727448" cy="658368"/>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6656832" y="3419856"/>
            <a:ext cx="64008" cy="65836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1424" y="3474720"/>
            <a:ext cx="4462272" cy="548640"/>
          </a:xfrm>
          <a:prstGeom prst="rect">
            <a:avLst/>
          </a:prstGeom>
          <a:noFill/>
        </p:spPr>
        <p:txBody>
          <a:bodyPr wrap="square" anchor="t" lIns="0" tIns="0" rIns="0" bIns="0">
            <a:spAutoFit/>
          </a:bodyPr>
          <a:lstStyle/>
          <a:p>
            <a:pPr algn="l">
              <a:spcBef>
                <a:spcPts val="0"/>
              </a:spcBef>
              <a:spcAft>
                <a:spcPts val="200"/>
              </a:spcAft>
            </a:pPr>
            <a:r>
              <a:rPr sz="1150" b="1">
                <a:solidFill>
                  <a:srgbClr val="00B4D8"/>
                </a:solidFill>
                <a:latin typeface="Inter"/>
              </a:rPr>
              <a:t>1. Market Domain (Options Trading)</a:t>
            </a:r>
          </a:p>
          <a:p>
            <a:pPr algn="l">
              <a:spcBef>
                <a:spcPts val="0"/>
              </a:spcBef>
              <a:spcAft>
                <a:spcPts val="0"/>
              </a:spcAft>
            </a:pPr>
            <a:r>
              <a:rPr sz="1050" b="0">
                <a:solidFill>
                  <a:srgbClr val="CBD5E1"/>
                </a:solidFill>
                <a:latin typeface="Inter"/>
              </a:rPr>
              <a:t>Observe live NIFTY 50 Call (CE) &amp; Put (PE) option chains, strike prices, LTP, liquidity (OI, volume, bid-ask), and implied volatility.</a:t>
            </a:r>
          </a:p>
        </p:txBody>
      </p:sp>
      <p:sp>
        <p:nvSpPr>
          <p:cNvPr id="27" name="Rounded Rectangle 26"/>
          <p:cNvSpPr/>
          <p:nvPr/>
        </p:nvSpPr>
        <p:spPr>
          <a:xfrm>
            <a:off x="6656832" y="4151376"/>
            <a:ext cx="4727448" cy="658368"/>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656832" y="4151376"/>
            <a:ext cx="64008" cy="65836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1424" y="4206240"/>
            <a:ext cx="4462272" cy="548640"/>
          </a:xfrm>
          <a:prstGeom prst="rect">
            <a:avLst/>
          </a:prstGeom>
          <a:noFill/>
        </p:spPr>
        <p:txBody>
          <a:bodyPr wrap="square" anchor="t" lIns="0" tIns="0" rIns="0" bIns="0">
            <a:spAutoFit/>
          </a:bodyPr>
          <a:lstStyle/>
          <a:p>
            <a:pPr algn="l">
              <a:spcBef>
                <a:spcPts val="0"/>
              </a:spcBef>
              <a:spcAft>
                <a:spcPts val="200"/>
              </a:spcAft>
            </a:pPr>
            <a:r>
              <a:rPr sz="1150" b="1">
                <a:solidFill>
                  <a:srgbClr val="2DD4BF"/>
                </a:solidFill>
                <a:latin typeface="Inter"/>
              </a:rPr>
              <a:t>2. Quantitative Research Formulation</a:t>
            </a:r>
          </a:p>
          <a:p>
            <a:pPr algn="l">
              <a:spcBef>
                <a:spcPts val="0"/>
              </a:spcBef>
              <a:spcAft>
                <a:spcPts val="0"/>
              </a:spcAft>
            </a:pPr>
            <a:r>
              <a:rPr sz="1050" b="0">
                <a:solidFill>
                  <a:srgbClr val="CBD5E1"/>
                </a:solidFill>
                <a:latin typeface="Inter"/>
              </a:rPr>
              <a:t>Formulate exact 5-minute IV change forecasting (ΔIV at t+5) within the liquid near-ATM moneyness band (0.95 ≤ M ≤ 1.05).</a:t>
            </a:r>
          </a:p>
        </p:txBody>
      </p:sp>
      <p:sp>
        <p:nvSpPr>
          <p:cNvPr id="30" name="Rounded Rectangle 29"/>
          <p:cNvSpPr/>
          <p:nvPr/>
        </p:nvSpPr>
        <p:spPr>
          <a:xfrm>
            <a:off x="6656832" y="4882896"/>
            <a:ext cx="4727448" cy="658368"/>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6656832" y="4882896"/>
            <a:ext cx="64008"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1424" y="4937759"/>
            <a:ext cx="4462272" cy="548640"/>
          </a:xfrm>
          <a:prstGeom prst="rect">
            <a:avLst/>
          </a:prstGeom>
          <a:noFill/>
        </p:spPr>
        <p:txBody>
          <a:bodyPr wrap="square" anchor="t" lIns="0" tIns="0" rIns="0" bIns="0">
            <a:spAutoFit/>
          </a:bodyPr>
          <a:lstStyle/>
          <a:p>
            <a:pPr algn="l">
              <a:spcBef>
                <a:spcPts val="0"/>
              </a:spcBef>
              <a:spcAft>
                <a:spcPts val="200"/>
              </a:spcAft>
            </a:pPr>
            <a:r>
              <a:rPr sz="1150" b="1">
                <a:solidFill>
                  <a:srgbClr val="10B981"/>
                </a:solidFill>
                <a:latin typeface="Inter"/>
              </a:rPr>
              <a:t>3. Risk-Aware Decision Support</a:t>
            </a:r>
          </a:p>
          <a:p>
            <a:pPr algn="l">
              <a:spcBef>
                <a:spcPts val="0"/>
              </a:spcBef>
              <a:spcAft>
                <a:spcPts val="0"/>
              </a:spcAft>
            </a:pPr>
            <a:r>
              <a:rPr sz="1050" b="0">
                <a:solidFill>
                  <a:srgbClr val="CBD5E1"/>
                </a:solidFill>
                <a:latin typeface="Inter"/>
              </a:rPr>
              <a:t>Combine ML forecast with Relative-IV classification and Black–Scholes stress testing so volatility views are weighed against spot risk.</a:t>
            </a:r>
          </a:p>
        </p:txBody>
      </p:sp>
      <p:sp>
        <p:nvSpPr>
          <p:cNvPr id="33" name="TextBox 32"/>
          <p:cNvSpPr txBox="1"/>
          <p:nvPr/>
        </p:nvSpPr>
        <p:spPr>
          <a:xfrm>
            <a:off x="6656832" y="5669280"/>
            <a:ext cx="4727448" cy="438912"/>
          </a:xfrm>
          <a:prstGeom prst="rect">
            <a:avLst/>
          </a:prstGeom>
          <a:noFill/>
        </p:spPr>
        <p:txBody>
          <a:bodyPr wrap="square" anchor="t" lIns="0" tIns="0" rIns="0" bIns="0">
            <a:spAutoFit/>
          </a:bodyPr>
          <a:lstStyle/>
          <a:p>
            <a:pPr algn="l">
              <a:spcBef>
                <a:spcPts val="0"/>
              </a:spcBef>
              <a:spcAft>
                <a:spcPts val="400"/>
              </a:spcAft>
            </a:pPr>
            <a:r>
              <a:rPr sz="1050" b="1">
                <a:solidFill>
                  <a:srgbClr val="F59E0B"/>
                </a:solidFill>
                <a:latin typeface="Inter"/>
              </a:rPr>
              <a:t>Scope Note: No additional company responsibilities are claimed beyond the project and internship details documented in this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02  •  INTRODUCTION &amp; PROJECT BACKGROUND</a:t>
            </a:r>
          </a:p>
          <a:p>
            <a:pPr algn="l">
              <a:spcBef>
                <a:spcPts val="0"/>
              </a:spcBef>
              <a:spcAft>
                <a:spcPts val="200"/>
              </a:spcAft>
            </a:pPr>
            <a:r>
              <a:rPr sz="2300" b="1">
                <a:solidFill>
                  <a:srgbClr val="F8FAFC"/>
                </a:solidFill>
                <a:latin typeface="Inter"/>
              </a:rPr>
              <a:t>Implied Volatility as a Forward-Looking Market Signal Across Strikes</a:t>
            </a:r>
          </a:p>
          <a:p>
            <a:pPr algn="l">
              <a:spcBef>
                <a:spcPts val="0"/>
              </a:spcBef>
              <a:spcAft>
                <a:spcPts val="0"/>
              </a:spcAft>
            </a:pPr>
            <a:r>
              <a:rPr sz="1300" b="0">
                <a:solidFill>
                  <a:srgbClr val="94A3B8"/>
                </a:solidFill>
                <a:latin typeface="Inter"/>
              </a:rPr>
              <a:t>Understanding the volatility smile/skew, cross-sectional strike dynamics, and 5-minute forecasting scope</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3 / 15</a:t>
            </a:r>
          </a:p>
        </p:txBody>
      </p:sp>
      <p:sp>
        <p:nvSpPr>
          <p:cNvPr id="7" name="Rounded Rectangle 6"/>
          <p:cNvSpPr/>
          <p:nvPr/>
        </p:nvSpPr>
        <p:spPr>
          <a:xfrm>
            <a:off x="594360" y="1481328"/>
            <a:ext cx="5806440" cy="148132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481328"/>
            <a:ext cx="73152" cy="14813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591056"/>
            <a:ext cx="5468112" cy="1280160"/>
          </a:xfrm>
          <a:prstGeom prst="rect">
            <a:avLst/>
          </a:prstGeom>
          <a:noFill/>
        </p:spPr>
        <p:txBody>
          <a:bodyPr wrap="square" anchor="t" lIns="0" tIns="0" rIns="0" bIns="0">
            <a:spAutoFit/>
          </a:bodyPr>
          <a:lstStyle/>
          <a:p>
            <a:pPr algn="l">
              <a:spcBef>
                <a:spcPts val="0"/>
              </a:spcBef>
              <a:spcAft>
                <a:spcPts val="400"/>
              </a:spcAft>
            </a:pPr>
            <a:r>
              <a:rPr sz="1150" b="1">
                <a:solidFill>
                  <a:srgbClr val="00B4D8"/>
                </a:solidFill>
                <a:latin typeface="Inter"/>
              </a:rPr>
              <a:t>1  |  IMPLIED VOLATILITY (IV) AS MARKET EXPECTATION</a:t>
            </a:r>
          </a:p>
          <a:p>
            <a:pPr algn="l">
              <a:spcBef>
                <a:spcPts val="0"/>
              </a:spcBef>
              <a:spcAft>
                <a:spcPts val="500"/>
              </a:spcAft>
            </a:pPr>
            <a:r>
              <a:rPr sz="1150" b="0">
                <a:solidFill>
                  <a:srgbClr val="F8FAFC"/>
                </a:solidFill>
                <a:latin typeface="Inter"/>
              </a:rPr>
              <a:t>The volatility level (σ) embedded in an option's observed market price. It reflects forward-looking market expectations of underlying price variability and varies continuously with strike price, moneyness, and time to expiry.</a:t>
            </a:r>
          </a:p>
          <a:p>
            <a:pPr algn="l">
              <a:spcBef>
                <a:spcPts val="0"/>
              </a:spcBef>
              <a:spcAft>
                <a:spcPts val="0"/>
              </a:spcAft>
            </a:pPr>
            <a:r>
              <a:rPr sz="1100" b="1">
                <a:solidFill>
                  <a:srgbClr val="CBD5E1"/>
                </a:solidFill>
                <a:latin typeface="Inter"/>
              </a:rPr>
              <a:t>Why It Matters: IV is central to option pricing, relative valuation across strikes, vega risk management, and trading decisions.</a:t>
            </a:r>
          </a:p>
        </p:txBody>
      </p:sp>
      <p:sp>
        <p:nvSpPr>
          <p:cNvPr id="10" name="Rounded Rectangle 9"/>
          <p:cNvSpPr/>
          <p:nvPr/>
        </p:nvSpPr>
        <p:spPr>
          <a:xfrm>
            <a:off x="594360" y="3090672"/>
            <a:ext cx="5806440" cy="148132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94360" y="3090672"/>
            <a:ext cx="73152" cy="148132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200400"/>
            <a:ext cx="5468112" cy="1280160"/>
          </a:xfrm>
          <a:prstGeom prst="rect">
            <a:avLst/>
          </a:prstGeom>
          <a:noFill/>
        </p:spPr>
        <p:txBody>
          <a:bodyPr wrap="square" anchor="t" lIns="0" tIns="0" rIns="0" bIns="0">
            <a:spAutoFit/>
          </a:bodyPr>
          <a:lstStyle/>
          <a:p>
            <a:pPr algn="l">
              <a:spcBef>
                <a:spcPts val="0"/>
              </a:spcBef>
              <a:spcAft>
                <a:spcPts val="400"/>
              </a:spcAft>
            </a:pPr>
            <a:r>
              <a:rPr sz="1150" b="1">
                <a:solidFill>
                  <a:srgbClr val="2DD4BF"/>
                </a:solidFill>
                <a:latin typeface="Inter"/>
              </a:rPr>
              <a:t>2  |  THE VOLATILITY SMILE &amp; SKEW STRUCTURE</a:t>
            </a:r>
          </a:p>
          <a:p>
            <a:pPr algn="l">
              <a:spcBef>
                <a:spcPts val="0"/>
              </a:spcBef>
              <a:spcAft>
                <a:spcPts val="500"/>
              </a:spcAft>
            </a:pPr>
            <a:r>
              <a:rPr sz="1150" b="0">
                <a:solidFill>
                  <a:srgbClr val="F8FAFC"/>
                </a:solidFill>
                <a:latin typeface="Inter"/>
              </a:rPr>
              <a:t>Contrary to constant-volatility textbook assumptions, IV is not flat across strikes. The cross-section forms a volatility smile or skew, making strike position and moneyness essential dimensions in option-chain analysis.</a:t>
            </a:r>
          </a:p>
          <a:p>
            <a:pPr algn="l">
              <a:spcBef>
                <a:spcPts val="0"/>
              </a:spcBef>
              <a:spcAft>
                <a:spcPts val="0"/>
              </a:spcAft>
            </a:pPr>
            <a:r>
              <a:rPr sz="1100" b="1">
                <a:solidFill>
                  <a:srgbClr val="CBD5E1"/>
                </a:solidFill>
                <a:latin typeface="Inter"/>
              </a:rPr>
              <a:t>Project Focus: Map current near-ATM IV structure and forecast how each contract's IV will change over the next 5 minutes.</a:t>
            </a:r>
          </a:p>
        </p:txBody>
      </p:sp>
      <p:sp>
        <p:nvSpPr>
          <p:cNvPr id="13" name="Rounded Rectangle 12"/>
          <p:cNvSpPr/>
          <p:nvPr/>
        </p:nvSpPr>
        <p:spPr>
          <a:xfrm>
            <a:off x="594360" y="4700016"/>
            <a:ext cx="5806440" cy="148132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94360" y="4700016"/>
            <a:ext cx="73152"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809744"/>
            <a:ext cx="5468112" cy="1280160"/>
          </a:xfrm>
          <a:prstGeom prst="rect">
            <a:avLst/>
          </a:prstGeom>
          <a:noFill/>
        </p:spPr>
        <p:txBody>
          <a:bodyPr wrap="square" anchor="t" lIns="0" tIns="0" rIns="0" bIns="0">
            <a:spAutoFit/>
          </a:bodyPr>
          <a:lstStyle/>
          <a:p>
            <a:pPr algn="l">
              <a:spcBef>
                <a:spcPts val="0"/>
              </a:spcBef>
              <a:spcAft>
                <a:spcPts val="400"/>
              </a:spcAft>
            </a:pPr>
            <a:r>
              <a:rPr sz="1150" b="1">
                <a:solidFill>
                  <a:srgbClr val="10B981"/>
                </a:solidFill>
                <a:latin typeface="Inter"/>
              </a:rPr>
              <a:t>3  |  QUANTITATIVE-FINANCE &amp; DECISION-SUPPORT LINK</a:t>
            </a:r>
          </a:p>
          <a:p>
            <a:pPr algn="l">
              <a:spcBef>
                <a:spcPts val="0"/>
              </a:spcBef>
              <a:spcAft>
                <a:spcPts val="500"/>
              </a:spcAft>
            </a:pPr>
            <a:r>
              <a:rPr sz="1150" b="0">
                <a:solidFill>
                  <a:srgbClr val="F8FAFC"/>
                </a:solidFill>
                <a:latin typeface="Inter"/>
              </a:rPr>
              <a:t>This study integrates derivatives pricing theory, exact time-series lag engineering, nonlinear tree ensembles, strict chronological out-of-sample validation, and scenario-based risk stress testing.</a:t>
            </a:r>
          </a:p>
          <a:p>
            <a:pPr algn="l">
              <a:spcBef>
                <a:spcPts val="0"/>
              </a:spcBef>
              <a:spcAft>
                <a:spcPts val="0"/>
              </a:spcAft>
            </a:pPr>
            <a:r>
              <a:rPr sz="1100" b="1">
                <a:solidFill>
                  <a:srgbClr val="CBD5E1"/>
                </a:solidFill>
                <a:latin typeface="Inter"/>
              </a:rPr>
              <a:t>Decision Support Philosophy: Forecasts are treated strictly as analytical research signals—not guaranteed buy or sell recommendations.</a:t>
            </a:r>
          </a:p>
        </p:txBody>
      </p:sp>
      <p:sp>
        <p:nvSpPr>
          <p:cNvPr id="16" name="Rounded Rectangle 15"/>
          <p:cNvSpPr/>
          <p:nvPr/>
        </p:nvSpPr>
        <p:spPr>
          <a:xfrm>
            <a:off x="6583680" y="1481328"/>
            <a:ext cx="5010912" cy="4700016"/>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s3_smile_diagram.png"/>
          <p:cNvPicPr>
            <a:picLocks noChangeAspect="1"/>
          </p:cNvPicPr>
          <p:nvPr/>
        </p:nvPicPr>
        <p:blipFill>
          <a:blip r:embed="rId2"/>
          <a:stretch>
            <a:fillRect/>
          </a:stretch>
        </p:blipFill>
        <p:spPr>
          <a:xfrm>
            <a:off x="6693408" y="1554480"/>
            <a:ext cx="4791456" cy="3238669"/>
          </a:xfrm>
          <a:prstGeom prst="rect">
            <a:avLst/>
          </a:prstGeom>
        </p:spPr>
      </p:pic>
      <p:sp>
        <p:nvSpPr>
          <p:cNvPr id="18" name="TextBox 17"/>
          <p:cNvSpPr txBox="1"/>
          <p:nvPr/>
        </p:nvSpPr>
        <p:spPr>
          <a:xfrm>
            <a:off x="6748272" y="4919472"/>
            <a:ext cx="4681728" cy="1188720"/>
          </a:xfrm>
          <a:prstGeom prst="rect">
            <a:avLst/>
          </a:prstGeom>
          <a:noFill/>
        </p:spPr>
        <p:txBody>
          <a:bodyPr wrap="square" anchor="t" lIns="0" tIns="0" rIns="0" bIns="0">
            <a:spAutoFit/>
          </a:bodyPr>
          <a:lstStyle/>
          <a:p>
            <a:pPr algn="l">
              <a:spcBef>
                <a:spcPts val="0"/>
              </a:spcBef>
              <a:spcAft>
                <a:spcPts val="400"/>
              </a:spcAft>
            </a:pPr>
            <a:r>
              <a:rPr sz="1100" b="1">
                <a:solidFill>
                  <a:srgbClr val="F59E0B"/>
                </a:solidFill>
                <a:latin typeface="Inter"/>
              </a:rPr>
              <a:t>KEY ANALYTICAL TAKEAWAYS FROM THE IV SURFACE</a:t>
            </a:r>
          </a:p>
          <a:p>
            <a:pPr algn="l" marL="201168" indent="-201168">
              <a:spcAft>
                <a:spcPts val="300"/>
              </a:spcAft>
              <a:buFont typeface="Inter"/>
              <a:buChar char="•"/>
            </a:pPr>
            <a:r>
              <a:rPr sz="1100" b="1">
                <a:solidFill>
                  <a:srgbClr val="F8FAFC"/>
                </a:solidFill>
                <a:latin typeface="Inter"/>
              </a:rPr>
              <a:t>Cross-Sectional Heterogeneity: </a:t>
            </a:r>
            <a:r>
              <a:rPr sz="1100" b="0">
                <a:solidFill>
                  <a:srgbClr val="CBD5E1"/>
                </a:solidFill>
                <a:latin typeface="Inter"/>
              </a:rPr>
              <a:t>Deep OTM/ITM wings often exhibit higher IV sensitivity and wider bid-ask spreads than near-ATM strikes.</a:t>
            </a:r>
          </a:p>
          <a:p>
            <a:pPr algn="l" marL="201168" indent="-201168">
              <a:spcAft>
                <a:spcPts val="0"/>
              </a:spcAft>
              <a:buFont typeface="Inter"/>
              <a:buChar char="•"/>
            </a:pPr>
            <a:r>
              <a:rPr sz="1100" b="1">
                <a:solidFill>
                  <a:srgbClr val="F8FAFC"/>
                </a:solidFill>
                <a:latin typeface="Inter"/>
              </a:rPr>
              <a:t>Dynamic Surface Shift: </a:t>
            </a:r>
            <a:r>
              <a:rPr sz="1100" b="0">
                <a:solidFill>
                  <a:srgbClr val="CBD5E1"/>
                </a:solidFill>
                <a:latin typeface="Inter"/>
              </a:rPr>
              <a:t>Over a 5-minute interval, both spot movement and order-flow pressure shift individual strike IVs.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03  •  PROBLEM STATEMENT &amp; MOTIVATION</a:t>
            </a:r>
          </a:p>
          <a:p>
            <a:pPr algn="l">
              <a:spcBef>
                <a:spcPts val="0"/>
              </a:spcBef>
              <a:spcAft>
                <a:spcPts val="200"/>
              </a:spcAft>
            </a:pPr>
            <a:r>
              <a:rPr sz="2300" b="1">
                <a:solidFill>
                  <a:srgbClr val="F8FAFC"/>
                </a:solidFill>
                <a:latin typeface="Inter"/>
              </a:rPr>
              <a:t>Can 5-Minute NIFTY 50 IV Changes Beat the Persistence Benchmark?</a:t>
            </a:r>
          </a:p>
          <a:p>
            <a:pPr algn="l">
              <a:spcBef>
                <a:spcPts val="0"/>
              </a:spcBef>
              <a:spcAft>
                <a:spcPts val="0"/>
              </a:spcAft>
            </a:pPr>
            <a:r>
              <a:rPr sz="1300" b="0">
                <a:solidFill>
                  <a:srgbClr val="94A3B8"/>
                </a:solidFill>
                <a:latin typeface="Inter"/>
              </a:rPr>
              <a:t>Distinguishing the short-horizon forecasting challenge, baseline rigor, and risk-aware decision support</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4 / 15</a:t>
            </a:r>
          </a:p>
        </p:txBody>
      </p:sp>
      <p:sp>
        <p:nvSpPr>
          <p:cNvPr id="7" name="Rounded Rectangle 6"/>
          <p:cNvSpPr/>
          <p:nvPr/>
        </p:nvSpPr>
        <p:spPr>
          <a:xfrm>
            <a:off x="594360" y="1481328"/>
            <a:ext cx="11000232" cy="1051560"/>
          </a:xfrm>
          <a:prstGeom prst="roundRect">
            <a:avLst>
              <a:gd name="adj" fmla="val 4000"/>
            </a:avLst>
          </a:prstGeom>
          <a:solidFill>
            <a:srgbClr val="172A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481328"/>
            <a:ext cx="91440" cy="105156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554480"/>
            <a:ext cx="10561320" cy="896112"/>
          </a:xfrm>
          <a:prstGeom prst="rect">
            <a:avLst/>
          </a:prstGeom>
          <a:noFill/>
        </p:spPr>
        <p:txBody>
          <a:bodyPr wrap="square" anchor="t" lIns="0" tIns="0" rIns="0" bIns="0">
            <a:spAutoFit/>
          </a:bodyPr>
          <a:lstStyle/>
          <a:p>
            <a:pPr algn="l">
              <a:spcBef>
                <a:spcPts val="0"/>
              </a:spcBef>
              <a:spcAft>
                <a:spcPts val="400"/>
              </a:spcAft>
            </a:pPr>
            <a:r>
              <a:rPr sz="1100" b="1">
                <a:solidFill>
                  <a:srgbClr val="00B4D8"/>
                </a:solidFill>
                <a:latin typeface="Inter"/>
              </a:rPr>
              <a:t>CENTRAL RESEARCH QUESTION</a:t>
            </a:r>
          </a:p>
          <a:p>
            <a:pPr algn="l">
              <a:spcBef>
                <a:spcPts val="0"/>
              </a:spcBef>
              <a:spcAft>
                <a:spcPts val="0"/>
              </a:spcAft>
            </a:pPr>
            <a:r>
              <a:rPr sz="1700" b="1">
                <a:solidFill>
                  <a:srgbClr val="F8FAFC"/>
                </a:solidFill>
                <a:latin typeface="Inter"/>
              </a:rPr>
              <a:t>“Can short-horizon (5-minute) changes in NIFTY 50 option implied volatility be forecast more effectively than a simple ‘IV stays unchanged’ persistence benchmark?”</a:t>
            </a:r>
          </a:p>
        </p:txBody>
      </p:sp>
      <p:sp>
        <p:nvSpPr>
          <p:cNvPr id="10" name="Rounded Rectangle 9"/>
          <p:cNvSpPr/>
          <p:nvPr/>
        </p:nvSpPr>
        <p:spPr>
          <a:xfrm>
            <a:off x="594360" y="2688336"/>
            <a:ext cx="3447288" cy="210312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94360" y="2688336"/>
            <a:ext cx="3447288"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816352"/>
            <a:ext cx="3118104" cy="1901952"/>
          </a:xfrm>
          <a:prstGeom prst="rect">
            <a:avLst/>
          </a:prstGeom>
          <a:noFill/>
        </p:spPr>
        <p:txBody>
          <a:bodyPr wrap="square" anchor="t" lIns="0" tIns="0" rIns="0" bIns="0">
            <a:spAutoFit/>
          </a:bodyPr>
          <a:lstStyle/>
          <a:p>
            <a:pPr algn="l">
              <a:spcBef>
                <a:spcPts val="0"/>
              </a:spcBef>
              <a:spcAft>
                <a:spcPts val="200"/>
              </a:spcAft>
            </a:pPr>
            <a:r>
              <a:rPr sz="1050" b="1">
                <a:solidFill>
                  <a:srgbClr val="00B4D8"/>
                </a:solidFill>
                <a:latin typeface="Inter"/>
              </a:rPr>
              <a:t>THE FORECASTING PROBLEM</a:t>
            </a:r>
          </a:p>
          <a:p>
            <a:pPr algn="l">
              <a:spcBef>
                <a:spcPts val="0"/>
              </a:spcBef>
              <a:spcAft>
                <a:spcPts val="800"/>
              </a:spcAft>
            </a:pPr>
            <a:r>
              <a:rPr sz="1400" b="1">
                <a:solidFill>
                  <a:srgbClr val="F8FAFC"/>
                </a:solidFill>
                <a:latin typeface="Inter"/>
              </a:rPr>
              <a:t>Static IV Is Incomplete</a:t>
            </a:r>
          </a:p>
          <a:p>
            <a:pPr algn="l" marL="201168" indent="-201168">
              <a:spcAft>
                <a:spcPts val="500"/>
              </a:spcAft>
              <a:buFont typeface="Inter"/>
              <a:buChar char="•"/>
            </a:pPr>
            <a:r>
              <a:rPr sz="1150" b="1">
                <a:solidFill>
                  <a:srgbClr val="F8FAFC"/>
                </a:solidFill>
                <a:latin typeface="Inter"/>
              </a:rPr>
              <a:t>Unobserved Direction: </a:t>
            </a:r>
            <a:r>
              <a:rPr sz="1150" b="0">
                <a:solidFill>
                  <a:srgbClr val="CBD5E1"/>
                </a:solidFill>
                <a:latin typeface="Inter"/>
              </a:rPr>
              <a:t>Current IV alone does not indicate whether volatility is likely to expand or contract over the next 5 minutes.</a:t>
            </a:r>
          </a:p>
          <a:p>
            <a:pPr algn="l" marL="201168" indent="-201168">
              <a:spcAft>
                <a:spcPts val="500"/>
              </a:spcAft>
              <a:buFont typeface="Inter"/>
              <a:buChar char="•"/>
            </a:pPr>
            <a:r>
              <a:rPr sz="1150" b="1">
                <a:solidFill>
                  <a:srgbClr val="F8FAFC"/>
                </a:solidFill>
                <a:latin typeface="Inter"/>
              </a:rPr>
              <a:t>Microstructure Noise: </a:t>
            </a:r>
            <a:r>
              <a:rPr sz="1150" b="0">
                <a:solidFill>
                  <a:srgbClr val="CBD5E1"/>
                </a:solidFill>
                <a:latin typeface="Inter"/>
              </a:rPr>
              <a:t>Short-horizon option snapshots contain bid-ask bounce and cross-sectional strike variation.</a:t>
            </a:r>
          </a:p>
        </p:txBody>
      </p:sp>
      <p:sp>
        <p:nvSpPr>
          <p:cNvPr id="13" name="Rounded Rectangle 12"/>
          <p:cNvSpPr/>
          <p:nvPr/>
        </p:nvSpPr>
        <p:spPr>
          <a:xfrm>
            <a:off x="4370832" y="2688336"/>
            <a:ext cx="3447288" cy="210312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370832" y="2688336"/>
            <a:ext cx="3447288"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816352"/>
            <a:ext cx="3118104" cy="1901952"/>
          </a:xfrm>
          <a:prstGeom prst="rect">
            <a:avLst/>
          </a:prstGeom>
          <a:noFill/>
        </p:spPr>
        <p:txBody>
          <a:bodyPr wrap="square" anchor="t" lIns="0" tIns="0" rIns="0" bIns="0">
            <a:spAutoFit/>
          </a:bodyPr>
          <a:lstStyle/>
          <a:p>
            <a:pPr algn="l">
              <a:spcBef>
                <a:spcPts val="0"/>
              </a:spcBef>
              <a:spcAft>
                <a:spcPts val="200"/>
              </a:spcAft>
            </a:pPr>
            <a:r>
              <a:rPr sz="1050" b="1">
                <a:solidFill>
                  <a:srgbClr val="F59E0B"/>
                </a:solidFill>
                <a:latin typeface="Inter"/>
              </a:rPr>
              <a:t>THE PERSISTENCE BENCHMARK</a:t>
            </a:r>
          </a:p>
          <a:p>
            <a:pPr algn="l">
              <a:spcBef>
                <a:spcPts val="0"/>
              </a:spcBef>
              <a:spcAft>
                <a:spcPts val="800"/>
              </a:spcAft>
            </a:pPr>
            <a:r>
              <a:rPr sz="1400" b="1">
                <a:solidFill>
                  <a:srgbClr val="F8FAFC"/>
                </a:solidFill>
                <a:latin typeface="Inter"/>
              </a:rPr>
              <a:t>Why IV(t+5) = IV(t) Is Tough</a:t>
            </a:r>
          </a:p>
          <a:p>
            <a:pPr algn="l" marL="201168" indent="-201168">
              <a:spcAft>
                <a:spcPts val="500"/>
              </a:spcAft>
              <a:buFont typeface="Inter"/>
              <a:buChar char="•"/>
            </a:pPr>
            <a:r>
              <a:rPr sz="1150" b="1">
                <a:solidFill>
                  <a:srgbClr val="F8FAFC"/>
                </a:solidFill>
                <a:latin typeface="Inter"/>
              </a:rPr>
              <a:t>High Autocorrelation: </a:t>
            </a:r>
            <a:r>
              <a:rPr sz="1150" b="0">
                <a:solidFill>
                  <a:srgbClr val="CBD5E1"/>
                </a:solidFill>
                <a:latin typeface="Inter"/>
              </a:rPr>
              <a:t>Over a 5-minute window, implied volatility levels are highly persistent (R² &gt; 0.98 even for naive no-change).</a:t>
            </a:r>
          </a:p>
          <a:p>
            <a:pPr algn="l" marL="201168" indent="-201168">
              <a:spcAft>
                <a:spcPts val="500"/>
              </a:spcAft>
              <a:buFont typeface="Inter"/>
              <a:buChar char="•"/>
            </a:pPr>
            <a:r>
              <a:rPr sz="1150" b="1">
                <a:solidFill>
                  <a:srgbClr val="F8FAFC"/>
                </a:solidFill>
                <a:latin typeface="Inter"/>
              </a:rPr>
              <a:t>Strict Value-Add Test: </a:t>
            </a:r>
            <a:r>
              <a:rPr sz="1150" b="0">
                <a:solidFill>
                  <a:srgbClr val="CBD5E1"/>
                </a:solidFill>
                <a:latin typeface="Inter"/>
              </a:rPr>
              <a:t>An ML model adds real value only if its chronological out-of-sample error beats ΔIV = 0.</a:t>
            </a:r>
          </a:p>
        </p:txBody>
      </p:sp>
      <p:sp>
        <p:nvSpPr>
          <p:cNvPr id="16" name="Rounded Rectangle 15"/>
          <p:cNvSpPr/>
          <p:nvPr/>
        </p:nvSpPr>
        <p:spPr>
          <a:xfrm>
            <a:off x="8147304" y="2688336"/>
            <a:ext cx="3447288" cy="210312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147304" y="2688336"/>
            <a:ext cx="3447288" cy="548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2816352"/>
            <a:ext cx="3118104" cy="1901952"/>
          </a:xfrm>
          <a:prstGeom prst="rect">
            <a:avLst/>
          </a:prstGeom>
          <a:noFill/>
        </p:spPr>
        <p:txBody>
          <a:bodyPr wrap="square" anchor="t" lIns="0" tIns="0" rIns="0" bIns="0">
            <a:spAutoFit/>
          </a:bodyPr>
          <a:lstStyle/>
          <a:p>
            <a:pPr algn="l">
              <a:spcBef>
                <a:spcPts val="0"/>
              </a:spcBef>
              <a:spcAft>
                <a:spcPts val="200"/>
              </a:spcAft>
            </a:pPr>
            <a:r>
              <a:rPr sz="1050" b="1">
                <a:solidFill>
                  <a:srgbClr val="2DD4BF"/>
                </a:solidFill>
                <a:latin typeface="Inter"/>
              </a:rPr>
              <a:t>WHY RISK PAIRING IS ESSENTIAL</a:t>
            </a:r>
          </a:p>
          <a:p>
            <a:pPr algn="l">
              <a:spcBef>
                <a:spcPts val="0"/>
              </a:spcBef>
              <a:spcAft>
                <a:spcPts val="800"/>
              </a:spcAft>
            </a:pPr>
            <a:r>
              <a:rPr sz="1400" b="1">
                <a:solidFill>
                  <a:srgbClr val="F8FAFC"/>
                </a:solidFill>
                <a:latin typeface="Inter"/>
              </a:rPr>
              <a:t>Multi-Factor Option Sensitivity</a:t>
            </a:r>
          </a:p>
          <a:p>
            <a:pPr algn="l" marL="201168" indent="-201168">
              <a:spcAft>
                <a:spcPts val="500"/>
              </a:spcAft>
              <a:buFont typeface="Inter"/>
              <a:buChar char="•"/>
            </a:pPr>
            <a:r>
              <a:rPr sz="1150" b="1">
                <a:solidFill>
                  <a:srgbClr val="F8FAFC"/>
                </a:solidFill>
                <a:latin typeface="Inter"/>
              </a:rPr>
              <a:t>Joint Greek Exposure: </a:t>
            </a:r>
            <a:r>
              <a:rPr sz="1150" b="0">
                <a:solidFill>
                  <a:srgbClr val="CBD5E1"/>
                </a:solidFill>
                <a:latin typeface="Inter"/>
              </a:rPr>
              <a:t>Option premiums react simultaneously to IV (Vega), spot price movement (Delta/Gamma), and time decay (Theta).</a:t>
            </a:r>
          </a:p>
          <a:p>
            <a:pPr algn="l" marL="201168" indent="-201168">
              <a:spcAft>
                <a:spcPts val="500"/>
              </a:spcAft>
              <a:buFont typeface="Inter"/>
              <a:buChar char="•"/>
            </a:pPr>
            <a:r>
              <a:rPr sz="1150" b="1">
                <a:solidFill>
                  <a:srgbClr val="F8FAFC"/>
                </a:solidFill>
                <a:latin typeface="Inter"/>
              </a:rPr>
              <a:t>Holistic Evaluation: </a:t>
            </a:r>
            <a:r>
              <a:rPr sz="1150" b="0">
                <a:solidFill>
                  <a:srgbClr val="CBD5E1"/>
                </a:solidFill>
                <a:latin typeface="Inter"/>
              </a:rPr>
              <a:t>Forecast interpretation must be paired with Black–Scholes scenario stress testing.</a:t>
            </a:r>
          </a:p>
        </p:txBody>
      </p:sp>
      <p:sp>
        <p:nvSpPr>
          <p:cNvPr id="19" name="Rounded Rectangle 18"/>
          <p:cNvSpPr/>
          <p:nvPr/>
        </p:nvSpPr>
        <p:spPr>
          <a:xfrm>
            <a:off x="594360" y="4956048"/>
            <a:ext cx="11000232" cy="1261872"/>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77240" y="5029200"/>
            <a:ext cx="10607040" cy="274320"/>
          </a:xfrm>
          <a:prstGeom prst="rect">
            <a:avLst/>
          </a:prstGeom>
          <a:noFill/>
        </p:spPr>
        <p:txBody>
          <a:bodyPr wrap="square" anchor="t" lIns="0" tIns="0" rIns="0" bIns="0">
            <a:spAutoFit/>
          </a:bodyPr>
          <a:lstStyle/>
          <a:p>
            <a:pPr algn="l">
              <a:spcBef>
                <a:spcPts val="0"/>
              </a:spcBef>
              <a:spcAft>
                <a:spcPts val="400"/>
              </a:spcAft>
            </a:pPr>
            <a:r>
              <a:rPr sz="1100" b="1">
                <a:solidFill>
                  <a:srgbClr val="10B981"/>
                </a:solidFill>
                <a:latin typeface="Inter"/>
              </a:rPr>
              <a:t>PROJECT MOTIVATION: FROM RAW OPTION-CHAIN SNAPSHOTS TO A USABLE DECISION-SUPPORT PROTOTYPE</a:t>
            </a:r>
          </a:p>
        </p:txBody>
      </p:sp>
      <p:sp>
        <p:nvSpPr>
          <p:cNvPr id="21" name="Rounded Rectangle 20"/>
          <p:cNvSpPr/>
          <p:nvPr/>
        </p:nvSpPr>
        <p:spPr>
          <a:xfrm>
            <a:off x="777240" y="5321808"/>
            <a:ext cx="2514600" cy="768096"/>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777240" y="5321808"/>
            <a:ext cx="54864" cy="768096"/>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 y="5376672"/>
            <a:ext cx="2304288" cy="658368"/>
          </a:xfrm>
          <a:prstGeom prst="rect">
            <a:avLst/>
          </a:prstGeom>
          <a:noFill/>
        </p:spPr>
        <p:txBody>
          <a:bodyPr wrap="square" anchor="t" lIns="0" tIns="0" rIns="0" bIns="0">
            <a:spAutoFit/>
          </a:bodyPr>
          <a:lstStyle/>
          <a:p>
            <a:pPr algn="l">
              <a:spcBef>
                <a:spcPts val="0"/>
              </a:spcBef>
              <a:spcAft>
                <a:spcPts val="200"/>
              </a:spcAft>
            </a:pPr>
            <a:r>
              <a:rPr sz="1150" b="1">
                <a:solidFill>
                  <a:srgbClr val="00B4D8"/>
                </a:solidFill>
                <a:latin typeface="Inter"/>
              </a:rPr>
              <a:t>1. 5-Minute IV Forecast</a:t>
            </a:r>
          </a:p>
          <a:p>
            <a:pPr algn="l">
              <a:spcBef>
                <a:spcPts val="0"/>
              </a:spcBef>
              <a:spcAft>
                <a:spcPts val="0"/>
              </a:spcAft>
            </a:pPr>
            <a:r>
              <a:rPr sz="1050" b="0">
                <a:solidFill>
                  <a:srgbClr val="CBD5E1"/>
                </a:solidFill>
                <a:latin typeface="Inter"/>
              </a:rPr>
              <a:t>Predict exact ΔIV(t+5) using 39 current &amp; lagged option-chain features</a:t>
            </a:r>
          </a:p>
        </p:txBody>
      </p:sp>
      <p:sp>
        <p:nvSpPr>
          <p:cNvPr id="24" name="Rounded Rectangle 23"/>
          <p:cNvSpPr/>
          <p:nvPr/>
        </p:nvSpPr>
        <p:spPr>
          <a:xfrm>
            <a:off x="3456432" y="5321808"/>
            <a:ext cx="2514600" cy="768096"/>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3456432" y="5321808"/>
            <a:ext cx="54864" cy="768096"/>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84448" y="5376672"/>
            <a:ext cx="2304288" cy="658368"/>
          </a:xfrm>
          <a:prstGeom prst="rect">
            <a:avLst/>
          </a:prstGeom>
          <a:noFill/>
        </p:spPr>
        <p:txBody>
          <a:bodyPr wrap="square" anchor="t" lIns="0" tIns="0" rIns="0" bIns="0">
            <a:spAutoFit/>
          </a:bodyPr>
          <a:lstStyle/>
          <a:p>
            <a:pPr algn="l">
              <a:spcBef>
                <a:spcPts val="0"/>
              </a:spcBef>
              <a:spcAft>
                <a:spcPts val="200"/>
              </a:spcAft>
            </a:pPr>
            <a:r>
              <a:rPr sz="1150" b="1">
                <a:solidFill>
                  <a:srgbClr val="2DD4BF"/>
                </a:solidFill>
                <a:latin typeface="Inter"/>
              </a:rPr>
              <a:t>2. Relative-IV Layer</a:t>
            </a:r>
          </a:p>
          <a:p>
            <a:pPr algn="l">
              <a:spcBef>
                <a:spcPts val="0"/>
              </a:spcBef>
              <a:spcAft>
                <a:spcPts val="0"/>
              </a:spcAft>
            </a:pPr>
            <a:r>
              <a:rPr sz="1050" b="0">
                <a:solidFill>
                  <a:srgbClr val="CBD5E1"/>
                </a:solidFill>
                <a:latin typeface="Inter"/>
              </a:rPr>
              <a:t>Classify current IV as Low, Fair/Neutral, or High vs ML forecast</a:t>
            </a:r>
          </a:p>
        </p:txBody>
      </p:sp>
      <p:sp>
        <p:nvSpPr>
          <p:cNvPr id="27" name="Rounded Rectangle 26"/>
          <p:cNvSpPr/>
          <p:nvPr/>
        </p:nvSpPr>
        <p:spPr>
          <a:xfrm>
            <a:off x="6135624" y="5321808"/>
            <a:ext cx="2514600" cy="768096"/>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135624" y="5321808"/>
            <a:ext cx="54864" cy="7680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5376672"/>
            <a:ext cx="2304288" cy="658368"/>
          </a:xfrm>
          <a:prstGeom prst="rect">
            <a:avLst/>
          </a:prstGeom>
          <a:noFill/>
        </p:spPr>
        <p:txBody>
          <a:bodyPr wrap="square" anchor="t" lIns="0" tIns="0" rIns="0" bIns="0">
            <a:spAutoFit/>
          </a:bodyPr>
          <a:lstStyle/>
          <a:p>
            <a:pPr algn="l">
              <a:spcBef>
                <a:spcPts val="0"/>
              </a:spcBef>
              <a:spcAft>
                <a:spcPts val="200"/>
              </a:spcAft>
            </a:pPr>
            <a:r>
              <a:rPr sz="1150" b="1">
                <a:solidFill>
                  <a:srgbClr val="F59E0B"/>
                </a:solidFill>
                <a:latin typeface="Inter"/>
              </a:rPr>
              <a:t>3. Option Stress Testing</a:t>
            </a:r>
          </a:p>
          <a:p>
            <a:pPr algn="l">
              <a:spcBef>
                <a:spcPts val="0"/>
              </a:spcBef>
              <a:spcAft>
                <a:spcPts val="0"/>
              </a:spcAft>
            </a:pPr>
            <a:r>
              <a:rPr sz="1050" b="0">
                <a:solidFill>
                  <a:srgbClr val="CBD5E1"/>
                </a:solidFill>
                <a:latin typeface="Inter"/>
              </a:rPr>
              <a:t>Evaluate Black–Scholes option value under Spot &amp; IV shock scenarios</a:t>
            </a:r>
          </a:p>
        </p:txBody>
      </p:sp>
      <p:sp>
        <p:nvSpPr>
          <p:cNvPr id="30" name="Rounded Rectangle 29"/>
          <p:cNvSpPr/>
          <p:nvPr/>
        </p:nvSpPr>
        <p:spPr>
          <a:xfrm>
            <a:off x="8814816" y="5321808"/>
            <a:ext cx="2514600" cy="768096"/>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8814816" y="5321808"/>
            <a:ext cx="54864"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5376672"/>
            <a:ext cx="2304288" cy="658368"/>
          </a:xfrm>
          <a:prstGeom prst="rect">
            <a:avLst/>
          </a:prstGeom>
          <a:noFill/>
        </p:spPr>
        <p:txBody>
          <a:bodyPr wrap="square" anchor="t" lIns="0" tIns="0" rIns="0" bIns="0">
            <a:spAutoFit/>
          </a:bodyPr>
          <a:lstStyle/>
          <a:p>
            <a:pPr algn="l">
              <a:spcBef>
                <a:spcPts val="0"/>
              </a:spcBef>
              <a:spcAft>
                <a:spcPts val="200"/>
              </a:spcAft>
            </a:pPr>
            <a:r>
              <a:rPr sz="1150" b="1">
                <a:solidFill>
                  <a:srgbClr val="10B981"/>
                </a:solidFill>
                <a:latin typeface="Inter"/>
              </a:rPr>
              <a:t>4. Interactive Dashboard</a:t>
            </a:r>
          </a:p>
          <a:p>
            <a:pPr algn="l">
              <a:spcBef>
                <a:spcPts val="0"/>
              </a:spcBef>
              <a:spcAft>
                <a:spcPts val="0"/>
              </a:spcAft>
            </a:pPr>
            <a:r>
              <a:rPr sz="1050" b="0">
                <a:solidFill>
                  <a:srgbClr val="CBD5E1"/>
                </a:solidFill>
                <a:latin typeface="Inter"/>
              </a:rPr>
              <a:t>Deploy live Upstox feed + model analytics in a Streamlit interface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04  •  PROJECT OBJECTIVES &amp; END-TO-END WORKFLOW</a:t>
            </a:r>
          </a:p>
          <a:p>
            <a:pPr algn="l">
              <a:spcBef>
                <a:spcPts val="0"/>
              </a:spcBef>
              <a:spcAft>
                <a:spcPts val="200"/>
              </a:spcAft>
            </a:pPr>
            <a:r>
              <a:rPr sz="2300" b="1">
                <a:solidFill>
                  <a:srgbClr val="F8FAFC"/>
                </a:solidFill>
                <a:latin typeface="Inter"/>
              </a:rPr>
              <a:t>Five Core Objectives: From Option-Chain Acquisition to Live Deployment</a:t>
            </a:r>
          </a:p>
          <a:p>
            <a:pPr algn="l">
              <a:spcBef>
                <a:spcPts val="0"/>
              </a:spcBef>
              <a:spcAft>
                <a:spcPts val="0"/>
              </a:spcAft>
            </a:pPr>
            <a:r>
              <a:rPr sz="1300" b="0">
                <a:solidFill>
                  <a:srgbClr val="94A3B8"/>
                </a:solidFill>
                <a:latin typeface="Inter"/>
              </a:rPr>
              <a:t>Structured research architecture spanning data engineering, ML forecasting, valuation, and stress testing</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5 / 15</a:t>
            </a:r>
          </a:p>
        </p:txBody>
      </p:sp>
      <p:sp>
        <p:nvSpPr>
          <p:cNvPr id="7" name="Rounded Rectangle 6"/>
          <p:cNvSpPr/>
          <p:nvPr/>
        </p:nvSpPr>
        <p:spPr>
          <a:xfrm>
            <a:off x="594360" y="1508760"/>
            <a:ext cx="2039112" cy="342900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508760"/>
            <a:ext cx="2039112"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0664" y="1691640"/>
            <a:ext cx="512064" cy="384048"/>
          </a:xfrm>
          <a:prstGeom prst="roundRect">
            <a:avLst>
              <a:gd name="adj" fmla="val 15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40664" y="1746504"/>
            <a:ext cx="512064" cy="292608"/>
          </a:xfrm>
          <a:prstGeom prst="rect">
            <a:avLst/>
          </a:prstGeom>
          <a:noFill/>
        </p:spPr>
        <p:txBody>
          <a:bodyPr wrap="square" anchor="t" lIns="0" tIns="0" rIns="0" bIns="0">
            <a:spAutoFit/>
          </a:bodyPr>
          <a:lstStyle/>
          <a:p>
            <a:pPr algn="ctr">
              <a:spcBef>
                <a:spcPts val="0"/>
              </a:spcBef>
              <a:spcAft>
                <a:spcPts val="400"/>
              </a:spcAft>
            </a:pPr>
            <a:r>
              <a:rPr sz="1350" b="1">
                <a:solidFill>
                  <a:srgbClr val="00B4D8"/>
                </a:solidFill>
                <a:latin typeface="Inter"/>
              </a:rPr>
              <a:t>01</a:t>
            </a:r>
          </a:p>
        </p:txBody>
      </p:sp>
      <p:sp>
        <p:nvSpPr>
          <p:cNvPr id="11" name="TextBox 10"/>
          <p:cNvSpPr txBox="1"/>
          <p:nvPr/>
        </p:nvSpPr>
        <p:spPr>
          <a:xfrm>
            <a:off x="1325880" y="1673352"/>
            <a:ext cx="1207008" cy="438912"/>
          </a:xfrm>
          <a:prstGeom prst="rect">
            <a:avLst/>
          </a:prstGeom>
          <a:noFill/>
        </p:spPr>
        <p:txBody>
          <a:bodyPr wrap="square" anchor="t" lIns="0" tIns="0" rIns="0" bIns="0">
            <a:spAutoFit/>
          </a:bodyPr>
          <a:lstStyle/>
          <a:p>
            <a:pPr algn="l">
              <a:spcBef>
                <a:spcPts val="0"/>
              </a:spcBef>
              <a:spcAft>
                <a:spcPts val="100"/>
              </a:spcAft>
            </a:pPr>
            <a:r>
              <a:rPr sz="1150" b="1">
                <a:solidFill>
                  <a:srgbClr val="00B4D8"/>
                </a:solidFill>
                <a:latin typeface="Inter"/>
              </a:rPr>
              <a:t>COLLECT</a:t>
            </a:r>
          </a:p>
          <a:p>
            <a:pPr algn="l">
              <a:spcBef>
                <a:spcPts val="0"/>
              </a:spcBef>
              <a:spcAft>
                <a:spcPts val="0"/>
              </a:spcAft>
            </a:pPr>
            <a:r>
              <a:rPr sz="1050" b="0">
                <a:solidFill>
                  <a:srgbClr val="94A3B8"/>
                </a:solidFill>
                <a:latin typeface="Inter"/>
              </a:rPr>
              <a:t>Option-Chain Pipeline</a:t>
            </a:r>
          </a:p>
        </p:txBody>
      </p:sp>
      <p:sp>
        <p:nvSpPr>
          <p:cNvPr id="12" name="TextBox 11"/>
          <p:cNvSpPr txBox="1"/>
          <p:nvPr/>
        </p:nvSpPr>
        <p:spPr>
          <a:xfrm>
            <a:off x="740664" y="2212848"/>
            <a:ext cx="1746504" cy="1691640"/>
          </a:xfrm>
          <a:prstGeom prst="rect">
            <a:avLst/>
          </a:prstGeom>
          <a:noFill/>
        </p:spPr>
        <p:txBody>
          <a:bodyPr wrap="square" anchor="t" lIns="0" tIns="0" rIns="0" bIns="0">
            <a:spAutoFit/>
          </a:bodyPr>
          <a:lstStyle/>
          <a:p>
            <a:pPr algn="l">
              <a:spcBef>
                <a:spcPts val="0"/>
              </a:spcBef>
              <a:spcAft>
                <a:spcPts val="0"/>
              </a:spcAft>
            </a:pPr>
            <a:r>
              <a:rPr sz="1100" b="0">
                <a:solidFill>
                  <a:srgbClr val="F8FAFC"/>
                </a:solidFill>
                <a:latin typeface="Inter"/>
              </a:rPr>
              <a:t>Build a repeatable NIFTY 50 option-chain data pipeline using historical NSE CSV snapshots for model development and Upstox Developer API connectivity for live market ingestion.</a:t>
            </a:r>
          </a:p>
        </p:txBody>
      </p:sp>
      <p:sp>
        <p:nvSpPr>
          <p:cNvPr id="13" name="Rounded Rectangle 12"/>
          <p:cNvSpPr/>
          <p:nvPr/>
        </p:nvSpPr>
        <p:spPr>
          <a:xfrm>
            <a:off x="704088" y="3977639"/>
            <a:ext cx="1819656" cy="841248"/>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77240" y="4032504"/>
            <a:ext cx="1673352" cy="731520"/>
          </a:xfrm>
          <a:prstGeom prst="rect">
            <a:avLst/>
          </a:prstGeom>
          <a:noFill/>
        </p:spPr>
        <p:txBody>
          <a:bodyPr wrap="square" anchor="t" lIns="0" tIns="0" rIns="0" bIns="0">
            <a:spAutoFit/>
          </a:bodyPr>
          <a:lstStyle/>
          <a:p>
            <a:pPr algn="l">
              <a:spcBef>
                <a:spcPts val="0"/>
              </a:spcBef>
              <a:spcAft>
                <a:spcPts val="0"/>
              </a:spcAft>
            </a:pPr>
            <a:r>
              <a:rPr sz="1050" b="1">
                <a:solidFill>
                  <a:srgbClr val="CBD5E1"/>
                </a:solidFill>
                <a:latin typeface="Inter"/>
              </a:rPr>
              <a:t>Output: 81 development snapshots &amp; 5-minute automated API polling loop.</a:t>
            </a:r>
          </a:p>
        </p:txBody>
      </p:sp>
      <p:sp>
        <p:nvSpPr>
          <p:cNvPr id="15" name="Rounded Rectangle 14"/>
          <p:cNvSpPr/>
          <p:nvPr/>
        </p:nvSpPr>
        <p:spPr>
          <a:xfrm>
            <a:off x="2834640" y="1508760"/>
            <a:ext cx="2039112" cy="342900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834640" y="1508760"/>
            <a:ext cx="2039112" cy="6400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80944" y="1691640"/>
            <a:ext cx="512064" cy="384048"/>
          </a:xfrm>
          <a:prstGeom prst="roundRect">
            <a:avLst>
              <a:gd name="adj" fmla="val 15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2980944" y="1746504"/>
            <a:ext cx="512064" cy="292608"/>
          </a:xfrm>
          <a:prstGeom prst="rect">
            <a:avLst/>
          </a:prstGeom>
          <a:noFill/>
        </p:spPr>
        <p:txBody>
          <a:bodyPr wrap="square" anchor="t" lIns="0" tIns="0" rIns="0" bIns="0">
            <a:spAutoFit/>
          </a:bodyPr>
          <a:lstStyle/>
          <a:p>
            <a:pPr algn="ctr">
              <a:spcBef>
                <a:spcPts val="0"/>
              </a:spcBef>
              <a:spcAft>
                <a:spcPts val="400"/>
              </a:spcAft>
            </a:pPr>
            <a:r>
              <a:rPr sz="1350" b="1">
                <a:solidFill>
                  <a:srgbClr val="2DD4BF"/>
                </a:solidFill>
                <a:latin typeface="Inter"/>
              </a:rPr>
              <a:t>02</a:t>
            </a:r>
          </a:p>
        </p:txBody>
      </p:sp>
      <p:sp>
        <p:nvSpPr>
          <p:cNvPr id="19" name="TextBox 18"/>
          <p:cNvSpPr txBox="1"/>
          <p:nvPr/>
        </p:nvSpPr>
        <p:spPr>
          <a:xfrm>
            <a:off x="3566160" y="1673352"/>
            <a:ext cx="1207008" cy="438912"/>
          </a:xfrm>
          <a:prstGeom prst="rect">
            <a:avLst/>
          </a:prstGeom>
          <a:noFill/>
        </p:spPr>
        <p:txBody>
          <a:bodyPr wrap="square" anchor="t" lIns="0" tIns="0" rIns="0" bIns="0">
            <a:spAutoFit/>
          </a:bodyPr>
          <a:lstStyle/>
          <a:p>
            <a:pPr algn="l">
              <a:spcBef>
                <a:spcPts val="0"/>
              </a:spcBef>
              <a:spcAft>
                <a:spcPts val="100"/>
              </a:spcAft>
            </a:pPr>
            <a:r>
              <a:rPr sz="1150" b="1">
                <a:solidFill>
                  <a:srgbClr val="2DD4BF"/>
                </a:solidFill>
                <a:latin typeface="Inter"/>
              </a:rPr>
              <a:t>ENGINEER</a:t>
            </a:r>
          </a:p>
          <a:p>
            <a:pPr algn="l">
              <a:spcBef>
                <a:spcPts val="0"/>
              </a:spcBef>
              <a:spcAft>
                <a:spcPts val="0"/>
              </a:spcAft>
            </a:pPr>
            <a:r>
              <a:rPr sz="1050" b="0">
                <a:solidFill>
                  <a:srgbClr val="94A3B8"/>
                </a:solidFill>
                <a:latin typeface="Inter"/>
              </a:rPr>
              <a:t>Leakage-Free Features</a:t>
            </a:r>
          </a:p>
        </p:txBody>
      </p:sp>
      <p:sp>
        <p:nvSpPr>
          <p:cNvPr id="20" name="TextBox 19"/>
          <p:cNvSpPr txBox="1"/>
          <p:nvPr/>
        </p:nvSpPr>
        <p:spPr>
          <a:xfrm>
            <a:off x="2980944" y="2212848"/>
            <a:ext cx="1746504" cy="1691640"/>
          </a:xfrm>
          <a:prstGeom prst="rect">
            <a:avLst/>
          </a:prstGeom>
          <a:noFill/>
        </p:spPr>
        <p:txBody>
          <a:bodyPr wrap="square" anchor="t" lIns="0" tIns="0" rIns="0" bIns="0">
            <a:spAutoFit/>
          </a:bodyPr>
          <a:lstStyle/>
          <a:p>
            <a:pPr algn="l">
              <a:spcBef>
                <a:spcPts val="0"/>
              </a:spcBef>
              <a:spcAft>
                <a:spcPts val="0"/>
              </a:spcAft>
            </a:pPr>
            <a:r>
              <a:rPr sz="1100" b="0">
                <a:solidFill>
                  <a:srgbClr val="F8FAFC"/>
                </a:solidFill>
                <a:latin typeface="Inter"/>
              </a:rPr>
              <a:t>Construct moneyness (M = K/S), near-ATM filtering (0.95–1.05), liquidity metrics, exact 5m/10m lags, momentum indicators, and exact +5m target alignment without look-ahead leakage.</a:t>
            </a:r>
          </a:p>
        </p:txBody>
      </p:sp>
      <p:sp>
        <p:nvSpPr>
          <p:cNvPr id="21" name="Rounded Rectangle 20"/>
          <p:cNvSpPr/>
          <p:nvPr/>
        </p:nvSpPr>
        <p:spPr>
          <a:xfrm>
            <a:off x="2944368" y="3977639"/>
            <a:ext cx="1819656" cy="841248"/>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017520" y="4032504"/>
            <a:ext cx="1673352" cy="731520"/>
          </a:xfrm>
          <a:prstGeom prst="rect">
            <a:avLst/>
          </a:prstGeom>
          <a:noFill/>
        </p:spPr>
        <p:txBody>
          <a:bodyPr wrap="square" anchor="t" lIns="0" tIns="0" rIns="0" bIns="0">
            <a:spAutoFit/>
          </a:bodyPr>
          <a:lstStyle/>
          <a:p>
            <a:pPr algn="l">
              <a:spcBef>
                <a:spcPts val="0"/>
              </a:spcBef>
              <a:spcAft>
                <a:spcPts val="0"/>
              </a:spcAft>
            </a:pPr>
            <a:r>
              <a:rPr sz="1050" b="1">
                <a:solidFill>
                  <a:srgbClr val="CBD5E1"/>
                </a:solidFill>
                <a:latin typeface="Inter"/>
              </a:rPr>
              <a:t>Output: 39 features (15 current + 24 lag/momentum) across 4,853 lag-ready rows.</a:t>
            </a:r>
          </a:p>
        </p:txBody>
      </p:sp>
      <p:sp>
        <p:nvSpPr>
          <p:cNvPr id="23" name="Rounded Rectangle 22"/>
          <p:cNvSpPr/>
          <p:nvPr/>
        </p:nvSpPr>
        <p:spPr>
          <a:xfrm>
            <a:off x="5074920" y="1508760"/>
            <a:ext cx="2039112" cy="342900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5074920" y="1508760"/>
            <a:ext cx="203911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221224" y="1691640"/>
            <a:ext cx="512064" cy="384048"/>
          </a:xfrm>
          <a:prstGeom prst="roundRect">
            <a:avLst>
              <a:gd name="adj" fmla="val 15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221224" y="1746504"/>
            <a:ext cx="512064" cy="292608"/>
          </a:xfrm>
          <a:prstGeom prst="rect">
            <a:avLst/>
          </a:prstGeom>
          <a:noFill/>
        </p:spPr>
        <p:txBody>
          <a:bodyPr wrap="square" anchor="t" lIns="0" tIns="0" rIns="0" bIns="0">
            <a:spAutoFit/>
          </a:bodyPr>
          <a:lstStyle/>
          <a:p>
            <a:pPr algn="ctr">
              <a:spcBef>
                <a:spcPts val="0"/>
              </a:spcBef>
              <a:spcAft>
                <a:spcPts val="400"/>
              </a:spcAft>
            </a:pPr>
            <a:r>
              <a:rPr sz="1350" b="1">
                <a:solidFill>
                  <a:srgbClr val="10B981"/>
                </a:solidFill>
                <a:latin typeface="Inter"/>
              </a:rPr>
              <a:t>03</a:t>
            </a:r>
          </a:p>
        </p:txBody>
      </p:sp>
      <p:sp>
        <p:nvSpPr>
          <p:cNvPr id="27" name="TextBox 26"/>
          <p:cNvSpPr txBox="1"/>
          <p:nvPr/>
        </p:nvSpPr>
        <p:spPr>
          <a:xfrm>
            <a:off x="5806440" y="1673352"/>
            <a:ext cx="1207008" cy="438912"/>
          </a:xfrm>
          <a:prstGeom prst="rect">
            <a:avLst/>
          </a:prstGeom>
          <a:noFill/>
        </p:spPr>
        <p:txBody>
          <a:bodyPr wrap="square" anchor="t" lIns="0" tIns="0" rIns="0" bIns="0">
            <a:spAutoFit/>
          </a:bodyPr>
          <a:lstStyle/>
          <a:p>
            <a:pPr algn="l">
              <a:spcBef>
                <a:spcPts val="0"/>
              </a:spcBef>
              <a:spcAft>
                <a:spcPts val="100"/>
              </a:spcAft>
            </a:pPr>
            <a:r>
              <a:rPr sz="1150" b="1">
                <a:solidFill>
                  <a:srgbClr val="10B981"/>
                </a:solidFill>
                <a:latin typeface="Inter"/>
              </a:rPr>
              <a:t>FORECAST</a:t>
            </a:r>
          </a:p>
          <a:p>
            <a:pPr algn="l">
              <a:spcBef>
                <a:spcPts val="0"/>
              </a:spcBef>
              <a:spcAft>
                <a:spcPts val="0"/>
              </a:spcAft>
            </a:pPr>
            <a:r>
              <a:rPr sz="1050" b="0">
                <a:solidFill>
                  <a:srgbClr val="94A3B8"/>
                </a:solidFill>
                <a:latin typeface="Inter"/>
              </a:rPr>
              <a:t>Short-Horizon ML Model</a:t>
            </a:r>
          </a:p>
        </p:txBody>
      </p:sp>
      <p:sp>
        <p:nvSpPr>
          <p:cNvPr id="28" name="TextBox 27"/>
          <p:cNvSpPr txBox="1"/>
          <p:nvPr/>
        </p:nvSpPr>
        <p:spPr>
          <a:xfrm>
            <a:off x="5221224" y="2212848"/>
            <a:ext cx="1746504" cy="1691640"/>
          </a:xfrm>
          <a:prstGeom prst="rect">
            <a:avLst/>
          </a:prstGeom>
          <a:noFill/>
        </p:spPr>
        <p:txBody>
          <a:bodyPr wrap="square" anchor="t" lIns="0" tIns="0" rIns="0" bIns="0">
            <a:spAutoFit/>
          </a:bodyPr>
          <a:lstStyle/>
          <a:p>
            <a:pPr algn="l">
              <a:spcBef>
                <a:spcPts val="0"/>
              </a:spcBef>
              <a:spcAft>
                <a:spcPts val="0"/>
              </a:spcAft>
            </a:pPr>
            <a:r>
              <a:rPr sz="1100" b="0">
                <a:solidFill>
                  <a:srgbClr val="F8FAFC"/>
                </a:solidFill>
                <a:latin typeface="Inter"/>
              </a:rPr>
              <a:t>Predict 5-minute-ahead implied volatility change (ΔIV at t+5) using nonlinear tree ensembles (Random Forest &amp; XGBoost) and evaluate chronologically against persistence.</a:t>
            </a:r>
          </a:p>
        </p:txBody>
      </p:sp>
      <p:sp>
        <p:nvSpPr>
          <p:cNvPr id="29" name="Rounded Rectangle 28"/>
          <p:cNvSpPr/>
          <p:nvPr/>
        </p:nvSpPr>
        <p:spPr>
          <a:xfrm>
            <a:off x="5184648" y="3977639"/>
            <a:ext cx="1819656" cy="841248"/>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257800" y="4032504"/>
            <a:ext cx="1673352" cy="731520"/>
          </a:xfrm>
          <a:prstGeom prst="rect">
            <a:avLst/>
          </a:prstGeom>
          <a:noFill/>
        </p:spPr>
        <p:txBody>
          <a:bodyPr wrap="square" anchor="t" lIns="0" tIns="0" rIns="0" bIns="0">
            <a:spAutoFit/>
          </a:bodyPr>
          <a:lstStyle/>
          <a:p>
            <a:pPr algn="l">
              <a:spcBef>
                <a:spcPts val="0"/>
              </a:spcBef>
              <a:spcAft>
                <a:spcPts val="0"/>
              </a:spcAft>
            </a:pPr>
            <a:r>
              <a:rPr sz="1050" b="1">
                <a:solidFill>
                  <a:srgbClr val="CBD5E1"/>
                </a:solidFill>
                <a:latin typeface="Inter"/>
              </a:rPr>
              <a:t>Output: Selected 300-tree Random Forest achieving 5.28% MAE &amp; 7.72% RMSE gain.</a:t>
            </a:r>
          </a:p>
        </p:txBody>
      </p:sp>
      <p:sp>
        <p:nvSpPr>
          <p:cNvPr id="31" name="Rounded Rectangle 30"/>
          <p:cNvSpPr/>
          <p:nvPr/>
        </p:nvSpPr>
        <p:spPr>
          <a:xfrm>
            <a:off x="7315200" y="1508760"/>
            <a:ext cx="2039112" cy="342900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7315200" y="1508760"/>
            <a:ext cx="2039112"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461504" y="1691640"/>
            <a:ext cx="512064" cy="384048"/>
          </a:xfrm>
          <a:prstGeom prst="roundRect">
            <a:avLst>
              <a:gd name="adj" fmla="val 15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461504" y="1746504"/>
            <a:ext cx="512064" cy="292608"/>
          </a:xfrm>
          <a:prstGeom prst="rect">
            <a:avLst/>
          </a:prstGeom>
          <a:noFill/>
        </p:spPr>
        <p:txBody>
          <a:bodyPr wrap="square" anchor="t" lIns="0" tIns="0" rIns="0" bIns="0">
            <a:spAutoFit/>
          </a:bodyPr>
          <a:lstStyle/>
          <a:p>
            <a:pPr algn="ctr">
              <a:spcBef>
                <a:spcPts val="0"/>
              </a:spcBef>
              <a:spcAft>
                <a:spcPts val="400"/>
              </a:spcAft>
            </a:pPr>
            <a:r>
              <a:rPr sz="1350" b="1">
                <a:solidFill>
                  <a:srgbClr val="F59E0B"/>
                </a:solidFill>
                <a:latin typeface="Inter"/>
              </a:rPr>
              <a:t>04</a:t>
            </a:r>
          </a:p>
        </p:txBody>
      </p:sp>
      <p:sp>
        <p:nvSpPr>
          <p:cNvPr id="35" name="TextBox 34"/>
          <p:cNvSpPr txBox="1"/>
          <p:nvPr/>
        </p:nvSpPr>
        <p:spPr>
          <a:xfrm>
            <a:off x="8046720" y="1673352"/>
            <a:ext cx="1207008" cy="438912"/>
          </a:xfrm>
          <a:prstGeom prst="rect">
            <a:avLst/>
          </a:prstGeom>
          <a:noFill/>
        </p:spPr>
        <p:txBody>
          <a:bodyPr wrap="square" anchor="t" lIns="0" tIns="0" rIns="0" bIns="0">
            <a:spAutoFit/>
          </a:bodyPr>
          <a:lstStyle/>
          <a:p>
            <a:pPr algn="l">
              <a:spcBef>
                <a:spcPts val="0"/>
              </a:spcBef>
              <a:spcAft>
                <a:spcPts val="100"/>
              </a:spcAft>
            </a:pPr>
            <a:r>
              <a:rPr sz="1150" b="1">
                <a:solidFill>
                  <a:srgbClr val="F59E0B"/>
                </a:solidFill>
                <a:latin typeface="Inter"/>
              </a:rPr>
              <a:t>INTERPRET</a:t>
            </a:r>
          </a:p>
          <a:p>
            <a:pPr algn="l">
              <a:spcBef>
                <a:spcPts val="0"/>
              </a:spcBef>
              <a:spcAft>
                <a:spcPts val="0"/>
              </a:spcAft>
            </a:pPr>
            <a:r>
              <a:rPr sz="1050" b="0">
                <a:solidFill>
                  <a:srgbClr val="94A3B8"/>
                </a:solidFill>
                <a:latin typeface="Inter"/>
              </a:rPr>
              <a:t>Relative-IV Valuation</a:t>
            </a:r>
          </a:p>
        </p:txBody>
      </p:sp>
      <p:sp>
        <p:nvSpPr>
          <p:cNvPr id="36" name="TextBox 35"/>
          <p:cNvSpPr txBox="1"/>
          <p:nvPr/>
        </p:nvSpPr>
        <p:spPr>
          <a:xfrm>
            <a:off x="7461504" y="2212848"/>
            <a:ext cx="1746504" cy="1691640"/>
          </a:xfrm>
          <a:prstGeom prst="rect">
            <a:avLst/>
          </a:prstGeom>
          <a:noFill/>
        </p:spPr>
        <p:txBody>
          <a:bodyPr wrap="square" anchor="t" lIns="0" tIns="0" rIns="0" bIns="0">
            <a:spAutoFit/>
          </a:bodyPr>
          <a:lstStyle/>
          <a:p>
            <a:pPr algn="l">
              <a:spcBef>
                <a:spcPts val="0"/>
              </a:spcBef>
              <a:spcAft>
                <a:spcPts val="0"/>
              </a:spcAft>
            </a:pPr>
            <a:r>
              <a:rPr sz="1100" b="0">
                <a:solidFill>
                  <a:srgbClr val="F8FAFC"/>
                </a:solidFill>
                <a:latin typeface="Inter"/>
              </a:rPr>
              <a:t>Translate the model's 5-minute IV forecast into an intuitive relative valuation signal classifying current strike IV as Low, Fair/Neutral, or High relative to expected IV.</a:t>
            </a:r>
          </a:p>
        </p:txBody>
      </p:sp>
      <p:sp>
        <p:nvSpPr>
          <p:cNvPr id="37" name="Rounded Rectangle 36"/>
          <p:cNvSpPr/>
          <p:nvPr/>
        </p:nvSpPr>
        <p:spPr>
          <a:xfrm>
            <a:off x="7424927" y="3977639"/>
            <a:ext cx="1819656" cy="841248"/>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498079" y="4032504"/>
            <a:ext cx="1673352" cy="731520"/>
          </a:xfrm>
          <a:prstGeom prst="rect">
            <a:avLst/>
          </a:prstGeom>
          <a:noFill/>
        </p:spPr>
        <p:txBody>
          <a:bodyPr wrap="square" anchor="t" lIns="0" tIns="0" rIns="0" bIns="0">
            <a:spAutoFit/>
          </a:bodyPr>
          <a:lstStyle/>
          <a:p>
            <a:pPr algn="l">
              <a:spcBef>
                <a:spcPts val="0"/>
              </a:spcBef>
              <a:spcAft>
                <a:spcPts val="0"/>
              </a:spcAft>
            </a:pPr>
            <a:r>
              <a:rPr sz="1050" b="1">
                <a:solidFill>
                  <a:srgbClr val="CBD5E1"/>
                </a:solidFill>
                <a:latin typeface="Inter"/>
              </a:rPr>
              <a:t>Output: Holdout classification across 983 observations + directional threshold analysis.</a:t>
            </a:r>
          </a:p>
        </p:txBody>
      </p:sp>
      <p:sp>
        <p:nvSpPr>
          <p:cNvPr id="39" name="Rounded Rectangle 38"/>
          <p:cNvSpPr/>
          <p:nvPr/>
        </p:nvSpPr>
        <p:spPr>
          <a:xfrm>
            <a:off x="9555480" y="1508760"/>
            <a:ext cx="2039112" cy="342900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9555480" y="1508760"/>
            <a:ext cx="2039112" cy="6400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701784" y="1691640"/>
            <a:ext cx="512064" cy="384048"/>
          </a:xfrm>
          <a:prstGeom prst="roundRect">
            <a:avLst>
              <a:gd name="adj" fmla="val 15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9701784" y="1746504"/>
            <a:ext cx="512064" cy="292608"/>
          </a:xfrm>
          <a:prstGeom prst="rect">
            <a:avLst/>
          </a:prstGeom>
          <a:noFill/>
        </p:spPr>
        <p:txBody>
          <a:bodyPr wrap="square" anchor="t" lIns="0" tIns="0" rIns="0" bIns="0">
            <a:spAutoFit/>
          </a:bodyPr>
          <a:lstStyle/>
          <a:p>
            <a:pPr algn="ctr">
              <a:spcBef>
                <a:spcPts val="0"/>
              </a:spcBef>
              <a:spcAft>
                <a:spcPts val="400"/>
              </a:spcAft>
            </a:pPr>
            <a:r>
              <a:rPr sz="1350" b="1">
                <a:solidFill>
                  <a:srgbClr val="38BDF8"/>
                </a:solidFill>
                <a:latin typeface="Inter"/>
              </a:rPr>
              <a:t>05</a:t>
            </a:r>
          </a:p>
        </p:txBody>
      </p:sp>
      <p:sp>
        <p:nvSpPr>
          <p:cNvPr id="43" name="TextBox 42"/>
          <p:cNvSpPr txBox="1"/>
          <p:nvPr/>
        </p:nvSpPr>
        <p:spPr>
          <a:xfrm>
            <a:off x="10287000" y="1673352"/>
            <a:ext cx="1207008" cy="438912"/>
          </a:xfrm>
          <a:prstGeom prst="rect">
            <a:avLst/>
          </a:prstGeom>
          <a:noFill/>
        </p:spPr>
        <p:txBody>
          <a:bodyPr wrap="square" anchor="t" lIns="0" tIns="0" rIns="0" bIns="0">
            <a:spAutoFit/>
          </a:bodyPr>
          <a:lstStyle/>
          <a:p>
            <a:pPr algn="l">
              <a:spcBef>
                <a:spcPts val="0"/>
              </a:spcBef>
              <a:spcAft>
                <a:spcPts val="100"/>
              </a:spcAft>
            </a:pPr>
            <a:r>
              <a:rPr sz="1150" b="1">
                <a:solidFill>
                  <a:srgbClr val="38BDF8"/>
                </a:solidFill>
                <a:latin typeface="Inter"/>
              </a:rPr>
              <a:t>DEPLOY</a:t>
            </a:r>
          </a:p>
          <a:p>
            <a:pPr algn="l">
              <a:spcBef>
                <a:spcPts val="0"/>
              </a:spcBef>
              <a:spcAft>
                <a:spcPts val="0"/>
              </a:spcAft>
            </a:pPr>
            <a:r>
              <a:rPr sz="1050" b="0">
                <a:solidFill>
                  <a:srgbClr val="94A3B8"/>
                </a:solidFill>
                <a:latin typeface="Inter"/>
              </a:rPr>
              <a:t>Stress Test &amp; App</a:t>
            </a:r>
          </a:p>
        </p:txBody>
      </p:sp>
      <p:sp>
        <p:nvSpPr>
          <p:cNvPr id="44" name="TextBox 43"/>
          <p:cNvSpPr txBox="1"/>
          <p:nvPr/>
        </p:nvSpPr>
        <p:spPr>
          <a:xfrm>
            <a:off x="9701784" y="2212848"/>
            <a:ext cx="1746504" cy="1691640"/>
          </a:xfrm>
          <a:prstGeom prst="rect">
            <a:avLst/>
          </a:prstGeom>
          <a:noFill/>
        </p:spPr>
        <p:txBody>
          <a:bodyPr wrap="square" anchor="t" lIns="0" tIns="0" rIns="0" bIns="0">
            <a:spAutoFit/>
          </a:bodyPr>
          <a:lstStyle/>
          <a:p>
            <a:pPr algn="l">
              <a:spcBef>
                <a:spcPts val="0"/>
              </a:spcBef>
              <a:spcAft>
                <a:spcPts val="0"/>
              </a:spcAft>
            </a:pPr>
            <a:r>
              <a:rPr sz="1100" b="0">
                <a:solidFill>
                  <a:srgbClr val="F8FAFC"/>
                </a:solidFill>
                <a:latin typeface="Inter"/>
              </a:rPr>
              <a:t>Stress-test theoretical option values under adverse spot, IV, and time shocks via the Black–Scholes model and present integrated analytics in an interactive Streamlit dashboard.</a:t>
            </a:r>
          </a:p>
        </p:txBody>
      </p:sp>
      <p:sp>
        <p:nvSpPr>
          <p:cNvPr id="45" name="Rounded Rectangle 44"/>
          <p:cNvSpPr/>
          <p:nvPr/>
        </p:nvSpPr>
        <p:spPr>
          <a:xfrm>
            <a:off x="9665207" y="3977639"/>
            <a:ext cx="1819656" cy="841248"/>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9738359" y="4032504"/>
            <a:ext cx="1673352" cy="731520"/>
          </a:xfrm>
          <a:prstGeom prst="rect">
            <a:avLst/>
          </a:prstGeom>
          <a:noFill/>
        </p:spPr>
        <p:txBody>
          <a:bodyPr wrap="square" anchor="t" lIns="0" tIns="0" rIns="0" bIns="0">
            <a:spAutoFit/>
          </a:bodyPr>
          <a:lstStyle/>
          <a:p>
            <a:pPr algn="l">
              <a:spcBef>
                <a:spcPts val="0"/>
              </a:spcBef>
              <a:spcAft>
                <a:spcPts val="0"/>
              </a:spcAft>
            </a:pPr>
            <a:r>
              <a:rPr sz="1050" b="1">
                <a:solidFill>
                  <a:srgbClr val="CBD5E1"/>
                </a:solidFill>
                <a:latin typeface="Inter"/>
              </a:rPr>
              <a:t>Output: Near-ATM 23,150 CE stress matrix &amp; live Streamlit monitoring interface.</a:t>
            </a:r>
          </a:p>
        </p:txBody>
      </p:sp>
      <p:sp>
        <p:nvSpPr>
          <p:cNvPr id="47" name="Rounded Rectangle 46"/>
          <p:cNvSpPr/>
          <p:nvPr/>
        </p:nvSpPr>
        <p:spPr>
          <a:xfrm>
            <a:off x="594360" y="5102352"/>
            <a:ext cx="11000232" cy="1115568"/>
          </a:xfrm>
          <a:prstGeom prst="roundRect">
            <a:avLst>
              <a:gd name="adj" fmla="val 4000"/>
            </a:avLst>
          </a:prstGeom>
          <a:solidFill>
            <a:srgbClr val="172A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594360" y="5102352"/>
            <a:ext cx="73152" cy="111556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5193792"/>
            <a:ext cx="10607040" cy="932688"/>
          </a:xfrm>
          <a:prstGeom prst="rect">
            <a:avLst/>
          </a:prstGeom>
          <a:noFill/>
        </p:spPr>
        <p:txBody>
          <a:bodyPr wrap="square" anchor="t" lIns="0" tIns="0" rIns="0" bIns="0">
            <a:spAutoFit/>
          </a:bodyPr>
          <a:lstStyle/>
          <a:p>
            <a:pPr algn="l">
              <a:spcBef>
                <a:spcPts val="0"/>
              </a:spcBef>
              <a:spcAft>
                <a:spcPts val="400"/>
              </a:spcAft>
            </a:pPr>
            <a:r>
              <a:rPr sz="1100" b="1">
                <a:solidFill>
                  <a:srgbClr val="00B4D8"/>
                </a:solidFill>
                <a:latin typeface="Inter"/>
              </a:rPr>
              <a:t>ARCHITECTURAL DESIGN PRINCIPLE: END-TO-END RESEARCH INTEGRITY</a:t>
            </a:r>
          </a:p>
          <a:p>
            <a:pPr algn="l" marL="201168" indent="-201168">
              <a:spcAft>
                <a:spcPts val="300"/>
              </a:spcAft>
              <a:buFont typeface="Inter"/>
              <a:buChar char="•"/>
            </a:pPr>
            <a:r>
              <a:rPr sz="1150" b="1">
                <a:solidFill>
                  <a:srgbClr val="F8FAFC"/>
                </a:solidFill>
                <a:latin typeface="Inter"/>
              </a:rPr>
              <a:t>Strict Separation of Training &amp; Evaluation: </a:t>
            </a:r>
            <a:r>
              <a:rPr sz="1150" b="0">
                <a:solidFill>
                  <a:srgbClr val="CBD5E1"/>
                </a:solidFill>
                <a:latin typeface="Inter"/>
              </a:rPr>
              <a:t>Data collection (Obj. 01) and feature engineering (Obj. 02) enforce exact timestamp alignment so forecasting (Obj. 03) suffers zero future leakage.</a:t>
            </a:r>
          </a:p>
          <a:p>
            <a:pPr algn="l" marL="201168" indent="-201168">
              <a:spcAft>
                <a:spcPts val="0"/>
              </a:spcAft>
              <a:buFont typeface="Inter"/>
              <a:buChar char="•"/>
            </a:pPr>
            <a:r>
              <a:rPr sz="1150" b="1">
                <a:solidFill>
                  <a:srgbClr val="F8FAFC"/>
                </a:solidFill>
                <a:latin typeface="Inter"/>
              </a:rPr>
              <a:t>From Point Prediction to Risk Context: </a:t>
            </a:r>
            <a:r>
              <a:rPr sz="1150" b="0">
                <a:solidFill>
                  <a:srgbClr val="CBD5E1"/>
                </a:solidFill>
                <a:latin typeface="Inter"/>
              </a:rPr>
              <a:t>Relative-IV interpretation (Obj. 04) and Black–Scholes stress testing (Obj. 05) ensure forecasts are never used in isolation from spot risk.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05  •  THEORETICAL BACKGROUND &amp; MATHEMATICAL FORMULATION</a:t>
            </a:r>
          </a:p>
          <a:p>
            <a:pPr algn="l">
              <a:spcBef>
                <a:spcPts val="0"/>
              </a:spcBef>
              <a:spcAft>
                <a:spcPts val="200"/>
              </a:spcAft>
            </a:pPr>
            <a:r>
              <a:rPr sz="2300" b="1">
                <a:solidFill>
                  <a:srgbClr val="F8FAFC"/>
                </a:solidFill>
                <a:latin typeface="Inter"/>
              </a:rPr>
              <a:t>Black–Scholes Valuation, Moneyness Filtering &amp; Forecast Target Equations</a:t>
            </a:r>
          </a:p>
          <a:p>
            <a:pPr algn="l">
              <a:spcBef>
                <a:spcPts val="0"/>
              </a:spcBef>
              <a:spcAft>
                <a:spcPts val="0"/>
              </a:spcAft>
            </a:pPr>
            <a:r>
              <a:rPr sz="1300" b="0">
                <a:solidFill>
                  <a:srgbClr val="94A3B8"/>
                </a:solidFill>
                <a:latin typeface="Inter"/>
              </a:rPr>
              <a:t>Mathematical foundations governing option pricing, implied volatility inversion, and 5-minute benchmark evaluation</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6 / 15</a:t>
            </a:r>
          </a:p>
        </p:txBody>
      </p:sp>
      <p:sp>
        <p:nvSpPr>
          <p:cNvPr id="7" name="Rounded Rectangle 6"/>
          <p:cNvSpPr/>
          <p:nvPr/>
        </p:nvSpPr>
        <p:spPr>
          <a:xfrm>
            <a:off x="594360" y="1481328"/>
            <a:ext cx="3493008" cy="331012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481328"/>
            <a:ext cx="3493008"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9344"/>
            <a:ext cx="3127248" cy="347472"/>
          </a:xfrm>
          <a:prstGeom prst="rect">
            <a:avLst/>
          </a:prstGeom>
          <a:noFill/>
        </p:spPr>
        <p:txBody>
          <a:bodyPr wrap="square" anchor="t" lIns="0" tIns="0" rIns="0" bIns="0">
            <a:spAutoFit/>
          </a:bodyPr>
          <a:lstStyle/>
          <a:p>
            <a:pPr algn="l">
              <a:spcBef>
                <a:spcPts val="0"/>
              </a:spcBef>
              <a:spcAft>
                <a:spcPts val="400"/>
              </a:spcAft>
            </a:pPr>
            <a:r>
              <a:rPr sz="1100" b="1">
                <a:solidFill>
                  <a:srgbClr val="00B4D8"/>
                </a:solidFill>
                <a:latin typeface="Inter"/>
              </a:rPr>
              <a:t>1. BLACK–SCHOLES &amp; IMPLIED VOLATILITY</a:t>
            </a:r>
          </a:p>
        </p:txBody>
      </p:sp>
      <p:sp>
        <p:nvSpPr>
          <p:cNvPr id="10" name="Rounded Rectangle 9"/>
          <p:cNvSpPr/>
          <p:nvPr/>
        </p:nvSpPr>
        <p:spPr>
          <a:xfrm>
            <a:off x="777240" y="1965960"/>
            <a:ext cx="3127248" cy="822960"/>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41248" y="2029968"/>
            <a:ext cx="2999232" cy="713232"/>
          </a:xfrm>
          <a:prstGeom prst="rect">
            <a:avLst/>
          </a:prstGeom>
          <a:noFill/>
        </p:spPr>
        <p:txBody>
          <a:bodyPr wrap="square" anchor="t" lIns="0" tIns="0" rIns="0" bIns="0">
            <a:spAutoFit/>
          </a:bodyPr>
          <a:lstStyle/>
          <a:p>
            <a:pPr algn="ctr">
              <a:spcBef>
                <a:spcPts val="0"/>
              </a:spcBef>
              <a:spcAft>
                <a:spcPts val="400"/>
              </a:spcAft>
            </a:pPr>
            <a:r>
              <a:rPr sz="1600" b="1">
                <a:solidFill>
                  <a:srgbClr val="F8FAFC"/>
                </a:solidFill>
                <a:latin typeface="Inter"/>
              </a:rPr>
              <a:t>C = S N(d₁) − K e⁻ʳᵀ N(d₂)</a:t>
            </a:r>
          </a:p>
          <a:p>
            <a:pPr algn="ctr">
              <a:spcBef>
                <a:spcPts val="0"/>
              </a:spcBef>
              <a:spcAft>
                <a:spcPts val="0"/>
              </a:spcAft>
            </a:pPr>
            <a:r>
              <a:rPr sz="1100" b="1">
                <a:solidFill>
                  <a:srgbClr val="2DD4BF"/>
                </a:solidFill>
                <a:latin typeface="Inter"/>
              </a:rPr>
              <a:t>σ ↑  ⇒  Option Value ↑  (All Else Equal)</a:t>
            </a:r>
          </a:p>
        </p:txBody>
      </p:sp>
      <p:sp>
        <p:nvSpPr>
          <p:cNvPr id="12" name="TextBox 11"/>
          <p:cNvSpPr txBox="1"/>
          <p:nvPr/>
        </p:nvSpPr>
        <p:spPr>
          <a:xfrm>
            <a:off x="777240" y="2889504"/>
            <a:ext cx="3127248" cy="1810512"/>
          </a:xfrm>
          <a:prstGeom prst="rect">
            <a:avLst/>
          </a:prstGeom>
          <a:noFill/>
        </p:spPr>
        <p:txBody>
          <a:bodyPr wrap="square" anchor="t" lIns="0" tIns="0" rIns="0" bIns="0">
            <a:spAutoFit/>
          </a:bodyPr>
          <a:lstStyle/>
          <a:p>
            <a:pPr algn="l" marL="201168" indent="-201168">
              <a:spcAft>
                <a:spcPts val="500"/>
              </a:spcAft>
              <a:buFont typeface="Inter"/>
              <a:buChar char="•"/>
            </a:pPr>
            <a:r>
              <a:rPr sz="1150" b="1">
                <a:solidFill>
                  <a:srgbClr val="F8FAFC"/>
                </a:solidFill>
                <a:latin typeface="Inter"/>
              </a:rPr>
              <a:t>Implied Volatility Definition: </a:t>
            </a:r>
            <a:r>
              <a:rPr sz="1150" b="0">
                <a:solidFill>
                  <a:srgbClr val="CBD5E1"/>
                </a:solidFill>
                <a:latin typeface="Inter"/>
              </a:rPr>
              <a:t>IV is the value of σ that equates the theoretical Black–Scholes price to the observed market price.</a:t>
            </a:r>
          </a:p>
          <a:p>
            <a:pPr algn="l" marL="201168" indent="-201168">
              <a:spcAft>
                <a:spcPts val="500"/>
              </a:spcAft>
              <a:buFont typeface="Inter"/>
              <a:buChar char="•"/>
            </a:pPr>
            <a:r>
              <a:rPr sz="1150" b="1">
                <a:solidFill>
                  <a:srgbClr val="F8FAFC"/>
                </a:solidFill>
                <a:latin typeface="Inter"/>
              </a:rPr>
              <a:t>Numerical Inversion: </a:t>
            </a:r>
            <a:r>
              <a:rPr sz="1150" b="0">
                <a:solidFill>
                  <a:srgbClr val="CBD5E1"/>
                </a:solidFill>
                <a:latin typeface="Inter"/>
              </a:rPr>
              <a:t>Because no closed-form algebraic inverse exists for σ, numerical root-finding is required.</a:t>
            </a:r>
          </a:p>
          <a:p>
            <a:pPr algn="l" marL="201168" indent="-201168">
              <a:spcAft>
                <a:spcPts val="0"/>
              </a:spcAft>
              <a:buFont typeface="Inter"/>
              <a:buChar char="•"/>
            </a:pPr>
            <a:r>
              <a:rPr sz="1150" b="1">
                <a:solidFill>
                  <a:srgbClr val="F8FAFC"/>
                </a:solidFill>
                <a:latin typeface="Inter"/>
              </a:rPr>
              <a:t>Stress-Test Rate: </a:t>
            </a:r>
            <a:r>
              <a:rPr sz="1150" b="0">
                <a:solidFill>
                  <a:srgbClr val="CBD5E1"/>
                </a:solidFill>
                <a:latin typeface="Inter"/>
              </a:rPr>
              <a:t>Annual risk-free rate assumption r = 6% used in Black–Scholes valuation scenarios.</a:t>
            </a:r>
          </a:p>
        </p:txBody>
      </p:sp>
      <p:sp>
        <p:nvSpPr>
          <p:cNvPr id="13" name="Rounded Rectangle 12"/>
          <p:cNvSpPr/>
          <p:nvPr/>
        </p:nvSpPr>
        <p:spPr>
          <a:xfrm>
            <a:off x="4352544" y="1481328"/>
            <a:ext cx="3493008" cy="331012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352544" y="1481328"/>
            <a:ext cx="3493008" cy="548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1609344"/>
            <a:ext cx="3127248" cy="347472"/>
          </a:xfrm>
          <a:prstGeom prst="rect">
            <a:avLst/>
          </a:prstGeom>
          <a:noFill/>
        </p:spPr>
        <p:txBody>
          <a:bodyPr wrap="square" anchor="t" lIns="0" tIns="0" rIns="0" bIns="0">
            <a:spAutoFit/>
          </a:bodyPr>
          <a:lstStyle/>
          <a:p>
            <a:pPr algn="l">
              <a:spcBef>
                <a:spcPts val="0"/>
              </a:spcBef>
              <a:spcAft>
                <a:spcPts val="400"/>
              </a:spcAft>
            </a:pPr>
            <a:r>
              <a:rPr sz="1100" b="1">
                <a:solidFill>
                  <a:srgbClr val="2DD4BF"/>
                </a:solidFill>
                <a:latin typeface="Inter"/>
              </a:rPr>
              <a:t>2. MONEYNESS &amp; NEAR-ATM FILTER</a:t>
            </a:r>
          </a:p>
        </p:txBody>
      </p:sp>
      <p:sp>
        <p:nvSpPr>
          <p:cNvPr id="16" name="Rounded Rectangle 15"/>
          <p:cNvSpPr/>
          <p:nvPr/>
        </p:nvSpPr>
        <p:spPr>
          <a:xfrm>
            <a:off x="4535424" y="1965960"/>
            <a:ext cx="3127248" cy="822960"/>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608576" y="2029968"/>
            <a:ext cx="2980944" cy="713232"/>
          </a:xfrm>
          <a:prstGeom prst="rect">
            <a:avLst/>
          </a:prstGeom>
          <a:noFill/>
        </p:spPr>
        <p:txBody>
          <a:bodyPr wrap="square" anchor="t" lIns="0" tIns="0" rIns="0" bIns="0">
            <a:spAutoFit/>
          </a:bodyPr>
          <a:lstStyle/>
          <a:p>
            <a:pPr algn="ctr">
              <a:spcBef>
                <a:spcPts val="0"/>
              </a:spcBef>
              <a:spcAft>
                <a:spcPts val="400"/>
              </a:spcAft>
            </a:pPr>
            <a:r>
              <a:rPr sz="1650" b="1">
                <a:solidFill>
                  <a:srgbClr val="F8FAFC"/>
                </a:solidFill>
                <a:latin typeface="Inter"/>
              </a:rPr>
              <a:t>M = K / S</a:t>
            </a:r>
          </a:p>
          <a:p>
            <a:pPr algn="ctr">
              <a:spcBef>
                <a:spcPts val="0"/>
              </a:spcBef>
              <a:spcAft>
                <a:spcPts val="0"/>
              </a:spcAft>
            </a:pPr>
            <a:r>
              <a:rPr sz="1150" b="1">
                <a:solidFill>
                  <a:srgbClr val="F59E0B"/>
                </a:solidFill>
                <a:latin typeface="Inter"/>
              </a:rPr>
              <a:t>Near-ATM Filter:   0.95 ≤ M ≤ 1.05</a:t>
            </a:r>
          </a:p>
        </p:txBody>
      </p:sp>
      <p:sp>
        <p:nvSpPr>
          <p:cNvPr id="18" name="TextBox 17"/>
          <p:cNvSpPr txBox="1"/>
          <p:nvPr/>
        </p:nvSpPr>
        <p:spPr>
          <a:xfrm>
            <a:off x="4535424" y="2889504"/>
            <a:ext cx="3127248" cy="1810512"/>
          </a:xfrm>
          <a:prstGeom prst="rect">
            <a:avLst/>
          </a:prstGeom>
          <a:noFill/>
        </p:spPr>
        <p:txBody>
          <a:bodyPr wrap="square" anchor="t" lIns="0" tIns="0" rIns="0" bIns="0">
            <a:spAutoFit/>
          </a:bodyPr>
          <a:lstStyle/>
          <a:p>
            <a:pPr algn="l" marL="201168" indent="-201168">
              <a:spcAft>
                <a:spcPts val="500"/>
              </a:spcAft>
              <a:buFont typeface="Inter"/>
              <a:buChar char="•"/>
            </a:pPr>
            <a:r>
              <a:rPr sz="1150" b="1">
                <a:solidFill>
                  <a:srgbClr val="F8FAFC"/>
                </a:solidFill>
                <a:latin typeface="Inter"/>
              </a:rPr>
              <a:t>Standardised Strike Ratio: </a:t>
            </a:r>
            <a:r>
              <a:rPr sz="1150" b="0">
                <a:solidFill>
                  <a:srgbClr val="CBD5E1"/>
                </a:solidFill>
                <a:latin typeface="Inter"/>
              </a:rPr>
              <a:t>Moneyness standardises strike price (K) relative to underlying NIFTY 50 spot price (S).</a:t>
            </a:r>
          </a:p>
          <a:p>
            <a:pPr algn="l" marL="201168" indent="-201168">
              <a:spcAft>
                <a:spcPts val="500"/>
              </a:spcAft>
              <a:buFont typeface="Inter"/>
              <a:buChar char="•"/>
            </a:pPr>
            <a:r>
              <a:rPr sz="1150" b="1">
                <a:solidFill>
                  <a:srgbClr val="F8FAFC"/>
                </a:solidFill>
                <a:latin typeface="Inter"/>
              </a:rPr>
              <a:t>Strike Interpretation: </a:t>
            </a:r>
            <a:r>
              <a:rPr sz="1150" b="0">
                <a:solidFill>
                  <a:srgbClr val="CBD5E1"/>
                </a:solidFill>
                <a:latin typeface="Inter"/>
              </a:rPr>
              <a:t>M ≈ 1 is near ATM; M &lt; 1 or M &gt; 1 represent ITM or OTM positions depending on option type (CE vs PE).</a:t>
            </a:r>
          </a:p>
          <a:p>
            <a:pPr algn="l" marL="201168" indent="-201168">
              <a:spcAft>
                <a:spcPts val="0"/>
              </a:spcAft>
              <a:buFont typeface="Inter"/>
              <a:buChar char="•"/>
            </a:pPr>
            <a:r>
              <a:rPr sz="1150" b="1">
                <a:solidFill>
                  <a:srgbClr val="F8FAFC"/>
                </a:solidFill>
                <a:latin typeface="Inter"/>
              </a:rPr>
              <a:t>Economic Rationale: </a:t>
            </a:r>
            <a:r>
              <a:rPr sz="1150" b="0">
                <a:solidFill>
                  <a:srgbClr val="CBD5E1"/>
                </a:solidFill>
                <a:latin typeface="Inter"/>
              </a:rPr>
              <a:t>Restricting to 0.95 ≤ M ≤ 1.05 focuses on liquid strikes and removes noisy deep-wing quotes.</a:t>
            </a:r>
          </a:p>
        </p:txBody>
      </p:sp>
      <p:sp>
        <p:nvSpPr>
          <p:cNvPr id="19" name="Rounded Rectangle 18"/>
          <p:cNvSpPr/>
          <p:nvPr/>
        </p:nvSpPr>
        <p:spPr>
          <a:xfrm>
            <a:off x="8110727" y="1481328"/>
            <a:ext cx="3483864" cy="331012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8110727" y="1481328"/>
            <a:ext cx="3483864"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8" y="1609344"/>
            <a:ext cx="3118104" cy="347472"/>
          </a:xfrm>
          <a:prstGeom prst="rect">
            <a:avLst/>
          </a:prstGeom>
          <a:noFill/>
        </p:spPr>
        <p:txBody>
          <a:bodyPr wrap="square" anchor="t" lIns="0" tIns="0" rIns="0" bIns="0">
            <a:spAutoFit/>
          </a:bodyPr>
          <a:lstStyle/>
          <a:p>
            <a:pPr algn="l">
              <a:spcBef>
                <a:spcPts val="0"/>
              </a:spcBef>
              <a:spcAft>
                <a:spcPts val="400"/>
              </a:spcAft>
            </a:pPr>
            <a:r>
              <a:rPr sz="1100" b="1">
                <a:solidFill>
                  <a:srgbClr val="10B981"/>
                </a:solidFill>
                <a:latin typeface="Inter"/>
              </a:rPr>
              <a:t>3. FORECAST TARGET &amp; BENCHMARK</a:t>
            </a:r>
          </a:p>
        </p:txBody>
      </p:sp>
      <p:sp>
        <p:nvSpPr>
          <p:cNvPr id="22" name="Rounded Rectangle 21"/>
          <p:cNvSpPr/>
          <p:nvPr/>
        </p:nvSpPr>
        <p:spPr>
          <a:xfrm>
            <a:off x="8293608" y="1965960"/>
            <a:ext cx="3118104" cy="822960"/>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57616" y="2029968"/>
            <a:ext cx="2990088" cy="713232"/>
          </a:xfrm>
          <a:prstGeom prst="rect">
            <a:avLst/>
          </a:prstGeom>
          <a:noFill/>
        </p:spPr>
        <p:txBody>
          <a:bodyPr wrap="square" anchor="t" lIns="0" tIns="0" rIns="0" bIns="0">
            <a:spAutoFit/>
          </a:bodyPr>
          <a:lstStyle/>
          <a:p>
            <a:pPr algn="ctr">
              <a:spcBef>
                <a:spcPts val="0"/>
              </a:spcBef>
              <a:spcAft>
                <a:spcPts val="400"/>
              </a:spcAft>
            </a:pPr>
            <a:r>
              <a:rPr sz="1550" b="1">
                <a:solidFill>
                  <a:srgbClr val="F8FAFC"/>
                </a:solidFill>
                <a:latin typeface="Inter"/>
              </a:rPr>
              <a:t>ΔIV(t+5) = IV(t+5) − IV(t)</a:t>
            </a:r>
          </a:p>
          <a:p>
            <a:pPr algn="ctr">
              <a:spcBef>
                <a:spcPts val="0"/>
              </a:spcBef>
              <a:spcAft>
                <a:spcPts val="0"/>
              </a:spcAft>
            </a:pPr>
            <a:r>
              <a:rPr sz="1100" b="1">
                <a:solidFill>
                  <a:srgbClr val="10B981"/>
                </a:solidFill>
                <a:latin typeface="Inter"/>
              </a:rPr>
              <a:t>Persistence Forecast:  IV_pred(t+5) = IV(t)</a:t>
            </a:r>
          </a:p>
        </p:txBody>
      </p:sp>
      <p:sp>
        <p:nvSpPr>
          <p:cNvPr id="24" name="TextBox 23"/>
          <p:cNvSpPr txBox="1"/>
          <p:nvPr/>
        </p:nvSpPr>
        <p:spPr>
          <a:xfrm>
            <a:off x="8293608" y="2889504"/>
            <a:ext cx="3118104" cy="1810512"/>
          </a:xfrm>
          <a:prstGeom prst="rect">
            <a:avLst/>
          </a:prstGeom>
          <a:noFill/>
        </p:spPr>
        <p:txBody>
          <a:bodyPr wrap="square" anchor="t" lIns="0" tIns="0" rIns="0" bIns="0">
            <a:spAutoFit/>
          </a:bodyPr>
          <a:lstStyle/>
          <a:p>
            <a:pPr algn="l" marL="201168" indent="-201168">
              <a:spcAft>
                <a:spcPts val="500"/>
              </a:spcAft>
              <a:buFont typeface="Inter"/>
              <a:buChar char="•"/>
            </a:pPr>
            <a:r>
              <a:rPr sz="1150" b="1">
                <a:solidFill>
                  <a:srgbClr val="F8FAFC"/>
                </a:solidFill>
                <a:latin typeface="Inter"/>
              </a:rPr>
              <a:t>First-Difference Target: </a:t>
            </a:r>
            <a:r>
              <a:rPr sz="1150" b="0">
                <a:solidFill>
                  <a:srgbClr val="CBD5E1"/>
                </a:solidFill>
                <a:latin typeface="Inter"/>
              </a:rPr>
              <a:t>Predicting 5-minute change ΔIV(t+5) rather than raw level avoids non-stationary level drift.</a:t>
            </a:r>
          </a:p>
          <a:p>
            <a:pPr algn="l" marL="201168" indent="-201168">
              <a:spcAft>
                <a:spcPts val="500"/>
              </a:spcAft>
              <a:buFont typeface="Inter"/>
              <a:buChar char="•"/>
            </a:pPr>
            <a:r>
              <a:rPr sz="1150" b="1">
                <a:solidFill>
                  <a:srgbClr val="F8FAFC"/>
                </a:solidFill>
                <a:latin typeface="Inter"/>
              </a:rPr>
              <a:t>Implied Level Reconstruction: </a:t>
            </a:r>
            <a:r>
              <a:rPr sz="1150" b="0">
                <a:solidFill>
                  <a:srgbClr val="CBD5E1"/>
                </a:solidFill>
                <a:latin typeface="Inter"/>
              </a:rPr>
              <a:t>Predicted future IV is recovered directly via IV_pred(t+5) = IV(t) + ΔIV_pred(t+5).</a:t>
            </a:r>
          </a:p>
          <a:p>
            <a:pPr algn="l" marL="201168" indent="-201168">
              <a:spcAft>
                <a:spcPts val="0"/>
              </a:spcAft>
              <a:buFont typeface="Inter"/>
              <a:buChar char="•"/>
            </a:pPr>
            <a:r>
              <a:rPr sz="1150" b="1">
                <a:solidFill>
                  <a:srgbClr val="F8FAFC"/>
                </a:solidFill>
                <a:latin typeface="Inter"/>
              </a:rPr>
              <a:t>Benchmark Criterion: </a:t>
            </a:r>
            <a:r>
              <a:rPr sz="1150" b="0">
                <a:solidFill>
                  <a:srgbClr val="CBD5E1"/>
                </a:solidFill>
                <a:latin typeface="Inter"/>
              </a:rPr>
              <a:t>The ML model adds value only if its out-of-sample error is strictly lower than persistence.</a:t>
            </a:r>
          </a:p>
        </p:txBody>
      </p:sp>
      <p:sp>
        <p:nvSpPr>
          <p:cNvPr id="25" name="Rounded Rectangle 24"/>
          <p:cNvSpPr/>
          <p:nvPr/>
        </p:nvSpPr>
        <p:spPr>
          <a:xfrm>
            <a:off x="594360" y="4919472"/>
            <a:ext cx="11000232" cy="1316736"/>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s6_moneyness_bar.png"/>
          <p:cNvPicPr>
            <a:picLocks noChangeAspect="1"/>
          </p:cNvPicPr>
          <p:nvPr/>
        </p:nvPicPr>
        <p:blipFill>
          <a:blip r:embed="rId2"/>
          <a:stretch>
            <a:fillRect/>
          </a:stretch>
        </p:blipFill>
        <p:spPr>
          <a:xfrm>
            <a:off x="731520" y="4974336"/>
            <a:ext cx="10725912" cy="119176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06  •  DATA DESCRIPTION, SOURCES &amp; PREPROCESSING FUNNEL</a:t>
            </a:r>
          </a:p>
          <a:p>
            <a:pPr algn="l">
              <a:spcBef>
                <a:spcPts val="0"/>
              </a:spcBef>
              <a:spcAft>
                <a:spcPts val="200"/>
              </a:spcAft>
            </a:pPr>
            <a:r>
              <a:rPr sz="2300" b="1">
                <a:solidFill>
                  <a:srgbClr val="F8FAFC"/>
                </a:solidFill>
                <a:latin typeface="Inter"/>
              </a:rPr>
              <a:t>NIFTY 50 Option-Chain Dataset &amp; Exact 5-Stage Preprocessing Funnel</a:t>
            </a:r>
          </a:p>
          <a:p>
            <a:pPr algn="l">
              <a:spcBef>
                <a:spcPts val="0"/>
              </a:spcBef>
              <a:spcAft>
                <a:spcPts val="0"/>
              </a:spcAft>
            </a:pPr>
            <a:r>
              <a:rPr sz="1300" b="0">
                <a:solidFill>
                  <a:srgbClr val="94A3B8"/>
                </a:solidFill>
                <a:latin typeface="Inter"/>
              </a:rPr>
              <a:t>Preserving exact timestamp alignment and separating the 15–16 Oct development set from the 19 Oct expiry-day test</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7 / 15</a:t>
            </a:r>
          </a:p>
        </p:txBody>
      </p:sp>
      <p:graphicFrame>
        <p:nvGraphicFramePr>
          <p:cNvPr id="7" name="Table 6"/>
          <p:cNvGraphicFramePr>
            <a:graphicFrameLocks noGrp="1"/>
          </p:cNvGraphicFramePr>
          <p:nvPr/>
        </p:nvGraphicFramePr>
        <p:xfrm>
          <a:off x="594360" y="1481328"/>
          <a:ext cx="5806439" cy="3794760"/>
        </p:xfrm>
        <a:graphic>
          <a:graphicData uri="http://schemas.openxmlformats.org/drawingml/2006/table">
            <a:tbl>
              <a:tblPr firstRow="1" bandRow="1">
                <a:tableStyleId>{5C22544A-7EE6-4342-B048-85BDC9FD1C3A}</a:tableStyleId>
              </a:tblPr>
              <a:tblGrid>
                <a:gridCol w="2057400"/>
                <a:gridCol w="3749039"/>
              </a:tblGrid>
              <a:tr h="474345">
                <a:tc>
                  <a:txBody>
                    <a:bodyPr wrap="square"/>
                    <a:lstStyle/>
                    <a:p>
                      <a:pPr algn="l"/>
                      <a:r>
                        <a:rPr sz="1150" b="1">
                          <a:solidFill>
                            <a:srgbClr val="00B4D8"/>
                          </a:solidFill>
                          <a:latin typeface="Inter"/>
                        </a:rPr>
                        <a:t>Dataset Dimension</a:t>
                      </a:r>
                    </a:p>
                  </a:txBody>
                  <a:tcPr anchor="ctr" marL="109728" marR="109728" marT="45720" marB="45720">
                    <a:solidFill>
                      <a:srgbClr val="172A45"/>
                    </a:solidFill>
                  </a:tcPr>
                </a:tc>
                <a:tc>
                  <a:txBody>
                    <a:bodyPr wrap="square"/>
                    <a:lstStyle/>
                    <a:p>
                      <a:pPr algn="l"/>
                      <a:r>
                        <a:rPr sz="1150" b="1">
                          <a:solidFill>
                            <a:srgbClr val="00B4D8"/>
                          </a:solidFill>
                          <a:latin typeface="Inter"/>
                        </a:rPr>
                        <a:t>Exact Project Specification</a:t>
                      </a:r>
                    </a:p>
                  </a:txBody>
                  <a:tcPr anchor="ctr" marL="109728" marR="109728" marT="45720" marB="45720">
                    <a:solidFill>
                      <a:srgbClr val="172A45"/>
                    </a:solidFill>
                  </a:tcPr>
                </a:tc>
              </a:tr>
              <a:tr h="474345">
                <a:tc>
                  <a:txBody>
                    <a:bodyPr wrap="square"/>
                    <a:lstStyle/>
                    <a:p>
                      <a:pPr algn="l"/>
                      <a:r>
                        <a:rPr sz="1150" b="1">
                          <a:solidFill>
                            <a:srgbClr val="F8FAFC"/>
                          </a:solidFill>
                          <a:latin typeface="Inter"/>
                        </a:rPr>
                        <a:t>Data Source</a:t>
                      </a:r>
                    </a:p>
                  </a:txBody>
                  <a:tcPr anchor="ctr" marL="109728" marR="109728" marT="45720" marB="45720">
                    <a:solidFill>
                      <a:srgbClr val="162238"/>
                    </a:solidFill>
                  </a:tcPr>
                </a:tc>
                <a:tc>
                  <a:txBody>
                    <a:bodyPr wrap="square"/>
                    <a:lstStyle/>
                    <a:p>
                      <a:pPr algn="l"/>
                      <a:r>
                        <a:rPr sz="1150" b="0">
                          <a:solidFill>
                            <a:srgbClr val="CBD5E1"/>
                          </a:solidFill>
                          <a:latin typeface="Inter"/>
                        </a:rPr>
                        <a:t>NSE option-chain CSV snapshots; Upstox option-chain API for live prototype</a:t>
                      </a:r>
                    </a:p>
                  </a:txBody>
                  <a:tcPr anchor="ctr" marL="109728" marR="109728" marT="45720" marB="45720">
                    <a:solidFill>
                      <a:srgbClr val="162238"/>
                    </a:solidFill>
                  </a:tcPr>
                </a:tc>
              </a:tr>
              <a:tr h="474345">
                <a:tc>
                  <a:txBody>
                    <a:bodyPr wrap="square"/>
                    <a:lstStyle/>
                    <a:p>
                      <a:pPr algn="l"/>
                      <a:r>
                        <a:rPr sz="1150" b="1">
                          <a:solidFill>
                            <a:srgbClr val="F8FAFC"/>
                          </a:solidFill>
                          <a:latin typeface="Inter"/>
                        </a:rPr>
                        <a:t>Instrument</a:t>
                      </a:r>
                    </a:p>
                  </a:txBody>
                  <a:tcPr anchor="ctr" marL="109728" marR="109728" marT="45720" marB="45720">
                    <a:solidFill>
                      <a:srgbClr val="1E293B"/>
                    </a:solidFill>
                  </a:tcPr>
                </a:tc>
                <a:tc>
                  <a:txBody>
                    <a:bodyPr wrap="square"/>
                    <a:lstStyle/>
                    <a:p>
                      <a:pPr algn="l"/>
                      <a:r>
                        <a:rPr sz="1150" b="0">
                          <a:solidFill>
                            <a:srgbClr val="CBD5E1"/>
                          </a:solidFill>
                          <a:latin typeface="Inter"/>
                        </a:rPr>
                        <a:t>NIFTY 50 weekly index options — Call (CE) and Put (PE) contracts</a:t>
                      </a:r>
                    </a:p>
                  </a:txBody>
                  <a:tcPr anchor="ctr" marL="109728" marR="109728" marT="45720" marB="45720">
                    <a:solidFill>
                      <a:srgbClr val="1E293B"/>
                    </a:solidFill>
                  </a:tcPr>
                </a:tc>
              </a:tr>
              <a:tr h="474345">
                <a:tc>
                  <a:txBody>
                    <a:bodyPr wrap="square"/>
                    <a:lstStyle/>
                    <a:p>
                      <a:pPr algn="l"/>
                      <a:r>
                        <a:rPr sz="1150" b="1">
                          <a:solidFill>
                            <a:srgbClr val="F8FAFC"/>
                          </a:solidFill>
                          <a:latin typeface="Inter"/>
                        </a:rPr>
                        <a:t>Development Period</a:t>
                      </a:r>
                    </a:p>
                  </a:txBody>
                  <a:tcPr anchor="ctr" marL="109728" marR="109728" marT="45720" marB="45720">
                    <a:solidFill>
                      <a:srgbClr val="162238"/>
                    </a:solidFill>
                  </a:tcPr>
                </a:tc>
                <a:tc>
                  <a:txBody>
                    <a:bodyPr wrap="square"/>
                    <a:lstStyle/>
                    <a:p>
                      <a:pPr algn="l"/>
                      <a:r>
                        <a:rPr sz="1150" b="0">
                          <a:solidFill>
                            <a:srgbClr val="CBD5E1"/>
                          </a:solidFill>
                          <a:latin typeface="Inter"/>
                        </a:rPr>
                        <a:t>15–16 October 2026  (Contract Expiry: 19 October 2026)</a:t>
                      </a:r>
                    </a:p>
                  </a:txBody>
                  <a:tcPr anchor="ctr" marL="109728" marR="109728" marT="45720" marB="45720">
                    <a:solidFill>
                      <a:srgbClr val="162238"/>
                    </a:solidFill>
                  </a:tcPr>
                </a:tc>
              </a:tr>
              <a:tr h="474345">
                <a:tc>
                  <a:txBody>
                    <a:bodyPr wrap="square"/>
                    <a:lstStyle/>
                    <a:p>
                      <a:pPr algn="l"/>
                      <a:r>
                        <a:rPr sz="1150" b="1">
                          <a:solidFill>
                            <a:srgbClr val="F8FAFC"/>
                          </a:solidFill>
                          <a:latin typeface="Inter"/>
                        </a:rPr>
                        <a:t>Development Raw Master</a:t>
                      </a:r>
                    </a:p>
                  </a:txBody>
                  <a:tcPr anchor="ctr" marL="109728" marR="109728" marT="45720" marB="45720">
                    <a:solidFill>
                      <a:srgbClr val="1E293B"/>
                    </a:solidFill>
                  </a:tcPr>
                </a:tc>
                <a:tc>
                  <a:txBody>
                    <a:bodyPr wrap="square"/>
                    <a:lstStyle/>
                    <a:p>
                      <a:pPr algn="l"/>
                      <a:r>
                        <a:rPr sz="1150" b="0">
                          <a:solidFill>
                            <a:srgbClr val="CBD5E1"/>
                          </a:solidFill>
                          <a:latin typeface="Inter"/>
                        </a:rPr>
                        <a:t>8,424 wide option-chain rows across 81 successful 5-minute snapshots</a:t>
                      </a:r>
                    </a:p>
                  </a:txBody>
                  <a:tcPr anchor="ctr" marL="109728" marR="109728" marT="45720" marB="45720">
                    <a:solidFill>
                      <a:srgbClr val="1E293B"/>
                    </a:solidFill>
                  </a:tcPr>
                </a:tc>
              </a:tr>
              <a:tr h="474345">
                <a:tc>
                  <a:txBody>
                    <a:bodyPr wrap="square"/>
                    <a:lstStyle/>
                    <a:p>
                      <a:pPr algn="l"/>
                      <a:r>
                        <a:rPr sz="1150" b="1">
                          <a:solidFill>
                            <a:srgbClr val="F8FAFC"/>
                          </a:solidFill>
                          <a:latin typeface="Inter"/>
                        </a:rPr>
                        <a:t>Final Lag-Ready Sample</a:t>
                      </a:r>
                    </a:p>
                  </a:txBody>
                  <a:tcPr anchor="ctr" marL="109728" marR="109728" marT="45720" marB="45720">
                    <a:solidFill>
                      <a:srgbClr val="162238"/>
                    </a:solidFill>
                  </a:tcPr>
                </a:tc>
                <a:tc>
                  <a:txBody>
                    <a:bodyPr wrap="square"/>
                    <a:lstStyle/>
                    <a:p>
                      <a:pPr algn="l"/>
                      <a:r>
                        <a:rPr sz="1150" b="0">
                          <a:solidFill>
                            <a:srgbClr val="CBD5E1"/>
                          </a:solidFill>
                          <a:latin typeface="Inter"/>
                        </a:rPr>
                        <a:t>4,853 near-ATM rows across 64 unique lag-ready timestamps</a:t>
                      </a:r>
                    </a:p>
                  </a:txBody>
                  <a:tcPr anchor="ctr" marL="109728" marR="109728" marT="45720" marB="45720">
                    <a:solidFill>
                      <a:srgbClr val="162238"/>
                    </a:solidFill>
                  </a:tcPr>
                </a:tc>
              </a:tr>
              <a:tr h="474345">
                <a:tc>
                  <a:txBody>
                    <a:bodyPr wrap="square"/>
                    <a:lstStyle/>
                    <a:p>
                      <a:pPr algn="l"/>
                      <a:r>
                        <a:rPr sz="1150" b="1">
                          <a:solidFill>
                            <a:srgbClr val="F59E0B"/>
                          </a:solidFill>
                          <a:latin typeface="Inter"/>
                        </a:rPr>
                        <a:t>Expiry-Day Robustness Set</a:t>
                      </a:r>
                    </a:p>
                  </a:txBody>
                  <a:tcPr anchor="ctr" marL="109728" marR="109728" marT="45720" marB="45720">
                    <a:solidFill>
                      <a:srgbClr val="2A1824"/>
                    </a:solidFill>
                  </a:tcPr>
                </a:tc>
                <a:tc>
                  <a:txBody>
                    <a:bodyPr wrap="square"/>
                    <a:lstStyle/>
                    <a:p>
                      <a:pPr algn="l"/>
                      <a:r>
                        <a:rPr sz="1150" b="1">
                          <a:solidFill>
                            <a:srgbClr val="F8FAFC"/>
                          </a:solidFill>
                          <a:latin typeface="Inter"/>
                        </a:rPr>
                        <a:t>1,137 near-ATM rows across 18 lag-ready timestamps on 19 October 2026</a:t>
                      </a:r>
                    </a:p>
                  </a:txBody>
                  <a:tcPr anchor="ctr" marL="109728" marR="109728" marT="45720" marB="45720">
                    <a:solidFill>
                      <a:srgbClr val="2A1824"/>
                    </a:solidFill>
                  </a:tcPr>
                </a:tc>
              </a:tr>
              <a:tr h="474345">
                <a:tc>
                  <a:txBody>
                    <a:bodyPr wrap="square"/>
                    <a:lstStyle/>
                    <a:p>
                      <a:pPr algn="l"/>
                      <a:r>
                        <a:rPr sz="1150" b="1">
                          <a:solidFill>
                            <a:srgbClr val="F8FAFC"/>
                          </a:solidFill>
                          <a:latin typeface="Inter"/>
                        </a:rPr>
                        <a:t>Core &amp; Engineered Variables</a:t>
                      </a:r>
                    </a:p>
                  </a:txBody>
                  <a:tcPr anchor="ctr" marL="109728" marR="109728" marT="45720" marB="45720">
                    <a:solidFill>
                      <a:srgbClr val="162238"/>
                    </a:solidFill>
                  </a:tcPr>
                </a:tc>
                <a:tc>
                  <a:txBody>
                    <a:bodyPr wrap="square"/>
                    <a:lstStyle/>
                    <a:p>
                      <a:pPr algn="l"/>
                      <a:r>
                        <a:rPr sz="1150" b="0">
                          <a:solidFill>
                            <a:srgbClr val="CBD5E1"/>
                          </a:solidFill>
                          <a:latin typeface="Inter"/>
                        </a:rPr>
                        <a:t>IV, LTP, volume, OI, bid, ask, strike, spot; plus 39 engineered current &amp; lag features</a:t>
                      </a:r>
                    </a:p>
                  </a:txBody>
                  <a:tcPr anchor="ctr" marL="109728" marR="109728" marT="45720" marB="45720">
                    <a:solidFill>
                      <a:srgbClr val="162238"/>
                    </a:solidFill>
                  </a:tcPr>
                </a:tc>
              </a:tr>
            </a:tbl>
          </a:graphicData>
        </a:graphic>
      </p:graphicFrame>
      <p:sp>
        <p:nvSpPr>
          <p:cNvPr id="8" name="Rounded Rectangle 7"/>
          <p:cNvSpPr/>
          <p:nvPr/>
        </p:nvSpPr>
        <p:spPr>
          <a:xfrm>
            <a:off x="594360" y="5394960"/>
            <a:ext cx="5806440" cy="84124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594360" y="5394960"/>
            <a:ext cx="73152"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5458968"/>
            <a:ext cx="5486400" cy="713232"/>
          </a:xfrm>
          <a:prstGeom prst="rect">
            <a:avLst/>
          </a:prstGeom>
          <a:noFill/>
        </p:spPr>
        <p:txBody>
          <a:bodyPr wrap="square" anchor="t" lIns="0" tIns="0" rIns="0" bIns="0">
            <a:spAutoFit/>
          </a:bodyPr>
          <a:lstStyle/>
          <a:p>
            <a:pPr algn="l">
              <a:spcBef>
                <a:spcPts val="0"/>
              </a:spcBef>
              <a:spcAft>
                <a:spcPts val="300"/>
              </a:spcAft>
            </a:pPr>
            <a:r>
              <a:rPr sz="1100" b="1">
                <a:solidFill>
                  <a:srgbClr val="10B981"/>
                </a:solidFill>
                <a:latin typeface="Inter"/>
              </a:rPr>
              <a:t>RIGOROUS DATA HYGIENE &amp; CLEANING PRINCIPLES</a:t>
            </a:r>
          </a:p>
          <a:p>
            <a:pPr algn="l">
              <a:spcBef>
                <a:spcPts val="0"/>
              </a:spcBef>
              <a:spcAft>
                <a:spcPts val="0"/>
              </a:spcAft>
            </a:pPr>
            <a:r>
              <a:rPr sz="1100" b="0">
                <a:solidFill>
                  <a:srgbClr val="CBD5E1"/>
                </a:solidFill>
                <a:latin typeface="Inter"/>
              </a:rPr>
              <a:t>• Positive IV only (IV &gt; 0)    • Near-ATM economic filter (0.95 ≤ M ≤ 1.05)
• Exact 5m/10m timestamp matching    • Zero target-based outlier deletion (preserves real spikes)</a:t>
            </a:r>
          </a:p>
        </p:txBody>
      </p:sp>
      <p:sp>
        <p:nvSpPr>
          <p:cNvPr id="11" name="Rounded Rectangle 10"/>
          <p:cNvSpPr/>
          <p:nvPr/>
        </p:nvSpPr>
        <p:spPr>
          <a:xfrm>
            <a:off x="6583680" y="1481328"/>
            <a:ext cx="5010912" cy="475488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s7_data_funnel.png"/>
          <p:cNvPicPr>
            <a:picLocks noChangeAspect="1"/>
          </p:cNvPicPr>
          <p:nvPr/>
        </p:nvPicPr>
        <p:blipFill>
          <a:blip r:embed="rId2"/>
          <a:stretch>
            <a:fillRect/>
          </a:stretch>
        </p:blipFill>
        <p:spPr>
          <a:xfrm>
            <a:off x="6675120" y="1536192"/>
            <a:ext cx="4828032" cy="3599078"/>
          </a:xfrm>
          <a:prstGeom prst="rect">
            <a:avLst/>
          </a:prstGeom>
        </p:spPr>
      </p:pic>
      <p:sp>
        <p:nvSpPr>
          <p:cNvPr id="13" name="Rounded Rectangle 12"/>
          <p:cNvSpPr/>
          <p:nvPr/>
        </p:nvSpPr>
        <p:spPr>
          <a:xfrm>
            <a:off x="6748272" y="5358384"/>
            <a:ext cx="4681728" cy="749808"/>
          </a:xfrm>
          <a:prstGeom prst="roundRect">
            <a:avLst>
              <a:gd name="adj" fmla="val 6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748272" y="5358384"/>
            <a:ext cx="64008" cy="7498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4" y="5413248"/>
            <a:ext cx="4407408" cy="640080"/>
          </a:xfrm>
          <a:prstGeom prst="rect">
            <a:avLst/>
          </a:prstGeom>
          <a:noFill/>
        </p:spPr>
        <p:txBody>
          <a:bodyPr wrap="square" anchor="t" lIns="0" tIns="0" rIns="0" bIns="0">
            <a:spAutoFit/>
          </a:bodyPr>
          <a:lstStyle/>
          <a:p>
            <a:pPr algn="l">
              <a:spcBef>
                <a:spcPts val="0"/>
              </a:spcBef>
              <a:spcAft>
                <a:spcPts val="200"/>
              </a:spcAft>
            </a:pPr>
            <a:r>
              <a:rPr sz="1050" b="1">
                <a:solidFill>
                  <a:srgbClr val="F59E0B"/>
                </a:solidFill>
                <a:latin typeface="Inter"/>
              </a:rPr>
              <a:t>SEPARATE EXPIRY-DAY ROBUSTNESS SAMPLE (19 OCT 2026)</a:t>
            </a:r>
          </a:p>
          <a:p>
            <a:pPr algn="l">
              <a:spcBef>
                <a:spcPts val="0"/>
              </a:spcBef>
              <a:spcAft>
                <a:spcPts val="0"/>
              </a:spcAft>
            </a:pPr>
            <a:r>
              <a:rPr sz="1050" b="0">
                <a:solidFill>
                  <a:srgbClr val="F8FAFC"/>
                </a:solidFill>
                <a:latin typeface="Inter"/>
              </a:rPr>
              <a:t>Kept strictly separate from development data: 1,137 near-ATM rows across 18 lag-ready timestamps (TTE: 0.17–1.58 hrs) to test out-of-regime behaviour.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07  •  METHODOLOGY &amp; ANALYTICAL FRAMEWORK</a:t>
            </a:r>
          </a:p>
          <a:p>
            <a:pPr algn="l">
              <a:spcBef>
                <a:spcPts val="0"/>
              </a:spcBef>
              <a:spcAft>
                <a:spcPts val="200"/>
              </a:spcAft>
            </a:pPr>
            <a:r>
              <a:rPr sz="2300" b="1">
                <a:solidFill>
                  <a:srgbClr val="F8FAFC"/>
                </a:solidFill>
                <a:latin typeface="Inter"/>
              </a:rPr>
              <a:t>Eight-Stage Analytical Pipeline &amp; Chronological Validation Safeguards</a:t>
            </a:r>
          </a:p>
          <a:p>
            <a:pPr algn="l">
              <a:spcBef>
                <a:spcPts val="0"/>
              </a:spcBef>
              <a:spcAft>
                <a:spcPts val="0"/>
              </a:spcAft>
            </a:pPr>
            <a:r>
              <a:rPr sz="1300" b="0">
                <a:solidFill>
                  <a:srgbClr val="94A3B8"/>
                </a:solidFill>
                <a:latin typeface="Inter"/>
              </a:rPr>
              <a:t>Preventing cross-sectional look-ahead leakage through strict timestamp-based splitting and exact horizon matching</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8 / 15</a:t>
            </a:r>
          </a:p>
        </p:txBody>
      </p:sp>
      <p:sp>
        <p:nvSpPr>
          <p:cNvPr id="7" name="Rounded Rectangle 6"/>
          <p:cNvSpPr/>
          <p:nvPr/>
        </p:nvSpPr>
        <p:spPr>
          <a:xfrm>
            <a:off x="594360" y="1481328"/>
            <a:ext cx="2578608" cy="1170432"/>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481328"/>
            <a:ext cx="64008" cy="11704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572768"/>
            <a:ext cx="2322576" cy="1005840"/>
          </a:xfrm>
          <a:prstGeom prst="rect">
            <a:avLst/>
          </a:prstGeom>
          <a:noFill/>
        </p:spPr>
        <p:txBody>
          <a:bodyPr wrap="square" anchor="t" lIns="0" tIns="0" rIns="0" bIns="0">
            <a:spAutoFit/>
          </a:bodyPr>
          <a:lstStyle/>
          <a:p>
            <a:pPr algn="l">
              <a:spcBef>
                <a:spcPts val="0"/>
              </a:spcBef>
              <a:spcAft>
                <a:spcPts val="200"/>
              </a:spcAft>
            </a:pPr>
            <a:r>
              <a:rPr sz="1050" b="1">
                <a:solidFill>
                  <a:srgbClr val="00B4D8"/>
                </a:solidFill>
                <a:latin typeface="Inter"/>
              </a:rPr>
              <a:t>STAGE 01  •  ACQUIRE</a:t>
            </a:r>
          </a:p>
          <a:p>
            <a:pPr algn="l">
              <a:spcBef>
                <a:spcPts val="0"/>
              </a:spcBef>
              <a:spcAft>
                <a:spcPts val="300"/>
              </a:spcAft>
            </a:pPr>
            <a:r>
              <a:rPr sz="1300" b="1">
                <a:solidFill>
                  <a:srgbClr val="F8FAFC"/>
                </a:solidFill>
                <a:latin typeface="Inter"/>
              </a:rPr>
              <a:t>Option-chain snapshots</a:t>
            </a:r>
          </a:p>
          <a:p>
            <a:pPr algn="l">
              <a:spcBef>
                <a:spcPts val="0"/>
              </a:spcBef>
              <a:spcAft>
                <a:spcPts val="0"/>
              </a:spcAft>
            </a:pPr>
            <a:r>
              <a:rPr sz="1050" b="0">
                <a:solidFill>
                  <a:srgbClr val="CBD5E1"/>
                </a:solidFill>
                <a:latin typeface="Inter"/>
              </a:rPr>
              <a:t>Ingest 5-minute NIFTY 50 NSE CSV snapshots &amp; Upstox API feeds.</a:t>
            </a:r>
          </a:p>
        </p:txBody>
      </p:sp>
      <p:sp>
        <p:nvSpPr>
          <p:cNvPr id="10" name="Rounded Rectangle 9"/>
          <p:cNvSpPr/>
          <p:nvPr/>
        </p:nvSpPr>
        <p:spPr>
          <a:xfrm>
            <a:off x="3401568" y="1481328"/>
            <a:ext cx="2578608" cy="1170432"/>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401568" y="1481328"/>
            <a:ext cx="64008" cy="11704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47872" y="1572768"/>
            <a:ext cx="2322576" cy="1005840"/>
          </a:xfrm>
          <a:prstGeom prst="rect">
            <a:avLst/>
          </a:prstGeom>
          <a:noFill/>
        </p:spPr>
        <p:txBody>
          <a:bodyPr wrap="square" anchor="t" lIns="0" tIns="0" rIns="0" bIns="0">
            <a:spAutoFit/>
          </a:bodyPr>
          <a:lstStyle/>
          <a:p>
            <a:pPr algn="l">
              <a:spcBef>
                <a:spcPts val="0"/>
              </a:spcBef>
              <a:spcAft>
                <a:spcPts val="200"/>
              </a:spcAft>
            </a:pPr>
            <a:r>
              <a:rPr sz="1050" b="1">
                <a:solidFill>
                  <a:srgbClr val="00B4D8"/>
                </a:solidFill>
                <a:latin typeface="Inter"/>
              </a:rPr>
              <a:t>STAGE 02  •  CLEAN</a:t>
            </a:r>
          </a:p>
          <a:p>
            <a:pPr algn="l">
              <a:spcBef>
                <a:spcPts val="0"/>
              </a:spcBef>
              <a:spcAft>
                <a:spcPts val="300"/>
              </a:spcAft>
            </a:pPr>
            <a:r>
              <a:rPr sz="1300" b="1">
                <a:solidFill>
                  <a:srgbClr val="F8FAFC"/>
                </a:solidFill>
                <a:latin typeface="Inter"/>
              </a:rPr>
              <a:t>CE/PE long format</a:t>
            </a:r>
          </a:p>
          <a:p>
            <a:pPr algn="l">
              <a:spcBef>
                <a:spcPts val="0"/>
              </a:spcBef>
              <a:spcAft>
                <a:spcPts val="0"/>
              </a:spcAft>
            </a:pPr>
            <a:r>
              <a:rPr sz="1050" b="0">
                <a:solidFill>
                  <a:srgbClr val="CBD5E1"/>
                </a:solidFill>
                <a:latin typeface="Inter"/>
              </a:rPr>
              <a:t>Stack Calls &amp; Puts into long format; retain valid positive IV (12,816 rows).</a:t>
            </a:r>
          </a:p>
        </p:txBody>
      </p:sp>
      <p:sp>
        <p:nvSpPr>
          <p:cNvPr id="13" name="Rounded Rectangle 12"/>
          <p:cNvSpPr/>
          <p:nvPr/>
        </p:nvSpPr>
        <p:spPr>
          <a:xfrm>
            <a:off x="6208776" y="1481328"/>
            <a:ext cx="2578608" cy="1170432"/>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208776" y="1481328"/>
            <a:ext cx="64008" cy="11704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572768"/>
            <a:ext cx="2322576" cy="1005840"/>
          </a:xfrm>
          <a:prstGeom prst="rect">
            <a:avLst/>
          </a:prstGeom>
          <a:noFill/>
        </p:spPr>
        <p:txBody>
          <a:bodyPr wrap="square" anchor="t" lIns="0" tIns="0" rIns="0" bIns="0">
            <a:spAutoFit/>
          </a:bodyPr>
          <a:lstStyle/>
          <a:p>
            <a:pPr algn="l">
              <a:spcBef>
                <a:spcPts val="0"/>
              </a:spcBef>
              <a:spcAft>
                <a:spcPts val="200"/>
              </a:spcAft>
            </a:pPr>
            <a:r>
              <a:rPr sz="1050" b="1">
                <a:solidFill>
                  <a:srgbClr val="2DD4BF"/>
                </a:solidFill>
                <a:latin typeface="Inter"/>
              </a:rPr>
              <a:t>STAGE 03  •  ENGINEER</a:t>
            </a:r>
          </a:p>
          <a:p>
            <a:pPr algn="l">
              <a:spcBef>
                <a:spcPts val="0"/>
              </a:spcBef>
              <a:spcAft>
                <a:spcPts val="300"/>
              </a:spcAft>
            </a:pPr>
            <a:r>
              <a:rPr sz="1300" b="1">
                <a:solidFill>
                  <a:srgbClr val="F8FAFC"/>
                </a:solidFill>
                <a:latin typeface="Inter"/>
              </a:rPr>
              <a:t>39 current + lag features</a:t>
            </a:r>
          </a:p>
          <a:p>
            <a:pPr algn="l">
              <a:spcBef>
                <a:spcPts val="0"/>
              </a:spcBef>
              <a:spcAft>
                <a:spcPts val="0"/>
              </a:spcAft>
            </a:pPr>
            <a:r>
              <a:rPr sz="1050" b="0">
                <a:solidFill>
                  <a:srgbClr val="CBD5E1"/>
                </a:solidFill>
                <a:latin typeface="Inter"/>
              </a:rPr>
              <a:t>Compute moneyness, liquidity, bid-ask spread, and exact 5m &amp; 10m lags.</a:t>
            </a:r>
          </a:p>
        </p:txBody>
      </p:sp>
      <p:sp>
        <p:nvSpPr>
          <p:cNvPr id="16" name="Rounded Rectangle 15"/>
          <p:cNvSpPr/>
          <p:nvPr/>
        </p:nvSpPr>
        <p:spPr>
          <a:xfrm>
            <a:off x="9015984" y="1481328"/>
            <a:ext cx="2578608" cy="1170432"/>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015984" y="1481328"/>
            <a:ext cx="64008" cy="11704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62288" y="1572768"/>
            <a:ext cx="2322576" cy="1005840"/>
          </a:xfrm>
          <a:prstGeom prst="rect">
            <a:avLst/>
          </a:prstGeom>
          <a:noFill/>
        </p:spPr>
        <p:txBody>
          <a:bodyPr wrap="square" anchor="t" lIns="0" tIns="0" rIns="0" bIns="0">
            <a:spAutoFit/>
          </a:bodyPr>
          <a:lstStyle/>
          <a:p>
            <a:pPr algn="l">
              <a:spcBef>
                <a:spcPts val="0"/>
              </a:spcBef>
              <a:spcAft>
                <a:spcPts val="200"/>
              </a:spcAft>
            </a:pPr>
            <a:r>
              <a:rPr sz="1050" b="1">
                <a:solidFill>
                  <a:srgbClr val="2DD4BF"/>
                </a:solidFill>
                <a:latin typeface="Inter"/>
              </a:rPr>
              <a:t>STAGE 04  •  TARGET</a:t>
            </a:r>
          </a:p>
          <a:p>
            <a:pPr algn="l">
              <a:spcBef>
                <a:spcPts val="0"/>
              </a:spcBef>
              <a:spcAft>
                <a:spcPts val="300"/>
              </a:spcAft>
            </a:pPr>
            <a:r>
              <a:rPr sz="1300" b="1">
                <a:solidFill>
                  <a:srgbClr val="F8FAFC"/>
                </a:solidFill>
                <a:latin typeface="Inter"/>
              </a:rPr>
              <a:t>Exact ΔIV at t+5</a:t>
            </a:r>
          </a:p>
          <a:p>
            <a:pPr algn="l">
              <a:spcBef>
                <a:spcPts val="0"/>
              </a:spcBef>
              <a:spcAft>
                <a:spcPts val="0"/>
              </a:spcAft>
            </a:pPr>
            <a:r>
              <a:rPr sz="1050" b="0">
                <a:solidFill>
                  <a:srgbClr val="CBD5E1"/>
                </a:solidFill>
                <a:latin typeface="Inter"/>
              </a:rPr>
              <a:t>Match each strike &amp; option type to its exact t+5m snapshot (4,853 rows).</a:t>
            </a:r>
          </a:p>
        </p:txBody>
      </p:sp>
      <p:sp>
        <p:nvSpPr>
          <p:cNvPr id="19" name="Rounded Rectangle 18"/>
          <p:cNvSpPr/>
          <p:nvPr/>
        </p:nvSpPr>
        <p:spPr>
          <a:xfrm>
            <a:off x="594360" y="2788920"/>
            <a:ext cx="2578608" cy="1170432"/>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594360" y="2788920"/>
            <a:ext cx="64008" cy="11704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 y="2880360"/>
            <a:ext cx="2322576" cy="1005840"/>
          </a:xfrm>
          <a:prstGeom prst="rect">
            <a:avLst/>
          </a:prstGeom>
          <a:noFill/>
        </p:spPr>
        <p:txBody>
          <a:bodyPr wrap="square" anchor="t" lIns="0" tIns="0" rIns="0" bIns="0">
            <a:spAutoFit/>
          </a:bodyPr>
          <a:lstStyle/>
          <a:p>
            <a:pPr algn="l">
              <a:spcBef>
                <a:spcPts val="0"/>
              </a:spcBef>
              <a:spcAft>
                <a:spcPts val="200"/>
              </a:spcAft>
            </a:pPr>
            <a:r>
              <a:rPr sz="1050" b="1">
                <a:solidFill>
                  <a:srgbClr val="F59E0B"/>
                </a:solidFill>
                <a:latin typeface="Inter"/>
              </a:rPr>
              <a:t>STAGE 05  •  VALIDATE</a:t>
            </a:r>
          </a:p>
          <a:p>
            <a:pPr algn="l">
              <a:spcBef>
                <a:spcPts val="0"/>
              </a:spcBef>
              <a:spcAft>
                <a:spcPts val="300"/>
              </a:spcAft>
            </a:pPr>
            <a:r>
              <a:rPr sz="1300" b="1">
                <a:solidFill>
                  <a:srgbClr val="F8FAFC"/>
                </a:solidFill>
                <a:latin typeface="Inter"/>
              </a:rPr>
              <a:t>Chronological split</a:t>
            </a:r>
          </a:p>
          <a:p>
            <a:pPr algn="l">
              <a:spcBef>
                <a:spcPts val="0"/>
              </a:spcBef>
              <a:spcAft>
                <a:spcPts val="0"/>
              </a:spcAft>
            </a:pPr>
            <a:r>
              <a:rPr sz="1050" b="0">
                <a:solidFill>
                  <a:srgbClr val="CBD5E1"/>
                </a:solidFill>
                <a:latin typeface="Inter"/>
              </a:rPr>
              <a:t>Split strictly by unique ordered timestamps (51 train / 13 holdout).</a:t>
            </a:r>
          </a:p>
        </p:txBody>
      </p:sp>
      <p:sp>
        <p:nvSpPr>
          <p:cNvPr id="22" name="Rounded Rectangle 21"/>
          <p:cNvSpPr/>
          <p:nvPr/>
        </p:nvSpPr>
        <p:spPr>
          <a:xfrm>
            <a:off x="3401568" y="2788920"/>
            <a:ext cx="2578608" cy="1170432"/>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3401568" y="2788920"/>
            <a:ext cx="64008" cy="11704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47872" y="2880360"/>
            <a:ext cx="2322576" cy="1005840"/>
          </a:xfrm>
          <a:prstGeom prst="rect">
            <a:avLst/>
          </a:prstGeom>
          <a:noFill/>
        </p:spPr>
        <p:txBody>
          <a:bodyPr wrap="square" anchor="t" lIns="0" tIns="0" rIns="0" bIns="0">
            <a:spAutoFit/>
          </a:bodyPr>
          <a:lstStyle/>
          <a:p>
            <a:pPr algn="l">
              <a:spcBef>
                <a:spcPts val="0"/>
              </a:spcBef>
              <a:spcAft>
                <a:spcPts val="200"/>
              </a:spcAft>
            </a:pPr>
            <a:r>
              <a:rPr sz="1050" b="1">
                <a:solidFill>
                  <a:srgbClr val="10B981"/>
                </a:solidFill>
                <a:latin typeface="Inter"/>
              </a:rPr>
              <a:t>STAGE 06  •  COMPARE</a:t>
            </a:r>
          </a:p>
          <a:p>
            <a:pPr algn="l">
              <a:spcBef>
                <a:spcPts val="0"/>
              </a:spcBef>
              <a:spcAft>
                <a:spcPts val="300"/>
              </a:spcAft>
            </a:pPr>
            <a:r>
              <a:rPr sz="1300" b="1">
                <a:solidFill>
                  <a:srgbClr val="F8FAFC"/>
                </a:solidFill>
                <a:latin typeface="Inter"/>
              </a:rPr>
              <a:t>Persistence / RF / XGB</a:t>
            </a:r>
          </a:p>
          <a:p>
            <a:pPr algn="l">
              <a:spcBef>
                <a:spcPts val="0"/>
              </a:spcBef>
              <a:spcAft>
                <a:spcPts val="0"/>
              </a:spcAft>
            </a:pPr>
            <a:r>
              <a:rPr sz="1050" b="0">
                <a:solidFill>
                  <a:srgbClr val="CBD5E1"/>
                </a:solidFill>
                <a:latin typeface="Inter"/>
              </a:rPr>
              <a:t>Evaluate MAE, RMSE, R² &amp; directional accuracy against ΔIV = 0 baseline.</a:t>
            </a:r>
          </a:p>
        </p:txBody>
      </p:sp>
      <p:sp>
        <p:nvSpPr>
          <p:cNvPr id="25" name="Rounded Rectangle 24"/>
          <p:cNvSpPr/>
          <p:nvPr/>
        </p:nvSpPr>
        <p:spPr>
          <a:xfrm>
            <a:off x="6208776" y="2788920"/>
            <a:ext cx="2578608" cy="1170432"/>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6208776" y="2788920"/>
            <a:ext cx="64008" cy="11704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2880360"/>
            <a:ext cx="2322576" cy="1005840"/>
          </a:xfrm>
          <a:prstGeom prst="rect">
            <a:avLst/>
          </a:prstGeom>
          <a:noFill/>
        </p:spPr>
        <p:txBody>
          <a:bodyPr wrap="square" anchor="t" lIns="0" tIns="0" rIns="0" bIns="0">
            <a:spAutoFit/>
          </a:bodyPr>
          <a:lstStyle/>
          <a:p>
            <a:pPr algn="l">
              <a:spcBef>
                <a:spcPts val="0"/>
              </a:spcBef>
              <a:spcAft>
                <a:spcPts val="200"/>
              </a:spcAft>
            </a:pPr>
            <a:r>
              <a:rPr sz="1050" b="1">
                <a:solidFill>
                  <a:srgbClr val="10B981"/>
                </a:solidFill>
                <a:latin typeface="Inter"/>
              </a:rPr>
              <a:t>STAGE 07  •  INTERPRET</a:t>
            </a:r>
          </a:p>
          <a:p>
            <a:pPr algn="l">
              <a:spcBef>
                <a:spcPts val="0"/>
              </a:spcBef>
              <a:spcAft>
                <a:spcPts val="300"/>
              </a:spcAft>
            </a:pPr>
            <a:r>
              <a:rPr sz="1300" b="1">
                <a:solidFill>
                  <a:srgbClr val="F8FAFC"/>
                </a:solidFill>
                <a:latin typeface="Inter"/>
              </a:rPr>
              <a:t>Relative-IV signals</a:t>
            </a:r>
          </a:p>
          <a:p>
            <a:pPr algn="l">
              <a:spcBef>
                <a:spcPts val="0"/>
              </a:spcBef>
              <a:spcAft>
                <a:spcPts val="0"/>
              </a:spcAft>
            </a:pPr>
            <a:r>
              <a:rPr sz="1050" b="0">
                <a:solidFill>
                  <a:srgbClr val="CBD5E1"/>
                </a:solidFill>
                <a:latin typeface="Inter"/>
              </a:rPr>
              <a:t>Classify current strike IV into Low, Fair/Neutral, or High vs forecast.</a:t>
            </a:r>
          </a:p>
        </p:txBody>
      </p:sp>
      <p:sp>
        <p:nvSpPr>
          <p:cNvPr id="28" name="Rounded Rectangle 27"/>
          <p:cNvSpPr/>
          <p:nvPr/>
        </p:nvSpPr>
        <p:spPr>
          <a:xfrm>
            <a:off x="9015984" y="2788920"/>
            <a:ext cx="2578608" cy="1170432"/>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015984" y="2788920"/>
            <a:ext cx="64008" cy="11704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62288" y="2880360"/>
            <a:ext cx="2322576" cy="1005840"/>
          </a:xfrm>
          <a:prstGeom prst="rect">
            <a:avLst/>
          </a:prstGeom>
          <a:noFill/>
        </p:spPr>
        <p:txBody>
          <a:bodyPr wrap="square" anchor="t" lIns="0" tIns="0" rIns="0" bIns="0">
            <a:spAutoFit/>
          </a:bodyPr>
          <a:lstStyle/>
          <a:p>
            <a:pPr algn="l">
              <a:spcBef>
                <a:spcPts val="0"/>
              </a:spcBef>
              <a:spcAft>
                <a:spcPts val="200"/>
              </a:spcAft>
            </a:pPr>
            <a:r>
              <a:rPr sz="1050" b="1">
                <a:solidFill>
                  <a:srgbClr val="38BDF8"/>
                </a:solidFill>
                <a:latin typeface="Inter"/>
              </a:rPr>
              <a:t>STAGE 08  •  RISK TEST</a:t>
            </a:r>
          </a:p>
          <a:p>
            <a:pPr algn="l">
              <a:spcBef>
                <a:spcPts val="0"/>
              </a:spcBef>
              <a:spcAft>
                <a:spcPts val="300"/>
              </a:spcAft>
            </a:pPr>
            <a:r>
              <a:rPr sz="1300" b="1">
                <a:solidFill>
                  <a:srgbClr val="F8FAFC"/>
                </a:solidFill>
                <a:latin typeface="Inter"/>
              </a:rPr>
              <a:t>Black–Scholes scenarios</a:t>
            </a:r>
          </a:p>
          <a:p>
            <a:pPr algn="l">
              <a:spcBef>
                <a:spcPts val="0"/>
              </a:spcBef>
              <a:spcAft>
                <a:spcPts val="0"/>
              </a:spcAft>
            </a:pPr>
            <a:r>
              <a:rPr sz="1050" b="0">
                <a:solidFill>
                  <a:srgbClr val="CBD5E1"/>
                </a:solidFill>
                <a:latin typeface="Inter"/>
              </a:rPr>
              <a:t>Quantify option rupee valuation under Spot, IV &amp; combined shocks.</a:t>
            </a:r>
          </a:p>
        </p:txBody>
      </p:sp>
      <p:sp>
        <p:nvSpPr>
          <p:cNvPr id="31" name="Rounded Rectangle 30"/>
          <p:cNvSpPr/>
          <p:nvPr/>
        </p:nvSpPr>
        <p:spPr>
          <a:xfrm>
            <a:off x="594360" y="4133087"/>
            <a:ext cx="11000232" cy="210312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594360" y="4133087"/>
            <a:ext cx="73152" cy="2103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4224528"/>
            <a:ext cx="10607040" cy="548640"/>
          </a:xfrm>
          <a:prstGeom prst="rect">
            <a:avLst/>
          </a:prstGeom>
          <a:noFill/>
        </p:spPr>
        <p:txBody>
          <a:bodyPr wrap="square" anchor="t" lIns="0" tIns="0" rIns="0" bIns="0">
            <a:spAutoFit/>
          </a:bodyPr>
          <a:lstStyle/>
          <a:p>
            <a:pPr algn="l">
              <a:spcBef>
                <a:spcPts val="0"/>
              </a:spcBef>
              <a:spcAft>
                <a:spcPts val="200"/>
              </a:spcAft>
            </a:pPr>
            <a:r>
              <a:rPr sz="1100" b="1">
                <a:solidFill>
                  <a:srgbClr val="F59E0B"/>
                </a:solidFill>
                <a:latin typeface="Inter"/>
              </a:rPr>
              <a:t>CRITICAL VALIDATION PRINCIPLE: WHY CHRONOLOGICAL TIMESTAMP SPLITTING IS MANDATORY</a:t>
            </a:r>
          </a:p>
          <a:p>
            <a:pPr algn="l">
              <a:spcBef>
                <a:spcPts val="0"/>
              </a:spcBef>
              <a:spcAft>
                <a:spcPts val="0"/>
              </a:spcAft>
            </a:pPr>
            <a:r>
              <a:rPr sz="1200" b="1">
                <a:solidFill>
                  <a:srgbClr val="F8FAFC"/>
                </a:solidFill>
                <a:latin typeface="Inter"/>
              </a:rPr>
              <a:t>Cross-sectional strikes observed at the same timestamp share the exact same underlying NIFTY 50 spot shock and market regime—they are NOT independent time periods.</a:t>
            </a:r>
          </a:p>
        </p:txBody>
      </p:sp>
      <p:sp>
        <p:nvSpPr>
          <p:cNvPr id="34" name="Rounded Rectangle 33"/>
          <p:cNvSpPr/>
          <p:nvPr/>
        </p:nvSpPr>
        <p:spPr>
          <a:xfrm>
            <a:off x="804672" y="4828032"/>
            <a:ext cx="5074920" cy="1261872"/>
          </a:xfrm>
          <a:prstGeom prst="roundRect">
            <a:avLst>
              <a:gd name="adj" fmla="val 5000"/>
            </a:avLst>
          </a:prstGeom>
          <a:solidFill>
            <a:srgbClr val="2A16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804672" y="4828032"/>
            <a:ext cx="64008" cy="1261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7552" y="4901184"/>
            <a:ext cx="4754880" cy="1115568"/>
          </a:xfrm>
          <a:prstGeom prst="rect">
            <a:avLst/>
          </a:prstGeom>
          <a:noFill/>
        </p:spPr>
        <p:txBody>
          <a:bodyPr wrap="square" anchor="t" lIns="0" tIns="0" rIns="0" bIns="0">
            <a:spAutoFit/>
          </a:bodyPr>
          <a:lstStyle/>
          <a:p>
            <a:pPr algn="l">
              <a:spcBef>
                <a:spcPts val="0"/>
              </a:spcBef>
              <a:spcAft>
                <a:spcPts val="400"/>
              </a:spcAft>
            </a:pPr>
            <a:r>
              <a:rPr sz="1100" b="1">
                <a:solidFill>
                  <a:srgbClr val="EF4444"/>
                </a:solidFill>
                <a:latin typeface="Inter"/>
              </a:rPr>
              <a:t>✗  INVALID: RANDOM ROW-LEVEL SPLIT (DATA LEAKAGE)</a:t>
            </a:r>
          </a:p>
          <a:p>
            <a:pPr algn="l" marL="201168" indent="-201168">
              <a:spcAft>
                <a:spcPts val="300"/>
              </a:spcAft>
              <a:buFont typeface="Inter"/>
              <a:buChar char="•"/>
            </a:pPr>
            <a:r>
              <a:rPr sz="1050" b="1">
                <a:solidFill>
                  <a:srgbClr val="F8FAFC"/>
                </a:solidFill>
                <a:latin typeface="Inter"/>
              </a:rPr>
              <a:t>Same-Timestamp Leakage: </a:t>
            </a:r>
            <a:r>
              <a:rPr sz="1050" b="0">
                <a:solidFill>
                  <a:srgbClr val="CBD5E1"/>
                </a:solidFill>
                <a:latin typeface="Inter"/>
              </a:rPr>
              <a:t>If Strike 23,100 CE at 10:15 is in Train and Strike 23,150 CE at 10:15 is in Test, the model already knows the 10:15→10:20 market shock.</a:t>
            </a:r>
          </a:p>
          <a:p>
            <a:pPr algn="l" marL="201168" indent="-201168">
              <a:spcAft>
                <a:spcPts val="0"/>
              </a:spcAft>
              <a:buFont typeface="Inter"/>
              <a:buChar char="•"/>
            </a:pPr>
            <a:r>
              <a:rPr sz="1050" b="1">
                <a:solidFill>
                  <a:srgbClr val="F8FAFC"/>
                </a:solidFill>
                <a:latin typeface="Inter"/>
              </a:rPr>
              <a:t>Artificially Inflated Metrics: </a:t>
            </a:r>
            <a:r>
              <a:rPr sz="1050" b="0">
                <a:solidFill>
                  <a:srgbClr val="CBD5E1"/>
                </a:solidFill>
                <a:latin typeface="Inter"/>
              </a:rPr>
              <a:t>Random splitting mixes future timestamps into training and memorises cross-sectional shocks.</a:t>
            </a:r>
          </a:p>
        </p:txBody>
      </p:sp>
      <p:sp>
        <p:nvSpPr>
          <p:cNvPr id="37" name="Rounded Rectangle 36"/>
          <p:cNvSpPr/>
          <p:nvPr/>
        </p:nvSpPr>
        <p:spPr>
          <a:xfrm>
            <a:off x="6108192" y="4828032"/>
            <a:ext cx="5285232" cy="1261872"/>
          </a:xfrm>
          <a:prstGeom prst="roundRect">
            <a:avLst>
              <a:gd name="adj" fmla="val 5000"/>
            </a:avLst>
          </a:prstGeom>
          <a:solidFill>
            <a:srgbClr val="122B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6108192" y="4828032"/>
            <a:ext cx="64008" cy="1261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91072" y="4901184"/>
            <a:ext cx="4956048" cy="1115568"/>
          </a:xfrm>
          <a:prstGeom prst="rect">
            <a:avLst/>
          </a:prstGeom>
          <a:noFill/>
        </p:spPr>
        <p:txBody>
          <a:bodyPr wrap="square" anchor="t" lIns="0" tIns="0" rIns="0" bIns="0">
            <a:spAutoFit/>
          </a:bodyPr>
          <a:lstStyle/>
          <a:p>
            <a:pPr algn="l">
              <a:spcBef>
                <a:spcPts val="0"/>
              </a:spcBef>
              <a:spcAft>
                <a:spcPts val="400"/>
              </a:spcAft>
            </a:pPr>
            <a:r>
              <a:rPr sz="1100" b="1">
                <a:solidFill>
                  <a:srgbClr val="10B981"/>
                </a:solidFill>
                <a:latin typeface="Inter"/>
              </a:rPr>
              <a:t>✓  PROJECT PROTOCOL: CHRONOLOGICAL TIMESTAMP SPLIT</a:t>
            </a:r>
          </a:p>
          <a:p>
            <a:pPr algn="l" marL="201168" indent="-201168">
              <a:spcAft>
                <a:spcPts val="300"/>
              </a:spcAft>
              <a:buFont typeface="Inter"/>
              <a:buChar char="•"/>
            </a:pPr>
            <a:r>
              <a:rPr sz="1050" b="1">
                <a:solidFill>
                  <a:srgbClr val="F8FAFC"/>
                </a:solidFill>
                <a:latin typeface="Inter"/>
              </a:rPr>
              <a:t>Strict Temporal Boundary: </a:t>
            </a:r>
            <a:r>
              <a:rPr sz="1050" b="0">
                <a:solidFill>
                  <a:srgbClr val="CBD5E1"/>
                </a:solidFill>
                <a:latin typeface="Inter"/>
              </a:rPr>
              <a:t>Split by unique ordered timestamps: first ~80% of timestamps for training (3,870 rows), final ~20% for holdout testing (983 rows).</a:t>
            </a:r>
          </a:p>
          <a:p>
            <a:pPr algn="l" marL="201168" indent="-201168">
              <a:spcAft>
                <a:spcPts val="0"/>
              </a:spcAft>
              <a:buFont typeface="Inter"/>
              <a:buChar char="•"/>
            </a:pPr>
            <a:r>
              <a:rPr sz="1050" b="1">
                <a:solidFill>
                  <a:srgbClr val="F8FAFC"/>
                </a:solidFill>
                <a:latin typeface="Inter"/>
              </a:rPr>
              <a:t>True Out-of-Sample Evaluation: </a:t>
            </a:r>
            <a:r>
              <a:rPr sz="1050" b="0">
                <a:solidFill>
                  <a:srgbClr val="CBD5E1"/>
                </a:solidFill>
                <a:latin typeface="Inter"/>
              </a:rPr>
              <a:t>Every holdout timestamp occurs strictly after all training timestamps, mimicking real-time 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08  •  IMPLEMENTATION, HYPERPARAMETERS &amp; SYSTEM ARCHITECTURE</a:t>
            </a:r>
          </a:p>
          <a:p>
            <a:pPr algn="l">
              <a:spcBef>
                <a:spcPts val="0"/>
              </a:spcBef>
              <a:spcAft>
                <a:spcPts val="200"/>
              </a:spcAft>
            </a:pPr>
            <a:r>
              <a:rPr sz="2300" b="1">
                <a:solidFill>
                  <a:srgbClr val="F8FAFC"/>
                </a:solidFill>
                <a:latin typeface="Inter"/>
              </a:rPr>
              <a:t>Random Forest Specifications, 39-Feature Design &amp; Live Pipeline</a:t>
            </a:r>
          </a:p>
          <a:p>
            <a:pPr algn="l">
              <a:spcBef>
                <a:spcPts val="0"/>
              </a:spcBef>
              <a:spcAft>
                <a:spcPts val="0"/>
              </a:spcAft>
            </a:pPr>
            <a:r>
              <a:rPr sz="1300" b="0">
                <a:solidFill>
                  <a:srgbClr val="94A3B8"/>
                </a:solidFill>
                <a:latin typeface="Inter"/>
              </a:rPr>
              <a:t>Nonlinear tree ensemble configuration, current and lagged feature groups, and automated Upstox-to-Streamlit workflow</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9 / 15</a:t>
            </a:r>
          </a:p>
        </p:txBody>
      </p:sp>
      <p:sp>
        <p:nvSpPr>
          <p:cNvPr id="7" name="Rounded Rectangle 6"/>
          <p:cNvSpPr/>
          <p:nvPr/>
        </p:nvSpPr>
        <p:spPr>
          <a:xfrm>
            <a:off x="594360" y="1463040"/>
            <a:ext cx="3520440" cy="338328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463040"/>
            <a:ext cx="3520440"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3154680" cy="320040"/>
          </a:xfrm>
          <a:prstGeom prst="rect">
            <a:avLst/>
          </a:prstGeom>
          <a:noFill/>
        </p:spPr>
        <p:txBody>
          <a:bodyPr wrap="square" anchor="t" lIns="0" tIns="0" rIns="0" bIns="0">
            <a:spAutoFit/>
          </a:bodyPr>
          <a:lstStyle/>
          <a:p>
            <a:pPr algn="l">
              <a:spcBef>
                <a:spcPts val="0"/>
              </a:spcBef>
              <a:spcAft>
                <a:spcPts val="400"/>
              </a:spcAft>
            </a:pPr>
            <a:r>
              <a:rPr sz="1150" b="1">
                <a:solidFill>
                  <a:srgbClr val="00B4D8"/>
                </a:solidFill>
                <a:latin typeface="Inter"/>
              </a:rPr>
              <a:t>SELECTED MODEL: RANDOM FOREST</a:t>
            </a:r>
          </a:p>
        </p:txBody>
      </p:sp>
      <p:sp>
        <p:nvSpPr>
          <p:cNvPr id="10" name="Rounded Rectangle 9"/>
          <p:cNvSpPr/>
          <p:nvPr/>
        </p:nvSpPr>
        <p:spPr>
          <a:xfrm>
            <a:off x="777240" y="1938528"/>
            <a:ext cx="1508760" cy="621792"/>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50392" y="1993392"/>
            <a:ext cx="1362456" cy="512064"/>
          </a:xfrm>
          <a:prstGeom prst="rect">
            <a:avLst/>
          </a:prstGeom>
          <a:noFill/>
        </p:spPr>
        <p:txBody>
          <a:bodyPr wrap="square" anchor="t" lIns="0" tIns="0" rIns="0" bIns="0">
            <a:spAutoFit/>
          </a:bodyPr>
          <a:lstStyle/>
          <a:p>
            <a:pPr algn="ctr">
              <a:spcBef>
                <a:spcPts val="0"/>
              </a:spcBef>
              <a:spcAft>
                <a:spcPts val="100"/>
              </a:spcAft>
            </a:pPr>
            <a:r>
              <a:rPr sz="1050" b="1">
                <a:solidFill>
                  <a:srgbClr val="94A3B8"/>
                </a:solidFill>
                <a:latin typeface="Inter"/>
              </a:rPr>
              <a:t>TREES</a:t>
            </a:r>
          </a:p>
          <a:p>
            <a:pPr algn="ctr">
              <a:spcBef>
                <a:spcPts val="0"/>
              </a:spcBef>
              <a:spcAft>
                <a:spcPts val="0"/>
              </a:spcAft>
            </a:pPr>
            <a:r>
              <a:rPr sz="1750" b="1">
                <a:solidFill>
                  <a:srgbClr val="F8FAFC"/>
                </a:solidFill>
                <a:latin typeface="Inter"/>
              </a:rPr>
              <a:t>300</a:t>
            </a:r>
          </a:p>
        </p:txBody>
      </p:sp>
      <p:sp>
        <p:nvSpPr>
          <p:cNvPr id="12" name="Rounded Rectangle 11"/>
          <p:cNvSpPr/>
          <p:nvPr/>
        </p:nvSpPr>
        <p:spPr>
          <a:xfrm>
            <a:off x="2423160" y="1938528"/>
            <a:ext cx="1508760" cy="621792"/>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2496312" y="1993392"/>
            <a:ext cx="1362456" cy="512064"/>
          </a:xfrm>
          <a:prstGeom prst="rect">
            <a:avLst/>
          </a:prstGeom>
          <a:noFill/>
        </p:spPr>
        <p:txBody>
          <a:bodyPr wrap="square" anchor="t" lIns="0" tIns="0" rIns="0" bIns="0">
            <a:spAutoFit/>
          </a:bodyPr>
          <a:lstStyle/>
          <a:p>
            <a:pPr algn="ctr">
              <a:spcBef>
                <a:spcPts val="0"/>
              </a:spcBef>
              <a:spcAft>
                <a:spcPts val="100"/>
              </a:spcAft>
            </a:pPr>
            <a:r>
              <a:rPr sz="1050" b="1">
                <a:solidFill>
                  <a:srgbClr val="94A3B8"/>
                </a:solidFill>
                <a:latin typeface="Inter"/>
              </a:rPr>
              <a:t>MAX DEPTH</a:t>
            </a:r>
          </a:p>
          <a:p>
            <a:pPr algn="ctr">
              <a:spcBef>
                <a:spcPts val="0"/>
              </a:spcBef>
              <a:spcAft>
                <a:spcPts val="0"/>
              </a:spcAft>
            </a:pPr>
            <a:r>
              <a:rPr sz="1750" b="1">
                <a:solidFill>
                  <a:srgbClr val="F8FAFC"/>
                </a:solidFill>
                <a:latin typeface="Inter"/>
              </a:rPr>
              <a:t>12</a:t>
            </a:r>
          </a:p>
        </p:txBody>
      </p:sp>
      <p:sp>
        <p:nvSpPr>
          <p:cNvPr id="14" name="Rounded Rectangle 13"/>
          <p:cNvSpPr/>
          <p:nvPr/>
        </p:nvSpPr>
        <p:spPr>
          <a:xfrm>
            <a:off x="777240" y="2651760"/>
            <a:ext cx="1508760" cy="621792"/>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50392" y="2706624"/>
            <a:ext cx="1362456" cy="512064"/>
          </a:xfrm>
          <a:prstGeom prst="rect">
            <a:avLst/>
          </a:prstGeom>
          <a:noFill/>
        </p:spPr>
        <p:txBody>
          <a:bodyPr wrap="square" anchor="t" lIns="0" tIns="0" rIns="0" bIns="0">
            <a:spAutoFit/>
          </a:bodyPr>
          <a:lstStyle/>
          <a:p>
            <a:pPr algn="ctr">
              <a:spcBef>
                <a:spcPts val="0"/>
              </a:spcBef>
              <a:spcAft>
                <a:spcPts val="100"/>
              </a:spcAft>
            </a:pPr>
            <a:r>
              <a:rPr sz="1050" b="1">
                <a:solidFill>
                  <a:srgbClr val="94A3B8"/>
                </a:solidFill>
                <a:latin typeface="Inter"/>
              </a:rPr>
              <a:t>MIN LEAF</a:t>
            </a:r>
          </a:p>
          <a:p>
            <a:pPr algn="ctr">
              <a:spcBef>
                <a:spcPts val="0"/>
              </a:spcBef>
              <a:spcAft>
                <a:spcPts val="0"/>
              </a:spcAft>
            </a:pPr>
            <a:r>
              <a:rPr sz="1750" b="1">
                <a:solidFill>
                  <a:srgbClr val="F8FAFC"/>
                </a:solidFill>
                <a:latin typeface="Inter"/>
              </a:rPr>
              <a:t>3</a:t>
            </a:r>
          </a:p>
        </p:txBody>
      </p:sp>
      <p:sp>
        <p:nvSpPr>
          <p:cNvPr id="16" name="Rounded Rectangle 15"/>
          <p:cNvSpPr/>
          <p:nvPr/>
        </p:nvSpPr>
        <p:spPr>
          <a:xfrm>
            <a:off x="2423160" y="2651760"/>
            <a:ext cx="1508760" cy="621792"/>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2496312" y="2706624"/>
            <a:ext cx="1362456" cy="512064"/>
          </a:xfrm>
          <a:prstGeom prst="rect">
            <a:avLst/>
          </a:prstGeom>
          <a:noFill/>
        </p:spPr>
        <p:txBody>
          <a:bodyPr wrap="square" anchor="t" lIns="0" tIns="0" rIns="0" bIns="0">
            <a:spAutoFit/>
          </a:bodyPr>
          <a:lstStyle/>
          <a:p>
            <a:pPr algn="ctr">
              <a:spcBef>
                <a:spcPts val="0"/>
              </a:spcBef>
              <a:spcAft>
                <a:spcPts val="100"/>
              </a:spcAft>
            </a:pPr>
            <a:r>
              <a:rPr sz="1050" b="1">
                <a:solidFill>
                  <a:srgbClr val="94A3B8"/>
                </a:solidFill>
                <a:latin typeface="Inter"/>
              </a:rPr>
              <a:t>MAX FEATURES</a:t>
            </a:r>
          </a:p>
          <a:p>
            <a:pPr algn="ctr">
              <a:spcBef>
                <a:spcPts val="0"/>
              </a:spcBef>
              <a:spcAft>
                <a:spcPts val="0"/>
              </a:spcAft>
            </a:pPr>
            <a:r>
              <a:rPr sz="1750" b="1">
                <a:solidFill>
                  <a:srgbClr val="F8FAFC"/>
                </a:solidFill>
                <a:latin typeface="Inter"/>
              </a:rPr>
              <a:t>sqrt</a:t>
            </a:r>
          </a:p>
        </p:txBody>
      </p:sp>
      <p:sp>
        <p:nvSpPr>
          <p:cNvPr id="18" name="Rounded Rectangle 17"/>
          <p:cNvSpPr/>
          <p:nvPr/>
        </p:nvSpPr>
        <p:spPr>
          <a:xfrm>
            <a:off x="777240" y="3364992"/>
            <a:ext cx="3154680" cy="402336"/>
          </a:xfrm>
          <a:prstGeom prst="roundRect">
            <a:avLst>
              <a:gd name="adj" fmla="val 8000"/>
            </a:avLst>
          </a:prstGeom>
          <a:solidFill>
            <a:srgbClr val="172A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22960" y="3438144"/>
            <a:ext cx="3063240" cy="274320"/>
          </a:xfrm>
          <a:prstGeom prst="rect">
            <a:avLst/>
          </a:prstGeom>
          <a:noFill/>
        </p:spPr>
        <p:txBody>
          <a:bodyPr wrap="square" anchor="t" lIns="0" tIns="0" rIns="0" bIns="0">
            <a:spAutoFit/>
          </a:bodyPr>
          <a:lstStyle/>
          <a:p>
            <a:pPr algn="ctr">
              <a:spcBef>
                <a:spcPts val="0"/>
              </a:spcBef>
              <a:spcAft>
                <a:spcPts val="400"/>
              </a:spcAft>
            </a:pPr>
            <a:r>
              <a:rPr sz="1200" b="1">
                <a:solidFill>
                  <a:srgbClr val="2DD4BF"/>
                </a:solidFill>
                <a:latin typeface="Inter"/>
              </a:rPr>
              <a:t>Target:  ΔIV(t+5) = IV(t+5) − IV(t)</a:t>
            </a:r>
          </a:p>
        </p:txBody>
      </p:sp>
      <p:sp>
        <p:nvSpPr>
          <p:cNvPr id="20" name="TextBox 19"/>
          <p:cNvSpPr txBox="1"/>
          <p:nvPr/>
        </p:nvSpPr>
        <p:spPr>
          <a:xfrm>
            <a:off x="777240" y="3840480"/>
            <a:ext cx="3154680" cy="932688"/>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Why Random Forest?</a:t>
            </a:r>
          </a:p>
          <a:p>
            <a:pPr algn="l">
              <a:spcBef>
                <a:spcPts val="0"/>
              </a:spcBef>
              <a:spcAft>
                <a:spcPts val="0"/>
              </a:spcAft>
            </a:pPr>
            <a:r>
              <a:rPr sz="1050" b="0">
                <a:solidFill>
                  <a:srgbClr val="CBD5E1"/>
                </a:solidFill>
                <a:latin typeface="Inter"/>
              </a:rPr>
              <a:t>Nonlinear tree ensemble suitable for complex interactions among IV, moneyness, liquidity, and recent market movement.</a:t>
            </a:r>
          </a:p>
        </p:txBody>
      </p:sp>
      <p:sp>
        <p:nvSpPr>
          <p:cNvPr id="21" name="Rounded Rectangle 20"/>
          <p:cNvSpPr/>
          <p:nvPr/>
        </p:nvSpPr>
        <p:spPr>
          <a:xfrm>
            <a:off x="4297680" y="1463040"/>
            <a:ext cx="3520440" cy="338328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4297680" y="1463040"/>
            <a:ext cx="3520440" cy="548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60" y="1572768"/>
            <a:ext cx="3154680" cy="320040"/>
          </a:xfrm>
          <a:prstGeom prst="rect">
            <a:avLst/>
          </a:prstGeom>
          <a:noFill/>
        </p:spPr>
        <p:txBody>
          <a:bodyPr wrap="square" anchor="t" lIns="0" tIns="0" rIns="0" bIns="0">
            <a:spAutoFit/>
          </a:bodyPr>
          <a:lstStyle/>
          <a:p>
            <a:pPr algn="l">
              <a:spcBef>
                <a:spcPts val="0"/>
              </a:spcBef>
              <a:spcAft>
                <a:spcPts val="400"/>
              </a:spcAft>
            </a:pPr>
            <a:r>
              <a:rPr sz="1150" b="1">
                <a:solidFill>
                  <a:srgbClr val="2DD4BF"/>
                </a:solidFill>
                <a:latin typeface="Inter"/>
              </a:rPr>
              <a:t>39-FEATURE ENGINEERING SET</a:t>
            </a:r>
          </a:p>
        </p:txBody>
      </p:sp>
      <p:sp>
        <p:nvSpPr>
          <p:cNvPr id="24" name="Rounded Rectangle 23"/>
          <p:cNvSpPr/>
          <p:nvPr/>
        </p:nvSpPr>
        <p:spPr>
          <a:xfrm>
            <a:off x="4480560" y="1938528"/>
            <a:ext cx="1508760" cy="822960"/>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35424" y="1975104"/>
            <a:ext cx="1399032" cy="731520"/>
          </a:xfrm>
          <a:prstGeom prst="rect">
            <a:avLst/>
          </a:prstGeom>
          <a:noFill/>
        </p:spPr>
        <p:txBody>
          <a:bodyPr wrap="square" anchor="t" lIns="0" tIns="0" rIns="0" bIns="0">
            <a:spAutoFit/>
          </a:bodyPr>
          <a:lstStyle/>
          <a:p>
            <a:pPr algn="ctr">
              <a:spcBef>
                <a:spcPts val="0"/>
              </a:spcBef>
              <a:spcAft>
                <a:spcPts val="100"/>
              </a:spcAft>
            </a:pPr>
            <a:r>
              <a:rPr sz="1050" b="1">
                <a:solidFill>
                  <a:srgbClr val="00B4D8"/>
                </a:solidFill>
                <a:latin typeface="Inter"/>
              </a:rPr>
              <a:t>CURRENT</a:t>
            </a:r>
          </a:p>
          <a:p>
            <a:pPr algn="ctr">
              <a:spcBef>
                <a:spcPts val="0"/>
              </a:spcBef>
              <a:spcAft>
                <a:spcPts val="100"/>
              </a:spcAft>
            </a:pPr>
            <a:r>
              <a:rPr sz="2000" b="1">
                <a:solidFill>
                  <a:srgbClr val="F8FAFC"/>
                </a:solidFill>
                <a:latin typeface="Inter"/>
              </a:rPr>
              <a:t>15</a:t>
            </a:r>
          </a:p>
          <a:p>
            <a:pPr algn="ctr">
              <a:spcBef>
                <a:spcPts val="0"/>
              </a:spcBef>
              <a:spcAft>
                <a:spcPts val="0"/>
              </a:spcAft>
            </a:pPr>
            <a:r>
              <a:rPr sz="1050" b="0">
                <a:solidFill>
                  <a:srgbClr val="94A3B8"/>
                </a:solidFill>
                <a:latin typeface="Inter"/>
              </a:rPr>
              <a:t>IV, spot, strike...</a:t>
            </a:r>
          </a:p>
        </p:txBody>
      </p:sp>
      <p:sp>
        <p:nvSpPr>
          <p:cNvPr id="26" name="Rounded Rectangle 25"/>
          <p:cNvSpPr/>
          <p:nvPr/>
        </p:nvSpPr>
        <p:spPr>
          <a:xfrm>
            <a:off x="6126480" y="1938528"/>
            <a:ext cx="1508760" cy="822960"/>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181344" y="1975104"/>
            <a:ext cx="1399032" cy="731520"/>
          </a:xfrm>
          <a:prstGeom prst="rect">
            <a:avLst/>
          </a:prstGeom>
          <a:noFill/>
        </p:spPr>
        <p:txBody>
          <a:bodyPr wrap="square" anchor="t" lIns="0" tIns="0" rIns="0" bIns="0">
            <a:spAutoFit/>
          </a:bodyPr>
          <a:lstStyle/>
          <a:p>
            <a:pPr algn="ctr">
              <a:spcBef>
                <a:spcPts val="0"/>
              </a:spcBef>
              <a:spcAft>
                <a:spcPts val="100"/>
              </a:spcAft>
            </a:pPr>
            <a:r>
              <a:rPr sz="1050" b="1">
                <a:solidFill>
                  <a:srgbClr val="2DD4BF"/>
                </a:solidFill>
                <a:latin typeface="Inter"/>
              </a:rPr>
              <a:t>LAG / MOM.</a:t>
            </a:r>
          </a:p>
          <a:p>
            <a:pPr algn="ctr">
              <a:spcBef>
                <a:spcPts val="0"/>
              </a:spcBef>
              <a:spcAft>
                <a:spcPts val="100"/>
              </a:spcAft>
            </a:pPr>
            <a:r>
              <a:rPr sz="2000" b="1">
                <a:solidFill>
                  <a:srgbClr val="F8FAFC"/>
                </a:solidFill>
                <a:latin typeface="Inter"/>
              </a:rPr>
              <a:t>24</a:t>
            </a:r>
          </a:p>
          <a:p>
            <a:pPr algn="ctr">
              <a:spcBef>
                <a:spcPts val="0"/>
              </a:spcBef>
              <a:spcAft>
                <a:spcPts val="0"/>
              </a:spcAft>
            </a:pPr>
            <a:r>
              <a:rPr sz="1050" b="0">
                <a:solidFill>
                  <a:srgbClr val="94A3B8"/>
                </a:solidFill>
                <a:latin typeface="Inter"/>
              </a:rPr>
              <a:t>5m &amp; 10m lags</a:t>
            </a:r>
          </a:p>
        </p:txBody>
      </p:sp>
      <p:sp>
        <p:nvSpPr>
          <p:cNvPr id="28" name="TextBox 27"/>
          <p:cNvSpPr txBox="1"/>
          <p:nvPr/>
        </p:nvSpPr>
        <p:spPr>
          <a:xfrm>
            <a:off x="4480560" y="2852928"/>
            <a:ext cx="3154680" cy="1920240"/>
          </a:xfrm>
          <a:prstGeom prst="rect">
            <a:avLst/>
          </a:prstGeom>
          <a:noFill/>
        </p:spPr>
        <p:txBody>
          <a:bodyPr wrap="square" anchor="t" lIns="0" tIns="0" rIns="0" bIns="0">
            <a:spAutoFit/>
          </a:bodyPr>
          <a:lstStyle/>
          <a:p>
            <a:pPr algn="l" marL="201168" indent="-201168">
              <a:spcAft>
                <a:spcPts val="400"/>
              </a:spcAft>
              <a:buFont typeface="Inter"/>
              <a:buChar char="•"/>
            </a:pPr>
            <a:r>
              <a:rPr sz="1050" b="1">
                <a:solidFill>
                  <a:srgbClr val="F8FAFC"/>
                </a:solidFill>
                <a:latin typeface="Inter"/>
              </a:rPr>
              <a:t>15 Current Features: </a:t>
            </a:r>
            <a:r>
              <a:rPr sz="1050" b="0">
                <a:solidFill>
                  <a:srgbClr val="CBD5E1"/>
                </a:solidFill>
                <a:latin typeface="Inter"/>
              </a:rPr>
              <a:t>Current IV, spot, strike, CE/PE flag, moneyness (K/S), LTP, bid, ask, spread, volume, and OI.</a:t>
            </a:r>
          </a:p>
          <a:p>
            <a:pPr algn="l" marL="201168" indent="-201168">
              <a:spcAft>
                <a:spcPts val="400"/>
              </a:spcAft>
              <a:buFont typeface="Inter"/>
              <a:buChar char="•"/>
            </a:pPr>
            <a:r>
              <a:rPr sz="1050" b="1">
                <a:solidFill>
                  <a:srgbClr val="F8FAFC"/>
                </a:solidFill>
                <a:latin typeface="Inter"/>
              </a:rPr>
              <a:t>24 Lagged Variables: </a:t>
            </a:r>
            <a:r>
              <a:rPr sz="1050" b="0">
                <a:solidFill>
                  <a:srgbClr val="CBD5E1"/>
                </a:solidFill>
                <a:latin typeface="Inter"/>
              </a:rPr>
              <a:t>Exact 5m &amp; 10m lags and changes for IV, spot, LTP, volume, OI, and bid-ask spread.</a:t>
            </a:r>
          </a:p>
          <a:p>
            <a:pPr algn="l" marL="201168" indent="-201168">
              <a:spcAft>
                <a:spcPts val="0"/>
              </a:spcAft>
              <a:buFont typeface="Inter"/>
              <a:buChar char="•"/>
            </a:pPr>
            <a:r>
              <a:rPr sz="1050" b="1">
                <a:solidFill>
                  <a:srgbClr val="F8FAFC"/>
                </a:solidFill>
                <a:latin typeface="Inter"/>
              </a:rPr>
              <a:t>Exact Time-to-Expiry: </a:t>
            </a:r>
            <a:r>
              <a:rPr sz="1050" b="0">
                <a:solidFill>
                  <a:srgbClr val="CBD5E1"/>
                </a:solidFill>
                <a:latin typeface="Inter"/>
              </a:rPr>
              <a:t>Engineered later for expiry-day analysis and option-pricing stress tests.</a:t>
            </a:r>
          </a:p>
        </p:txBody>
      </p:sp>
      <p:sp>
        <p:nvSpPr>
          <p:cNvPr id="29" name="Rounded Rectangle 28"/>
          <p:cNvSpPr/>
          <p:nvPr/>
        </p:nvSpPr>
        <p:spPr>
          <a:xfrm>
            <a:off x="8001000" y="1463040"/>
            <a:ext cx="3593592" cy="338328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001000" y="1463040"/>
            <a:ext cx="3593592"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83879" y="1572768"/>
            <a:ext cx="3227832" cy="3200400"/>
          </a:xfrm>
          <a:prstGeom prst="rect">
            <a:avLst/>
          </a:prstGeom>
          <a:noFill/>
        </p:spPr>
        <p:txBody>
          <a:bodyPr wrap="square" anchor="t" lIns="0" tIns="0" rIns="0" bIns="0">
            <a:spAutoFit/>
          </a:bodyPr>
          <a:lstStyle/>
          <a:p>
            <a:pPr algn="l">
              <a:spcBef>
                <a:spcPts val="0"/>
              </a:spcBef>
              <a:spcAft>
                <a:spcPts val="600"/>
              </a:spcAft>
            </a:pPr>
            <a:r>
              <a:rPr sz="1150" b="1">
                <a:solidFill>
                  <a:srgbClr val="10B981"/>
                </a:solidFill>
                <a:latin typeface="Inter"/>
              </a:rPr>
              <a:t>ADDITIONAL IMPLEMENTATION</a:t>
            </a:r>
          </a:p>
          <a:p>
            <a:pPr algn="l" marL="201168" indent="-201168">
              <a:spcAft>
                <a:spcPts val="400"/>
              </a:spcAft>
              <a:buFont typeface="Inter"/>
              <a:buChar char="•"/>
            </a:pPr>
            <a:r>
              <a:rPr sz="1050" b="1">
                <a:solidFill>
                  <a:srgbClr val="F8FAFC"/>
                </a:solidFill>
                <a:latin typeface="Inter"/>
              </a:rPr>
              <a:t>XGBoost Benchmark: </a:t>
            </a:r>
            <a:r>
              <a:rPr sz="1050" b="0">
                <a:solidFill>
                  <a:srgbClr val="CBD5E1"/>
                </a:solidFill>
                <a:latin typeface="Inter"/>
              </a:rPr>
              <a:t>Nonlinear gradient-boosted regression benchmark on identical features.</a:t>
            </a:r>
          </a:p>
          <a:p>
            <a:pPr algn="l" marL="201168" indent="-201168">
              <a:spcAft>
                <a:spcPts val="400"/>
              </a:spcAft>
              <a:buFont typeface="Inter"/>
              <a:buChar char="•"/>
            </a:pPr>
            <a:r>
              <a:rPr sz="1050" b="1">
                <a:solidFill>
                  <a:srgbClr val="F8FAFC"/>
                </a:solidFill>
                <a:latin typeface="Inter"/>
              </a:rPr>
              <a:t>Direction Classifier: </a:t>
            </a:r>
            <a:r>
              <a:rPr sz="1050" b="0">
                <a:solidFill>
                  <a:srgbClr val="CBD5E1"/>
                </a:solidFill>
                <a:latin typeface="Inter"/>
              </a:rPr>
              <a:t>Experimental 3-class RF classifier tested for directional probabilities.</a:t>
            </a:r>
          </a:p>
          <a:p>
            <a:pPr algn="l" marL="201168" indent="-201168">
              <a:spcAft>
                <a:spcPts val="400"/>
              </a:spcAft>
              <a:buFont typeface="Inter"/>
              <a:buChar char="•"/>
            </a:pPr>
            <a:r>
              <a:rPr sz="1050" b="1">
                <a:solidFill>
                  <a:srgbClr val="F8FAFC"/>
                </a:solidFill>
                <a:latin typeface="Inter"/>
              </a:rPr>
              <a:t>Stress-Test Rate: </a:t>
            </a:r>
            <a:r>
              <a:rPr sz="1050" b="0">
                <a:solidFill>
                  <a:srgbClr val="CBD5E1"/>
                </a:solidFill>
                <a:latin typeface="Inter"/>
              </a:rPr>
              <a:t>Black–Scholes stress testing used a 6% annual risk-free rate assumption.</a:t>
            </a:r>
          </a:p>
          <a:p>
            <a:pPr algn="l" marL="201168" indent="-201168">
              <a:spcAft>
                <a:spcPts val="400"/>
              </a:spcAft>
              <a:buFont typeface="Inter"/>
              <a:buChar char="•"/>
            </a:pPr>
            <a:r>
              <a:rPr sz="1050" b="1">
                <a:solidFill>
                  <a:srgbClr val="F8FAFC"/>
                </a:solidFill>
                <a:latin typeface="Inter"/>
              </a:rPr>
              <a:t>Saved Joblib Artefacts: </a:t>
            </a:r>
            <a:r>
              <a:rPr sz="1050" b="0">
                <a:solidFill>
                  <a:srgbClr val="CBD5E1"/>
                </a:solidFill>
                <a:latin typeface="Inter"/>
              </a:rPr>
              <a:t>Trained RF model, 39-feature list, and training medians exported via joblib.</a:t>
            </a:r>
          </a:p>
          <a:p>
            <a:pPr algn="l" marL="201168" indent="-201168">
              <a:spcAft>
                <a:spcPts val="0"/>
              </a:spcAft>
              <a:buFont typeface="Inter"/>
              <a:buChar char="•"/>
            </a:pPr>
            <a:r>
              <a:rPr sz="1050" b="1">
                <a:solidFill>
                  <a:srgbClr val="F8FAFC"/>
                </a:solidFill>
                <a:latin typeface="Inter"/>
              </a:rPr>
              <a:t>Live Upstox Loop: </a:t>
            </a:r>
            <a:r>
              <a:rPr sz="1050" b="0">
                <a:solidFill>
                  <a:srgbClr val="CBD5E1"/>
                </a:solidFill>
                <a:latin typeface="Inter"/>
              </a:rPr>
              <a:t>Upstox API connection and automated 5-minute collection loop implemented.</a:t>
            </a:r>
          </a:p>
        </p:txBody>
      </p:sp>
      <p:sp>
        <p:nvSpPr>
          <p:cNvPr id="32" name="Rounded Rectangle 31"/>
          <p:cNvSpPr/>
          <p:nvPr/>
        </p:nvSpPr>
        <p:spPr>
          <a:xfrm>
            <a:off x="594360" y="4983480"/>
            <a:ext cx="11000232" cy="1252728"/>
          </a:xfrm>
          <a:prstGeom prst="roundRect">
            <a:avLst>
              <a:gd name="adj" fmla="val 4000"/>
            </a:avLst>
          </a:prstGeom>
          <a:solidFill>
            <a:srgbClr val="172A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77240" y="5038344"/>
            <a:ext cx="10607040" cy="237744"/>
          </a:xfrm>
          <a:prstGeom prst="rect">
            <a:avLst/>
          </a:prstGeom>
          <a:noFill/>
        </p:spPr>
        <p:txBody>
          <a:bodyPr wrap="square" anchor="t" lIns="0" tIns="0" rIns="0" bIns="0">
            <a:spAutoFit/>
          </a:bodyPr>
          <a:lstStyle/>
          <a:p>
            <a:pPr algn="l">
              <a:spcBef>
                <a:spcPts val="0"/>
              </a:spcBef>
              <a:spcAft>
                <a:spcPts val="400"/>
              </a:spcAft>
            </a:pPr>
            <a:r>
              <a:rPr sz="1100" b="1">
                <a:solidFill>
                  <a:srgbClr val="00B4D8"/>
                </a:solidFill>
                <a:latin typeface="Inter"/>
              </a:rPr>
              <a:t>LIVE DATA-TO-MODEL-TO-DASHBOARD SYSTEM ARCHITECTURE</a:t>
            </a:r>
          </a:p>
        </p:txBody>
      </p:sp>
      <p:sp>
        <p:nvSpPr>
          <p:cNvPr id="34" name="Rounded Rectangle 33"/>
          <p:cNvSpPr/>
          <p:nvPr/>
        </p:nvSpPr>
        <p:spPr>
          <a:xfrm>
            <a:off x="777240" y="5321808"/>
            <a:ext cx="1965960" cy="768096"/>
          </a:xfrm>
          <a:prstGeom prst="roundRect">
            <a:avLst>
              <a:gd name="adj" fmla="val 8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777240" y="5321808"/>
            <a:ext cx="1965960" cy="4572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0392" y="5413248"/>
            <a:ext cx="1819656" cy="621792"/>
          </a:xfrm>
          <a:prstGeom prst="rect">
            <a:avLst/>
          </a:prstGeom>
          <a:noFill/>
        </p:spPr>
        <p:txBody>
          <a:bodyPr wrap="square" anchor="t" lIns="0" tIns="0" rIns="0" bIns="0">
            <a:spAutoFit/>
          </a:bodyPr>
          <a:lstStyle/>
          <a:p>
            <a:pPr algn="ctr">
              <a:spcBef>
                <a:spcPts val="0"/>
              </a:spcBef>
              <a:spcAft>
                <a:spcPts val="300"/>
              </a:spcAft>
            </a:pPr>
            <a:r>
              <a:rPr sz="1100" b="1">
                <a:solidFill>
                  <a:srgbClr val="00B4D8"/>
                </a:solidFill>
                <a:latin typeface="Inter"/>
              </a:rPr>
              <a:t>1. Upstox API / CSV</a:t>
            </a:r>
          </a:p>
          <a:p>
            <a:pPr algn="ctr">
              <a:spcBef>
                <a:spcPts val="0"/>
              </a:spcBef>
              <a:spcAft>
                <a:spcPts val="0"/>
              </a:spcAft>
            </a:pPr>
            <a:r>
              <a:rPr sz="1050" b="0">
                <a:solidFill>
                  <a:srgbClr val="CBD5E1"/>
                </a:solidFill>
                <a:latin typeface="Inter"/>
              </a:rPr>
              <a:t>5-Min Option Snapshots</a:t>
            </a:r>
          </a:p>
        </p:txBody>
      </p:sp>
      <p:sp>
        <p:nvSpPr>
          <p:cNvPr id="37" name="Rounded Rectangle 36"/>
          <p:cNvSpPr/>
          <p:nvPr/>
        </p:nvSpPr>
        <p:spPr>
          <a:xfrm>
            <a:off x="2907792" y="5321808"/>
            <a:ext cx="1965960" cy="768096"/>
          </a:xfrm>
          <a:prstGeom prst="roundRect">
            <a:avLst>
              <a:gd name="adj" fmla="val 8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2907792" y="5321808"/>
            <a:ext cx="19659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80944" y="5413248"/>
            <a:ext cx="1819656" cy="621792"/>
          </a:xfrm>
          <a:prstGeom prst="rect">
            <a:avLst/>
          </a:prstGeom>
          <a:noFill/>
        </p:spPr>
        <p:txBody>
          <a:bodyPr wrap="square" anchor="t" lIns="0" tIns="0" rIns="0" bIns="0">
            <a:spAutoFit/>
          </a:bodyPr>
          <a:lstStyle/>
          <a:p>
            <a:pPr algn="ctr">
              <a:spcBef>
                <a:spcPts val="0"/>
              </a:spcBef>
              <a:spcAft>
                <a:spcPts val="300"/>
              </a:spcAft>
            </a:pPr>
            <a:r>
              <a:rPr sz="1100" b="1">
                <a:solidFill>
                  <a:srgbClr val="2DD4BF"/>
                </a:solidFill>
                <a:latin typeface="Inter"/>
              </a:rPr>
              <a:t>2. Feature Engine</a:t>
            </a:r>
          </a:p>
          <a:p>
            <a:pPr algn="ctr">
              <a:spcBef>
                <a:spcPts val="0"/>
              </a:spcBef>
              <a:spcAft>
                <a:spcPts val="0"/>
              </a:spcAft>
            </a:pPr>
            <a:r>
              <a:rPr sz="1050" b="0">
                <a:solidFill>
                  <a:srgbClr val="CBD5E1"/>
                </a:solidFill>
                <a:latin typeface="Inter"/>
              </a:rPr>
              <a:t>Near-ATM + 39 Features</a:t>
            </a:r>
          </a:p>
        </p:txBody>
      </p:sp>
      <p:sp>
        <p:nvSpPr>
          <p:cNvPr id="40" name="Rounded Rectangle 39"/>
          <p:cNvSpPr/>
          <p:nvPr/>
        </p:nvSpPr>
        <p:spPr>
          <a:xfrm>
            <a:off x="5038344" y="5321808"/>
            <a:ext cx="1965960" cy="768096"/>
          </a:xfrm>
          <a:prstGeom prst="roundRect">
            <a:avLst>
              <a:gd name="adj" fmla="val 8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5038344" y="5321808"/>
            <a:ext cx="1965960"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11496" y="5413248"/>
            <a:ext cx="1819656" cy="621792"/>
          </a:xfrm>
          <a:prstGeom prst="rect">
            <a:avLst/>
          </a:prstGeom>
          <a:noFill/>
        </p:spPr>
        <p:txBody>
          <a:bodyPr wrap="square" anchor="t" lIns="0" tIns="0" rIns="0" bIns="0">
            <a:spAutoFit/>
          </a:bodyPr>
          <a:lstStyle/>
          <a:p>
            <a:pPr algn="ctr">
              <a:spcBef>
                <a:spcPts val="0"/>
              </a:spcBef>
              <a:spcAft>
                <a:spcPts val="300"/>
              </a:spcAft>
            </a:pPr>
            <a:r>
              <a:rPr sz="1100" b="1">
                <a:solidFill>
                  <a:srgbClr val="10B981"/>
                </a:solidFill>
                <a:latin typeface="Inter"/>
              </a:rPr>
              <a:t>3. Joblib RF Model</a:t>
            </a:r>
          </a:p>
          <a:p>
            <a:pPr algn="ctr">
              <a:spcBef>
                <a:spcPts val="0"/>
              </a:spcBef>
              <a:spcAft>
                <a:spcPts val="0"/>
              </a:spcAft>
            </a:pPr>
            <a:r>
              <a:rPr sz="1050" b="0">
                <a:solidFill>
                  <a:srgbClr val="CBD5E1"/>
                </a:solidFill>
                <a:latin typeface="Inter"/>
              </a:rPr>
              <a:t>300-Tree RF + Medians</a:t>
            </a:r>
          </a:p>
        </p:txBody>
      </p:sp>
      <p:sp>
        <p:nvSpPr>
          <p:cNvPr id="43" name="Rounded Rectangle 42"/>
          <p:cNvSpPr/>
          <p:nvPr/>
        </p:nvSpPr>
        <p:spPr>
          <a:xfrm>
            <a:off x="7168896" y="5321808"/>
            <a:ext cx="1965960" cy="768096"/>
          </a:xfrm>
          <a:prstGeom prst="roundRect">
            <a:avLst>
              <a:gd name="adj" fmla="val 8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7168896" y="5321808"/>
            <a:ext cx="196596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42048" y="5413248"/>
            <a:ext cx="1819656" cy="621792"/>
          </a:xfrm>
          <a:prstGeom prst="rect">
            <a:avLst/>
          </a:prstGeom>
          <a:noFill/>
        </p:spPr>
        <p:txBody>
          <a:bodyPr wrap="square" anchor="t" lIns="0" tIns="0" rIns="0" bIns="0">
            <a:spAutoFit/>
          </a:bodyPr>
          <a:lstStyle/>
          <a:p>
            <a:pPr algn="ctr">
              <a:spcBef>
                <a:spcPts val="0"/>
              </a:spcBef>
              <a:spcAft>
                <a:spcPts val="300"/>
              </a:spcAft>
            </a:pPr>
            <a:r>
              <a:rPr sz="1100" b="1">
                <a:solidFill>
                  <a:srgbClr val="F59E0B"/>
                </a:solidFill>
                <a:latin typeface="Inter"/>
              </a:rPr>
              <a:t>4. Valuation &amp; Risk</a:t>
            </a:r>
          </a:p>
          <a:p>
            <a:pPr algn="ctr">
              <a:spcBef>
                <a:spcPts val="0"/>
              </a:spcBef>
              <a:spcAft>
                <a:spcPts val="0"/>
              </a:spcAft>
            </a:pPr>
            <a:r>
              <a:rPr sz="1050" b="0">
                <a:solidFill>
                  <a:srgbClr val="CBD5E1"/>
                </a:solidFill>
                <a:latin typeface="Inter"/>
              </a:rPr>
              <a:t>Rel-IV + BS Stress (6%)</a:t>
            </a:r>
          </a:p>
        </p:txBody>
      </p:sp>
      <p:sp>
        <p:nvSpPr>
          <p:cNvPr id="46" name="Rounded Rectangle 45"/>
          <p:cNvSpPr/>
          <p:nvPr/>
        </p:nvSpPr>
        <p:spPr>
          <a:xfrm>
            <a:off x="9299448" y="5321808"/>
            <a:ext cx="1965960" cy="768096"/>
          </a:xfrm>
          <a:prstGeom prst="roundRect">
            <a:avLst>
              <a:gd name="adj" fmla="val 8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ectangle 46"/>
          <p:cNvSpPr/>
          <p:nvPr/>
        </p:nvSpPr>
        <p:spPr>
          <a:xfrm>
            <a:off x="9299448" y="5321808"/>
            <a:ext cx="1965960" cy="457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72600" y="5413248"/>
            <a:ext cx="1819656" cy="621792"/>
          </a:xfrm>
          <a:prstGeom prst="rect">
            <a:avLst/>
          </a:prstGeom>
          <a:noFill/>
        </p:spPr>
        <p:txBody>
          <a:bodyPr wrap="square" anchor="t" lIns="0" tIns="0" rIns="0" bIns="0">
            <a:spAutoFit/>
          </a:bodyPr>
          <a:lstStyle/>
          <a:p>
            <a:pPr algn="ctr">
              <a:spcBef>
                <a:spcPts val="0"/>
              </a:spcBef>
              <a:spcAft>
                <a:spcPts val="300"/>
              </a:spcAft>
            </a:pPr>
            <a:r>
              <a:rPr sz="1100" b="1">
                <a:solidFill>
                  <a:srgbClr val="38BDF8"/>
                </a:solidFill>
                <a:latin typeface="Inter"/>
              </a:rPr>
              <a:t>5. Streamlit App</a:t>
            </a:r>
          </a:p>
          <a:p>
            <a:pPr algn="ctr">
              <a:spcBef>
                <a:spcPts val="0"/>
              </a:spcBef>
              <a:spcAft>
                <a:spcPts val="0"/>
              </a:spcAft>
            </a:pPr>
            <a:r>
              <a:rPr sz="1050" b="0">
                <a:solidFill>
                  <a:srgbClr val="CBD5E1"/>
                </a:solidFill>
                <a:latin typeface="Inter"/>
              </a:rPr>
              <a:t>Live Analytics Dashboard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09  •  EMPIRICAL RESULTS &amp; OUT-OF-SAMPLE MODEL COMPARISON</a:t>
            </a:r>
          </a:p>
          <a:p>
            <a:pPr algn="l">
              <a:spcBef>
                <a:spcPts val="0"/>
              </a:spcBef>
              <a:spcAft>
                <a:spcPts val="200"/>
              </a:spcAft>
            </a:pPr>
            <a:r>
              <a:rPr sz="2300" b="1">
                <a:solidFill>
                  <a:srgbClr val="F8FAFC"/>
                </a:solidFill>
                <a:latin typeface="Inter"/>
              </a:rPr>
              <a:t>Random Forest Outperforms Persistence &amp; XGBoost on Chronological Holdout</a:t>
            </a:r>
          </a:p>
          <a:p>
            <a:pPr algn="l">
              <a:spcBef>
                <a:spcPts val="0"/>
              </a:spcBef>
              <a:spcAft>
                <a:spcPts val="0"/>
              </a:spcAft>
            </a:pPr>
            <a:r>
              <a:rPr sz="1300" b="0">
                <a:solidFill>
                  <a:srgbClr val="94A3B8"/>
                </a:solidFill>
                <a:latin typeface="Inter"/>
              </a:rPr>
              <a:t>Comparable out-of-sample evaluation on the final chronological development holdout (983 near-ATM observations)</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10 / 15</a:t>
            </a:r>
          </a:p>
        </p:txBody>
      </p:sp>
      <p:sp>
        <p:nvSpPr>
          <p:cNvPr id="7" name="Rounded Rectangle 6"/>
          <p:cNvSpPr/>
          <p:nvPr/>
        </p:nvSpPr>
        <p:spPr>
          <a:xfrm>
            <a:off x="594360" y="1481328"/>
            <a:ext cx="5623560" cy="358444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77240" y="1554480"/>
            <a:ext cx="5257800" cy="320040"/>
          </a:xfrm>
          <a:prstGeom prst="rect">
            <a:avLst/>
          </a:prstGeom>
          <a:noFill/>
        </p:spPr>
        <p:txBody>
          <a:bodyPr wrap="square" anchor="t" lIns="0" tIns="0" rIns="0" bIns="0">
            <a:spAutoFit/>
          </a:bodyPr>
          <a:lstStyle/>
          <a:p>
            <a:pPr algn="l">
              <a:spcBef>
                <a:spcPts val="0"/>
              </a:spcBef>
              <a:spcAft>
                <a:spcPts val="400"/>
              </a:spcAft>
            </a:pPr>
            <a:r>
              <a:rPr sz="1050" b="1">
                <a:solidFill>
                  <a:srgbClr val="00B4D8"/>
                </a:solidFill>
                <a:latin typeface="Inter"/>
              </a:rPr>
              <a:t>OUT-OF-SAMPLE ERROR COMPARISON (IV PERCENTAGE POINTS — LOWER IS BETTER)</a:t>
            </a:r>
          </a:p>
        </p:txBody>
      </p:sp>
      <p:graphicFrame>
        <p:nvGraphicFramePr>
          <p:cNvPr id="9" name="Chart 8"/>
          <p:cNvGraphicFramePr>
            <a:graphicFrameLocks noGrp="1"/>
          </p:cNvGraphicFramePr>
          <p:nvPr/>
        </p:nvGraphicFramePr>
        <p:xfrm>
          <a:off x="731520" y="1901952"/>
          <a:ext cx="5349240" cy="3063240"/>
        </p:xfrm>
        <a:graphic>
          <a:graphicData uri="http://schemas.openxmlformats.org/drawingml/2006/chart">
            <c:chart xmlns:c="http://schemas.openxmlformats.org/drawingml/2006/chart" r:id="rId2"/>
          </a:graphicData>
        </a:graphic>
      </p:graphicFrame>
      <p:graphicFrame>
        <p:nvGraphicFramePr>
          <p:cNvPr id="10" name="Table 9"/>
          <p:cNvGraphicFramePr>
            <a:graphicFrameLocks noGrp="1"/>
          </p:cNvGraphicFramePr>
          <p:nvPr/>
        </p:nvGraphicFramePr>
        <p:xfrm>
          <a:off x="6400800" y="1481328"/>
          <a:ext cx="5193792" cy="1965960"/>
        </p:xfrm>
        <a:graphic>
          <a:graphicData uri="http://schemas.openxmlformats.org/drawingml/2006/table">
            <a:tbl>
              <a:tblPr firstRow="1" bandRow="1">
                <a:tableStyleId>{5C22544A-7EE6-4342-B048-85BDC9FD1C3A}</a:tableStyleId>
              </a:tblPr>
              <a:tblGrid>
                <a:gridCol w="2176272"/>
                <a:gridCol w="1005840"/>
                <a:gridCol w="1005840"/>
                <a:gridCol w="1005840"/>
              </a:tblGrid>
              <a:tr h="491490">
                <a:tc>
                  <a:txBody>
                    <a:bodyPr wrap="square"/>
                    <a:lstStyle/>
                    <a:p>
                      <a:pPr algn="l"/>
                      <a:r>
                        <a:rPr sz="1150" b="1">
                          <a:solidFill>
                            <a:srgbClr val="00B4D8"/>
                          </a:solidFill>
                          <a:latin typeface="Inter"/>
                        </a:rPr>
                        <a:t>Model Specification</a:t>
                      </a:r>
                    </a:p>
                  </a:txBody>
                  <a:tcPr anchor="ctr" marL="109728" marR="109728" marT="45720" marB="45720">
                    <a:solidFill>
                      <a:srgbClr val="172A45"/>
                    </a:solidFill>
                  </a:tcPr>
                </a:tc>
                <a:tc>
                  <a:txBody>
                    <a:bodyPr wrap="square"/>
                    <a:lstStyle/>
                    <a:p>
                      <a:pPr algn="r"/>
                      <a:r>
                        <a:rPr sz="1150" b="1">
                          <a:solidFill>
                            <a:srgbClr val="00B4D8"/>
                          </a:solidFill>
                          <a:latin typeface="Inter"/>
                        </a:rPr>
                        <a:t>MAE</a:t>
                      </a:r>
                    </a:p>
                  </a:txBody>
                  <a:tcPr anchor="ctr" marL="109728" marR="109728" marT="45720" marB="45720">
                    <a:solidFill>
                      <a:srgbClr val="172A45"/>
                    </a:solidFill>
                  </a:tcPr>
                </a:tc>
                <a:tc>
                  <a:txBody>
                    <a:bodyPr wrap="square"/>
                    <a:lstStyle/>
                    <a:p>
                      <a:pPr algn="r"/>
                      <a:r>
                        <a:rPr sz="1150" b="1">
                          <a:solidFill>
                            <a:srgbClr val="00B4D8"/>
                          </a:solidFill>
                          <a:latin typeface="Inter"/>
                        </a:rPr>
                        <a:t>RMSE</a:t>
                      </a:r>
                    </a:p>
                  </a:txBody>
                  <a:tcPr anchor="ctr" marL="109728" marR="109728" marT="45720" marB="45720">
                    <a:solidFill>
                      <a:srgbClr val="172A45"/>
                    </a:solidFill>
                  </a:tcPr>
                </a:tc>
                <a:tc>
                  <a:txBody>
                    <a:bodyPr wrap="square"/>
                    <a:lstStyle/>
                    <a:p>
                      <a:pPr algn="r"/>
                      <a:r>
                        <a:rPr sz="1150" b="1">
                          <a:solidFill>
                            <a:srgbClr val="00B4D8"/>
                          </a:solidFill>
                          <a:latin typeface="Inter"/>
                        </a:rPr>
                        <a:t>Implied R²</a:t>
                      </a:r>
                    </a:p>
                  </a:txBody>
                  <a:tcPr anchor="ctr" marL="109728" marR="109728" marT="45720" marB="45720">
                    <a:solidFill>
                      <a:srgbClr val="172A45"/>
                    </a:solidFill>
                  </a:tcPr>
                </a:tc>
              </a:tr>
              <a:tr h="491490">
                <a:tc>
                  <a:txBody>
                    <a:bodyPr wrap="square"/>
                    <a:lstStyle/>
                    <a:p>
                      <a:pPr algn="l"/>
                      <a:r>
                        <a:rPr sz="1150" b="1">
                          <a:solidFill>
                            <a:srgbClr val="F8FAFC"/>
                          </a:solidFill>
                          <a:latin typeface="Inter"/>
                        </a:rPr>
                        <a:t>Persistence Baseline</a:t>
                      </a:r>
                    </a:p>
                  </a:txBody>
                  <a:tcPr anchor="ctr" marL="109728" marR="109728" marT="45720" marB="45720">
                    <a:solidFill>
                      <a:srgbClr val="162238"/>
                    </a:solidFill>
                  </a:tcPr>
                </a:tc>
                <a:tc>
                  <a:txBody>
                    <a:bodyPr wrap="square"/>
                    <a:lstStyle/>
                    <a:p>
                      <a:pPr algn="r"/>
                      <a:r>
                        <a:rPr sz="1150" b="0">
                          <a:solidFill>
                            <a:srgbClr val="F8FAFC"/>
                          </a:solidFill>
                          <a:latin typeface="Inter"/>
                        </a:rPr>
                        <a:t>0.5505</a:t>
                      </a:r>
                    </a:p>
                  </a:txBody>
                  <a:tcPr anchor="ctr" marL="109728" marR="109728" marT="45720" marB="45720">
                    <a:solidFill>
                      <a:srgbClr val="162238"/>
                    </a:solidFill>
                  </a:tcPr>
                </a:tc>
                <a:tc>
                  <a:txBody>
                    <a:bodyPr wrap="square"/>
                    <a:lstStyle/>
                    <a:p>
                      <a:pPr algn="r"/>
                      <a:r>
                        <a:rPr sz="1150" b="0">
                          <a:solidFill>
                            <a:srgbClr val="F8FAFC"/>
                          </a:solidFill>
                          <a:latin typeface="Inter"/>
                        </a:rPr>
                        <a:t>1.3207</a:t>
                      </a:r>
                    </a:p>
                  </a:txBody>
                  <a:tcPr anchor="ctr" marL="109728" marR="109728" marT="45720" marB="45720">
                    <a:solidFill>
                      <a:srgbClr val="162238"/>
                    </a:solidFill>
                  </a:tcPr>
                </a:tc>
                <a:tc>
                  <a:txBody>
                    <a:bodyPr wrap="square"/>
                    <a:lstStyle/>
                    <a:p>
                      <a:pPr algn="r"/>
                      <a:r>
                        <a:rPr sz="1150" b="0">
                          <a:solidFill>
                            <a:srgbClr val="F8FAFC"/>
                          </a:solidFill>
                          <a:latin typeface="Inter"/>
                        </a:rPr>
                        <a:t>0.9843</a:t>
                      </a:r>
                    </a:p>
                  </a:txBody>
                  <a:tcPr anchor="ctr" marL="109728" marR="109728" marT="45720" marB="45720">
                    <a:solidFill>
                      <a:srgbClr val="162238"/>
                    </a:solidFill>
                  </a:tcPr>
                </a:tc>
              </a:tr>
              <a:tr h="491490">
                <a:tc>
                  <a:txBody>
                    <a:bodyPr wrap="square"/>
                    <a:lstStyle/>
                    <a:p>
                      <a:pPr algn="l"/>
                      <a:r>
                        <a:rPr sz="1150" b="1">
                          <a:solidFill>
                            <a:srgbClr val="10B981"/>
                          </a:solidFill>
                          <a:latin typeface="Inter"/>
                        </a:rPr>
                        <a:t>Random Forest + Lag (Selected)</a:t>
                      </a:r>
                    </a:p>
                  </a:txBody>
                  <a:tcPr anchor="ctr" marL="109728" marR="109728" marT="45720" marB="45720">
                    <a:solidFill>
                      <a:srgbClr val="112E2E"/>
                    </a:solidFill>
                  </a:tcPr>
                </a:tc>
                <a:tc>
                  <a:txBody>
                    <a:bodyPr wrap="square"/>
                    <a:lstStyle/>
                    <a:p>
                      <a:pPr algn="r"/>
                      <a:r>
                        <a:rPr sz="1150" b="1">
                          <a:solidFill>
                            <a:srgbClr val="10B981"/>
                          </a:solidFill>
                          <a:latin typeface="Inter"/>
                        </a:rPr>
                        <a:t>0.5214</a:t>
                      </a:r>
                    </a:p>
                  </a:txBody>
                  <a:tcPr anchor="ctr" marL="109728" marR="109728" marT="45720" marB="45720">
                    <a:solidFill>
                      <a:srgbClr val="112E2E"/>
                    </a:solidFill>
                  </a:tcPr>
                </a:tc>
                <a:tc>
                  <a:txBody>
                    <a:bodyPr wrap="square"/>
                    <a:lstStyle/>
                    <a:p>
                      <a:pPr algn="r"/>
                      <a:r>
                        <a:rPr sz="1150" b="1">
                          <a:solidFill>
                            <a:srgbClr val="10B981"/>
                          </a:solidFill>
                          <a:latin typeface="Inter"/>
                        </a:rPr>
                        <a:t>1.2188</a:t>
                      </a:r>
                    </a:p>
                  </a:txBody>
                  <a:tcPr anchor="ctr" marL="109728" marR="109728" marT="45720" marB="45720">
                    <a:solidFill>
                      <a:srgbClr val="112E2E"/>
                    </a:solidFill>
                  </a:tcPr>
                </a:tc>
                <a:tc>
                  <a:txBody>
                    <a:bodyPr wrap="square"/>
                    <a:lstStyle/>
                    <a:p>
                      <a:pPr algn="r"/>
                      <a:r>
                        <a:rPr sz="1150" b="1">
                          <a:solidFill>
                            <a:srgbClr val="10B981"/>
                          </a:solidFill>
                          <a:latin typeface="Inter"/>
                        </a:rPr>
                        <a:t>0.9866</a:t>
                      </a:r>
                    </a:p>
                  </a:txBody>
                  <a:tcPr anchor="ctr" marL="109728" marR="109728" marT="45720" marB="45720">
                    <a:solidFill>
                      <a:srgbClr val="112E2E"/>
                    </a:solidFill>
                  </a:tcPr>
                </a:tc>
              </a:tr>
              <a:tr h="491490">
                <a:tc>
                  <a:txBody>
                    <a:bodyPr wrap="square"/>
                    <a:lstStyle/>
                    <a:p>
                      <a:pPr algn="l"/>
                      <a:r>
                        <a:rPr sz="1150" b="1">
                          <a:solidFill>
                            <a:srgbClr val="F8FAFC"/>
                          </a:solidFill>
                          <a:latin typeface="Inter"/>
                        </a:rPr>
                        <a:t>XGBoost + Lag</a:t>
                      </a:r>
                    </a:p>
                  </a:txBody>
                  <a:tcPr anchor="ctr" marL="109728" marR="109728" marT="45720" marB="45720">
                    <a:solidFill>
                      <a:srgbClr val="162238"/>
                    </a:solidFill>
                  </a:tcPr>
                </a:tc>
                <a:tc>
                  <a:txBody>
                    <a:bodyPr wrap="square"/>
                    <a:lstStyle/>
                    <a:p>
                      <a:pPr algn="r"/>
                      <a:r>
                        <a:rPr sz="1150" b="0">
                          <a:solidFill>
                            <a:srgbClr val="F8FAFC"/>
                          </a:solidFill>
                          <a:latin typeface="Inter"/>
                        </a:rPr>
                        <a:t>0.5530</a:t>
                      </a:r>
                    </a:p>
                  </a:txBody>
                  <a:tcPr anchor="ctr" marL="109728" marR="109728" marT="45720" marB="45720">
                    <a:solidFill>
                      <a:srgbClr val="162238"/>
                    </a:solidFill>
                  </a:tcPr>
                </a:tc>
                <a:tc>
                  <a:txBody>
                    <a:bodyPr wrap="square"/>
                    <a:lstStyle/>
                    <a:p>
                      <a:pPr algn="r"/>
                      <a:r>
                        <a:rPr sz="1150" b="0">
                          <a:solidFill>
                            <a:srgbClr val="F8FAFC"/>
                          </a:solidFill>
                          <a:latin typeface="Inter"/>
                        </a:rPr>
                        <a:t>1.2964</a:t>
                      </a:r>
                    </a:p>
                  </a:txBody>
                  <a:tcPr anchor="ctr" marL="109728" marR="109728" marT="45720" marB="45720">
                    <a:solidFill>
                      <a:srgbClr val="162238"/>
                    </a:solidFill>
                  </a:tcPr>
                </a:tc>
                <a:tc>
                  <a:txBody>
                    <a:bodyPr wrap="square"/>
                    <a:lstStyle/>
                    <a:p>
                      <a:pPr algn="r"/>
                      <a:r>
                        <a:rPr sz="1150" b="0">
                          <a:solidFill>
                            <a:srgbClr val="F8FAFC"/>
                          </a:solidFill>
                          <a:latin typeface="Inter"/>
                        </a:rPr>
                        <a:t>0.9849</a:t>
                      </a:r>
                    </a:p>
                  </a:txBody>
                  <a:tcPr anchor="ctr" marL="109728" marR="109728" marT="45720" marB="45720">
                    <a:solidFill>
                      <a:srgbClr val="162238"/>
                    </a:solidFill>
                  </a:tcPr>
                </a:tc>
              </a:tr>
            </a:tbl>
          </a:graphicData>
        </a:graphic>
      </p:graphicFrame>
      <p:sp>
        <p:nvSpPr>
          <p:cNvPr id="11" name="Rounded Rectangle 10"/>
          <p:cNvSpPr/>
          <p:nvPr/>
        </p:nvSpPr>
        <p:spPr>
          <a:xfrm>
            <a:off x="6400800" y="3611880"/>
            <a:ext cx="2505456" cy="1453896"/>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400800" y="3611880"/>
            <a:ext cx="2505456"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3730752"/>
            <a:ext cx="2231136" cy="1234440"/>
          </a:xfrm>
          <a:prstGeom prst="rect">
            <a:avLst/>
          </a:prstGeom>
          <a:noFill/>
        </p:spPr>
        <p:txBody>
          <a:bodyPr wrap="square" anchor="t" lIns="0" tIns="0" rIns="0" bIns="0">
            <a:spAutoFit/>
          </a:bodyPr>
          <a:lstStyle/>
          <a:p>
            <a:pPr algn="ctr">
              <a:spcBef>
                <a:spcPts val="0"/>
              </a:spcBef>
              <a:spcAft>
                <a:spcPts val="400"/>
              </a:spcAft>
            </a:pPr>
            <a:r>
              <a:rPr sz="1100" b="1">
                <a:solidFill>
                  <a:srgbClr val="10B981"/>
                </a:solidFill>
                <a:latin typeface="Inter"/>
              </a:rPr>
              <a:t>MAE IMPROVEMENT</a:t>
            </a:r>
          </a:p>
          <a:p>
            <a:pPr algn="ctr">
              <a:spcBef>
                <a:spcPts val="0"/>
              </a:spcBef>
              <a:spcAft>
                <a:spcPts val="400"/>
              </a:spcAft>
            </a:pPr>
            <a:r>
              <a:rPr sz="3000" b="1">
                <a:solidFill>
                  <a:srgbClr val="F8FAFC"/>
                </a:solidFill>
                <a:latin typeface="Inter"/>
              </a:rPr>
              <a:t>5.28%</a:t>
            </a:r>
          </a:p>
          <a:p>
            <a:pPr algn="ctr">
              <a:spcBef>
                <a:spcPts val="0"/>
              </a:spcBef>
              <a:spcAft>
                <a:spcPts val="0"/>
              </a:spcAft>
            </a:pPr>
            <a:r>
              <a:rPr sz="1050" b="0">
                <a:solidFill>
                  <a:srgbClr val="CBD5E1"/>
                </a:solidFill>
                <a:latin typeface="Inter"/>
              </a:rPr>
              <a:t>Random Forest vs Persistence
(0.5214 vs 0.5505 IV pts)</a:t>
            </a:r>
          </a:p>
        </p:txBody>
      </p:sp>
      <p:sp>
        <p:nvSpPr>
          <p:cNvPr id="14" name="Rounded Rectangle 13"/>
          <p:cNvSpPr/>
          <p:nvPr/>
        </p:nvSpPr>
        <p:spPr>
          <a:xfrm>
            <a:off x="9089136" y="3611880"/>
            <a:ext cx="2505456" cy="1453896"/>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9089136" y="3611880"/>
            <a:ext cx="2505456" cy="548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26296" y="3730752"/>
            <a:ext cx="2231136" cy="1234440"/>
          </a:xfrm>
          <a:prstGeom prst="rect">
            <a:avLst/>
          </a:prstGeom>
          <a:noFill/>
        </p:spPr>
        <p:txBody>
          <a:bodyPr wrap="square" anchor="t" lIns="0" tIns="0" rIns="0" bIns="0">
            <a:spAutoFit/>
          </a:bodyPr>
          <a:lstStyle/>
          <a:p>
            <a:pPr algn="ctr">
              <a:spcBef>
                <a:spcPts val="0"/>
              </a:spcBef>
              <a:spcAft>
                <a:spcPts val="400"/>
              </a:spcAft>
            </a:pPr>
            <a:r>
              <a:rPr sz="1100" b="1">
                <a:solidFill>
                  <a:srgbClr val="2DD4BF"/>
                </a:solidFill>
                <a:latin typeface="Inter"/>
              </a:rPr>
              <a:t>RMSE IMPROVEMENT</a:t>
            </a:r>
          </a:p>
          <a:p>
            <a:pPr algn="ctr">
              <a:spcBef>
                <a:spcPts val="0"/>
              </a:spcBef>
              <a:spcAft>
                <a:spcPts val="400"/>
              </a:spcAft>
            </a:pPr>
            <a:r>
              <a:rPr sz="3000" b="1">
                <a:solidFill>
                  <a:srgbClr val="F8FAFC"/>
                </a:solidFill>
                <a:latin typeface="Inter"/>
              </a:rPr>
              <a:t>7.72%</a:t>
            </a:r>
          </a:p>
          <a:p>
            <a:pPr algn="ctr">
              <a:spcBef>
                <a:spcPts val="0"/>
              </a:spcBef>
              <a:spcAft>
                <a:spcPts val="0"/>
              </a:spcAft>
            </a:pPr>
            <a:r>
              <a:rPr sz="1050" b="0">
                <a:solidFill>
                  <a:srgbClr val="CBD5E1"/>
                </a:solidFill>
                <a:latin typeface="Inter"/>
              </a:rPr>
              <a:t>Random Forest vs Persistence
(1.2188 vs 1.3207 IV pts)</a:t>
            </a:r>
          </a:p>
        </p:txBody>
      </p:sp>
      <p:sp>
        <p:nvSpPr>
          <p:cNvPr id="17" name="Rounded Rectangle 16"/>
          <p:cNvSpPr/>
          <p:nvPr/>
        </p:nvSpPr>
        <p:spPr>
          <a:xfrm>
            <a:off x="594360" y="5193792"/>
            <a:ext cx="11000232" cy="1042415"/>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594360" y="5193792"/>
            <a:ext cx="73152" cy="104241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266944"/>
            <a:ext cx="10607040" cy="896112"/>
          </a:xfrm>
          <a:prstGeom prst="rect">
            <a:avLst/>
          </a:prstGeom>
          <a:noFill/>
        </p:spPr>
        <p:txBody>
          <a:bodyPr wrap="square" anchor="t" lIns="0" tIns="0" rIns="0" bIns="0">
            <a:spAutoFit/>
          </a:bodyPr>
          <a:lstStyle/>
          <a:p>
            <a:pPr algn="l">
              <a:spcBef>
                <a:spcPts val="0"/>
              </a:spcBef>
              <a:spcAft>
                <a:spcPts val="300"/>
              </a:spcAft>
            </a:pPr>
            <a:r>
              <a:rPr sz="1100" b="1">
                <a:solidFill>
                  <a:srgbClr val="F59E0B"/>
                </a:solidFill>
                <a:latin typeface="Inter"/>
              </a:rPr>
              <a:t>CRITICAL QUANTITATIVE INTERPRETATION OF MODEL PERFORMANCE</a:t>
            </a:r>
          </a:p>
          <a:p>
            <a:pPr algn="l" marL="201168" indent="-201168">
              <a:spcAft>
                <a:spcPts val="300"/>
              </a:spcAft>
              <a:buFont typeface="Inter"/>
              <a:buChar char="•"/>
            </a:pPr>
            <a:r>
              <a:rPr sz="1100" b="1">
                <a:solidFill>
                  <a:srgbClr val="F8FAFC"/>
                </a:solidFill>
                <a:latin typeface="Inter"/>
              </a:rPr>
              <a:t>Why Nonlinear Tree Models Were Required: </a:t>
            </a:r>
            <a:r>
              <a:rPr sz="1100" b="0">
                <a:solidFill>
                  <a:srgbClr val="CBD5E1"/>
                </a:solidFill>
                <a:latin typeface="Inter"/>
              </a:rPr>
              <a:t>Initial direct-level Linear Regression was much weaker (MAE ≈ 6.17), motivating target differencing (ΔIV) and nonlinear tree ensembles.</a:t>
            </a:r>
          </a:p>
          <a:p>
            <a:pPr algn="l" marL="201168" indent="-201168">
              <a:spcAft>
                <a:spcPts val="0"/>
              </a:spcAft>
              <a:buFont typeface="Inter"/>
              <a:buChar char="•"/>
            </a:pPr>
            <a:r>
              <a:rPr sz="1100" b="1">
                <a:solidFill>
                  <a:srgbClr val="F8FAFC"/>
                </a:solidFill>
                <a:latin typeface="Inter"/>
              </a:rPr>
              <a:t>Why High R² (0.9866) Must Not Be Overstated: </a:t>
            </a:r>
            <a:r>
              <a:rPr sz="1100" b="0">
                <a:solidFill>
                  <a:srgbClr val="CBD5E1"/>
                </a:solidFill>
                <a:latin typeface="Inter"/>
              </a:rPr>
              <a:t>Persistence alone achieves R² = 0.9843 because 5-minute IV levels are highly autocorrelated. The true proof of skill is the 5.28% MAE and 7.72% RMSE reduction.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10  •  FEATURE IMPORTANCE, RELATIVE-IV &amp; DIRECTIONAL ANALYSIS</a:t>
            </a:r>
          </a:p>
          <a:p>
            <a:pPr algn="l">
              <a:spcBef>
                <a:spcPts val="0"/>
              </a:spcBef>
              <a:spcAft>
                <a:spcPts val="200"/>
              </a:spcAft>
            </a:pPr>
            <a:r>
              <a:rPr sz="2300" b="1">
                <a:solidFill>
                  <a:srgbClr val="F8FAFC"/>
                </a:solidFill>
                <a:latin typeface="Inter"/>
              </a:rPr>
              <a:t>Feature Drivers, Relative-IV Signals &amp; Directional Thresholding</a:t>
            </a:r>
          </a:p>
          <a:p>
            <a:pPr algn="l">
              <a:spcBef>
                <a:spcPts val="0"/>
              </a:spcBef>
              <a:spcAft>
                <a:spcPts val="0"/>
              </a:spcAft>
            </a:pPr>
            <a:r>
              <a:rPr sz="1300" b="0">
                <a:solidFill>
                  <a:srgbClr val="94A3B8"/>
                </a:solidFill>
                <a:latin typeface="Inter"/>
              </a:rPr>
              <a:t>Decomposing Random Forest feature importance and translating 5-minute forecasts into relative-IV regimes</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11 / 15</a:t>
            </a:r>
          </a:p>
        </p:txBody>
      </p:sp>
      <p:sp>
        <p:nvSpPr>
          <p:cNvPr id="7" name="Rounded Rectangle 6"/>
          <p:cNvSpPr/>
          <p:nvPr/>
        </p:nvSpPr>
        <p:spPr>
          <a:xfrm>
            <a:off x="594360" y="1481328"/>
            <a:ext cx="5303520" cy="333756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77240" y="1554480"/>
            <a:ext cx="4937760" cy="292608"/>
          </a:xfrm>
          <a:prstGeom prst="rect">
            <a:avLst/>
          </a:prstGeom>
          <a:noFill/>
        </p:spPr>
        <p:txBody>
          <a:bodyPr wrap="square" anchor="t" lIns="0" tIns="0" rIns="0" bIns="0">
            <a:spAutoFit/>
          </a:bodyPr>
          <a:lstStyle/>
          <a:p>
            <a:pPr algn="l">
              <a:spcBef>
                <a:spcPts val="0"/>
              </a:spcBef>
              <a:spcAft>
                <a:spcPts val="400"/>
              </a:spcAft>
            </a:pPr>
            <a:r>
              <a:rPr sz="1100" b="1">
                <a:solidFill>
                  <a:srgbClr val="00B4D8"/>
                </a:solidFill>
                <a:latin typeface="Inter"/>
              </a:rPr>
              <a:t>TOP 6 RANDOM FOREST FEATURE IMPORTANCES (ORIGINAL VALUES)</a:t>
            </a:r>
          </a:p>
        </p:txBody>
      </p:sp>
      <p:graphicFrame>
        <p:nvGraphicFramePr>
          <p:cNvPr id="9" name="Chart 8"/>
          <p:cNvGraphicFramePr>
            <a:graphicFrameLocks noGrp="1"/>
          </p:cNvGraphicFramePr>
          <p:nvPr/>
        </p:nvGraphicFramePr>
        <p:xfrm>
          <a:off x="713232" y="1883664"/>
          <a:ext cx="5029200" cy="2816352"/>
        </p:xfrm>
        <a:graphic>
          <a:graphicData uri="http://schemas.openxmlformats.org/drawingml/2006/chart">
            <c:chart xmlns:c="http://schemas.openxmlformats.org/drawingml/2006/chart" r:id="rId2"/>
          </a:graphicData>
        </a:graphic>
      </p:graphicFrame>
      <p:sp>
        <p:nvSpPr>
          <p:cNvPr id="10" name="Rounded Rectangle 9"/>
          <p:cNvSpPr/>
          <p:nvPr/>
        </p:nvSpPr>
        <p:spPr>
          <a:xfrm>
            <a:off x="594360" y="4937760"/>
            <a:ext cx="5303520" cy="129844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94360" y="4937760"/>
            <a:ext cx="73152" cy="129844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010912"/>
            <a:ext cx="4983480" cy="1152144"/>
          </a:xfrm>
          <a:prstGeom prst="rect">
            <a:avLst/>
          </a:prstGeom>
          <a:noFill/>
        </p:spPr>
        <p:txBody>
          <a:bodyPr wrap="square" anchor="t" lIns="0" tIns="0" rIns="0" bIns="0">
            <a:spAutoFit/>
          </a:bodyPr>
          <a:lstStyle/>
          <a:p>
            <a:pPr algn="l">
              <a:spcBef>
                <a:spcPts val="0"/>
              </a:spcBef>
              <a:spcAft>
                <a:spcPts val="400"/>
              </a:spcAft>
            </a:pPr>
            <a:r>
              <a:rPr sz="1100" b="1">
                <a:solidFill>
                  <a:srgbClr val="00B4D8"/>
                </a:solidFill>
                <a:latin typeface="Inter"/>
              </a:rPr>
              <a:t>ECONOMIC INTERPRETATION OF TOP PREDICTORS</a:t>
            </a:r>
          </a:p>
          <a:p>
            <a:pPr algn="l" marL="201168" indent="-201168">
              <a:spcAft>
                <a:spcPts val="300"/>
              </a:spcAft>
              <a:buFont typeface="Inter"/>
              <a:buChar char="•"/>
            </a:pPr>
            <a:r>
              <a:rPr sz="1050" b="1">
                <a:solidFill>
                  <a:srgbClr val="F8FAFC"/>
                </a:solidFill>
                <a:latin typeface="Inter"/>
              </a:rPr>
              <a:t>Short-Horizon IV Momentum Dominates: </a:t>
            </a:r>
            <a:r>
              <a:rPr sz="1050" b="0">
                <a:solidFill>
                  <a:srgbClr val="CBD5E1"/>
                </a:solidFill>
                <a:latin typeface="Inter"/>
              </a:rPr>
              <a:t>5m IV change (0.0721), 10m IV change (0.0674), Current IV (0.0653), and 5m lagged IV (0.0427) are the strongest signals.</a:t>
            </a:r>
          </a:p>
          <a:p>
            <a:pPr algn="l" marL="201168" indent="-201168">
              <a:spcAft>
                <a:spcPts val="0"/>
              </a:spcAft>
              <a:buFont typeface="Inter"/>
              <a:buChar char="•"/>
            </a:pPr>
            <a:r>
              <a:rPr sz="1050" b="1">
                <a:solidFill>
                  <a:srgbClr val="F8FAFC"/>
                </a:solidFill>
                <a:latin typeface="Inter"/>
              </a:rPr>
              <a:t>Liquidity &amp; Underlying Context: </a:t>
            </a:r>
            <a:r>
              <a:rPr sz="1050" b="0">
                <a:solidFill>
                  <a:srgbClr val="CBD5E1"/>
                </a:solidFill>
                <a:latin typeface="Inter"/>
              </a:rPr>
              <a:t>Bid-ask spread (0.0352) and 5m lagged spot (0.0340) capture microstructure friction and index pressure.</a:t>
            </a:r>
          </a:p>
        </p:txBody>
      </p:sp>
      <p:sp>
        <p:nvSpPr>
          <p:cNvPr id="13" name="Rounded Rectangle 12"/>
          <p:cNvSpPr/>
          <p:nvPr/>
        </p:nvSpPr>
        <p:spPr>
          <a:xfrm>
            <a:off x="6080760" y="1481328"/>
            <a:ext cx="5513832" cy="267004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s11_rel_iv_dist.png"/>
          <p:cNvPicPr>
            <a:picLocks noChangeAspect="1"/>
          </p:cNvPicPr>
          <p:nvPr/>
        </p:nvPicPr>
        <p:blipFill>
          <a:blip r:embed="rId3"/>
          <a:stretch>
            <a:fillRect/>
          </a:stretch>
        </p:blipFill>
        <p:spPr>
          <a:xfrm>
            <a:off x="6236208" y="1536192"/>
            <a:ext cx="5029200" cy="1783080"/>
          </a:xfrm>
          <a:prstGeom prst="rect">
            <a:avLst/>
          </a:prstGeom>
        </p:spPr>
      </p:pic>
      <p:sp>
        <p:nvSpPr>
          <p:cNvPr id="15" name="TextBox 14"/>
          <p:cNvSpPr txBox="1"/>
          <p:nvPr/>
        </p:nvSpPr>
        <p:spPr>
          <a:xfrm>
            <a:off x="6236208" y="3401568"/>
            <a:ext cx="5212080" cy="685800"/>
          </a:xfrm>
          <a:prstGeom prst="rect">
            <a:avLst/>
          </a:prstGeom>
          <a:noFill/>
        </p:spPr>
        <p:txBody>
          <a:bodyPr wrap="square" anchor="t" lIns="0" tIns="0" rIns="0" bIns="0">
            <a:spAutoFit/>
          </a:bodyPr>
          <a:lstStyle/>
          <a:p>
            <a:pPr algn="l">
              <a:spcBef>
                <a:spcPts val="0"/>
              </a:spcBef>
              <a:spcAft>
                <a:spcPts val="200"/>
              </a:spcAft>
            </a:pPr>
            <a:r>
              <a:rPr sz="1050" b="1">
                <a:solidFill>
                  <a:srgbClr val="F59E0B"/>
                </a:solidFill>
                <a:latin typeface="Inter"/>
              </a:rPr>
              <a:t>CRITICAL VIVA DISTINCTION: WHAT 'LOW IV VS FORECAST' MEANS</a:t>
            </a:r>
          </a:p>
          <a:p>
            <a:pPr algn="l">
              <a:spcBef>
                <a:spcPts val="0"/>
              </a:spcBef>
              <a:spcAft>
                <a:spcPts val="0"/>
              </a:spcAft>
            </a:pPr>
            <a:r>
              <a:rPr sz="1050" b="0">
                <a:solidFill>
                  <a:srgbClr val="F8FAFC"/>
                </a:solidFill>
                <a:latin typeface="Inter"/>
              </a:rPr>
              <a:t>“Low IV vs forecast” (65 obs, 6.61%) means current IV is below the model's 5-minute forecast (IV is expected to rise)—it does NOT automatically mean the option is cheap or should be bought.</a:t>
            </a:r>
          </a:p>
        </p:txBody>
      </p:sp>
      <p:sp>
        <p:nvSpPr>
          <p:cNvPr id="16" name="Rounded Rectangle 15"/>
          <p:cNvSpPr/>
          <p:nvPr/>
        </p:nvSpPr>
        <p:spPr>
          <a:xfrm>
            <a:off x="6080760" y="4261104"/>
            <a:ext cx="2670048" cy="1975104"/>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6080760" y="4261104"/>
            <a:ext cx="2670048"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6208" y="4370832"/>
            <a:ext cx="2359152" cy="1773936"/>
          </a:xfrm>
          <a:prstGeom prst="rect">
            <a:avLst/>
          </a:prstGeom>
          <a:noFill/>
        </p:spPr>
        <p:txBody>
          <a:bodyPr wrap="square" anchor="t" lIns="0" tIns="0" rIns="0" bIns="0">
            <a:spAutoFit/>
          </a:bodyPr>
          <a:lstStyle/>
          <a:p>
            <a:pPr algn="l">
              <a:spcBef>
                <a:spcPts val="0"/>
              </a:spcBef>
              <a:spcAft>
                <a:spcPts val="400"/>
              </a:spcAft>
            </a:pPr>
            <a:r>
              <a:rPr sz="1100" b="1">
                <a:solidFill>
                  <a:srgbClr val="10B981"/>
                </a:solidFill>
                <a:latin typeface="Inter"/>
              </a:rPr>
              <a:t>DIRECTIONAL FILTERING</a:t>
            </a:r>
          </a:p>
          <a:p>
            <a:pPr algn="l">
              <a:spcBef>
                <a:spcPts val="0"/>
              </a:spcBef>
              <a:spcAft>
                <a:spcPts val="400"/>
              </a:spcAft>
            </a:pPr>
            <a:r>
              <a:rPr sz="1700" b="1">
                <a:solidFill>
                  <a:srgbClr val="F8FAFC"/>
                </a:solidFill>
                <a:latin typeface="Inter"/>
              </a:rPr>
              <a:t>53.20%  →  63–64%</a:t>
            </a:r>
          </a:p>
          <a:p>
            <a:pPr algn="l" marL="201168" indent="-201168">
              <a:spcAft>
                <a:spcPts val="300"/>
              </a:spcAft>
              <a:buFont typeface="Inter"/>
              <a:buChar char="•"/>
            </a:pPr>
            <a:r>
              <a:rPr sz="1050" b="1">
                <a:solidFill>
                  <a:srgbClr val="F8FAFC"/>
                </a:solidFill>
                <a:latin typeface="Inter"/>
              </a:rPr>
              <a:t>All Holdout Rows: </a:t>
            </a:r>
            <a:r>
              <a:rPr sz="1050" b="0">
                <a:solidFill>
                  <a:srgbClr val="CBD5E1"/>
                </a:solidFill>
                <a:latin typeface="Inter"/>
              </a:rPr>
              <a:t>53.20% directional accuracy across all 983 rows.</a:t>
            </a:r>
          </a:p>
          <a:p>
            <a:pPr algn="l" marL="201168" indent="-201168">
              <a:spcAft>
                <a:spcPts val="0"/>
              </a:spcAft>
              <a:buFont typeface="Inter"/>
              <a:buChar char="•"/>
            </a:pPr>
            <a:r>
              <a:rPr sz="1050" b="1">
                <a:solidFill>
                  <a:srgbClr val="F8FAFC"/>
                </a:solidFill>
                <a:latin typeface="Inter"/>
              </a:rPr>
              <a:t>Thresholds (0.05–0.25): </a:t>
            </a:r>
            <a:r>
              <a:rPr sz="1050" b="0">
                <a:solidFill>
                  <a:srgbClr val="CBD5E1"/>
                </a:solidFill>
                <a:latin typeface="Inter"/>
              </a:rPr>
              <a:t>Accuracy rose to ~63–64% while coverage fell to ~16–28%.</a:t>
            </a:r>
          </a:p>
        </p:txBody>
      </p:sp>
      <p:sp>
        <p:nvSpPr>
          <p:cNvPr id="19" name="Rounded Rectangle 18"/>
          <p:cNvSpPr/>
          <p:nvPr/>
        </p:nvSpPr>
        <p:spPr>
          <a:xfrm>
            <a:off x="8924544" y="4261104"/>
            <a:ext cx="2670048" cy="1975104"/>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8924544" y="4261104"/>
            <a:ext cx="2670048"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4370832"/>
            <a:ext cx="2359152" cy="1773936"/>
          </a:xfrm>
          <a:prstGeom prst="rect">
            <a:avLst/>
          </a:prstGeom>
          <a:noFill/>
        </p:spPr>
        <p:txBody>
          <a:bodyPr wrap="square" anchor="t" lIns="0" tIns="0" rIns="0" bIns="0">
            <a:spAutoFit/>
          </a:bodyPr>
          <a:lstStyle/>
          <a:p>
            <a:pPr algn="l">
              <a:spcBef>
                <a:spcPts val="0"/>
              </a:spcBef>
              <a:spcAft>
                <a:spcPts val="400"/>
              </a:spcAft>
            </a:pPr>
            <a:r>
              <a:rPr sz="1100" b="1">
                <a:solidFill>
                  <a:srgbClr val="F59E0B"/>
                </a:solidFill>
                <a:latin typeface="Inter"/>
              </a:rPr>
              <a:t>PROBABILITY EXPERIMENT</a:t>
            </a:r>
          </a:p>
          <a:p>
            <a:pPr algn="l">
              <a:spcBef>
                <a:spcPts val="0"/>
              </a:spcBef>
              <a:spcAft>
                <a:spcPts val="400"/>
              </a:spcAft>
            </a:pPr>
            <a:r>
              <a:rPr sz="1700" b="1">
                <a:solidFill>
                  <a:srgbClr val="F8FAFC"/>
                </a:solidFill>
                <a:latin typeface="Inter"/>
              </a:rPr>
              <a:t>50.36%  |  51.44%</a:t>
            </a:r>
          </a:p>
          <a:p>
            <a:pPr algn="l" marL="201168" indent="-201168">
              <a:spcAft>
                <a:spcPts val="300"/>
              </a:spcAft>
              <a:buFont typeface="Inter"/>
              <a:buChar char="•"/>
            </a:pPr>
            <a:r>
              <a:rPr sz="1050" b="1">
                <a:solidFill>
                  <a:srgbClr val="F8FAFC"/>
                </a:solidFill>
                <a:latin typeface="Inter"/>
              </a:rPr>
              <a:t>3-Class RF Classifier: </a:t>
            </a:r>
            <a:r>
              <a:rPr sz="1050" b="0">
                <a:solidFill>
                  <a:srgbClr val="CBD5E1"/>
                </a:solidFill>
                <a:latin typeface="Inter"/>
              </a:rPr>
              <a:t>50.36% overall accuracy; 51.44% balanced accuracy.</a:t>
            </a:r>
          </a:p>
          <a:p>
            <a:pPr algn="l" marL="201168" indent="-201168">
              <a:spcAft>
                <a:spcPts val="0"/>
              </a:spcAft>
              <a:buFont typeface="Inter"/>
              <a:buChar char="•"/>
            </a:pPr>
            <a:r>
              <a:rPr sz="1050" b="1">
                <a:solidFill>
                  <a:srgbClr val="F8FAFC"/>
                </a:solidFill>
                <a:latin typeface="Inter"/>
              </a:rPr>
              <a:t>Rigorous Conclusion: </a:t>
            </a:r>
            <a:r>
              <a:rPr sz="1050" b="0">
                <a:solidFill>
                  <a:srgbClr val="CBD5E1"/>
                </a:solidFill>
                <a:latin typeface="Inter"/>
              </a:rPr>
              <a:t>Probability scores were NOT treated as reliable trading confidence.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11  •  PRACTICAL APPLICATIONS &amp; BLACK–SCHOLES RISK STRESS TESTING</a:t>
            </a:r>
          </a:p>
          <a:p>
            <a:pPr algn="l">
              <a:spcBef>
                <a:spcPts val="0"/>
              </a:spcBef>
              <a:spcAft>
                <a:spcPts val="200"/>
              </a:spcAft>
            </a:pPr>
            <a:r>
              <a:rPr sz="2300" b="1">
                <a:solidFill>
                  <a:srgbClr val="F8FAFC"/>
                </a:solidFill>
                <a:latin typeface="Inter"/>
              </a:rPr>
              <a:t>Linking IV Forecasts to Option Valuation, Stress Scenarios &amp; Live Workflow</a:t>
            </a:r>
          </a:p>
          <a:p>
            <a:pPr algn="l">
              <a:spcBef>
                <a:spcPts val="0"/>
              </a:spcBef>
              <a:spcAft>
                <a:spcPts val="0"/>
              </a:spcAft>
            </a:pPr>
            <a:r>
              <a:rPr sz="1300" b="0">
                <a:solidFill>
                  <a:srgbClr val="94A3B8"/>
                </a:solidFill>
                <a:latin typeface="Inter"/>
              </a:rPr>
              <a:t>Evaluating how underlying spot shocks and implied volatility shifts jointly impact near-ATM option premiums</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12 / 15</a:t>
            </a:r>
          </a:p>
        </p:txBody>
      </p:sp>
      <p:sp>
        <p:nvSpPr>
          <p:cNvPr id="7" name="Rounded Rectangle 6"/>
          <p:cNvSpPr/>
          <p:nvPr/>
        </p:nvSpPr>
        <p:spPr>
          <a:xfrm>
            <a:off x="594360" y="1481328"/>
            <a:ext cx="5440680" cy="157276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481328"/>
            <a:ext cx="5440680"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5074920" cy="292608"/>
          </a:xfrm>
          <a:prstGeom prst="rect">
            <a:avLst/>
          </a:prstGeom>
          <a:noFill/>
        </p:spPr>
        <p:txBody>
          <a:bodyPr wrap="square" anchor="t" lIns="0" tIns="0" rIns="0" bIns="0">
            <a:spAutoFit/>
          </a:bodyPr>
          <a:lstStyle/>
          <a:p>
            <a:pPr algn="l">
              <a:spcBef>
                <a:spcPts val="0"/>
              </a:spcBef>
              <a:spcAft>
                <a:spcPts val="400"/>
              </a:spcAft>
            </a:pPr>
            <a:r>
              <a:rPr sz="1150" b="1">
                <a:solidFill>
                  <a:srgbClr val="00B4D8"/>
                </a:solidFill>
                <a:latin typeface="Inter"/>
              </a:rPr>
              <a:t>STRESS-TEST CASE: NEAR-ATM 23,150 CALL OPTION (23,150 CE)</a:t>
            </a:r>
          </a:p>
        </p:txBody>
      </p:sp>
      <p:sp>
        <p:nvSpPr>
          <p:cNvPr id="10" name="Rounded Rectangle 9"/>
          <p:cNvSpPr/>
          <p:nvPr/>
        </p:nvSpPr>
        <p:spPr>
          <a:xfrm>
            <a:off x="777240" y="1901952"/>
            <a:ext cx="1024128" cy="987552"/>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13816" y="1993392"/>
            <a:ext cx="950976" cy="822960"/>
          </a:xfrm>
          <a:prstGeom prst="rect">
            <a:avLst/>
          </a:prstGeom>
          <a:noFill/>
        </p:spPr>
        <p:txBody>
          <a:bodyPr wrap="square" anchor="t" lIns="0" tIns="0" rIns="0" bIns="0">
            <a:spAutoFit/>
          </a:bodyPr>
          <a:lstStyle/>
          <a:p>
            <a:pPr algn="ctr">
              <a:spcBef>
                <a:spcPts val="0"/>
              </a:spcBef>
              <a:spcAft>
                <a:spcPts val="400"/>
              </a:spcAft>
            </a:pPr>
            <a:r>
              <a:rPr sz="1050" b="1">
                <a:solidFill>
                  <a:srgbClr val="94A3B8"/>
                </a:solidFill>
                <a:latin typeface="Inter"/>
              </a:rPr>
              <a:t>Spot</a:t>
            </a:r>
          </a:p>
          <a:p>
            <a:pPr algn="ctr">
              <a:spcBef>
                <a:spcPts val="0"/>
              </a:spcBef>
              <a:spcAft>
                <a:spcPts val="0"/>
              </a:spcAft>
            </a:pPr>
            <a:r>
              <a:rPr sz="1300" b="1">
                <a:solidFill>
                  <a:srgbClr val="F8FAFC"/>
                </a:solidFill>
                <a:latin typeface="Inter"/>
              </a:rPr>
              <a:t>23,125.65</a:t>
            </a:r>
          </a:p>
        </p:txBody>
      </p:sp>
      <p:sp>
        <p:nvSpPr>
          <p:cNvPr id="12" name="Rounded Rectangle 11"/>
          <p:cNvSpPr/>
          <p:nvPr/>
        </p:nvSpPr>
        <p:spPr>
          <a:xfrm>
            <a:off x="1847088" y="1901952"/>
            <a:ext cx="868680" cy="987552"/>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883664" y="1993392"/>
            <a:ext cx="795528" cy="822960"/>
          </a:xfrm>
          <a:prstGeom prst="rect">
            <a:avLst/>
          </a:prstGeom>
          <a:noFill/>
        </p:spPr>
        <p:txBody>
          <a:bodyPr wrap="square" anchor="t" lIns="0" tIns="0" rIns="0" bIns="0">
            <a:spAutoFit/>
          </a:bodyPr>
          <a:lstStyle/>
          <a:p>
            <a:pPr algn="ctr">
              <a:spcBef>
                <a:spcPts val="0"/>
              </a:spcBef>
              <a:spcAft>
                <a:spcPts val="400"/>
              </a:spcAft>
            </a:pPr>
            <a:r>
              <a:rPr sz="1050" b="1">
                <a:solidFill>
                  <a:srgbClr val="94A3B8"/>
                </a:solidFill>
                <a:latin typeface="Inter"/>
              </a:rPr>
              <a:t>Market LTP</a:t>
            </a:r>
          </a:p>
          <a:p>
            <a:pPr algn="ctr">
              <a:spcBef>
                <a:spcPts val="0"/>
              </a:spcBef>
              <a:spcAft>
                <a:spcPts val="0"/>
              </a:spcAft>
            </a:pPr>
            <a:r>
              <a:rPr sz="1300" b="1">
                <a:solidFill>
                  <a:srgbClr val="F8FAFC"/>
                </a:solidFill>
                <a:latin typeface="Inter"/>
              </a:rPr>
              <a:t>₹81.70</a:t>
            </a:r>
          </a:p>
        </p:txBody>
      </p:sp>
      <p:sp>
        <p:nvSpPr>
          <p:cNvPr id="14" name="Rounded Rectangle 13"/>
          <p:cNvSpPr/>
          <p:nvPr/>
        </p:nvSpPr>
        <p:spPr>
          <a:xfrm>
            <a:off x="2761488" y="1901952"/>
            <a:ext cx="868680" cy="987552"/>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798064" y="1993392"/>
            <a:ext cx="795528" cy="822960"/>
          </a:xfrm>
          <a:prstGeom prst="rect">
            <a:avLst/>
          </a:prstGeom>
          <a:noFill/>
        </p:spPr>
        <p:txBody>
          <a:bodyPr wrap="square" anchor="t" lIns="0" tIns="0" rIns="0" bIns="0">
            <a:spAutoFit/>
          </a:bodyPr>
          <a:lstStyle/>
          <a:p>
            <a:pPr algn="ctr">
              <a:spcBef>
                <a:spcPts val="0"/>
              </a:spcBef>
              <a:spcAft>
                <a:spcPts val="400"/>
              </a:spcAft>
            </a:pPr>
            <a:r>
              <a:rPr sz="1050" b="1">
                <a:solidFill>
                  <a:srgbClr val="94A3B8"/>
                </a:solidFill>
                <a:latin typeface="Inter"/>
              </a:rPr>
              <a:t>Current IV</a:t>
            </a:r>
          </a:p>
          <a:p>
            <a:pPr algn="ctr">
              <a:spcBef>
                <a:spcPts val="0"/>
              </a:spcBef>
              <a:spcAft>
                <a:spcPts val="0"/>
              </a:spcAft>
            </a:pPr>
            <a:r>
              <a:rPr sz="1300" b="1">
                <a:solidFill>
                  <a:srgbClr val="F8FAFC"/>
                </a:solidFill>
                <a:latin typeface="Inter"/>
              </a:rPr>
              <a:t>10.71%</a:t>
            </a:r>
          </a:p>
        </p:txBody>
      </p:sp>
      <p:sp>
        <p:nvSpPr>
          <p:cNvPr id="16" name="Rounded Rectangle 15"/>
          <p:cNvSpPr/>
          <p:nvPr/>
        </p:nvSpPr>
        <p:spPr>
          <a:xfrm>
            <a:off x="3675887" y="1901952"/>
            <a:ext cx="1005840" cy="987552"/>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712463" y="1993392"/>
            <a:ext cx="932688" cy="822960"/>
          </a:xfrm>
          <a:prstGeom prst="rect">
            <a:avLst/>
          </a:prstGeom>
          <a:noFill/>
        </p:spPr>
        <p:txBody>
          <a:bodyPr wrap="square" anchor="t" lIns="0" tIns="0" rIns="0" bIns="0">
            <a:spAutoFit/>
          </a:bodyPr>
          <a:lstStyle/>
          <a:p>
            <a:pPr algn="ctr">
              <a:spcBef>
                <a:spcPts val="0"/>
              </a:spcBef>
              <a:spcAft>
                <a:spcPts val="400"/>
              </a:spcAft>
            </a:pPr>
            <a:r>
              <a:rPr sz="1050" b="1">
                <a:solidFill>
                  <a:srgbClr val="94A3B8"/>
                </a:solidFill>
                <a:latin typeface="Inter"/>
              </a:rPr>
              <a:t>TTE (Hours)</a:t>
            </a:r>
          </a:p>
          <a:p>
            <a:pPr algn="ctr">
              <a:spcBef>
                <a:spcPts val="0"/>
              </a:spcBef>
              <a:spcAft>
                <a:spcPts val="0"/>
              </a:spcAft>
            </a:pPr>
            <a:r>
              <a:rPr sz="1300" b="1">
                <a:solidFill>
                  <a:srgbClr val="F8FAFC"/>
                </a:solidFill>
                <a:latin typeface="Inter"/>
              </a:rPr>
              <a:t>74.58 hrs</a:t>
            </a:r>
          </a:p>
        </p:txBody>
      </p:sp>
      <p:sp>
        <p:nvSpPr>
          <p:cNvPr id="18" name="Rounded Rectangle 17"/>
          <p:cNvSpPr/>
          <p:nvPr/>
        </p:nvSpPr>
        <p:spPr>
          <a:xfrm>
            <a:off x="4727448" y="1901952"/>
            <a:ext cx="1143000" cy="987552"/>
          </a:xfrm>
          <a:prstGeom prst="roundRect">
            <a:avLst>
              <a:gd name="adj" fmla="val 8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64024" y="1993392"/>
            <a:ext cx="1069848" cy="822960"/>
          </a:xfrm>
          <a:prstGeom prst="rect">
            <a:avLst/>
          </a:prstGeom>
          <a:noFill/>
        </p:spPr>
        <p:txBody>
          <a:bodyPr wrap="square" anchor="t" lIns="0" tIns="0" rIns="0" bIns="0">
            <a:spAutoFit/>
          </a:bodyPr>
          <a:lstStyle/>
          <a:p>
            <a:pPr algn="ctr">
              <a:spcBef>
                <a:spcPts val="0"/>
              </a:spcBef>
              <a:spcAft>
                <a:spcPts val="400"/>
              </a:spcAft>
            </a:pPr>
            <a:r>
              <a:rPr sz="1050" b="1">
                <a:solidFill>
                  <a:srgbClr val="94A3B8"/>
                </a:solidFill>
                <a:latin typeface="Inter"/>
              </a:rPr>
              <a:t>BS Value</a:t>
            </a:r>
          </a:p>
          <a:p>
            <a:pPr algn="ctr">
              <a:spcBef>
                <a:spcPts val="0"/>
              </a:spcBef>
              <a:spcAft>
                <a:spcPts val="0"/>
              </a:spcAft>
            </a:pPr>
            <a:r>
              <a:rPr sz="1300" b="1">
                <a:solidFill>
                  <a:srgbClr val="2DD4BF"/>
                </a:solidFill>
                <a:latin typeface="Inter"/>
              </a:rPr>
              <a:t>₹85.07</a:t>
            </a:r>
          </a:p>
        </p:txBody>
      </p:sp>
      <p:graphicFrame>
        <p:nvGraphicFramePr>
          <p:cNvPr id="20" name="Table 19"/>
          <p:cNvGraphicFramePr>
            <a:graphicFrameLocks noGrp="1"/>
          </p:cNvGraphicFramePr>
          <p:nvPr/>
        </p:nvGraphicFramePr>
        <p:xfrm>
          <a:off x="594360" y="3182112"/>
          <a:ext cx="5440680" cy="2029968"/>
        </p:xfrm>
        <a:graphic>
          <a:graphicData uri="http://schemas.openxmlformats.org/drawingml/2006/table">
            <a:tbl>
              <a:tblPr firstRow="1" bandRow="1">
                <a:tableStyleId>{5C22544A-7EE6-4342-B048-85BDC9FD1C3A}</a:tableStyleId>
              </a:tblPr>
              <a:tblGrid>
                <a:gridCol w="2606040"/>
                <a:gridCol w="1417320"/>
                <a:gridCol w="1417320"/>
              </a:tblGrid>
              <a:tr h="405993">
                <a:tc>
                  <a:txBody>
                    <a:bodyPr wrap="square"/>
                    <a:lstStyle/>
                    <a:p>
                      <a:pPr algn="l"/>
                      <a:r>
                        <a:rPr sz="1150" b="1">
                          <a:solidFill>
                            <a:srgbClr val="00B4D8"/>
                          </a:solidFill>
                          <a:latin typeface="Inter"/>
                        </a:rPr>
                        <a:t>Stress Scenario (vs BS Base ₹85.07)</a:t>
                      </a:r>
                    </a:p>
                  </a:txBody>
                  <a:tcPr anchor="ctr" marL="109728" marR="109728" marT="45720" marB="45720">
                    <a:solidFill>
                      <a:srgbClr val="172A45"/>
                    </a:solidFill>
                  </a:tcPr>
                </a:tc>
                <a:tc>
                  <a:txBody>
                    <a:bodyPr wrap="square"/>
                    <a:lstStyle/>
                    <a:p>
                      <a:pPr algn="r"/>
                      <a:r>
                        <a:rPr sz="1150" b="1">
                          <a:solidFill>
                            <a:srgbClr val="00B4D8"/>
                          </a:solidFill>
                          <a:latin typeface="Inter"/>
                        </a:rPr>
                        <a:t>Option Value</a:t>
                      </a:r>
                    </a:p>
                  </a:txBody>
                  <a:tcPr anchor="ctr" marL="109728" marR="109728" marT="45720" marB="45720">
                    <a:solidFill>
                      <a:srgbClr val="172A45"/>
                    </a:solidFill>
                  </a:tcPr>
                </a:tc>
                <a:tc>
                  <a:txBody>
                    <a:bodyPr wrap="square"/>
                    <a:lstStyle/>
                    <a:p>
                      <a:pPr algn="r"/>
                      <a:r>
                        <a:rPr sz="1150" b="1">
                          <a:solidFill>
                            <a:srgbClr val="00B4D8"/>
                          </a:solidFill>
                          <a:latin typeface="Inter"/>
                        </a:rPr>
                        <a:t>% Change</a:t>
                      </a:r>
                    </a:p>
                  </a:txBody>
                  <a:tcPr anchor="ctr" marL="109728" marR="109728" marT="45720" marB="45720">
                    <a:solidFill>
                      <a:srgbClr val="172A45"/>
                    </a:solidFill>
                  </a:tcPr>
                </a:tc>
              </a:tr>
              <a:tr h="405993">
                <a:tc>
                  <a:txBody>
                    <a:bodyPr wrap="square"/>
                    <a:lstStyle/>
                    <a:p>
                      <a:pPr algn="l"/>
                      <a:r>
                        <a:rPr sz="1150" b="1">
                          <a:solidFill>
                            <a:srgbClr val="F8FAFC"/>
                          </a:solidFill>
                          <a:latin typeface="Inter"/>
                        </a:rPr>
                        <a:t>Spot −2%</a:t>
                      </a:r>
                    </a:p>
                  </a:txBody>
                  <a:tcPr anchor="ctr" marL="109728" marR="109728" marT="45720" marB="45720">
                    <a:solidFill>
                      <a:srgbClr val="162238"/>
                    </a:solidFill>
                  </a:tcPr>
                </a:tc>
                <a:tc>
                  <a:txBody>
                    <a:bodyPr wrap="square"/>
                    <a:lstStyle/>
                    <a:p>
                      <a:pPr algn="r"/>
                      <a:r>
                        <a:rPr sz="1150" b="0">
                          <a:solidFill>
                            <a:srgbClr val="F8FAFC"/>
                          </a:solidFill>
                          <a:latin typeface="Inter"/>
                        </a:rPr>
                        <a:t>₹1.47</a:t>
                      </a:r>
                    </a:p>
                  </a:txBody>
                  <a:tcPr anchor="ctr" marL="109728" marR="109728" marT="45720" marB="45720">
                    <a:solidFill>
                      <a:srgbClr val="162238"/>
                    </a:solidFill>
                  </a:tcPr>
                </a:tc>
                <a:tc>
                  <a:txBody>
                    <a:bodyPr wrap="square"/>
                    <a:lstStyle/>
                    <a:p>
                      <a:pPr algn="r"/>
                      <a:r>
                        <a:rPr sz="1150" b="1">
                          <a:solidFill>
                            <a:srgbClr val="EF4444"/>
                          </a:solidFill>
                          <a:latin typeface="Inter"/>
                        </a:rPr>
                        <a:t>−98.28%</a:t>
                      </a:r>
                    </a:p>
                  </a:txBody>
                  <a:tcPr anchor="ctr" marL="109728" marR="109728" marT="45720" marB="45720">
                    <a:solidFill>
                      <a:srgbClr val="162238"/>
                    </a:solidFill>
                  </a:tcPr>
                </a:tc>
              </a:tr>
              <a:tr h="405993">
                <a:tc>
                  <a:txBody>
                    <a:bodyPr wrap="square"/>
                    <a:lstStyle/>
                    <a:p>
                      <a:pPr algn="l"/>
                      <a:r>
                        <a:rPr sz="1150" b="1">
                          <a:solidFill>
                            <a:srgbClr val="F8FAFC"/>
                          </a:solidFill>
                          <a:latin typeface="Inter"/>
                        </a:rPr>
                        <a:t>IV +20%</a:t>
                      </a:r>
                    </a:p>
                  </a:txBody>
                  <a:tcPr anchor="ctr" marL="109728" marR="109728" marT="45720" marB="45720">
                    <a:solidFill>
                      <a:srgbClr val="1E293B"/>
                    </a:solidFill>
                  </a:tcPr>
                </a:tc>
                <a:tc>
                  <a:txBody>
                    <a:bodyPr wrap="square"/>
                    <a:lstStyle/>
                    <a:p>
                      <a:pPr algn="r"/>
                      <a:r>
                        <a:rPr sz="1150" b="0">
                          <a:solidFill>
                            <a:srgbClr val="F8FAFC"/>
                          </a:solidFill>
                          <a:latin typeface="Inter"/>
                        </a:rPr>
                        <a:t>₹103.29</a:t>
                      </a:r>
                    </a:p>
                  </a:txBody>
                  <a:tcPr anchor="ctr" marL="109728" marR="109728" marT="45720" marB="45720">
                    <a:solidFill>
                      <a:srgbClr val="1E293B"/>
                    </a:solidFill>
                  </a:tcPr>
                </a:tc>
                <a:tc>
                  <a:txBody>
                    <a:bodyPr wrap="square"/>
                    <a:lstStyle/>
                    <a:p>
                      <a:pPr algn="r"/>
                      <a:r>
                        <a:rPr sz="1150" b="1">
                          <a:solidFill>
                            <a:srgbClr val="10B981"/>
                          </a:solidFill>
                          <a:latin typeface="Inter"/>
                        </a:rPr>
                        <a:t>+21.41%</a:t>
                      </a:r>
                    </a:p>
                  </a:txBody>
                  <a:tcPr anchor="ctr" marL="109728" marR="109728" marT="45720" marB="45720">
                    <a:solidFill>
                      <a:srgbClr val="1E293B"/>
                    </a:solidFill>
                  </a:tcPr>
                </a:tc>
              </a:tr>
              <a:tr h="405993">
                <a:tc>
                  <a:txBody>
                    <a:bodyPr wrap="square"/>
                    <a:lstStyle/>
                    <a:p>
                      <a:pPr algn="l"/>
                      <a:r>
                        <a:rPr sz="1150" b="1">
                          <a:solidFill>
                            <a:srgbClr val="F8FAFC"/>
                          </a:solidFill>
                          <a:latin typeface="Inter"/>
                        </a:rPr>
                        <a:t>Severe spot fall + IV spike</a:t>
                      </a:r>
                    </a:p>
                  </a:txBody>
                  <a:tcPr anchor="ctr" marL="109728" marR="109728" marT="45720" marB="45720">
                    <a:solidFill>
                      <a:srgbClr val="162238"/>
                    </a:solidFill>
                  </a:tcPr>
                </a:tc>
                <a:tc>
                  <a:txBody>
                    <a:bodyPr wrap="square"/>
                    <a:lstStyle/>
                    <a:p>
                      <a:pPr algn="r"/>
                      <a:r>
                        <a:rPr sz="1150" b="0">
                          <a:solidFill>
                            <a:srgbClr val="F8FAFC"/>
                          </a:solidFill>
                          <a:latin typeface="Inter"/>
                        </a:rPr>
                        <a:t>₹4.39</a:t>
                      </a:r>
                    </a:p>
                  </a:txBody>
                  <a:tcPr anchor="ctr" marL="109728" marR="109728" marT="45720" marB="45720">
                    <a:solidFill>
                      <a:srgbClr val="162238"/>
                    </a:solidFill>
                  </a:tcPr>
                </a:tc>
                <a:tc>
                  <a:txBody>
                    <a:bodyPr wrap="square"/>
                    <a:lstStyle/>
                    <a:p>
                      <a:pPr algn="r"/>
                      <a:r>
                        <a:rPr sz="1150" b="1">
                          <a:solidFill>
                            <a:srgbClr val="EF4444"/>
                          </a:solidFill>
                          <a:latin typeface="Inter"/>
                        </a:rPr>
                        <a:t>−94.84%</a:t>
                      </a:r>
                    </a:p>
                  </a:txBody>
                  <a:tcPr anchor="ctr" marL="109728" marR="109728" marT="45720" marB="45720">
                    <a:solidFill>
                      <a:srgbClr val="162238"/>
                    </a:solidFill>
                  </a:tcPr>
                </a:tc>
              </a:tr>
              <a:tr h="405996">
                <a:tc>
                  <a:txBody>
                    <a:bodyPr wrap="square"/>
                    <a:lstStyle/>
                    <a:p>
                      <a:pPr algn="l"/>
                      <a:r>
                        <a:rPr sz="1150" b="1">
                          <a:solidFill>
                            <a:srgbClr val="F8FAFC"/>
                          </a:solidFill>
                          <a:latin typeface="Inter"/>
                        </a:rPr>
                        <a:t>Spot rise + IV crush</a:t>
                      </a:r>
                    </a:p>
                  </a:txBody>
                  <a:tcPr anchor="ctr" marL="109728" marR="109728" marT="45720" marB="45720">
                    <a:solidFill>
                      <a:srgbClr val="1E293B"/>
                    </a:solidFill>
                  </a:tcPr>
                </a:tc>
                <a:tc>
                  <a:txBody>
                    <a:bodyPr wrap="square"/>
                    <a:lstStyle/>
                    <a:p>
                      <a:pPr algn="r"/>
                      <a:r>
                        <a:rPr sz="1150" b="0">
                          <a:solidFill>
                            <a:srgbClr val="F8FAFC"/>
                          </a:solidFill>
                          <a:latin typeface="Inter"/>
                        </a:rPr>
                        <a:t>₹450.42</a:t>
                      </a:r>
                    </a:p>
                  </a:txBody>
                  <a:tcPr anchor="ctr" marL="109728" marR="109728" marT="45720" marB="45720">
                    <a:solidFill>
                      <a:srgbClr val="1E293B"/>
                    </a:solidFill>
                  </a:tcPr>
                </a:tc>
                <a:tc>
                  <a:txBody>
                    <a:bodyPr wrap="square"/>
                    <a:lstStyle/>
                    <a:p>
                      <a:pPr algn="r"/>
                      <a:r>
                        <a:rPr sz="1150" b="1">
                          <a:solidFill>
                            <a:srgbClr val="10B981"/>
                          </a:solidFill>
                          <a:latin typeface="Inter"/>
                        </a:rPr>
                        <a:t>+429.47%</a:t>
                      </a:r>
                    </a:p>
                  </a:txBody>
                  <a:tcPr anchor="ctr" marL="109728" marR="109728" marT="45720" marB="45720">
                    <a:solidFill>
                      <a:srgbClr val="1E293B"/>
                    </a:solidFill>
                  </a:tcPr>
                </a:tc>
              </a:tr>
            </a:tbl>
          </a:graphicData>
        </a:graphic>
      </p:graphicFrame>
      <p:sp>
        <p:nvSpPr>
          <p:cNvPr id="21" name="Rounded Rectangle 20"/>
          <p:cNvSpPr/>
          <p:nvPr/>
        </p:nvSpPr>
        <p:spPr>
          <a:xfrm>
            <a:off x="594360" y="5321808"/>
            <a:ext cx="5440680" cy="91440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594360" y="5321808"/>
            <a:ext cx="73152"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394960"/>
            <a:ext cx="5120640" cy="768096"/>
          </a:xfrm>
          <a:prstGeom prst="rect">
            <a:avLst/>
          </a:prstGeom>
          <a:noFill/>
        </p:spPr>
        <p:txBody>
          <a:bodyPr wrap="square" anchor="t" lIns="0" tIns="0" rIns="0" bIns="0">
            <a:spAutoFit/>
          </a:bodyPr>
          <a:lstStyle/>
          <a:p>
            <a:pPr algn="l">
              <a:spcBef>
                <a:spcPts val="0"/>
              </a:spcBef>
              <a:spcAft>
                <a:spcPts val="200"/>
              </a:spcAft>
            </a:pPr>
            <a:r>
              <a:rPr sz="1050" b="1">
                <a:solidFill>
                  <a:srgbClr val="F59E0B"/>
                </a:solidFill>
                <a:latin typeface="Inter"/>
              </a:rPr>
              <a:t>KEY RISK INTERPRETATION: DELTA DOMINATES VEGA FOR NEAR-ATM CALLS</a:t>
            </a:r>
          </a:p>
          <a:p>
            <a:pPr algn="l">
              <a:spcBef>
                <a:spcPts val="0"/>
              </a:spcBef>
              <a:spcAft>
                <a:spcPts val="0"/>
              </a:spcAft>
            </a:pPr>
            <a:r>
              <a:rPr sz="1050" b="0">
                <a:solidFill>
                  <a:srgbClr val="F8FAFC"/>
                </a:solidFill>
                <a:latin typeface="Inter"/>
              </a:rPr>
              <a:t>For the selected 23,150 CE, spot-price exposure dominated moderate IV and short-horizon time-decay effects: even with an IV spike, a severe spot fall wiped out 94.84% of option value (₹85.07 → ₹4.39).</a:t>
            </a:r>
          </a:p>
        </p:txBody>
      </p:sp>
      <p:sp>
        <p:nvSpPr>
          <p:cNvPr id="24" name="Rounded Rectangle 23"/>
          <p:cNvSpPr/>
          <p:nvPr/>
        </p:nvSpPr>
        <p:spPr>
          <a:xfrm>
            <a:off x="6217920" y="1481328"/>
            <a:ext cx="5376672" cy="257860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s12_stress_chart.png"/>
          <p:cNvPicPr>
            <a:picLocks noChangeAspect="1"/>
          </p:cNvPicPr>
          <p:nvPr/>
        </p:nvPicPr>
        <p:blipFill>
          <a:blip r:embed="rId2"/>
          <a:stretch>
            <a:fillRect/>
          </a:stretch>
        </p:blipFill>
        <p:spPr>
          <a:xfrm>
            <a:off x="6327648" y="1536192"/>
            <a:ext cx="5157216" cy="2297305"/>
          </a:xfrm>
          <a:prstGeom prst="rect">
            <a:avLst/>
          </a:prstGeom>
        </p:spPr>
      </p:pic>
      <p:sp>
        <p:nvSpPr>
          <p:cNvPr id="26" name="Rounded Rectangle 25"/>
          <p:cNvSpPr/>
          <p:nvPr/>
        </p:nvSpPr>
        <p:spPr>
          <a:xfrm>
            <a:off x="6217920" y="4169663"/>
            <a:ext cx="5376672" cy="2066543"/>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217920" y="4169663"/>
            <a:ext cx="73152" cy="2066543"/>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4242816"/>
            <a:ext cx="5029200" cy="1920240"/>
          </a:xfrm>
          <a:prstGeom prst="rect">
            <a:avLst/>
          </a:prstGeom>
          <a:noFill/>
        </p:spPr>
        <p:txBody>
          <a:bodyPr wrap="square" anchor="t" lIns="0" tIns="0" rIns="0" bIns="0">
            <a:spAutoFit/>
          </a:bodyPr>
          <a:lstStyle/>
          <a:p>
            <a:pPr algn="l">
              <a:spcBef>
                <a:spcPts val="0"/>
              </a:spcBef>
              <a:spcAft>
                <a:spcPts val="400"/>
              </a:spcAft>
            </a:pPr>
            <a:r>
              <a:rPr sz="1100" b="1">
                <a:solidFill>
                  <a:srgbClr val="2DD4BF"/>
                </a:solidFill>
                <a:latin typeface="Inter"/>
              </a:rPr>
              <a:t>PRACTICAL WORKFLOW &amp; SKILLS DEVELOPED</a:t>
            </a:r>
          </a:p>
          <a:p>
            <a:pPr algn="l" marL="201168" indent="-201168">
              <a:spcAft>
                <a:spcPts val="300"/>
              </a:spcAft>
              <a:buFont typeface="Inter"/>
              <a:buChar char="•"/>
            </a:pPr>
            <a:r>
              <a:rPr sz="1100" b="1">
                <a:solidFill>
                  <a:srgbClr val="F8FAFC"/>
                </a:solidFill>
                <a:latin typeface="Inter"/>
              </a:rPr>
              <a:t>Relative Screening: </a:t>
            </a:r>
            <a:r>
              <a:rPr sz="1100" b="0">
                <a:solidFill>
                  <a:srgbClr val="CBD5E1"/>
                </a:solidFill>
                <a:latin typeface="Inter"/>
              </a:rPr>
              <a:t>Screen current strike IV against the model's expected 5-minute IV forecast.</a:t>
            </a:r>
          </a:p>
          <a:p>
            <a:pPr algn="l" marL="201168" indent="-201168">
              <a:spcAft>
                <a:spcPts val="300"/>
              </a:spcAft>
              <a:buFont typeface="Inter"/>
              <a:buChar char="•"/>
            </a:pPr>
            <a:r>
              <a:rPr sz="1100" b="1">
                <a:solidFill>
                  <a:srgbClr val="F8FAFC"/>
                </a:solidFill>
                <a:latin typeface="Inter"/>
              </a:rPr>
              <a:t>Integrated Monitoring: </a:t>
            </a:r>
            <a:r>
              <a:rPr sz="1100" b="0">
                <a:solidFill>
                  <a:srgbClr val="CBD5E1"/>
                </a:solidFill>
                <a:latin typeface="Inter"/>
              </a:rPr>
              <a:t>Monitor volatility smile, moneyness, liquidity, and ML output together.</a:t>
            </a:r>
          </a:p>
          <a:p>
            <a:pPr algn="l" marL="201168" indent="-201168">
              <a:spcAft>
                <a:spcPts val="600"/>
              </a:spcAft>
              <a:buFont typeface="Inter"/>
              <a:buChar char="•"/>
            </a:pPr>
            <a:r>
              <a:rPr sz="1100" b="1">
                <a:solidFill>
                  <a:srgbClr val="F8FAFC"/>
                </a:solidFill>
                <a:latin typeface="Inter"/>
              </a:rPr>
              <a:t>Automated Live Loop: </a:t>
            </a:r>
            <a:r>
              <a:rPr sz="1100" b="0">
                <a:solidFill>
                  <a:srgbClr val="CBD5E1"/>
                </a:solidFill>
                <a:latin typeface="Inter"/>
              </a:rPr>
              <a:t>Run an automated Upstox API → 39 features → saved RF → Streamlit workflow.</a:t>
            </a:r>
          </a:p>
          <a:p>
            <a:pPr algn="l">
              <a:spcBef>
                <a:spcPts val="0"/>
              </a:spcBef>
              <a:spcAft>
                <a:spcPts val="0"/>
              </a:spcAft>
            </a:pPr>
            <a:r>
              <a:rPr sz="1050" b="1">
                <a:solidFill>
                  <a:srgbClr val="00B4D8"/>
                </a:solidFill>
                <a:latin typeface="Inter"/>
              </a:rPr>
              <a:t>Skills Developed:  Options analytics  •  Python/pandas  •  API integration  •  ML validation  •  Risk modelling  •  Streamlit dashboarding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12  •  EXPIRY-DAY ROBUSTNESS TEST, LIMITATIONS &amp; FUTURE RESEARCH</a:t>
            </a:r>
          </a:p>
          <a:p>
            <a:pPr algn="l">
              <a:spcBef>
                <a:spcPts val="0"/>
              </a:spcBef>
              <a:spcAft>
                <a:spcPts val="200"/>
              </a:spcAft>
            </a:pPr>
            <a:r>
              <a:rPr sz="2300" b="1">
                <a:solidFill>
                  <a:srgbClr val="F8FAFC"/>
                </a:solidFill>
                <a:latin typeface="Inter"/>
              </a:rPr>
              <a:t>Expiry-Day Regime Shift (19 Oct) &amp; Scope for Future Research</a:t>
            </a:r>
          </a:p>
          <a:p>
            <a:pPr algn="l">
              <a:spcBef>
                <a:spcPts val="0"/>
              </a:spcBef>
              <a:spcAft>
                <a:spcPts val="0"/>
              </a:spcAft>
            </a:pPr>
            <a:r>
              <a:rPr sz="1300" b="0">
                <a:solidFill>
                  <a:srgbClr val="94A3B8"/>
                </a:solidFill>
                <a:latin typeface="Inter"/>
              </a:rPr>
              <a:t>Transparently evaluating out-of-regime model breakdown on expiry day and defining research extensions</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13 / 15</a:t>
            </a:r>
          </a:p>
        </p:txBody>
      </p:sp>
      <p:sp>
        <p:nvSpPr>
          <p:cNvPr id="7" name="Rounded Rectangle 6"/>
          <p:cNvSpPr/>
          <p:nvPr/>
        </p:nvSpPr>
        <p:spPr>
          <a:xfrm>
            <a:off x="594360" y="1481328"/>
            <a:ext cx="5532120" cy="312724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77240" y="1536192"/>
            <a:ext cx="5166360" cy="274320"/>
          </a:xfrm>
          <a:prstGeom prst="rect">
            <a:avLst/>
          </a:prstGeom>
          <a:noFill/>
        </p:spPr>
        <p:txBody>
          <a:bodyPr wrap="square" anchor="t" lIns="0" tIns="0" rIns="0" bIns="0">
            <a:spAutoFit/>
          </a:bodyPr>
          <a:lstStyle/>
          <a:p>
            <a:pPr algn="l">
              <a:spcBef>
                <a:spcPts val="0"/>
              </a:spcBef>
              <a:spcAft>
                <a:spcPts val="400"/>
              </a:spcAft>
            </a:pPr>
            <a:r>
              <a:rPr sz="1050" b="1">
                <a:solidFill>
                  <a:srgbClr val="EF4444"/>
                </a:solidFill>
                <a:latin typeface="Inter"/>
              </a:rPr>
              <a:t>19 OCT 2026 EXPIRY-DAY DETERIORATION AS CLOSE APPROACHED</a:t>
            </a:r>
          </a:p>
        </p:txBody>
      </p:sp>
      <p:graphicFrame>
        <p:nvGraphicFramePr>
          <p:cNvPr id="9" name="Chart 8"/>
          <p:cNvGraphicFramePr>
            <a:graphicFrameLocks noGrp="1"/>
          </p:cNvGraphicFramePr>
          <p:nvPr/>
        </p:nvGraphicFramePr>
        <p:xfrm>
          <a:off x="713232" y="1865376"/>
          <a:ext cx="5285232" cy="2651760"/>
        </p:xfrm>
        <a:graphic>
          <a:graphicData uri="http://schemas.openxmlformats.org/drawingml/2006/chart">
            <c:chart xmlns:c="http://schemas.openxmlformats.org/drawingml/2006/chart" r:id="rId2"/>
          </a:graphicData>
        </a:graphic>
      </p:graphicFrame>
      <p:sp>
        <p:nvSpPr>
          <p:cNvPr id="10" name="Rounded Rectangle 9"/>
          <p:cNvSpPr/>
          <p:nvPr/>
        </p:nvSpPr>
        <p:spPr>
          <a:xfrm>
            <a:off x="594360" y="4700016"/>
            <a:ext cx="5532120" cy="1536192"/>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94360" y="4700016"/>
            <a:ext cx="73152" cy="153619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754880"/>
            <a:ext cx="5212080" cy="1426464"/>
          </a:xfrm>
          <a:prstGeom prst="rect">
            <a:avLst/>
          </a:prstGeom>
          <a:noFill/>
        </p:spPr>
        <p:txBody>
          <a:bodyPr wrap="square" anchor="t" lIns="0" tIns="0" rIns="0" bIns="0">
            <a:spAutoFit/>
          </a:bodyPr>
          <a:lstStyle/>
          <a:p>
            <a:pPr algn="l">
              <a:spcBef>
                <a:spcPts val="0"/>
              </a:spcBef>
              <a:spcAft>
                <a:spcPts val="300"/>
              </a:spcAft>
            </a:pPr>
            <a:r>
              <a:rPr sz="1050" b="1">
                <a:solidFill>
                  <a:srgbClr val="EF4444"/>
                </a:solidFill>
                <a:latin typeface="Inter"/>
              </a:rPr>
              <a:t>WHY THE MODEL BROKE DOWN ON EXPIRY DAY: UNSEEN REGIME SHIFT</a:t>
            </a:r>
          </a:p>
          <a:p>
            <a:pPr algn="l">
              <a:spcBef>
                <a:spcPts val="0"/>
              </a:spcBef>
              <a:spcAft>
                <a:spcPts val="300"/>
              </a:spcAft>
            </a:pPr>
            <a:r>
              <a:rPr sz="1100" b="1">
                <a:solidFill>
                  <a:srgbClr val="F59E0B"/>
                </a:solidFill>
                <a:latin typeface="Inter"/>
              </a:rPr>
              <a:t>• Development TTE:  74.6 – 100.6 hours remaining  (Normal multi-day regime)
• 19 Oct Expiry TTE: 0.17 – 1.58 hours remaining   (Final minutes to settlement)</a:t>
            </a:r>
          </a:p>
          <a:p>
            <a:pPr algn="l">
              <a:spcBef>
                <a:spcPts val="0"/>
              </a:spcBef>
              <a:spcAft>
                <a:spcPts val="0"/>
              </a:spcAft>
            </a:pPr>
            <a:r>
              <a:rPr sz="1050" b="0">
                <a:solidFill>
                  <a:srgbClr val="CBD5E1"/>
                </a:solidFill>
                <a:latin typeface="Inter"/>
              </a:rPr>
              <a:t>As T → 0 on expiry afternoon, tiny price ticks cause extreme swings in inverted IV. The model had never seen true expiry-day conditions during training.</a:t>
            </a:r>
          </a:p>
        </p:txBody>
      </p:sp>
      <p:sp>
        <p:nvSpPr>
          <p:cNvPr id="13" name="Rounded Rectangle 12"/>
          <p:cNvSpPr/>
          <p:nvPr/>
        </p:nvSpPr>
        <p:spPr>
          <a:xfrm>
            <a:off x="6291072" y="1481328"/>
            <a:ext cx="1682496" cy="1325880"/>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291072" y="1481328"/>
            <a:ext cx="1682496"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1609344"/>
            <a:ext cx="1536192" cy="1097280"/>
          </a:xfrm>
          <a:prstGeom prst="rect">
            <a:avLst/>
          </a:prstGeom>
          <a:noFill/>
        </p:spPr>
        <p:txBody>
          <a:bodyPr wrap="square" anchor="t" lIns="0" tIns="0" rIns="0" bIns="0">
            <a:spAutoFit/>
          </a:bodyPr>
          <a:lstStyle/>
          <a:p>
            <a:pPr algn="ctr">
              <a:spcBef>
                <a:spcPts val="0"/>
              </a:spcBef>
              <a:spcAft>
                <a:spcPts val="400"/>
              </a:spcAft>
            </a:pPr>
            <a:r>
              <a:rPr sz="1050" b="1">
                <a:solidFill>
                  <a:srgbClr val="EF4444"/>
                </a:solidFill>
                <a:latin typeface="Inter"/>
              </a:rPr>
              <a:t>RF MAE (19 OCT)</a:t>
            </a:r>
          </a:p>
          <a:p>
            <a:pPr algn="ctr">
              <a:spcBef>
                <a:spcPts val="0"/>
              </a:spcBef>
              <a:spcAft>
                <a:spcPts val="400"/>
              </a:spcAft>
            </a:pPr>
            <a:r>
              <a:rPr sz="2300" b="1">
                <a:solidFill>
                  <a:srgbClr val="F8FAFC"/>
                </a:solidFill>
                <a:latin typeface="Inter"/>
              </a:rPr>
              <a:t>17.42</a:t>
            </a:r>
          </a:p>
          <a:p>
            <a:pPr algn="ctr">
              <a:spcBef>
                <a:spcPts val="0"/>
              </a:spcBef>
              <a:spcAft>
                <a:spcPts val="0"/>
              </a:spcAft>
            </a:pPr>
            <a:r>
              <a:rPr sz="1050" b="0">
                <a:solidFill>
                  <a:srgbClr val="CBD5E1"/>
                </a:solidFill>
                <a:latin typeface="Inter"/>
              </a:rPr>
              <a:t>Expiry-day error</a:t>
            </a:r>
          </a:p>
        </p:txBody>
      </p:sp>
      <p:sp>
        <p:nvSpPr>
          <p:cNvPr id="16" name="Rounded Rectangle 15"/>
          <p:cNvSpPr/>
          <p:nvPr/>
        </p:nvSpPr>
        <p:spPr>
          <a:xfrm>
            <a:off x="8101583" y="1481328"/>
            <a:ext cx="1682496" cy="1325880"/>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101583" y="1481328"/>
            <a:ext cx="1682496"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1609344"/>
            <a:ext cx="1536192" cy="1097280"/>
          </a:xfrm>
          <a:prstGeom prst="rect">
            <a:avLst/>
          </a:prstGeom>
          <a:noFill/>
        </p:spPr>
        <p:txBody>
          <a:bodyPr wrap="square" anchor="t" lIns="0" tIns="0" rIns="0" bIns="0">
            <a:spAutoFit/>
          </a:bodyPr>
          <a:lstStyle/>
          <a:p>
            <a:pPr algn="ctr">
              <a:spcBef>
                <a:spcPts val="0"/>
              </a:spcBef>
              <a:spcAft>
                <a:spcPts val="400"/>
              </a:spcAft>
            </a:pPr>
            <a:r>
              <a:rPr sz="1050" b="1">
                <a:solidFill>
                  <a:srgbClr val="F59E0B"/>
                </a:solidFill>
                <a:latin typeface="Inter"/>
              </a:rPr>
              <a:t>PERSISTENCE MAE</a:t>
            </a:r>
          </a:p>
          <a:p>
            <a:pPr algn="ctr">
              <a:spcBef>
                <a:spcPts val="0"/>
              </a:spcBef>
              <a:spcAft>
                <a:spcPts val="400"/>
              </a:spcAft>
            </a:pPr>
            <a:r>
              <a:rPr sz="2300" b="1">
                <a:solidFill>
                  <a:srgbClr val="F8FAFC"/>
                </a:solidFill>
                <a:latin typeface="Inter"/>
              </a:rPr>
              <a:t>14.47</a:t>
            </a:r>
          </a:p>
          <a:p>
            <a:pPr algn="ctr">
              <a:spcBef>
                <a:spcPts val="0"/>
              </a:spcBef>
              <a:spcAft>
                <a:spcPts val="0"/>
              </a:spcAft>
            </a:pPr>
            <a:r>
              <a:rPr sz="1050" b="0">
                <a:solidFill>
                  <a:srgbClr val="CBD5E1"/>
                </a:solidFill>
                <a:latin typeface="Inter"/>
              </a:rPr>
              <a:t>Better baseline</a:t>
            </a:r>
          </a:p>
        </p:txBody>
      </p:sp>
      <p:sp>
        <p:nvSpPr>
          <p:cNvPr id="19" name="Rounded Rectangle 18"/>
          <p:cNvSpPr/>
          <p:nvPr/>
        </p:nvSpPr>
        <p:spPr>
          <a:xfrm>
            <a:off x="9912096" y="1481328"/>
            <a:ext cx="1682496" cy="1325880"/>
          </a:xfrm>
          <a:prstGeom prst="roundRect">
            <a:avLst>
              <a:gd name="adj" fmla="val 5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9912096" y="1481328"/>
            <a:ext cx="1682496"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85248" y="1609344"/>
            <a:ext cx="1536192" cy="1097280"/>
          </a:xfrm>
          <a:prstGeom prst="rect">
            <a:avLst/>
          </a:prstGeom>
          <a:noFill/>
        </p:spPr>
        <p:txBody>
          <a:bodyPr wrap="square" anchor="t" lIns="0" tIns="0" rIns="0" bIns="0">
            <a:spAutoFit/>
          </a:bodyPr>
          <a:lstStyle/>
          <a:p>
            <a:pPr algn="ctr">
              <a:spcBef>
                <a:spcPts val="0"/>
              </a:spcBef>
              <a:spcAft>
                <a:spcPts val="400"/>
              </a:spcAft>
            </a:pPr>
            <a:r>
              <a:rPr sz="1050" b="1">
                <a:solidFill>
                  <a:srgbClr val="EF4444"/>
                </a:solidFill>
                <a:latin typeface="Inter"/>
              </a:rPr>
              <a:t>DIRECTION ACC.</a:t>
            </a:r>
          </a:p>
          <a:p>
            <a:pPr algn="ctr">
              <a:spcBef>
                <a:spcPts val="0"/>
              </a:spcBef>
              <a:spcAft>
                <a:spcPts val="400"/>
              </a:spcAft>
            </a:pPr>
            <a:r>
              <a:rPr sz="2300" b="1">
                <a:solidFill>
                  <a:srgbClr val="F8FAFC"/>
                </a:solidFill>
                <a:latin typeface="Inter"/>
              </a:rPr>
              <a:t>19.09%</a:t>
            </a:r>
          </a:p>
          <a:p>
            <a:pPr algn="ctr">
              <a:spcBef>
                <a:spcPts val="0"/>
              </a:spcBef>
              <a:spcAft>
                <a:spcPts val="0"/>
              </a:spcAft>
            </a:pPr>
            <a:r>
              <a:rPr sz="1050" b="0">
                <a:solidFill>
                  <a:srgbClr val="CBD5E1"/>
                </a:solidFill>
                <a:latin typeface="Inter"/>
              </a:rPr>
              <a:t>Collapsed</a:t>
            </a:r>
          </a:p>
        </p:txBody>
      </p:sp>
      <p:sp>
        <p:nvSpPr>
          <p:cNvPr id="22" name="Rounded Rectangle 21"/>
          <p:cNvSpPr/>
          <p:nvPr/>
        </p:nvSpPr>
        <p:spPr>
          <a:xfrm>
            <a:off x="6291072" y="2926080"/>
            <a:ext cx="5303520" cy="1536192"/>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291072" y="2926080"/>
            <a:ext cx="73152" cy="15361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2" y="2999232"/>
            <a:ext cx="4983480" cy="1389888"/>
          </a:xfrm>
          <a:prstGeom prst="rect">
            <a:avLst/>
          </a:prstGeom>
          <a:noFill/>
        </p:spPr>
        <p:txBody>
          <a:bodyPr wrap="square" anchor="t" lIns="0" tIns="0" rIns="0" bIns="0">
            <a:spAutoFit/>
          </a:bodyPr>
          <a:lstStyle/>
          <a:p>
            <a:pPr algn="l">
              <a:spcBef>
                <a:spcPts val="0"/>
              </a:spcBef>
              <a:spcAft>
                <a:spcPts val="400"/>
              </a:spcAft>
            </a:pPr>
            <a:r>
              <a:rPr sz="1100" b="1">
                <a:solidFill>
                  <a:srgbClr val="F59E0B"/>
                </a:solidFill>
                <a:latin typeface="Inter"/>
              </a:rPr>
              <a:t>CURRENT PROJECT LIMITATIONS</a:t>
            </a:r>
          </a:p>
          <a:p>
            <a:pPr algn="l" marL="201168" indent="-201168">
              <a:spcAft>
                <a:spcPts val="300"/>
              </a:spcAft>
              <a:buFont typeface="Inter"/>
              <a:buChar char="•"/>
            </a:pPr>
            <a:r>
              <a:rPr sz="1050" b="1">
                <a:solidFill>
                  <a:srgbClr val="F8FAFC"/>
                </a:solidFill>
                <a:latin typeface="Inter"/>
              </a:rPr>
              <a:t>Short Development Window: </a:t>
            </a:r>
            <a:r>
              <a:rPr sz="1050" b="0">
                <a:solidFill>
                  <a:srgbClr val="CBD5E1"/>
                </a:solidFill>
                <a:latin typeface="Inter"/>
              </a:rPr>
              <a:t>Only 64 lag-ready development timestamps across two trading days (15–16 Oct 2026).</a:t>
            </a:r>
          </a:p>
          <a:p>
            <a:pPr algn="l" marL="201168" indent="-201168">
              <a:spcAft>
                <a:spcPts val="300"/>
              </a:spcAft>
              <a:buFont typeface="Inter"/>
              <a:buChar char="•"/>
            </a:pPr>
            <a:r>
              <a:rPr sz="1050" b="1">
                <a:solidFill>
                  <a:srgbClr val="F8FAFC"/>
                </a:solidFill>
                <a:latin typeface="Inter"/>
              </a:rPr>
              <a:t>Cross-Sectional Dependence: </a:t>
            </a:r>
            <a:r>
              <a:rPr sz="1050" b="0">
                <a:solidFill>
                  <a:srgbClr val="CBD5E1"/>
                </a:solidFill>
                <a:latin typeface="Inter"/>
              </a:rPr>
              <a:t>Cross-sectional option rows at the same timestamp are not independent time periods.</a:t>
            </a:r>
          </a:p>
          <a:p>
            <a:pPr algn="l" marL="201168" indent="-201168">
              <a:spcAft>
                <a:spcPts val="0"/>
              </a:spcAft>
              <a:buFont typeface="Inter"/>
              <a:buChar char="•"/>
            </a:pPr>
            <a:r>
              <a:rPr sz="1050" b="1">
                <a:solidFill>
                  <a:srgbClr val="F8FAFC"/>
                </a:solidFill>
                <a:latin typeface="Inter"/>
              </a:rPr>
              <a:t>Unmodelled Market Frictions: </a:t>
            </a:r>
            <a:r>
              <a:rPr sz="1050" b="0">
                <a:solidFill>
                  <a:srgbClr val="CBD5E1"/>
                </a:solidFill>
                <a:latin typeface="Inter"/>
              </a:rPr>
              <a:t>Transaction costs, bid-ask slippage, and live order execution latency are not modelled.</a:t>
            </a:r>
          </a:p>
        </p:txBody>
      </p:sp>
      <p:sp>
        <p:nvSpPr>
          <p:cNvPr id="25" name="Rounded Rectangle 24"/>
          <p:cNvSpPr/>
          <p:nvPr/>
        </p:nvSpPr>
        <p:spPr>
          <a:xfrm>
            <a:off x="6291072" y="4572000"/>
            <a:ext cx="5303520" cy="166420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6291072" y="4572000"/>
            <a:ext cx="73152" cy="16642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645152"/>
            <a:ext cx="4983480" cy="1517904"/>
          </a:xfrm>
          <a:prstGeom prst="rect">
            <a:avLst/>
          </a:prstGeom>
          <a:noFill/>
        </p:spPr>
        <p:txBody>
          <a:bodyPr wrap="square" anchor="t" lIns="0" tIns="0" rIns="0" bIns="0">
            <a:spAutoFit/>
          </a:bodyPr>
          <a:lstStyle/>
          <a:p>
            <a:pPr algn="l">
              <a:spcBef>
                <a:spcPts val="0"/>
              </a:spcBef>
              <a:spcAft>
                <a:spcPts val="400"/>
              </a:spcAft>
            </a:pPr>
            <a:r>
              <a:rPr sz="1100" b="1">
                <a:solidFill>
                  <a:srgbClr val="00B4D8"/>
                </a:solidFill>
                <a:latin typeface="Inter"/>
              </a:rPr>
              <a:t>FUTURE RESEARCH PRIORITIES</a:t>
            </a:r>
          </a:p>
          <a:p>
            <a:pPr algn="l" marL="201168" indent="-201168">
              <a:spcAft>
                <a:spcPts val="300"/>
              </a:spcAft>
              <a:buFont typeface="Inter"/>
              <a:buChar char="•"/>
            </a:pPr>
            <a:r>
              <a:rPr sz="1050" b="1">
                <a:solidFill>
                  <a:srgbClr val="F8FAFC"/>
                </a:solidFill>
                <a:latin typeface="Inter"/>
              </a:rPr>
              <a:t>Multi-Month &amp; Expiry Dataset: </a:t>
            </a:r>
            <a:r>
              <a:rPr sz="1050" b="0">
                <a:solidFill>
                  <a:srgbClr val="CBD5E1"/>
                </a:solidFill>
                <a:latin typeface="Inter"/>
              </a:rPr>
              <a:t>Collect months of 5-minute data spanning multiple weekly expiry cycles.</a:t>
            </a:r>
          </a:p>
          <a:p>
            <a:pPr algn="l" marL="201168" indent="-201168">
              <a:spcAft>
                <a:spcPts val="300"/>
              </a:spcAft>
              <a:buFont typeface="Inter"/>
              <a:buChar char="•"/>
            </a:pPr>
            <a:r>
              <a:rPr sz="1050" b="1">
                <a:solidFill>
                  <a:srgbClr val="F8FAFC"/>
                </a:solidFill>
                <a:latin typeface="Inter"/>
              </a:rPr>
              <a:t>Explicit TTE &amp; Option Greeks: </a:t>
            </a:r>
            <a:r>
              <a:rPr sz="1050" b="0">
                <a:solidFill>
                  <a:srgbClr val="CBD5E1"/>
                </a:solidFill>
                <a:latin typeface="Inter"/>
              </a:rPr>
              <a:t>Include exact time-to-expiry and analytical Greeks (Delta, Gamma, Vega, Theta) directly in training features.</a:t>
            </a:r>
          </a:p>
          <a:p>
            <a:pPr algn="l" marL="201168" indent="-201168">
              <a:spcAft>
                <a:spcPts val="0"/>
              </a:spcAft>
              <a:buFont typeface="Inter"/>
              <a:buChar char="•"/>
            </a:pPr>
            <a:r>
              <a:rPr sz="1050" b="1">
                <a:solidFill>
                  <a:srgbClr val="F8FAFC"/>
                </a:solidFill>
                <a:latin typeface="Inter"/>
              </a:rPr>
              <a:t>Regime-Aware &amp; Cost-Aware Models: </a:t>
            </a:r>
            <a:r>
              <a:rPr sz="1050" b="0">
                <a:solidFill>
                  <a:srgbClr val="CBD5E1"/>
                </a:solidFill>
                <a:latin typeface="Inter"/>
              </a:rPr>
              <a:t>Implement calibrated directional probabilities, rolling time-series CV, regime-switching models, and cost-aware backtesting.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13  •  EXECUTIVE SUMMARY &amp; PROJECT CONCLUSIONS</a:t>
            </a:r>
          </a:p>
          <a:p>
            <a:pPr algn="l">
              <a:spcBef>
                <a:spcPts val="0"/>
              </a:spcBef>
              <a:spcAft>
                <a:spcPts val="200"/>
              </a:spcAft>
            </a:pPr>
            <a:r>
              <a:rPr sz="2300" b="1">
                <a:solidFill>
                  <a:srgbClr val="F8FAFC"/>
                </a:solidFill>
                <a:latin typeface="Inter"/>
              </a:rPr>
              <a:t>Conclusions: Modest Out-of-Sample Forecast Gain &amp; Regime-Aware Risk Support</a:t>
            </a:r>
          </a:p>
          <a:p>
            <a:pPr algn="l">
              <a:spcBef>
                <a:spcPts val="0"/>
              </a:spcBef>
              <a:spcAft>
                <a:spcPts val="0"/>
              </a:spcAft>
            </a:pPr>
            <a:r>
              <a:rPr sz="1300" b="0">
                <a:solidFill>
                  <a:srgbClr val="94A3B8"/>
                </a:solidFill>
                <a:latin typeface="Inter"/>
              </a:rPr>
              <a:t>Synthesising empirical findings across forecasting, relative-IV valuation, stress testing, and live deployment</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14 / 15</a:t>
            </a:r>
          </a:p>
        </p:txBody>
      </p:sp>
      <p:sp>
        <p:nvSpPr>
          <p:cNvPr id="7" name="Rounded Rectangle 6"/>
          <p:cNvSpPr/>
          <p:nvPr/>
        </p:nvSpPr>
        <p:spPr>
          <a:xfrm>
            <a:off x="594360" y="1481328"/>
            <a:ext cx="11000232" cy="1078992"/>
          </a:xfrm>
          <a:prstGeom prst="roundRect">
            <a:avLst>
              <a:gd name="adj" fmla="val 4000"/>
            </a:avLst>
          </a:prstGeom>
          <a:solidFill>
            <a:srgbClr val="172A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481328"/>
            <a:ext cx="91440" cy="107899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572768"/>
            <a:ext cx="10561320" cy="896112"/>
          </a:xfrm>
          <a:prstGeom prst="rect">
            <a:avLst/>
          </a:prstGeom>
          <a:noFill/>
        </p:spPr>
        <p:txBody>
          <a:bodyPr wrap="square" anchor="t" lIns="0" tIns="0" rIns="0" bIns="0">
            <a:spAutoFit/>
          </a:bodyPr>
          <a:lstStyle/>
          <a:p>
            <a:pPr algn="l">
              <a:spcBef>
                <a:spcPts val="0"/>
              </a:spcBef>
              <a:spcAft>
                <a:spcPts val="400"/>
              </a:spcAft>
            </a:pPr>
            <a:r>
              <a:rPr sz="1100" b="1">
                <a:solidFill>
                  <a:srgbClr val="00B4D8"/>
                </a:solidFill>
                <a:latin typeface="Inter"/>
              </a:rPr>
              <a:t>MAIN EMPIRICAL CONCLUSION</a:t>
            </a:r>
          </a:p>
          <a:p>
            <a:pPr algn="l">
              <a:spcBef>
                <a:spcPts val="0"/>
              </a:spcBef>
              <a:spcAft>
                <a:spcPts val="0"/>
              </a:spcAft>
            </a:pPr>
            <a:r>
              <a:rPr sz="1500" b="1">
                <a:solidFill>
                  <a:srgbClr val="F8FAFC"/>
                </a:solidFill>
                <a:latin typeface="Inter"/>
              </a:rPr>
              <a:t>A nonlinear Random Forest regressor engineered with exact 5-minute and 10-minute lag features produced a modest but measurable out-of-sample improvement over the persistence benchmark in the normal development regime.</a:t>
            </a:r>
          </a:p>
        </p:txBody>
      </p:sp>
      <p:sp>
        <p:nvSpPr>
          <p:cNvPr id="10" name="Rounded Rectangle 9"/>
          <p:cNvSpPr/>
          <p:nvPr/>
        </p:nvSpPr>
        <p:spPr>
          <a:xfrm>
            <a:off x="594360" y="2724912"/>
            <a:ext cx="5376672" cy="1078992"/>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94360" y="2724912"/>
            <a:ext cx="73152" cy="10789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816352"/>
            <a:ext cx="2971800" cy="256032"/>
          </a:xfrm>
          <a:prstGeom prst="rect">
            <a:avLst/>
          </a:prstGeom>
          <a:noFill/>
        </p:spPr>
        <p:txBody>
          <a:bodyPr wrap="square" anchor="t" lIns="0" tIns="0" rIns="0" bIns="0">
            <a:spAutoFit/>
          </a:bodyPr>
          <a:lstStyle/>
          <a:p>
            <a:pPr algn="l">
              <a:spcBef>
                <a:spcPts val="0"/>
              </a:spcBef>
              <a:spcAft>
                <a:spcPts val="400"/>
              </a:spcAft>
            </a:pPr>
            <a:r>
              <a:rPr sz="1150" b="1">
                <a:solidFill>
                  <a:srgbClr val="F8FAFC"/>
                </a:solidFill>
                <a:latin typeface="Inter"/>
              </a:rPr>
              <a:t>1. FORECASTING OBJECTIVE</a:t>
            </a:r>
          </a:p>
        </p:txBody>
      </p:sp>
      <p:sp>
        <p:nvSpPr>
          <p:cNvPr id="13" name="Rounded Rectangle 12"/>
          <p:cNvSpPr/>
          <p:nvPr/>
        </p:nvSpPr>
        <p:spPr>
          <a:xfrm>
            <a:off x="3794760" y="2798064"/>
            <a:ext cx="2029968" cy="256032"/>
          </a:xfrm>
          <a:prstGeom prst="roundRect">
            <a:avLst>
              <a:gd name="adj" fmla="val 20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794760" y="2816352"/>
            <a:ext cx="2029968" cy="219456"/>
          </a:xfrm>
          <a:prstGeom prst="rect">
            <a:avLst/>
          </a:prstGeom>
          <a:noFill/>
        </p:spPr>
        <p:txBody>
          <a:bodyPr wrap="square" anchor="t" lIns="0" tIns="0" rIns="0" bIns="0">
            <a:spAutoFit/>
          </a:bodyPr>
          <a:lstStyle/>
          <a:p>
            <a:pPr algn="ctr">
              <a:spcBef>
                <a:spcPts val="0"/>
              </a:spcBef>
              <a:spcAft>
                <a:spcPts val="400"/>
              </a:spcAft>
            </a:pPr>
            <a:r>
              <a:rPr sz="1050" b="1">
                <a:solidFill>
                  <a:srgbClr val="10B981"/>
                </a:solidFill>
                <a:latin typeface="Inter"/>
              </a:rPr>
              <a:t>ACHIEVED (PROTOTYPE)</a:t>
            </a:r>
          </a:p>
        </p:txBody>
      </p:sp>
      <p:sp>
        <p:nvSpPr>
          <p:cNvPr id="15" name="TextBox 14"/>
          <p:cNvSpPr txBox="1"/>
          <p:nvPr/>
        </p:nvSpPr>
        <p:spPr>
          <a:xfrm>
            <a:off x="777240" y="3108960"/>
            <a:ext cx="5029200" cy="621792"/>
          </a:xfrm>
          <a:prstGeom prst="rect">
            <a:avLst/>
          </a:prstGeom>
          <a:noFill/>
        </p:spPr>
        <p:txBody>
          <a:bodyPr wrap="square" anchor="t" lIns="0" tIns="0" rIns="0" bIns="0">
            <a:spAutoFit/>
          </a:bodyPr>
          <a:lstStyle/>
          <a:p>
            <a:pPr algn="l">
              <a:spcBef>
                <a:spcPts val="0"/>
              </a:spcBef>
              <a:spcAft>
                <a:spcPts val="400"/>
              </a:spcAft>
            </a:pPr>
            <a:r>
              <a:rPr sz="1100" b="0">
                <a:solidFill>
                  <a:srgbClr val="CBD5E1"/>
                </a:solidFill>
                <a:latin typeface="Inter"/>
              </a:rPr>
              <a:t>Random Forest + Lag achieved MAE = 0.5214 and RMSE = 1.2188 on the chronological holdout, improving on Persistence (MAE = 0.5505, RMSE = 1.3207) by 5.28% in MAE and 7.72% in RMSE.</a:t>
            </a:r>
          </a:p>
        </p:txBody>
      </p:sp>
      <p:sp>
        <p:nvSpPr>
          <p:cNvPr id="16" name="Rounded Rectangle 15"/>
          <p:cNvSpPr/>
          <p:nvPr/>
        </p:nvSpPr>
        <p:spPr>
          <a:xfrm>
            <a:off x="6217920" y="2724912"/>
            <a:ext cx="5376672" cy="1078992"/>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6217920" y="2724912"/>
            <a:ext cx="73152" cy="107899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816352"/>
            <a:ext cx="2971800" cy="256032"/>
          </a:xfrm>
          <a:prstGeom prst="rect">
            <a:avLst/>
          </a:prstGeom>
          <a:noFill/>
        </p:spPr>
        <p:txBody>
          <a:bodyPr wrap="square" anchor="t" lIns="0" tIns="0" rIns="0" bIns="0">
            <a:spAutoFit/>
          </a:bodyPr>
          <a:lstStyle/>
          <a:p>
            <a:pPr algn="l">
              <a:spcBef>
                <a:spcPts val="0"/>
              </a:spcBef>
              <a:spcAft>
                <a:spcPts val="400"/>
              </a:spcAft>
            </a:pPr>
            <a:r>
              <a:rPr sz="1150" b="1">
                <a:solidFill>
                  <a:srgbClr val="F8FAFC"/>
                </a:solidFill>
                <a:latin typeface="Inter"/>
              </a:rPr>
              <a:t>2. INTERPRETATION OBJECTIVE</a:t>
            </a:r>
          </a:p>
        </p:txBody>
      </p:sp>
      <p:sp>
        <p:nvSpPr>
          <p:cNvPr id="19" name="Rounded Rectangle 18"/>
          <p:cNvSpPr/>
          <p:nvPr/>
        </p:nvSpPr>
        <p:spPr>
          <a:xfrm>
            <a:off x="9418320" y="2798064"/>
            <a:ext cx="2029968" cy="256032"/>
          </a:xfrm>
          <a:prstGeom prst="roundRect">
            <a:avLst>
              <a:gd name="adj" fmla="val 20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418320" y="2816352"/>
            <a:ext cx="2029968" cy="219456"/>
          </a:xfrm>
          <a:prstGeom prst="rect">
            <a:avLst/>
          </a:prstGeom>
          <a:noFill/>
        </p:spPr>
        <p:txBody>
          <a:bodyPr wrap="square" anchor="t" lIns="0" tIns="0" rIns="0" bIns="0">
            <a:spAutoFit/>
          </a:bodyPr>
          <a:lstStyle/>
          <a:p>
            <a:pPr algn="ctr">
              <a:spcBef>
                <a:spcPts val="0"/>
              </a:spcBef>
              <a:spcAft>
                <a:spcPts val="400"/>
              </a:spcAft>
            </a:pPr>
            <a:r>
              <a:rPr sz="1050" b="1">
                <a:solidFill>
                  <a:srgbClr val="00B4D8"/>
                </a:solidFill>
                <a:latin typeface="Inter"/>
              </a:rPr>
              <a:t>ACHIEVED</a:t>
            </a:r>
          </a:p>
        </p:txBody>
      </p:sp>
      <p:sp>
        <p:nvSpPr>
          <p:cNvPr id="21" name="TextBox 20"/>
          <p:cNvSpPr txBox="1"/>
          <p:nvPr/>
        </p:nvSpPr>
        <p:spPr>
          <a:xfrm>
            <a:off x="6400800" y="3108960"/>
            <a:ext cx="5029200" cy="621792"/>
          </a:xfrm>
          <a:prstGeom prst="rect">
            <a:avLst/>
          </a:prstGeom>
          <a:noFill/>
        </p:spPr>
        <p:txBody>
          <a:bodyPr wrap="square" anchor="t" lIns="0" tIns="0" rIns="0" bIns="0">
            <a:spAutoFit/>
          </a:bodyPr>
          <a:lstStyle/>
          <a:p>
            <a:pPr algn="l">
              <a:spcBef>
                <a:spcPts val="0"/>
              </a:spcBef>
              <a:spcAft>
                <a:spcPts val="400"/>
              </a:spcAft>
            </a:pPr>
            <a:r>
              <a:rPr sz="1100" b="0">
                <a:solidFill>
                  <a:srgbClr val="CBD5E1"/>
                </a:solidFill>
                <a:latin typeface="Inter"/>
              </a:rPr>
              <a:t>Implemented a Relative-IV interpretation layer classifying strike IV into Fair/Neutral (77.92%), High IV vs forecast (15.46%), and Low IV vs forecast (6.61%), plus directional threshold analysis.</a:t>
            </a:r>
          </a:p>
        </p:txBody>
      </p:sp>
      <p:sp>
        <p:nvSpPr>
          <p:cNvPr id="22" name="Rounded Rectangle 21"/>
          <p:cNvSpPr/>
          <p:nvPr/>
        </p:nvSpPr>
        <p:spPr>
          <a:xfrm>
            <a:off x="594360" y="3931920"/>
            <a:ext cx="5376672" cy="1078992"/>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94360" y="3931920"/>
            <a:ext cx="73152" cy="107899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023359"/>
            <a:ext cx="2971800" cy="256032"/>
          </a:xfrm>
          <a:prstGeom prst="rect">
            <a:avLst/>
          </a:prstGeom>
          <a:noFill/>
        </p:spPr>
        <p:txBody>
          <a:bodyPr wrap="square" anchor="t" lIns="0" tIns="0" rIns="0" bIns="0">
            <a:spAutoFit/>
          </a:bodyPr>
          <a:lstStyle/>
          <a:p>
            <a:pPr algn="l">
              <a:spcBef>
                <a:spcPts val="0"/>
              </a:spcBef>
              <a:spcAft>
                <a:spcPts val="400"/>
              </a:spcAft>
            </a:pPr>
            <a:r>
              <a:rPr sz="1150" b="1">
                <a:solidFill>
                  <a:srgbClr val="F8FAFC"/>
                </a:solidFill>
                <a:latin typeface="Inter"/>
              </a:rPr>
              <a:t>3. RISK STRESS-TESTING OBJECTIVE</a:t>
            </a:r>
          </a:p>
        </p:txBody>
      </p:sp>
      <p:sp>
        <p:nvSpPr>
          <p:cNvPr id="25" name="Rounded Rectangle 24"/>
          <p:cNvSpPr/>
          <p:nvPr/>
        </p:nvSpPr>
        <p:spPr>
          <a:xfrm>
            <a:off x="3794760" y="4005072"/>
            <a:ext cx="2029968" cy="256032"/>
          </a:xfrm>
          <a:prstGeom prst="roundRect">
            <a:avLst>
              <a:gd name="adj" fmla="val 20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3794760" y="4023359"/>
            <a:ext cx="2029968" cy="219456"/>
          </a:xfrm>
          <a:prstGeom prst="rect">
            <a:avLst/>
          </a:prstGeom>
          <a:noFill/>
        </p:spPr>
        <p:txBody>
          <a:bodyPr wrap="square" anchor="t" lIns="0" tIns="0" rIns="0" bIns="0">
            <a:spAutoFit/>
          </a:bodyPr>
          <a:lstStyle/>
          <a:p>
            <a:pPr algn="ctr">
              <a:spcBef>
                <a:spcPts val="0"/>
              </a:spcBef>
              <a:spcAft>
                <a:spcPts val="400"/>
              </a:spcAft>
            </a:pPr>
            <a:r>
              <a:rPr sz="1050" b="1">
                <a:solidFill>
                  <a:srgbClr val="2DD4BF"/>
                </a:solidFill>
                <a:latin typeface="Inter"/>
              </a:rPr>
              <a:t>ACHIEVED</a:t>
            </a:r>
          </a:p>
        </p:txBody>
      </p:sp>
      <p:sp>
        <p:nvSpPr>
          <p:cNvPr id="27" name="TextBox 26"/>
          <p:cNvSpPr txBox="1"/>
          <p:nvPr/>
        </p:nvSpPr>
        <p:spPr>
          <a:xfrm>
            <a:off x="777240" y="4315968"/>
            <a:ext cx="5029200" cy="621792"/>
          </a:xfrm>
          <a:prstGeom prst="rect">
            <a:avLst/>
          </a:prstGeom>
          <a:noFill/>
        </p:spPr>
        <p:txBody>
          <a:bodyPr wrap="square" anchor="t" lIns="0" tIns="0" rIns="0" bIns="0">
            <a:spAutoFit/>
          </a:bodyPr>
          <a:lstStyle/>
          <a:p>
            <a:pPr algn="l">
              <a:spcBef>
                <a:spcPts val="0"/>
              </a:spcBef>
              <a:spcAft>
                <a:spcPts val="400"/>
              </a:spcAft>
            </a:pPr>
            <a:r>
              <a:rPr sz="1100" b="0">
                <a:solidFill>
                  <a:srgbClr val="CBD5E1"/>
                </a:solidFill>
                <a:latin typeface="Inter"/>
              </a:rPr>
              <a:t>Implemented Black–Scholes scenario analysis (23,150 CE case), demonstrating quantitatively that underlying spot price exposure (Delta/Gamma) can dominate moderate IV changes.</a:t>
            </a:r>
          </a:p>
        </p:txBody>
      </p:sp>
      <p:sp>
        <p:nvSpPr>
          <p:cNvPr id="28" name="Rounded Rectangle 27"/>
          <p:cNvSpPr/>
          <p:nvPr/>
        </p:nvSpPr>
        <p:spPr>
          <a:xfrm>
            <a:off x="6217920" y="3931920"/>
            <a:ext cx="5376672" cy="1078992"/>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6217920" y="3931920"/>
            <a:ext cx="73152" cy="10789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4023359"/>
            <a:ext cx="2971800" cy="256032"/>
          </a:xfrm>
          <a:prstGeom prst="rect">
            <a:avLst/>
          </a:prstGeom>
          <a:noFill/>
        </p:spPr>
        <p:txBody>
          <a:bodyPr wrap="square" anchor="t" lIns="0" tIns="0" rIns="0" bIns="0">
            <a:spAutoFit/>
          </a:bodyPr>
          <a:lstStyle/>
          <a:p>
            <a:pPr algn="l">
              <a:spcBef>
                <a:spcPts val="0"/>
              </a:spcBef>
              <a:spcAft>
                <a:spcPts val="400"/>
              </a:spcAft>
            </a:pPr>
            <a:r>
              <a:rPr sz="1150" b="1">
                <a:solidFill>
                  <a:srgbClr val="F8FAFC"/>
                </a:solidFill>
                <a:latin typeface="Inter"/>
              </a:rPr>
              <a:t>4. LIVE DEPLOYMENT OBJECTIVE</a:t>
            </a:r>
          </a:p>
        </p:txBody>
      </p:sp>
      <p:sp>
        <p:nvSpPr>
          <p:cNvPr id="31" name="Rounded Rectangle 30"/>
          <p:cNvSpPr/>
          <p:nvPr/>
        </p:nvSpPr>
        <p:spPr>
          <a:xfrm>
            <a:off x="9418320" y="4005072"/>
            <a:ext cx="2029968" cy="256032"/>
          </a:xfrm>
          <a:prstGeom prst="roundRect">
            <a:avLst>
              <a:gd name="adj" fmla="val 20000"/>
            </a:avLst>
          </a:prstGeom>
          <a:solidFill>
            <a:srgbClr val="1E29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9418320" y="4023359"/>
            <a:ext cx="2029968" cy="219456"/>
          </a:xfrm>
          <a:prstGeom prst="rect">
            <a:avLst/>
          </a:prstGeom>
          <a:noFill/>
        </p:spPr>
        <p:txBody>
          <a:bodyPr wrap="square" anchor="t" lIns="0" tIns="0" rIns="0" bIns="0">
            <a:spAutoFit/>
          </a:bodyPr>
          <a:lstStyle/>
          <a:p>
            <a:pPr algn="ctr">
              <a:spcBef>
                <a:spcPts val="0"/>
              </a:spcBef>
              <a:spcAft>
                <a:spcPts val="400"/>
              </a:spcAft>
            </a:pPr>
            <a:r>
              <a:rPr sz="1050" b="1">
                <a:solidFill>
                  <a:srgbClr val="F59E0B"/>
                </a:solidFill>
                <a:latin typeface="Inter"/>
              </a:rPr>
              <a:t>PARTIALLY VALIDATED</a:t>
            </a:r>
          </a:p>
        </p:txBody>
      </p:sp>
      <p:sp>
        <p:nvSpPr>
          <p:cNvPr id="33" name="TextBox 32"/>
          <p:cNvSpPr txBox="1"/>
          <p:nvPr/>
        </p:nvSpPr>
        <p:spPr>
          <a:xfrm>
            <a:off x="6400800" y="4315968"/>
            <a:ext cx="5029200" cy="621792"/>
          </a:xfrm>
          <a:prstGeom prst="rect">
            <a:avLst/>
          </a:prstGeom>
          <a:noFill/>
        </p:spPr>
        <p:txBody>
          <a:bodyPr wrap="square" anchor="t" lIns="0" tIns="0" rIns="0" bIns="0">
            <a:spAutoFit/>
          </a:bodyPr>
          <a:lstStyle/>
          <a:p>
            <a:pPr algn="l">
              <a:spcBef>
                <a:spcPts val="0"/>
              </a:spcBef>
              <a:spcAft>
                <a:spcPts val="400"/>
              </a:spcAft>
            </a:pPr>
            <a:r>
              <a:rPr sz="1100" b="0">
                <a:solidFill>
                  <a:srgbClr val="CBD5E1"/>
                </a:solidFill>
                <a:latin typeface="Inter"/>
              </a:rPr>
              <a:t>Upstox API connectivity, automated 5-minute snapshot collection loop, joblib model pipeline, and Streamlit dashboard are operational; full market-hours live validation remains future work.</a:t>
            </a:r>
          </a:p>
        </p:txBody>
      </p:sp>
      <p:sp>
        <p:nvSpPr>
          <p:cNvPr id="34" name="Rounded Rectangle 33"/>
          <p:cNvSpPr/>
          <p:nvPr/>
        </p:nvSpPr>
        <p:spPr>
          <a:xfrm>
            <a:off x="594360" y="5175504"/>
            <a:ext cx="11000232" cy="1060704"/>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594360" y="5175504"/>
            <a:ext cx="73152"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266944"/>
            <a:ext cx="10607040" cy="877824"/>
          </a:xfrm>
          <a:prstGeom prst="rect">
            <a:avLst/>
          </a:prstGeom>
          <a:noFill/>
        </p:spPr>
        <p:txBody>
          <a:bodyPr wrap="square" anchor="t" lIns="0" tIns="0" rIns="0" bIns="0">
            <a:spAutoFit/>
          </a:bodyPr>
          <a:lstStyle/>
          <a:p>
            <a:pPr algn="l">
              <a:spcBef>
                <a:spcPts val="0"/>
              </a:spcBef>
              <a:spcAft>
                <a:spcPts val="400"/>
              </a:spcAft>
            </a:pPr>
            <a:r>
              <a:rPr sz="1100" b="1">
                <a:solidFill>
                  <a:srgbClr val="10B981"/>
                </a:solidFill>
                <a:latin typeface="Inter"/>
              </a:rPr>
              <a:t>OVERALL QUANTITATIVE SYNTHESIS</a:t>
            </a:r>
          </a:p>
          <a:p>
            <a:pPr algn="l">
              <a:spcBef>
                <a:spcPts val="0"/>
              </a:spcBef>
              <a:spcAft>
                <a:spcPts val="0"/>
              </a:spcAft>
            </a:pPr>
            <a:r>
              <a:rPr sz="1150" b="0">
                <a:solidFill>
                  <a:srgbClr val="F8FAFC"/>
                </a:solidFill>
                <a:latin typeface="Inter"/>
              </a:rPr>
              <a:t>Overall, the project demonstrates both the practical usefulness and the real-world boundaries of short-horizon implied volatility forecasting: measurable predictive value exists in normal multi-day regimes, but performance is strongly regime-dependent (especially near expiry) and must be combined with option risk stress testing rather than treated as a stand-alone trading rule.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
            <a:ext cx="11000232" cy="1143000"/>
          </a:xfrm>
          <a:prstGeom prst="rect">
            <a:avLst/>
          </a:prstGeom>
          <a:noFill/>
        </p:spPr>
        <p:txBody>
          <a:bodyPr wrap="square" anchor="t" lIns="0" tIns="0" rIns="0" bIns="0">
            <a:spAutoFit/>
          </a:bodyPr>
          <a:lstStyle/>
          <a:p>
            <a:pPr algn="l">
              <a:spcBef>
                <a:spcPts val="0"/>
              </a:spcBef>
              <a:spcAft>
                <a:spcPts val="200"/>
              </a:spcAft>
            </a:pPr>
            <a:r>
              <a:rPr sz="1100" b="1">
                <a:solidFill>
                  <a:srgbClr val="00B4D8"/>
                </a:solidFill>
                <a:latin typeface="Inter"/>
              </a:rPr>
              <a:t>14  •  REFERENCES, ACKNOWLEDGEMENT &amp; VIVA SIGN-OFF</a:t>
            </a:r>
          </a:p>
          <a:p>
            <a:pPr algn="l">
              <a:spcBef>
                <a:spcPts val="0"/>
              </a:spcBef>
              <a:spcAft>
                <a:spcPts val="200"/>
              </a:spcAft>
            </a:pPr>
            <a:r>
              <a:rPr sz="2300" b="1">
                <a:solidFill>
                  <a:srgbClr val="F8FAFC"/>
                </a:solidFill>
                <a:latin typeface="Inter"/>
              </a:rPr>
              <a:t>Selected References, Institutional Acknowledgement &amp; Software Stack</a:t>
            </a:r>
          </a:p>
          <a:p>
            <a:pPr algn="l">
              <a:spcBef>
                <a:spcPts val="0"/>
              </a:spcBef>
              <a:spcAft>
                <a:spcPts val="0"/>
              </a:spcAft>
            </a:pPr>
            <a:r>
              <a:rPr sz="1300" b="0">
                <a:solidFill>
                  <a:srgbClr val="94A3B8"/>
                </a:solidFill>
                <a:latin typeface="Inter"/>
              </a:rPr>
              <a:t>Traceable academic literature, market data authorities, API documentation, and open-source quantitative libraries</a:t>
            </a:r>
          </a:p>
        </p:txBody>
      </p:sp>
      <p:sp>
        <p:nvSpPr>
          <p:cNvPr id="5" name="TextBox 4"/>
          <p:cNvSpPr txBox="1"/>
          <p:nvPr/>
        </p:nvSpPr>
        <p:spPr>
          <a:xfrm>
            <a:off x="594360" y="6446520"/>
            <a:ext cx="9601200" cy="274320"/>
          </a:xfrm>
          <a:prstGeom prst="rect">
            <a:avLst/>
          </a:prstGeom>
          <a:noFill/>
        </p:spPr>
        <p:txBody>
          <a:bodyPr wrap="square" anchor="t" lIns="0" tIns="0" rIns="0" bIns="0">
            <a:spAutoFit/>
          </a:bodyPr>
          <a:lstStyle/>
          <a:p>
            <a:pPr algn="l">
              <a:spcBef>
                <a:spcPts val="0"/>
              </a:spcBef>
              <a:spcAft>
                <a:spcPts val="400"/>
              </a:spcAft>
            </a:pPr>
            <a:r>
              <a:rPr sz="1050" b="0">
                <a:solidFill>
                  <a:srgbClr val="94A3B8"/>
                </a:solidFill>
                <a:latin typeface="Inter"/>
              </a:rPr>
              <a:t>Quantitative Options Analytics  |  Implied Volatility Intelligence  |  Machine Learning  |  Risk-Aware Decision Support</a:t>
            </a:r>
          </a:p>
        </p:txBody>
      </p:sp>
      <p:sp>
        <p:nvSpPr>
          <p:cNvPr id="6" name="TextBox 5"/>
          <p:cNvSpPr txBox="1"/>
          <p:nvPr/>
        </p:nvSpPr>
        <p:spPr>
          <a:xfrm>
            <a:off x="10424160" y="6446520"/>
            <a:ext cx="1170432" cy="274320"/>
          </a:xfrm>
          <a:prstGeom prst="rect">
            <a:avLst/>
          </a:prstGeom>
          <a:noFill/>
        </p:spPr>
        <p:txBody>
          <a:bodyPr wrap="square" anchor="t" lIns="0" tIns="0" rIns="0" bIns="0">
            <a:spAutoFit/>
          </a:bodyPr>
          <a:lstStyle/>
          <a:p>
            <a:pPr algn="r">
              <a:spcBef>
                <a:spcPts val="0"/>
              </a:spcBef>
              <a:spcAft>
                <a:spcPts val="400"/>
              </a:spcAft>
            </a:pPr>
            <a:r>
              <a:rPr sz="1050" b="1">
                <a:solidFill>
                  <a:srgbClr val="00B4D8"/>
                </a:solidFill>
                <a:latin typeface="Inter"/>
              </a:rPr>
              <a:t>Slide 15 / 15</a:t>
            </a:r>
          </a:p>
        </p:txBody>
      </p:sp>
      <p:sp>
        <p:nvSpPr>
          <p:cNvPr id="7" name="Rounded Rectangle 6"/>
          <p:cNvSpPr/>
          <p:nvPr/>
        </p:nvSpPr>
        <p:spPr>
          <a:xfrm>
            <a:off x="594360" y="1481328"/>
            <a:ext cx="6629400" cy="4736592"/>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481328"/>
            <a:ext cx="73152" cy="473659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591056"/>
            <a:ext cx="6263640" cy="4526280"/>
          </a:xfrm>
          <a:prstGeom prst="rect">
            <a:avLst/>
          </a:prstGeom>
          <a:noFill/>
        </p:spPr>
        <p:txBody>
          <a:bodyPr wrap="square" anchor="t" lIns="0" tIns="0" rIns="0" bIns="0">
            <a:spAutoFit/>
          </a:bodyPr>
          <a:lstStyle/>
          <a:p>
            <a:pPr algn="l">
              <a:spcBef>
                <a:spcPts val="0"/>
              </a:spcBef>
              <a:spcAft>
                <a:spcPts val="800"/>
              </a:spcAft>
            </a:pPr>
            <a:r>
              <a:rPr sz="1200" b="1">
                <a:solidFill>
                  <a:srgbClr val="00B4D8"/>
                </a:solidFill>
                <a:latin typeface="Inter"/>
              </a:rPr>
              <a:t>SELECTED REFERENCES</a:t>
            </a:r>
          </a:p>
          <a:p>
            <a:pPr algn="l" marL="201168" indent="-201168">
              <a:spcAft>
                <a:spcPts val="700"/>
              </a:spcAft>
              <a:buFont typeface="Inter"/>
              <a:buChar char="•"/>
            </a:pPr>
            <a:r>
              <a:rPr sz="1100" b="1">
                <a:solidFill>
                  <a:srgbClr val="F8FAFC"/>
                </a:solidFill>
                <a:latin typeface="Inter"/>
              </a:rPr>
              <a:t>Black, F., &amp; Scholes, M. (1973). </a:t>
            </a:r>
            <a:r>
              <a:rPr sz="1100" b="0">
                <a:solidFill>
                  <a:srgbClr val="CBD5E1"/>
                </a:solidFill>
                <a:latin typeface="Inter"/>
              </a:rPr>
              <a:t>The Pricing of Options and Corporate Liabilities. Journal of Political Economy, 81(3), 637–654. DOI: 10.1086/260062.</a:t>
            </a:r>
          </a:p>
          <a:p>
            <a:pPr algn="l" marL="201168" indent="-201168">
              <a:spcAft>
                <a:spcPts val="700"/>
              </a:spcAft>
              <a:buFont typeface="Inter"/>
              <a:buChar char="•"/>
            </a:pPr>
            <a:r>
              <a:rPr sz="1100" b="1">
                <a:solidFill>
                  <a:srgbClr val="F8FAFC"/>
                </a:solidFill>
                <a:latin typeface="Inter"/>
              </a:rPr>
              <a:t>National Stock Exchange of India (NSE). </a:t>
            </a:r>
            <a:r>
              <a:rPr sz="1100" b="0">
                <a:solidFill>
                  <a:srgbClr val="CBD5E1"/>
                </a:solidFill>
                <a:latin typeface="Inter"/>
              </a:rPr>
              <a:t>NIFTY Option Chain (Equity Derivatives): https://www.nseindia.com/option-chain</a:t>
            </a:r>
          </a:p>
          <a:p>
            <a:pPr algn="l" marL="201168" indent="-201168">
              <a:spcAft>
                <a:spcPts val="700"/>
              </a:spcAft>
              <a:buFont typeface="Inter"/>
              <a:buChar char="•"/>
            </a:pPr>
            <a:r>
              <a:rPr sz="1100" b="1">
                <a:solidFill>
                  <a:srgbClr val="F8FAFC"/>
                </a:solidFill>
                <a:latin typeface="Inter"/>
              </a:rPr>
              <a:t>Upstox Developer API. </a:t>
            </a:r>
            <a:r>
              <a:rPr sz="1100" b="0">
                <a:solidFill>
                  <a:srgbClr val="CBD5E1"/>
                </a:solidFill>
                <a:latin typeface="Inter"/>
              </a:rPr>
              <a:t>Put/Call Option Chain Documentation: https://upstox.com/developer/api-documentation/get-pc-option-chain/</a:t>
            </a:r>
          </a:p>
          <a:p>
            <a:pPr algn="l" marL="201168" indent="-201168">
              <a:spcAft>
                <a:spcPts val="700"/>
              </a:spcAft>
              <a:buFont typeface="Inter"/>
              <a:buChar char="•"/>
            </a:pPr>
            <a:r>
              <a:rPr sz="1100" b="1">
                <a:solidFill>
                  <a:srgbClr val="F8FAFC"/>
                </a:solidFill>
                <a:latin typeface="Inter"/>
              </a:rPr>
              <a:t>Upstox Developer API. </a:t>
            </a:r>
            <a:r>
              <a:rPr sz="1100" b="0">
                <a:solidFill>
                  <a:srgbClr val="CBD5E1"/>
                </a:solidFill>
                <a:latin typeface="Inter"/>
              </a:rPr>
              <a:t>Option Contracts Documentation: https://upstox.com/developer/api-documentation/get-option-contracts/</a:t>
            </a:r>
          </a:p>
          <a:p>
            <a:pPr algn="l" marL="201168" indent="-201168">
              <a:spcAft>
                <a:spcPts val="700"/>
              </a:spcAft>
              <a:buFont typeface="Inter"/>
              <a:buChar char="•"/>
            </a:pPr>
            <a:r>
              <a:rPr sz="1100" b="1">
                <a:solidFill>
                  <a:srgbClr val="F8FAFC"/>
                </a:solidFill>
                <a:latin typeface="Inter"/>
              </a:rPr>
              <a:t>scikit-learn Documentation. </a:t>
            </a:r>
            <a:r>
              <a:rPr sz="1100" b="0">
                <a:solidFill>
                  <a:srgbClr val="CBD5E1"/>
                </a:solidFill>
                <a:latin typeface="Inter"/>
              </a:rPr>
              <a:t>RandomForestRegressor API: https://scikit-learn.org/stable/modules/generated/sklearn.ensemble.RandomForestRegressor.html</a:t>
            </a:r>
          </a:p>
          <a:p>
            <a:pPr algn="l" marL="201168" indent="-201168">
              <a:spcAft>
                <a:spcPts val="700"/>
              </a:spcAft>
              <a:buFont typeface="Inter"/>
              <a:buChar char="•"/>
            </a:pPr>
            <a:r>
              <a:rPr sz="1100" b="1">
                <a:solidFill>
                  <a:srgbClr val="F8FAFC"/>
                </a:solidFill>
                <a:latin typeface="Inter"/>
              </a:rPr>
              <a:t>XGBoost Documentation. </a:t>
            </a:r>
            <a:r>
              <a:rPr sz="1100" b="0">
                <a:solidFill>
                  <a:srgbClr val="CBD5E1"/>
                </a:solidFill>
                <a:latin typeface="Inter"/>
              </a:rPr>
              <a:t>Python / XGBRegressor API: https://xgboost.readthedocs.io/en/latest/python/python_api.html</a:t>
            </a:r>
          </a:p>
          <a:p>
            <a:pPr algn="l" marL="201168" indent="-201168">
              <a:spcAft>
                <a:spcPts val="700"/>
              </a:spcAft>
              <a:buFont typeface="Inter"/>
              <a:buChar char="•"/>
            </a:pPr>
            <a:r>
              <a:rPr sz="1100" b="1">
                <a:solidFill>
                  <a:srgbClr val="F8FAFC"/>
                </a:solidFill>
                <a:latin typeface="Inter"/>
              </a:rPr>
              <a:t>Streamlit Documentation. </a:t>
            </a:r>
            <a:r>
              <a:rPr sz="1100" b="0">
                <a:solidFill>
                  <a:srgbClr val="CBD5E1"/>
                </a:solidFill>
                <a:latin typeface="Inter"/>
              </a:rPr>
              <a:t>Streamlit App Framework: https://docs.streamlit.io/</a:t>
            </a:r>
          </a:p>
        </p:txBody>
      </p:sp>
      <p:sp>
        <p:nvSpPr>
          <p:cNvPr id="10" name="Rounded Rectangle 9"/>
          <p:cNvSpPr/>
          <p:nvPr/>
        </p:nvSpPr>
        <p:spPr>
          <a:xfrm>
            <a:off x="7406640" y="1481328"/>
            <a:ext cx="4187952" cy="1664208"/>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7406640" y="1481328"/>
            <a:ext cx="4187952" cy="548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609344"/>
            <a:ext cx="3822191" cy="1426464"/>
          </a:xfrm>
          <a:prstGeom prst="rect">
            <a:avLst/>
          </a:prstGeom>
          <a:noFill/>
        </p:spPr>
        <p:txBody>
          <a:bodyPr wrap="square" anchor="t" lIns="0" tIns="0" rIns="0" bIns="0">
            <a:spAutoFit/>
          </a:bodyPr>
          <a:lstStyle/>
          <a:p>
            <a:pPr algn="l">
              <a:spcBef>
                <a:spcPts val="0"/>
              </a:spcBef>
              <a:spcAft>
                <a:spcPts val="600"/>
              </a:spcAft>
            </a:pPr>
            <a:r>
              <a:rPr sz="1150" b="1">
                <a:solidFill>
                  <a:srgbClr val="2DD4BF"/>
                </a:solidFill>
                <a:latin typeface="Inter"/>
              </a:rPr>
              <a:t>INSTITUTIONAL ACKNOWLEDGEMENT</a:t>
            </a:r>
          </a:p>
          <a:p>
            <a:pPr algn="l">
              <a:spcBef>
                <a:spcPts val="0"/>
              </a:spcBef>
              <a:spcAft>
                <a:spcPts val="0"/>
              </a:spcAft>
            </a:pPr>
            <a:r>
              <a:rPr sz="1150" b="0">
                <a:solidFill>
                  <a:srgbClr val="F8FAFC"/>
                </a:solidFill>
                <a:latin typeface="Inter"/>
              </a:rPr>
              <a:t>I sincerely acknowledge Surabhi Investment Services Pvt. Ltd., Tiruchirappalli, for providing practical internship exposure in options trading, and the Department of Quantitative Finance, Pondicherry University, for academic guidance and research support.</a:t>
            </a:r>
          </a:p>
        </p:txBody>
      </p:sp>
      <p:sp>
        <p:nvSpPr>
          <p:cNvPr id="13" name="Rounded Rectangle 12"/>
          <p:cNvSpPr/>
          <p:nvPr/>
        </p:nvSpPr>
        <p:spPr>
          <a:xfrm>
            <a:off x="7406640" y="3273552"/>
            <a:ext cx="4187952" cy="1234440"/>
          </a:xfrm>
          <a:prstGeom prst="roundRect">
            <a:avLst>
              <a:gd name="adj" fmla="val 4000"/>
            </a:avLst>
          </a:prstGeom>
          <a:solidFill>
            <a:srgbClr val="16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7406640" y="3273552"/>
            <a:ext cx="4187952"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3401568"/>
            <a:ext cx="3822191" cy="1024128"/>
          </a:xfrm>
          <a:prstGeom prst="rect">
            <a:avLst/>
          </a:prstGeom>
          <a:noFill/>
        </p:spPr>
        <p:txBody>
          <a:bodyPr wrap="square" anchor="t" lIns="0" tIns="0" rIns="0" bIns="0">
            <a:spAutoFit/>
          </a:bodyPr>
          <a:lstStyle/>
          <a:p>
            <a:pPr algn="l">
              <a:spcBef>
                <a:spcPts val="0"/>
              </a:spcBef>
              <a:spcAft>
                <a:spcPts val="600"/>
              </a:spcAft>
            </a:pPr>
            <a:r>
              <a:rPr sz="1100" b="1">
                <a:solidFill>
                  <a:srgbClr val="F59E0B"/>
                </a:solidFill>
                <a:latin typeface="Inter"/>
              </a:rPr>
              <a:t>SOFTWARE &amp; QUANTITATIVE LIBRARIES USED</a:t>
            </a:r>
          </a:p>
          <a:p>
            <a:pPr algn="l">
              <a:spcBef>
                <a:spcPts val="0"/>
              </a:spcBef>
              <a:spcAft>
                <a:spcPts val="0"/>
              </a:spcAft>
            </a:pPr>
            <a:r>
              <a:rPr sz="1200" b="1">
                <a:solidFill>
                  <a:srgbClr val="F8FAFC"/>
                </a:solidFill>
                <a:latin typeface="Inter"/>
              </a:rPr>
              <a:t>Python  •  pandas  •  NumPy  •  SciPy  •  scikit-learn  •  XGBoost  •  Matplotlib  •  Streamlit</a:t>
            </a:r>
          </a:p>
        </p:txBody>
      </p:sp>
      <p:sp>
        <p:nvSpPr>
          <p:cNvPr id="16" name="Rounded Rectangle 15"/>
          <p:cNvSpPr/>
          <p:nvPr/>
        </p:nvSpPr>
        <p:spPr>
          <a:xfrm>
            <a:off x="7406640" y="4636008"/>
            <a:ext cx="4187952" cy="1581912"/>
          </a:xfrm>
          <a:prstGeom prst="roundRect">
            <a:avLst>
              <a:gd name="adj" fmla="val 4000"/>
            </a:avLst>
          </a:prstGeom>
          <a:solidFill>
            <a:srgbClr val="172A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7406640" y="4636008"/>
            <a:ext cx="73152" cy="158191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7808" y="4736592"/>
            <a:ext cx="3822191" cy="1389888"/>
          </a:xfrm>
          <a:prstGeom prst="rect">
            <a:avLst/>
          </a:prstGeom>
          <a:noFill/>
        </p:spPr>
        <p:txBody>
          <a:bodyPr wrap="square" anchor="t" lIns="0" tIns="0" rIns="0" bIns="0">
            <a:spAutoFit/>
          </a:bodyPr>
          <a:lstStyle/>
          <a:p>
            <a:pPr algn="l">
              <a:spcBef>
                <a:spcPts val="0"/>
              </a:spcBef>
              <a:spcAft>
                <a:spcPts val="400"/>
              </a:spcAft>
            </a:pPr>
            <a:r>
              <a:rPr sz="2400" b="1">
                <a:solidFill>
                  <a:srgbClr val="F8FAFC"/>
                </a:solidFill>
                <a:latin typeface="Inter"/>
              </a:rPr>
              <a:t>Thank You</a:t>
            </a:r>
          </a:p>
          <a:p>
            <a:pPr algn="l">
              <a:spcBef>
                <a:spcPts val="0"/>
              </a:spcBef>
              <a:spcAft>
                <a:spcPts val="600"/>
              </a:spcAft>
            </a:pPr>
            <a:r>
              <a:rPr sz="1300" b="1">
                <a:solidFill>
                  <a:srgbClr val="00B4D8"/>
                </a:solidFill>
                <a:latin typeface="Inter"/>
              </a:rPr>
              <a:t>Open for Viva-Voce Questions &amp; Discussion</a:t>
            </a:r>
          </a:p>
          <a:p>
            <a:pPr algn="l">
              <a:spcBef>
                <a:spcPts val="0"/>
              </a:spcBef>
              <a:spcAft>
                <a:spcPts val="0"/>
              </a:spcAft>
            </a:pPr>
            <a:r>
              <a:rPr sz="1100" b="0">
                <a:solidFill>
                  <a:srgbClr val="CBD5E1"/>
                </a:solidFill>
                <a:latin typeface="Inter"/>
              </a:rPr>
              <a:t>Diviya C.  •  Reg. No. 25MSQUFPY0018
M.Sc. Quantitative Finance  •  Pondicherry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