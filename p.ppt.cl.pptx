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c7f0223-5ca2-a992-7db9-5442983c774e}">
          <p14:sldIdLst>
            <p14:sldId id="256"/>
            <p14:sldId id="257"/>
          </p14:sldIdLst>
        </p14:section>
        <p14:section name="Background" id="{120a2a05-49a7-d797-4161-7976d94f32bc}">
          <p14:sldIdLst>
            <p14:sldId id="258"/>
            <p14:sldId id="259"/>
            <p14:sldId id="260"/>
            <p14:sldId id="261"/>
          </p14:sldIdLst>
        </p14:section>
        <p14:section name="Data and Method" id="{f361dfde-b245-7826-4de8-e2d536cff242}">
          <p14:sldIdLst>
            <p14:sldId id="262"/>
            <p14:sldId id="263"/>
            <p14:sldId id="264"/>
          </p14:sldIdLst>
        </p14:section>
        <p14:section name="Results" id="{ddac7473-b4fc-8f0f-fd81-546318a62e6b}">
          <p14:sldIdLst>
            <p14:sldId id="265"/>
            <p14:sldId id="266"/>
            <p14:sldId id="267"/>
          </p14:sldIdLst>
        </p14:section>
        <p14:section name="Evaluation" id="{b82c69a3-8bf0-975f-7468-0324dde57646}">
          <p14:sldIdLst>
            <p14:sldId id="268"/>
            <p14:sldId id="269"/>
          </p14:sldIdLst>
        </p14:section>
        <p14:section name="Close" id="{b4234302-e0c5-cf97-6144-7eaf6bd3bf31}">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Curve A</c:v>
                </c:pt>
              </c:strCache>
            </c:strRef>
          </c:tx>
          <c:spPr>
            <a:solidFill>
              <a:srgbClr val="2FD0DE"/>
            </a:solidFill>
            <a:ln w="31750" cap="flat">
              <a:solidFill>
                <a:srgbClr val="2FD0DE"/>
              </a:solidFill>
              <a:prstDash val="solid"/>
              <a:round/>
            </a:ln>
            <a:effectLst/>
          </c:spPr>
          <c:marker>
            <c:symbol val="none"/>
            <c:size val="6"/>
            <c:spPr>
              <a:solidFill>
                <a:srgbClr val="2FD0DE"/>
              </a:solidFill>
              <a:ln w="9525" cap="flat">
                <a:solidFill>
                  <a:srgbClr val="2FD0DE"/>
                </a:solidFill>
                <a:prstDash val="solid"/>
                <a:round/>
              </a:ln>
              <a:effectLst/>
            </c:spPr>
          </c:marker>
          <c:xVal>
            <c:numRef>
              <c:f>Sheet1!$A$2:$A$32</c:f>
              <c:numCache>
                <c:formatCode>General</c:formatCode>
                <c:ptCount val="31"/>
                <c:pt idx="0">
                  <c:v>-6</c:v>
                </c:pt>
                <c:pt idx="1">
                  <c:v>-5.6</c:v>
                </c:pt>
                <c:pt idx="2">
                  <c:v>-5.2</c:v>
                </c:pt>
                <c:pt idx="3">
                  <c:v>-4.8</c:v>
                </c:pt>
                <c:pt idx="4">
                  <c:v>-4.4</c:v>
                </c:pt>
                <c:pt idx="5">
                  <c:v>-4</c:v>
                </c:pt>
                <c:pt idx="6">
                  <c:v>-3.6</c:v>
                </c:pt>
                <c:pt idx="7">
                  <c:v>-3.2</c:v>
                </c:pt>
                <c:pt idx="8">
                  <c:v>-2.8</c:v>
                </c:pt>
                <c:pt idx="9">
                  <c:v>-2.4</c:v>
                </c:pt>
                <c:pt idx="10">
                  <c:v>-2</c:v>
                </c:pt>
                <c:pt idx="11">
                  <c:v>-1.6</c:v>
                </c:pt>
                <c:pt idx="12">
                  <c:v>-1.2</c:v>
                </c:pt>
                <c:pt idx="13">
                  <c:v>-0.8</c:v>
                </c:pt>
                <c:pt idx="14">
                  <c:v>-0.4</c:v>
                </c:pt>
                <c:pt idx="15">
                  <c:v>0</c:v>
                </c:pt>
                <c:pt idx="16">
                  <c:v>0.4</c:v>
                </c:pt>
                <c:pt idx="17">
                  <c:v>0.8</c:v>
                </c:pt>
                <c:pt idx="18">
                  <c:v>1.2</c:v>
                </c:pt>
                <c:pt idx="19">
                  <c:v>1.6</c:v>
                </c:pt>
                <c:pt idx="20">
                  <c:v>2</c:v>
                </c:pt>
                <c:pt idx="21">
                  <c:v>2.4</c:v>
                </c:pt>
                <c:pt idx="22">
                  <c:v>2.8</c:v>
                </c:pt>
                <c:pt idx="23">
                  <c:v>3.2</c:v>
                </c:pt>
                <c:pt idx="24">
                  <c:v>3.6</c:v>
                </c:pt>
                <c:pt idx="25">
                  <c:v>4</c:v>
                </c:pt>
                <c:pt idx="26">
                  <c:v>4.4</c:v>
                </c:pt>
                <c:pt idx="27">
                  <c:v>4.8</c:v>
                </c:pt>
                <c:pt idx="28">
                  <c:v>5.2</c:v>
                </c:pt>
                <c:pt idx="29">
                  <c:v>5.6</c:v>
                </c:pt>
                <c:pt idx="30">
                  <c:v>6</c:v>
                </c:pt>
              </c:numCache>
            </c:numRef>
          </c:xVal>
          <c:yVal>
            <c:numRef>
              <c:f>Sheet1!$B$2:$B$32</c:f>
              <c:numCache>
                <c:formatCode>General</c:formatCode>
                <c:ptCount val="31"/>
                <c:pt idx="0">
                  <c:v>28.1</c:v>
                </c:pt>
                <c:pt idx="1">
                  <c:v>26.488</c:v>
                </c:pt>
                <c:pt idx="2">
                  <c:v>24.972</c:v>
                </c:pt>
                <c:pt idx="3">
                  <c:v>23.552</c:v>
                </c:pt>
                <c:pt idx="4">
                  <c:v>22.228</c:v>
                </c:pt>
                <c:pt idx="5">
                  <c:v>21</c:v>
                </c:pt>
                <c:pt idx="6">
                  <c:v>19.868</c:v>
                </c:pt>
                <c:pt idx="7">
                  <c:v>18.832</c:v>
                </c:pt>
                <c:pt idx="8">
                  <c:v>17.892</c:v>
                </c:pt>
                <c:pt idx="9">
                  <c:v>17.048</c:v>
                </c:pt>
                <c:pt idx="10">
                  <c:v>16.3</c:v>
                </c:pt>
                <c:pt idx="11">
                  <c:v>15.648</c:v>
                </c:pt>
                <c:pt idx="12">
                  <c:v>15.092</c:v>
                </c:pt>
                <c:pt idx="13">
                  <c:v>14.632</c:v>
                </c:pt>
                <c:pt idx="14">
                  <c:v>14.268</c:v>
                </c:pt>
                <c:pt idx="15">
                  <c:v>14</c:v>
                </c:pt>
                <c:pt idx="16">
                  <c:v>13.828</c:v>
                </c:pt>
                <c:pt idx="17">
                  <c:v>13.752</c:v>
                </c:pt>
                <c:pt idx="18">
                  <c:v>13.772</c:v>
                </c:pt>
                <c:pt idx="19">
                  <c:v>13.888</c:v>
                </c:pt>
                <c:pt idx="20">
                  <c:v>14.1</c:v>
                </c:pt>
                <c:pt idx="21">
                  <c:v>14.408</c:v>
                </c:pt>
                <c:pt idx="22">
                  <c:v>14.812</c:v>
                </c:pt>
                <c:pt idx="23">
                  <c:v>15.312</c:v>
                </c:pt>
                <c:pt idx="24">
                  <c:v>15.908</c:v>
                </c:pt>
                <c:pt idx="25">
                  <c:v>16.6</c:v>
                </c:pt>
                <c:pt idx="26">
                  <c:v>17.388</c:v>
                </c:pt>
                <c:pt idx="27">
                  <c:v>18.272</c:v>
                </c:pt>
                <c:pt idx="28">
                  <c:v>19.252</c:v>
                </c:pt>
                <c:pt idx="29">
                  <c:v>20.328</c:v>
                </c:pt>
                <c:pt idx="30">
                  <c:v>21.5</c:v>
                </c:pt>
              </c:numCache>
            </c:numRef>
          </c:yVal>
          <c:smooth val="0"/>
        </c:ser>
        <c:ser>
          <c:idx val="1"/>
          <c:order val="1"/>
          <c:tx>
            <c:strRef>
              <c:f>Sheet1!$C$1</c:f>
              <c:strCache>
                <c:ptCount val="1"/>
                <c:pt idx="0">
                  <c:v>Curve B</c:v>
                </c:pt>
              </c:strCache>
            </c:strRef>
          </c:tx>
          <c:spPr>
            <a:solidFill>
              <a:srgbClr val="475D80"/>
            </a:solidFill>
            <a:ln w="31750" cap="flat">
              <a:solidFill>
                <a:srgbClr val="475D80"/>
              </a:solidFill>
              <a:prstDash val="solid"/>
              <a:round/>
            </a:ln>
            <a:effectLst/>
          </c:spPr>
          <c:marker>
            <c:symbol val="none"/>
            <c:size val="6"/>
            <c:spPr>
              <a:solidFill>
                <a:srgbClr val="475D80"/>
              </a:solidFill>
              <a:ln w="9525" cap="flat">
                <a:solidFill>
                  <a:srgbClr val="475D80"/>
                </a:solidFill>
                <a:prstDash val="solid"/>
                <a:round/>
              </a:ln>
              <a:effectLst/>
            </c:spPr>
          </c:marker>
          <c:xVal>
            <c:numRef>
              <c:f>Sheet1!$A$2:$A$32</c:f>
              <c:numCache>
                <c:formatCode>General</c:formatCode>
                <c:ptCount val="31"/>
                <c:pt idx="0">
                  <c:v>-6</c:v>
                </c:pt>
                <c:pt idx="1">
                  <c:v>-5.6</c:v>
                </c:pt>
                <c:pt idx="2">
                  <c:v>-5.2</c:v>
                </c:pt>
                <c:pt idx="3">
                  <c:v>-4.8</c:v>
                </c:pt>
                <c:pt idx="4">
                  <c:v>-4.4</c:v>
                </c:pt>
                <c:pt idx="5">
                  <c:v>-4</c:v>
                </c:pt>
                <c:pt idx="6">
                  <c:v>-3.6</c:v>
                </c:pt>
                <c:pt idx="7">
                  <c:v>-3.2</c:v>
                </c:pt>
                <c:pt idx="8">
                  <c:v>-2.8</c:v>
                </c:pt>
                <c:pt idx="9">
                  <c:v>-2.4</c:v>
                </c:pt>
                <c:pt idx="10">
                  <c:v>-2</c:v>
                </c:pt>
                <c:pt idx="11">
                  <c:v>-1.6</c:v>
                </c:pt>
                <c:pt idx="12">
                  <c:v>-1.2</c:v>
                </c:pt>
                <c:pt idx="13">
                  <c:v>-0.8</c:v>
                </c:pt>
                <c:pt idx="14">
                  <c:v>-0.4</c:v>
                </c:pt>
                <c:pt idx="15">
                  <c:v>0</c:v>
                </c:pt>
                <c:pt idx="16">
                  <c:v>0.4</c:v>
                </c:pt>
                <c:pt idx="17">
                  <c:v>0.8</c:v>
                </c:pt>
                <c:pt idx="18">
                  <c:v>1.2</c:v>
                </c:pt>
                <c:pt idx="19">
                  <c:v>1.6</c:v>
                </c:pt>
                <c:pt idx="20">
                  <c:v>2</c:v>
                </c:pt>
                <c:pt idx="21">
                  <c:v>2.4</c:v>
                </c:pt>
                <c:pt idx="22">
                  <c:v>2.8</c:v>
                </c:pt>
                <c:pt idx="23">
                  <c:v>3.2</c:v>
                </c:pt>
                <c:pt idx="24">
                  <c:v>3.6</c:v>
                </c:pt>
                <c:pt idx="25">
                  <c:v>4</c:v>
                </c:pt>
                <c:pt idx="26">
                  <c:v>4.4</c:v>
                </c:pt>
                <c:pt idx="27">
                  <c:v>4.8</c:v>
                </c:pt>
                <c:pt idx="28">
                  <c:v>5.2</c:v>
                </c:pt>
                <c:pt idx="29">
                  <c:v>5.6</c:v>
                </c:pt>
                <c:pt idx="30">
                  <c:v>6</c:v>
                </c:pt>
              </c:numCache>
            </c:numRef>
          </c:xVal>
          <c:yVal>
            <c:numRef>
              <c:f>Sheet1!$C$2:$C$32</c:f>
              <c:numCache>
                <c:formatCode>General</c:formatCode>
                <c:ptCount val="31"/>
                <c:pt idx="0">
                  <c:v>20.3</c:v>
                </c:pt>
                <c:pt idx="1">
                  <c:v>19.232</c:v>
                </c:pt>
                <c:pt idx="2">
                  <c:v>18.228</c:v>
                </c:pt>
                <c:pt idx="3">
                  <c:v>17.288</c:v>
                </c:pt>
                <c:pt idx="4">
                  <c:v>16.412</c:v>
                </c:pt>
                <c:pt idx="5">
                  <c:v>15.6</c:v>
                </c:pt>
                <c:pt idx="6">
                  <c:v>14.852</c:v>
                </c:pt>
                <c:pt idx="7">
                  <c:v>14.168</c:v>
                </c:pt>
                <c:pt idx="8">
                  <c:v>13.548</c:v>
                </c:pt>
                <c:pt idx="9">
                  <c:v>12.992</c:v>
                </c:pt>
                <c:pt idx="10">
                  <c:v>12.5</c:v>
                </c:pt>
                <c:pt idx="11">
                  <c:v>12.072</c:v>
                </c:pt>
                <c:pt idx="12">
                  <c:v>11.708</c:v>
                </c:pt>
                <c:pt idx="13">
                  <c:v>11.408</c:v>
                </c:pt>
                <c:pt idx="14">
                  <c:v>11.172</c:v>
                </c:pt>
                <c:pt idx="15">
                  <c:v>11</c:v>
                </c:pt>
                <c:pt idx="16">
                  <c:v>10.892</c:v>
                </c:pt>
                <c:pt idx="17">
                  <c:v>10.848</c:v>
                </c:pt>
                <c:pt idx="18">
                  <c:v>10.868</c:v>
                </c:pt>
                <c:pt idx="19">
                  <c:v>10.952</c:v>
                </c:pt>
                <c:pt idx="20">
                  <c:v>11.1</c:v>
                </c:pt>
                <c:pt idx="21">
                  <c:v>11.312</c:v>
                </c:pt>
                <c:pt idx="22">
                  <c:v>11.588</c:v>
                </c:pt>
                <c:pt idx="23">
                  <c:v>11.928</c:v>
                </c:pt>
                <c:pt idx="24">
                  <c:v>12.332</c:v>
                </c:pt>
                <c:pt idx="25">
                  <c:v>12.8</c:v>
                </c:pt>
                <c:pt idx="26">
                  <c:v>13.332</c:v>
                </c:pt>
                <c:pt idx="27">
                  <c:v>13.928</c:v>
                </c:pt>
                <c:pt idx="28">
                  <c:v>14.588</c:v>
                </c:pt>
                <c:pt idx="29">
                  <c:v>15.312</c:v>
                </c:pt>
                <c:pt idx="30">
                  <c:v>16.1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5"/>
          <c:min val="-6.5"/>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max val="26"/>
          <c:min val="8"/>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Implied volatility</c:v>
                </c:pt>
              </c:strCache>
            </c:strRef>
          </c:tx>
          <c:spPr>
            <a:solidFill>
              <a:srgbClr val="0E9AA7"/>
            </a:solidFill>
            <a:ln w="38100" cap="flat">
              <a:solidFill>
                <a:srgbClr val="0E9AA7"/>
              </a:solidFill>
              <a:prstDash val="solid"/>
              <a:round/>
            </a:ln>
            <a:effectLst/>
          </c:spPr>
          <c:marker>
            <c:symbol val="none"/>
            <c:size val="6"/>
            <c:spPr>
              <a:solidFill>
                <a:srgbClr val="0E9AA7"/>
              </a:solidFill>
              <a:ln w="9525" cap="flat">
                <a:solidFill>
                  <a:srgbClr val="0E9AA7"/>
                </a:solidFill>
                <a:prstDash val="solid"/>
                <a:round/>
              </a:ln>
              <a:effectLst/>
            </c:spPr>
          </c:marker>
          <c:xVal>
            <c:numRef>
              <c:f>Sheet1!$A$2:$A$32</c:f>
              <c:numCache>
                <c:formatCode>General</c:formatCode>
                <c:ptCount val="31"/>
                <c:pt idx="0">
                  <c:v>-6</c:v>
                </c:pt>
                <c:pt idx="1">
                  <c:v>-5.6</c:v>
                </c:pt>
                <c:pt idx="2">
                  <c:v>-5.2</c:v>
                </c:pt>
                <c:pt idx="3">
                  <c:v>-4.8</c:v>
                </c:pt>
                <c:pt idx="4">
                  <c:v>-4.4</c:v>
                </c:pt>
                <c:pt idx="5">
                  <c:v>-4</c:v>
                </c:pt>
                <c:pt idx="6">
                  <c:v>-3.6</c:v>
                </c:pt>
                <c:pt idx="7">
                  <c:v>-3.2</c:v>
                </c:pt>
                <c:pt idx="8">
                  <c:v>-2.8</c:v>
                </c:pt>
                <c:pt idx="9">
                  <c:v>-2.4</c:v>
                </c:pt>
                <c:pt idx="10">
                  <c:v>-2</c:v>
                </c:pt>
                <c:pt idx="11">
                  <c:v>-1.6</c:v>
                </c:pt>
                <c:pt idx="12">
                  <c:v>-1.2</c:v>
                </c:pt>
                <c:pt idx="13">
                  <c:v>-0.8</c:v>
                </c:pt>
                <c:pt idx="14">
                  <c:v>-0.4</c:v>
                </c:pt>
                <c:pt idx="15">
                  <c:v>0</c:v>
                </c:pt>
                <c:pt idx="16">
                  <c:v>0.4</c:v>
                </c:pt>
                <c:pt idx="17">
                  <c:v>0.8</c:v>
                </c:pt>
                <c:pt idx="18">
                  <c:v>1.2</c:v>
                </c:pt>
                <c:pt idx="19">
                  <c:v>1.6</c:v>
                </c:pt>
                <c:pt idx="20">
                  <c:v>2</c:v>
                </c:pt>
                <c:pt idx="21">
                  <c:v>2.4</c:v>
                </c:pt>
                <c:pt idx="22">
                  <c:v>2.8</c:v>
                </c:pt>
                <c:pt idx="23">
                  <c:v>3.2</c:v>
                </c:pt>
                <c:pt idx="24">
                  <c:v>3.6</c:v>
                </c:pt>
                <c:pt idx="25">
                  <c:v>4</c:v>
                </c:pt>
                <c:pt idx="26">
                  <c:v>4.4</c:v>
                </c:pt>
                <c:pt idx="27">
                  <c:v>4.8</c:v>
                </c:pt>
                <c:pt idx="28">
                  <c:v>5.2</c:v>
                </c:pt>
                <c:pt idx="29">
                  <c:v>5.6</c:v>
                </c:pt>
                <c:pt idx="30">
                  <c:v>6</c:v>
                </c:pt>
              </c:numCache>
            </c:numRef>
          </c:xVal>
          <c:yVal>
            <c:numRef>
              <c:f>Sheet1!$B$2:$B$32</c:f>
              <c:numCache>
                <c:formatCode>General</c:formatCode>
                <c:ptCount val="31"/>
                <c:pt idx="0">
                  <c:v>20.6</c:v>
                </c:pt>
                <c:pt idx="1">
                  <c:v>19.467</c:v>
                </c:pt>
                <c:pt idx="2">
                  <c:v>18.405</c:v>
                </c:pt>
                <c:pt idx="3">
                  <c:v>17.413</c:v>
                </c:pt>
                <c:pt idx="4">
                  <c:v>16.491</c:v>
                </c:pt>
                <c:pt idx="5">
                  <c:v>15.64</c:v>
                </c:pt>
                <c:pt idx="6">
                  <c:v>14.859</c:v>
                </c:pt>
                <c:pt idx="7">
                  <c:v>14.149</c:v>
                </c:pt>
                <c:pt idx="8">
                  <c:v>13.509</c:v>
                </c:pt>
                <c:pt idx="9">
                  <c:v>12.939</c:v>
                </c:pt>
                <c:pt idx="10">
                  <c:v>12.44</c:v>
                </c:pt>
                <c:pt idx="11">
                  <c:v>12.011</c:v>
                </c:pt>
                <c:pt idx="12">
                  <c:v>11.653</c:v>
                </c:pt>
                <c:pt idx="13">
                  <c:v>11.365</c:v>
                </c:pt>
                <c:pt idx="14">
                  <c:v>11.147</c:v>
                </c:pt>
                <c:pt idx="15">
                  <c:v>11</c:v>
                </c:pt>
                <c:pt idx="16">
                  <c:v>10.923</c:v>
                </c:pt>
                <c:pt idx="17">
                  <c:v>10.917</c:v>
                </c:pt>
                <c:pt idx="18">
                  <c:v>10.981</c:v>
                </c:pt>
                <c:pt idx="19">
                  <c:v>11.115</c:v>
                </c:pt>
                <c:pt idx="20">
                  <c:v>11.32</c:v>
                </c:pt>
                <c:pt idx="21">
                  <c:v>11.595</c:v>
                </c:pt>
                <c:pt idx="22">
                  <c:v>11.941</c:v>
                </c:pt>
                <c:pt idx="23">
                  <c:v>12.357</c:v>
                </c:pt>
                <c:pt idx="24">
                  <c:v>12.843</c:v>
                </c:pt>
                <c:pt idx="25">
                  <c:v>13.4</c:v>
                </c:pt>
                <c:pt idx="26">
                  <c:v>14.027</c:v>
                </c:pt>
                <c:pt idx="27">
                  <c:v>14.725</c:v>
                </c:pt>
                <c:pt idx="28">
                  <c:v>15.493</c:v>
                </c:pt>
                <c:pt idx="29">
                  <c:v>16.331</c:v>
                </c:pt>
                <c:pt idx="30">
                  <c:v>17.24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5"/>
          <c:min val="-6.5"/>
        </c:scaling>
        <c:delete val="1"/>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valAx>
      <c:valAx>
        <c:axId val="2094734552"/>
        <c:scaling>
          <c:orientation val="minMax"/>
          <c:max val="23"/>
          <c:min val="9"/>
        </c:scaling>
        <c:delete val="1"/>
        <c:axPos val="l"/>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1628"/>
                </a:solidFill>
                <a:latin typeface="+mn-lt"/>
              </a:defRPr>
            </a:pPr>
            <a:r>
              <a:rPr sz="1300" b="0" i="0" u="none" strike="noStrike">
                <a:solidFill>
                  <a:srgbClr val="0A1628"/>
                </a:solidFill>
                <a:latin typeface="+mn-lt"/>
              </a:rPr>
              <a:t>MAE (mean absolute error)</a:t>
            </a:r>
          </a:p>
        </c:rich>
      </c:tx>
      <c:layout/>
      <c:overlay val="0"/>
    </c:title>
    <c:autoTitleDeleted val="0"/>
    <c:plotArea>
      <c:layout/>
      <c:barChart>
        <c:barDir val="col"/>
        <c:grouping val="clustered"/>
        <c:varyColors val="0"/>
        <c:ser>
          <c:idx val="0"/>
          <c:order val="0"/>
          <c:tx>
            <c:strRef>
              <c:f>Sheet1!$B$1</c:f>
              <c:strCache>
                <c:ptCount val="1"/>
                <c:pt idx="0">
                  <c:v>MAE</c:v>
                </c:pt>
              </c:strCache>
            </c:strRef>
          </c:tx>
          <c:spPr>
            <a:solidFill>
              <a:srgbClr val="94A3B8"/>
            </a:solidFill>
            <a:effectLst/>
          </c:spPr>
          <c:invertIfNegative val="0"/>
          <c:dLbls>
            <c:numFmt formatCode="0.0000" sourceLinked="0"/>
            <c:txPr>
              <a:bodyPr/>
              <a:lstStyle/>
              <a:p>
                <a:pPr>
                  <a:defRPr b="1" i="0" strike="noStrike" sz="1200" u="none">
                    <a:solidFill>
                      <a:srgbClr val="0A1628"/>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0E9AA7"/>
              </a:solidFill>
              <a:effectLst/>
            </c:spPr>
          </c:dPt>
          <c:dPt>
            <c:idx val="2"/>
            <c:invertIfNegative val="0"/>
            <c:bubble3D val="0"/>
            <c:spPr>
              <a:solidFill>
                <a:srgbClr val="475D80"/>
              </a:solidFill>
              <a:effectLst/>
            </c:spPr>
          </c:dPt>
          <c:cat>
            <c:multiLvlStrRef>
              <c:f>Sheet1!$A$2:$A$4</c:f>
              <c:multiLvlStrCache>
                <c:ptCount val="3"/>
                <c:lvl>
                  <c:pt idx="0">
                    <c:v>Persistence</c:v>
                  </c:pt>
                  <c:pt idx="1">
                    <c:v>RF + Lag</c:v>
                  </c:pt>
                  <c:pt idx="2">
                    <c:v>XGB + Lag</c:v>
                  </c:pt>
                </c:lvl>
              </c:multiLvlStrCache>
            </c:multiLvlStrRef>
          </c:cat>
          <c:val>
            <c:numRef>
              <c:f>Sheet1!$B$2:$B$4</c:f>
              <c:numCache>
                <c:formatCode>General</c:formatCode>
                <c:ptCount val="3"/>
                <c:pt idx="0">
                  <c:v>0.550478</c:v>
                </c:pt>
                <c:pt idx="1">
                  <c:v>0.521398</c:v>
                </c:pt>
                <c:pt idx="2">
                  <c:v>0.552956</c:v>
                </c:pt>
              </c:numCache>
            </c:numRef>
          </c:val>
        </c:ser>
        <c:dLbls>
          <c:numFmt formatCode="0.0000" sourceLinked="0"/>
          <c:txPr>
            <a:bodyPr/>
            <a:lstStyle/>
            <a:p>
              <a:pPr>
                <a:defRPr b="1" i="0" strike="noStrike" sz="1200" u="none">
                  <a:solidFill>
                    <a:srgbClr val="0A1628"/>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5DD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1628"/>
                </a:solidFill>
                <a:latin typeface="+mn-lt"/>
              </a:defRPr>
            </a:pPr>
            <a:r>
              <a:rPr sz="1300" b="0" i="0" u="none" strike="noStrike">
                <a:solidFill>
                  <a:srgbClr val="0A1628"/>
                </a:solidFill>
                <a:latin typeface="+mn-lt"/>
              </a:rPr>
              <a:t>RMSE (root mean squared error)</a:t>
            </a:r>
          </a:p>
        </c:rich>
      </c:tx>
      <c:layout/>
      <c:overlay val="0"/>
    </c:title>
    <c:autoTitleDeleted val="0"/>
    <c:plotArea>
      <c:layout/>
      <c:barChart>
        <c:barDir val="col"/>
        <c:grouping val="clustered"/>
        <c:varyColors val="0"/>
        <c:ser>
          <c:idx val="0"/>
          <c:order val="0"/>
          <c:tx>
            <c:strRef>
              <c:f>Sheet1!$B$1</c:f>
              <c:strCache>
                <c:ptCount val="1"/>
                <c:pt idx="0">
                  <c:v>RMSE</c:v>
                </c:pt>
              </c:strCache>
            </c:strRef>
          </c:tx>
          <c:spPr>
            <a:solidFill>
              <a:srgbClr val="94A3B8"/>
            </a:solidFill>
            <a:effectLst/>
          </c:spPr>
          <c:invertIfNegative val="0"/>
          <c:dLbls>
            <c:numFmt formatCode="0.0000" sourceLinked="0"/>
            <c:txPr>
              <a:bodyPr/>
              <a:lstStyle/>
              <a:p>
                <a:pPr>
                  <a:defRPr b="1" i="0" strike="noStrike" sz="1200" u="none">
                    <a:solidFill>
                      <a:srgbClr val="0A1628"/>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0E9AA7"/>
              </a:solidFill>
              <a:effectLst/>
            </c:spPr>
          </c:dPt>
          <c:dPt>
            <c:idx val="2"/>
            <c:invertIfNegative val="0"/>
            <c:bubble3D val="0"/>
            <c:spPr>
              <a:solidFill>
                <a:srgbClr val="475D80"/>
              </a:solidFill>
              <a:effectLst/>
            </c:spPr>
          </c:dPt>
          <c:cat>
            <c:multiLvlStrRef>
              <c:f>Sheet1!$A$2:$A$4</c:f>
              <c:multiLvlStrCache>
                <c:ptCount val="3"/>
                <c:lvl>
                  <c:pt idx="0">
                    <c:v>Persistence</c:v>
                  </c:pt>
                  <c:pt idx="1">
                    <c:v>RF + Lag</c:v>
                  </c:pt>
                  <c:pt idx="2">
                    <c:v>XGB + Lag</c:v>
                  </c:pt>
                </c:lvl>
              </c:multiLvlStrCache>
            </c:multiLvlStrRef>
          </c:cat>
          <c:val>
            <c:numRef>
              <c:f>Sheet1!$B$2:$B$4</c:f>
              <c:numCache>
                <c:formatCode>General</c:formatCode>
                <c:ptCount val="3"/>
                <c:pt idx="0">
                  <c:v>1.320669</c:v>
                </c:pt>
                <c:pt idx="1">
                  <c:v>1.218771</c:v>
                </c:pt>
                <c:pt idx="2">
                  <c:v>1.296449</c:v>
                </c:pt>
              </c:numCache>
            </c:numRef>
          </c:val>
        </c:ser>
        <c:dLbls>
          <c:numFmt formatCode="0.0000" sourceLinked="0"/>
          <c:txPr>
            <a:bodyPr/>
            <a:lstStyle/>
            <a:p>
              <a:pPr>
                <a:defRPr b="1" i="0" strike="noStrike" sz="1200" u="none">
                  <a:solidFill>
                    <a:srgbClr val="0A1628"/>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6350" cap="flat">
              <a:solidFill>
                <a:srgbClr val="D5DD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0E9AA7"/>
            </a:solidFill>
            <a:effectLst/>
          </c:spPr>
          <c:invertIfNegative val="0"/>
          <c:dLbls>
            <c:numFmt formatCode="0.000" sourceLinked="0"/>
            <c:txPr>
              <a:bodyPr/>
              <a:lstStyle/>
              <a:p>
                <a:pPr>
                  <a:defRPr b="1" i="0" strike="noStrike" sz="1100" u="none">
                    <a:solidFill>
                      <a:srgbClr val="0A1628"/>
                    </a:solidFill>
                    <a:latin typeface="+mn-lt"/>
                  </a:defRPr>
                </a:pPr>
              </a:p>
            </c:txPr>
            <c:showLegendKey val="0"/>
            <c:showVal val="1"/>
            <c:showCatName val="0"/>
            <c:showSerName val="0"/>
            <c:showPercent val="0"/>
            <c:showBubbleSize val="0"/>
            <c:showLeaderLines val="0"/>
          </c:dLbls>
          <c:dPt>
            <c:idx val="0"/>
            <c:invertIfNegative val="0"/>
            <c:bubble3D val="0"/>
            <c:spPr>
              <a:solidFill>
                <a:srgbClr val="0E9AA7"/>
              </a:solidFill>
              <a:effectLst/>
            </c:spPr>
          </c:dPt>
          <c:dPt>
            <c:idx val="1"/>
            <c:invertIfNegative val="0"/>
            <c:bubble3D val="0"/>
            <c:spPr>
              <a:solidFill>
                <a:srgbClr val="0E9AA7"/>
              </a:solidFill>
              <a:effectLst/>
            </c:spPr>
          </c:dPt>
          <c:dPt>
            <c:idx val="2"/>
            <c:invertIfNegative val="0"/>
            <c:bubble3D val="0"/>
            <c:spPr>
              <a:solidFill>
                <a:srgbClr val="0E9AA7"/>
              </a:solidFill>
              <a:effectLst/>
            </c:spPr>
          </c:dPt>
          <c:dPt>
            <c:idx val="3"/>
            <c:invertIfNegative val="0"/>
            <c:bubble3D val="0"/>
            <c:spPr>
              <a:solidFill>
                <a:srgbClr val="0E9AA7"/>
              </a:solidFill>
              <a:effectLst/>
            </c:spPr>
          </c:dPt>
          <c:dPt>
            <c:idx val="4"/>
            <c:invertIfNegative val="0"/>
            <c:bubble3D val="0"/>
            <c:spPr>
              <a:solidFill>
                <a:srgbClr val="94A3B8"/>
              </a:solidFill>
              <a:effectLst/>
            </c:spPr>
          </c:dPt>
          <c:dPt>
            <c:idx val="5"/>
            <c:invertIfNegative val="0"/>
            <c:bubble3D val="0"/>
            <c:spPr>
              <a:solidFill>
                <a:srgbClr val="94A3B8"/>
              </a:solidFill>
              <a:effectLst/>
            </c:spPr>
          </c:dPt>
          <c:cat>
            <c:multiLvlStrRef>
              <c:f>Sheet1!$A$2:$A$7</c:f>
              <c:multiLvlStrCache>
                <c:ptCount val="6"/>
                <c:lvl>
                  <c:pt idx="0">
                    <c:v>IV change 5m</c:v>
                  </c:pt>
                  <c:pt idx="1">
                    <c:v>IV change 10m</c:v>
                  </c:pt>
                  <c:pt idx="2">
                    <c:v>Current IV</c:v>
                  </c:pt>
                  <c:pt idx="3">
                    <c:v>IV lag 5m</c:v>
                  </c:pt>
                  <c:pt idx="4">
                    <c:v>Bid-ask spread</c:v>
                  </c:pt>
                  <c:pt idx="5">
                    <c:v>Spot lag 5m</c:v>
                  </c:pt>
                </c:lvl>
              </c:multiLvlStrCache>
            </c:multiLvlStrRef>
          </c:cat>
          <c:val>
            <c:numRef>
              <c:f>Sheet1!$B$2:$B$7</c:f>
              <c:numCache>
                <c:formatCode>General</c:formatCode>
                <c:ptCount val="6"/>
                <c:pt idx="0">
                  <c:v>0.072086</c:v>
                </c:pt>
                <c:pt idx="1">
                  <c:v>0.067392</c:v>
                </c:pt>
                <c:pt idx="2">
                  <c:v>0.065294</c:v>
                </c:pt>
                <c:pt idx="3">
                  <c:v>0.042729</c:v>
                </c:pt>
                <c:pt idx="4">
                  <c:v>0.03515</c:v>
                </c:pt>
                <c:pt idx="5">
                  <c:v>0.034</c:v>
                </c:pt>
              </c:numCache>
            </c:numRef>
          </c:val>
        </c:ser>
        <c:dLbls>
          <c:numFmt formatCode="0.000" sourceLinked="0"/>
          <c:txPr>
            <a:bodyPr/>
            <a:lstStyle/>
            <a:p>
              <a:pPr>
                <a:defRPr b="1" i="0" strike="noStrike" sz="1100" u="none">
                  <a:solidFill>
                    <a:srgbClr val="0A1628"/>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A1628"/>
                </a:solidFill>
                <a:latin typeface="+mn-lt"/>
              </a:defRPr>
            </a:pPr>
            <a:endParaRPr lang="en-US"/>
          </a:p>
        </c:txPr>
        <c:crossAx val="2094734552"/>
        <c:crosses val="autoZero"/>
        <c:auto val="1"/>
        <c:lblAlgn val="ctr"/>
        <c:noMultiLvlLbl val="1"/>
      </c:catAx>
      <c:valAx>
        <c:axId val="2094734552"/>
        <c:scaling>
          <c:orientation val="minMax"/>
          <c:max val="0.09"/>
          <c:min val="0"/>
        </c:scaling>
        <c:delete val="0"/>
        <c:axPos val="b"/>
        <c:majorGridlines>
          <c:spPr>
            <a:ln w="6350" cap="flat">
              <a:solidFill>
                <a:srgbClr val="D5DDE8"/>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Relative IV</c:v>
                </c:pt>
              </c:strCache>
            </c:strRef>
          </c:tx>
          <c:spPr>
            <a:solidFill>
              <a:schemeClr val="accent1"/>
            </a:solidFill>
            <a:ln w="9525" cap="flat">
              <a:solidFill>
                <a:srgbClr val="F9F9F9"/>
              </a:solidFill>
              <a:prstDash val="solid"/>
              <a:round/>
            </a:ln>
            <a:effectLst/>
          </c:spPr>
          <c:dPt>
            <c:idx val="0"/>
            <c:bubble3D val="0"/>
            <c:spPr>
              <a:solidFill>
                <a:srgbClr val="B6C2D2"/>
              </a:solidFill>
              <a:ln w="12700" cap="flat">
                <a:solidFill>
                  <a:srgbClr val="FFFFFF"/>
                </a:solidFill>
                <a:prstDash val="solid"/>
                <a:round/>
              </a:ln>
              <a:effectLst/>
            </c:spPr>
          </c:dPt>
          <c:dPt>
            <c:idx val="1"/>
            <c:bubble3D val="0"/>
            <c:spPr>
              <a:solidFill>
                <a:srgbClr val="0E9AA7"/>
              </a:solidFill>
              <a:ln w="12700" cap="flat">
                <a:solidFill>
                  <a:srgbClr val="FFFFFF"/>
                </a:solidFill>
                <a:prstDash val="solid"/>
                <a:round/>
              </a:ln>
              <a:effectLst/>
            </c:spPr>
          </c:dPt>
          <c:dPt>
            <c:idx val="2"/>
            <c:bubble3D val="0"/>
            <c:spPr>
              <a:solidFill>
                <a:srgbClr val="10264A"/>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Fair / Neutral</c:v>
                </c:pt>
                <c:pt idx="1">
                  <c:v>High IV vs forecast</c:v>
                </c:pt>
                <c:pt idx="2">
                  <c:v>Low IV vs forecast</c:v>
                </c:pt>
              </c:strCache>
            </c:strRef>
          </c:cat>
          <c:val>
            <c:numRef>
              <c:f>Sheet1!$B$2:$B$4</c:f>
              <c:numCache>
                <c:ptCount val="3"/>
                <c:pt idx="0">
                  <c:v>766</c:v>
                </c:pt>
                <c:pt idx="1">
                  <c:v>152</c:v>
                </c:pt>
                <c:pt idx="2">
                  <c:v>65</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Option value</c:v>
                </c:pt>
              </c:strCache>
            </c:strRef>
          </c:tx>
          <c:spPr>
            <a:solidFill>
              <a:srgbClr val="94A3B8"/>
            </a:solidFill>
            <a:effectLst/>
          </c:spPr>
          <c:invertIfNegative val="0"/>
          <c:dLbls>
            <c:numFmt formatCode="&quot;₹&quot;0.00" sourceLinked="0"/>
            <c:txPr>
              <a:bodyPr/>
              <a:lstStyle/>
              <a:p>
                <a:pPr>
                  <a:defRPr b="1" i="0" strike="noStrike" sz="1100" u="none">
                    <a:solidFill>
                      <a:srgbClr val="0A1628"/>
                    </a:solidFill>
                    <a:latin typeface="+mn-lt"/>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D6455A"/>
              </a:solidFill>
              <a:effectLst/>
            </c:spPr>
          </c:dPt>
          <c:dPt>
            <c:idx val="2"/>
            <c:invertIfNegative val="0"/>
            <c:bubble3D val="0"/>
            <c:spPr>
              <a:solidFill>
                <a:srgbClr val="1FA971"/>
              </a:solidFill>
              <a:effectLst/>
            </c:spPr>
          </c:dPt>
          <c:dPt>
            <c:idx val="3"/>
            <c:invertIfNegative val="0"/>
            <c:bubble3D val="0"/>
            <c:spPr>
              <a:solidFill>
                <a:srgbClr val="D6455A"/>
              </a:solidFill>
              <a:effectLst/>
            </c:spPr>
          </c:dPt>
          <c:dPt>
            <c:idx val="4"/>
            <c:invertIfNegative val="0"/>
            <c:bubble3D val="0"/>
            <c:spPr>
              <a:solidFill>
                <a:srgbClr val="1FA971"/>
              </a:solidFill>
              <a:effectLst/>
            </c:spPr>
          </c:dPt>
          <c:cat>
            <c:multiLvlStrRef>
              <c:f>Sheet1!$A$2:$A$6</c:f>
              <c:multiLvlStrCache>
                <c:ptCount val="5"/>
                <c:lvl>
                  <c:pt idx="0">
                    <c:v>Baseline (BS value)</c:v>
                  </c:pt>
                  <c:pt idx="1">
                    <c:v>Spot −2%</c:v>
                  </c:pt>
                  <c:pt idx="2">
                    <c:v>IV +20%</c:v>
                  </c:pt>
                  <c:pt idx="3">
                    <c:v>Severe spot fall + IV spike</c:v>
                  </c:pt>
                  <c:pt idx="4">
                    <c:v>Spot rise + IV crush</c:v>
                  </c:pt>
                </c:lvl>
              </c:multiLvlStrCache>
            </c:multiLvlStrRef>
          </c:cat>
          <c:val>
            <c:numRef>
              <c:f>Sheet1!$B$2:$B$6</c:f>
              <c:numCache>
                <c:formatCode>General</c:formatCode>
                <c:ptCount val="5"/>
                <c:pt idx="0">
                  <c:v>85.07</c:v>
                </c:pt>
                <c:pt idx="1">
                  <c:v>1.47</c:v>
                </c:pt>
                <c:pt idx="2">
                  <c:v>103.29</c:v>
                </c:pt>
                <c:pt idx="3">
                  <c:v>4.39</c:v>
                </c:pt>
                <c:pt idx="4">
                  <c:v>450.42</c:v>
                </c:pt>
              </c:numCache>
            </c:numRef>
          </c:val>
        </c:ser>
        <c:dLbls>
          <c:numFmt formatCode="&quot;₹&quot;0.00" sourceLinked="0"/>
          <c:txPr>
            <a:bodyPr/>
            <a:lstStyle/>
            <a:p>
              <a:pPr>
                <a:defRPr b="1" i="0" strike="noStrike" sz="1100" u="none">
                  <a:solidFill>
                    <a:srgbClr val="0A162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550"/>
          <c:min val="0"/>
        </c:scaling>
        <c:delete val="0"/>
        <c:axPos val="l"/>
        <c:majorGridlines>
          <c:spPr>
            <a:ln w="6350" cap="flat">
              <a:solidFill>
                <a:srgbClr val="D5DDE8"/>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Actual mean |ΔIV|</c:v>
                </c:pt>
              </c:strCache>
            </c:strRef>
          </c:tx>
          <c:spPr>
            <a:solidFill>
              <a:srgbClr val="475D80"/>
            </a:solidFill>
            <a:effectLst/>
          </c:spPr>
          <c:invertIfNegative val="0"/>
          <c:dLbls>
            <c:numFmt formatCode="0.0" sourceLinked="0"/>
            <c:txPr>
              <a:bodyPr/>
              <a:lstStyle/>
              <a:p>
                <a:pPr>
                  <a:defRPr b="0" i="0" strike="noStrike" sz="950" u="none">
                    <a:solidFill>
                      <a:srgbClr val="0A1628"/>
                    </a:solidFill>
                    <a:latin typeface="+mn-lt"/>
                  </a:defRPr>
                </a:pPr>
              </a:p>
            </c:txPr>
            <c:showLegendKey val="0"/>
            <c:showVal val="1"/>
            <c:showCatName val="0"/>
            <c:showSerName val="0"/>
            <c:showPercent val="0"/>
            <c:showBubbleSize val="0"/>
            <c:showLeaderLines val="0"/>
          </c:dLbls>
          <c:cat>
            <c:multiLvlStrRef>
              <c:f>Sheet1!$A$2:$A$7</c:f>
              <c:multiLvlStrCache>
                <c:ptCount val="6"/>
                <c:lvl>
                  <c:pt idx="0">
                    <c:v>13:55</c:v>
                  </c:pt>
                  <c:pt idx="1">
                    <c:v>14:20</c:v>
                  </c:pt>
                  <c:pt idx="2">
                    <c:v>14:45</c:v>
                  </c:pt>
                  <c:pt idx="3">
                    <c:v>15:00</c:v>
                  </c:pt>
                  <c:pt idx="4">
                    <c:v>15:10</c:v>
                  </c:pt>
                  <c:pt idx="5">
                    <c:v>15:20</c:v>
                  </c:pt>
                </c:lvl>
              </c:multiLvlStrCache>
            </c:multiLvlStrRef>
          </c:cat>
          <c:val>
            <c:numRef>
              <c:f>Sheet1!$B$2:$B$7</c:f>
              <c:numCache>
                <c:formatCode>General</c:formatCode>
                <c:ptCount val="6"/>
                <c:pt idx="0">
                  <c:v>5.406</c:v>
                </c:pt>
                <c:pt idx="1">
                  <c:v>8.351</c:v>
                </c:pt>
                <c:pt idx="2">
                  <c:v>12.958</c:v>
                </c:pt>
                <c:pt idx="3">
                  <c:v>21.487</c:v>
                </c:pt>
                <c:pt idx="4">
                  <c:v>32.832</c:v>
                </c:pt>
                <c:pt idx="5">
                  <c:v>53.232</c:v>
                </c:pt>
              </c:numCache>
            </c:numRef>
          </c:val>
        </c:ser>
        <c:ser>
          <c:idx val="1"/>
          <c:order val="1"/>
          <c:tx>
            <c:strRef>
              <c:f>Sheet1!$C$1</c:f>
              <c:strCache>
                <c:ptCount val="1"/>
                <c:pt idx="0">
                  <c:v>RF MAE</c:v>
                </c:pt>
              </c:strCache>
            </c:strRef>
          </c:tx>
          <c:spPr>
            <a:solidFill>
              <a:srgbClr val="D6455A"/>
            </a:solidFill>
            <a:effectLst/>
          </c:spPr>
          <c:invertIfNegative val="0"/>
          <c:dLbls>
            <c:numFmt formatCode="0.0" sourceLinked="0"/>
            <c:txPr>
              <a:bodyPr/>
              <a:lstStyle/>
              <a:p>
                <a:pPr>
                  <a:defRPr b="0" i="0" strike="noStrike" sz="950" u="none">
                    <a:solidFill>
                      <a:srgbClr val="0A1628"/>
                    </a:solidFill>
                    <a:latin typeface="+mn-lt"/>
                  </a:defRPr>
                </a:pPr>
              </a:p>
            </c:txPr>
            <c:showLegendKey val="0"/>
            <c:showVal val="1"/>
            <c:showCatName val="0"/>
            <c:showSerName val="0"/>
            <c:showPercent val="0"/>
            <c:showBubbleSize val="0"/>
            <c:showLeaderLines val="0"/>
          </c:dLbls>
          <c:cat>
            <c:multiLvlStrRef>
              <c:f>Sheet1!$A$2:$A$7</c:f>
              <c:multiLvlStrCache>
                <c:ptCount val="6"/>
                <c:lvl>
                  <c:pt idx="0">
                    <c:v>13:55</c:v>
                  </c:pt>
                  <c:pt idx="1">
                    <c:v>14:20</c:v>
                  </c:pt>
                  <c:pt idx="2">
                    <c:v>14:45</c:v>
                  </c:pt>
                  <c:pt idx="3">
                    <c:v>15:00</c:v>
                  </c:pt>
                  <c:pt idx="4">
                    <c:v>15:10</c:v>
                  </c:pt>
                  <c:pt idx="5">
                    <c:v>15:20</c:v>
                  </c:pt>
                </c:lvl>
              </c:multiLvlStrCache>
            </c:multiLvlStrRef>
          </c:cat>
          <c:val>
            <c:numRef>
              <c:f>Sheet1!$C$2:$C$7</c:f>
              <c:numCache>
                <c:formatCode>General</c:formatCode>
                <c:ptCount val="6"/>
                <c:pt idx="0">
                  <c:v>7.079</c:v>
                </c:pt>
                <c:pt idx="1">
                  <c:v>11.707</c:v>
                </c:pt>
                <c:pt idx="2">
                  <c:v>15.856</c:v>
                </c:pt>
                <c:pt idx="3">
                  <c:v>25.509</c:v>
                </c:pt>
                <c:pt idx="4">
                  <c:v>35.395</c:v>
                </c:pt>
                <c:pt idx="5">
                  <c:v>56.922</c:v>
                </c:pt>
              </c:numCache>
            </c:numRef>
          </c:val>
        </c:ser>
        <c:dLbls>
          <c:numFmt formatCode="0.0" sourceLinked="0"/>
          <c:txPr>
            <a:bodyPr/>
            <a:lstStyle/>
            <a:p>
              <a:pPr>
                <a:defRPr b="0" i="0" strike="noStrike" sz="950" u="none">
                  <a:solidFill>
                    <a:srgbClr val="0A162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64748B"/>
                    </a:solidFill>
                    <a:latin typeface="+mn-lt"/>
                  </a:defRPr>
                </a:pPr>
                <a:r>
                  <a:rPr sz="1100" b="0" i="0" u="none" strike="noStrike">
                    <a:solidFill>
                      <a:srgbClr val="64748B"/>
                    </a:solidFill>
                    <a:latin typeface="+mn-lt"/>
                  </a:rPr>
                  <a:t>Time of day on 19 Oct 2026</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D5DDE8"/>
              </a:solidFill>
              <a:prstDash val="solid"/>
              <a:round/>
            </a:ln>
          </c:spPr>
        </c:majorGridlines>
        <c:title>
          <c:tx>
            <c:rich>
              <a:bodyPr/>
              <a:lstStyle/>
              <a:p>
                <a:pPr>
                  <a:defRPr sz="1100" b="0" i="0" u="none" strike="noStrike">
                    <a:solidFill>
                      <a:srgbClr val="64748B"/>
                    </a:solidFill>
                    <a:latin typeface="+mn-lt"/>
                  </a:defRPr>
                </a:pPr>
                <a:r>
                  <a:rPr sz="1100" b="0" i="0" u="none" strike="noStrike">
                    <a:solidFill>
                      <a:srgbClr val="64748B"/>
                    </a:solidFill>
                    <a:latin typeface="+mn-lt"/>
                  </a:rPr>
                  <a:t>IV units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10"/>
      </c:valAx>
      <c:spPr>
        <a:noFill/>
        <a:ln>
          <a:noFill/>
        </a:ln>
        <a:effectLst/>
      </c:spPr>
    </c:plotArea>
    <c:legend>
      <c:legendPos val="t"/>
      <c:overlay val="0"/>
      <c:txPr>
        <a:bodyPr/>
        <a:lstStyle/>
        <a:p>
          <a:pPr>
            <a:defRPr sz="1100">
              <a:solidFill>
                <a:srgbClr val="64748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Introduce yourself and the exact project title. Explain that this is an academic internship project in quantitative finance focused on NIFTY 50 options. Mention that the project combines 5-minute implied-volatility forecasting, relative valuation, stress testing and a Streamlit-based live-market prototype.
WHY THIS WAS DONE
The project was carried out in an options-trading setting at Surabhi Investment Services Pvt. Ltd., where implied volatility is a directly observable market variable.
WHAT THE RESULT / POINT MEANS
The title promises four things: real-time (5-minute) IV forecasting, relative valuation (relative-IV interpretation), NIFTY 50 options, and machine learning (Random Forest vs persistence and XGBoost). The slides that follow evidence each of them, including the limitations.
LIKELY VIVA QUESTION
Q: Can you summarise your project in one sentence?
A: I built and validated a prototype that forecasts the five-minute-ahead change in implied volatility of near-ATM NIFTY 50 options, compares a Random Forest with persistence and XGBoost, interprets the forecast as relative IV, stress-tests option value with Black-Scholes, and runs it in a Streamlit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State the internship organisation, location, period and area exactly. The duration is 59 calendar days inclusive. Emphasise that the internship was relevant because it gave an options-trading setting for studying implied volatility, forecasting and risk; do not claim duties that are not documented.
WHY THIS WAS DONE
Options trading makes implied volatility a directly observable and economically important variable, so it is a natural research object in this setting.
WHAT THE RESULT / POINT MEANS
IV changes feed straight into option premiums, relative value and risk management, which is why the project asks whether near-term IV movement can be forecast and interpreted usefully.
LIKELY VIVA QUESTION
Q: What were your responsibilities at the company?
A: The project work documented in this presentation. I do not claim additional company responsibilities beyond the project and internship details documented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Explain IV in simple terms: it is the volatility implied by the market price of the option. Then explain the smile/skew idea and why IV varies across strikes. Position the project as a quantitative-finance application combining derivatives theory, machine learning and risk analysis.
WHY THIS WAS DONE
Strike and moneyness are important dimensions of option analysis because IV is not constant across strikes; the cross-section can form a smile or skew.
WHAT THE RESULT / POINT MEANS
The diagram is an illustrative schematic of a smile/skew, not measured data. The project forecasts how IV may change over the next five minutes and treats forecasts as research signals.
LIKELY VIVA QUESTION
Q: What is the volatility smile and why does it matter for your project?
A: IV differs across strikes, so the cross-section can form a smile or skew. That is why I model strike-related features such as moneyness and restrict the sample to near-ATM options (0.95 &lt;= M &lt;= 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Frame the central research question around beating persistence. Explain why persistence is a strong benchmark over only five minutes. Stress that the project is not just prediction; it also interprets forecasts and tests how option value reacts under adverse scenarios.
WHY THIS WAS DONE
Over five minutes IV usually changes little, so a model must be compared against the simple assumption that IV stays unchanged; otherwise a high R-squared would be misleading.
WHAT THE RESULT / POINT MEANS
The problem has three parts: the forecasting question, the persistence benchmark, and the decision-support uses (relative-IV interpretation, stress testing, dashboard).
LIKELY VIVA QUESTION
Q: Why is persistence a hard benchmark to beat?
A: Over only five minutes, IV is very persistent, so “IV stays unchanged” already explains most of the level. The ML model adds value only if its out-of-sample error is lower than that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Present the objectives as a sequence: collect data, engineer features, forecast IV, interpret relative value, and finally stress-test/deploy. This makes clear that the project was an end-to-end research and implementation exercise rather than only a model-fitting exercise.
WHY THIS WAS DONE
Each objective feeds the next: clean, time-aligned data is needed for leakage-free features, which are needed for a fair forecast, which is then interpreted and risk-tested.
WHAT THE RESULT / POINT MEANS
The deployment objective is only partially validated (API connection and 5-minute loop work; full market-hours live validation remains), as stated in the conclusion.
LIKELY VIVA QUESTION
Q: Which objectives were fully achieved?
A: Forecasting (as a prototype), interpretation and risk testing were achieved; deployment was partially validated because full market-hours live validation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Explain the three core concepts. First, Black-Scholes links option price to volatility; IV is the volatility consistent with the market price. Second, moneyness standardises strike relative to spot. Third, the actual ML target is the five-minute change in IV, while persistence assumes no change.
WHY THIS WAS DONE
Black-Scholes gives the map between volatility and option value; moneyness M = K / S puts all strikes on a common scale; the near-ATM filter 0.95 &lt;= M &lt;= 1.05 keeps the analysis on near-ATM strikes.
WHAT THE RESULT / POINT MEANS
Because there is no direct closed-form inversion, IV is found by numerical root-finding. The ML model only adds value if its out-of-sample error beats the persistence forecast. (The d1 and d2 definitions on the slide are the standard textbook ones, shown to explain the symbols.)
LIKELY VIVA QUESTION
Q: How do you get implied volatility from a market price?
A: Implied volatility is the value of sigma that makes the theoretical Black-Scholes price equal the observed market price. There is no direct closed-form inversion, so numerical root-finding is normally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Walk through the data funnel rather than only quoting the final sample. The raw development master had 8,424 rows from 81 snapshots. After restructuring, exact target matching, the near-ATM filter and exact lag construction, 4,853 rows remained. Keep 19 October separate as the expiry-day robustness sample.
WHY THIS WAS DONE
Positive IV only, a near-ATM economic filter, exact time matching, and no target-based outlier deletion keep the sample economically meaningful and free of look-ahead.
WHAT THE RESULT / POINT MEANS
The final development sample is 4,853 near-ATM rows across 64 timestamps. The 1,137-row expiry-day sample (18 lag-ready timestamps on 19 Oct 2026) is a separate robustness test, not part of the development sample.
LIKELY VIVA QUESTION
Q: Why do the counts fall from 12,816 to 4,853?
A: Each stage applies a requirement: an exact +5-minute target match (11,130), the near-ATM filter 0.95 &lt;= M &lt;= 1.05 (5,620), and exact 5-minute and 10-minute lags (4,853). I did not delete observations based on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Explain the methodology sequentially. Emphasise exact five-minute matching and chronological validation. The most important methodological safeguard is that strikes observed at the same timestamp are cross-sectional observations, so the split was done by time, not by randomly splitting rows.
WHY THIS WAS DONE
Exact +5-minute target matching and exact lags avoid look-ahead leakage; splitting by unique timestamps respects the time ordering of the data.
WHAT THE RESULT / POINT MEANS
Strikes at the same timestamp share the same market moment, so they are not independent time periods. A random row split could put strikes from the same timestamp on both sides of the split and flatter the model.
LIKELY VIVA QUESTION
Q: Why not use a random train/test split?
A: Strikes observed at the same timestamp are cross-sectional observations, not independent time periods. I split by unique timestamps in chronological order so that the holdout is genuinely later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Give the actual Random Forest settings and explain that regression does not imply a linear relationship; Random Forest is nonlinear. Mention the 39-feature design. Also note that XGBoost, a probability classifier, Black-Scholes stress testing, saved model files, and the live Upstox pipeline were implemented as supporting components.
WHY THIS WAS DONE
Random Forest is a nonlinear tree ensemble suitable for interactions among IV, moneyness, liquidity and recent market movement. An initial direct-level Linear Regression was much weaker (MAE about 6.17), which motivated nonlinear tree models.
WHAT THE RESULT / POINT MEANS
Settings: 300 trees, max depth 12, min leaf 3, max features sqrt; target is the five-minute change in IV. Features: 15 current plus 24 lag/momentum (5-minute and 10-minute). The saved model, feature list and training medians are exported with joblib so the dashboard can reuse them.
LIKELY VIVA QUESTION
Q: Why Random Forest and not a linear model?
A: The relationships among IV, moneyness, liquidity and recent movement are nonlinear and interacting. A tree ensemble can capture that, and an initial direct-level Linear Regression was much weaker (MAE about 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Focus on the comparable final holdout. Random Forest with lag features was the only model that clearly improved both MAE and RMSE versus persistence. The improvement is modest but real: about 5.3% in MAE and 7.7% in RMSE. Do not overstate R-squared because IV is already very persistent.
WHY THIS WAS DONE
MAE and RMSE measure forecast error in the same units as the target (lower is better); the persistence forecast is the benchmark every model has to beat. Initial direct-level Linear Regression was much weaker (MAE about 6.17), which motivated nonlinear tree models.
WHAT THE RESULT / POINT MEANS
Persistence: MAE 0.5505, RMSE 1.3207, R2 0.9843. Random Forest + Lag: MAE 0.5214, RMSE 1.2188, R2 0.9866. XGBoost + Lag: MAE 0.5530, RMSE 1.2964, R2 0.9849. Random Forest improves on persistence by about 5.28% (MAE) and 7.72% (RMSE). XGBoost improved RMSE but not MAE.
LIKELY VIVA QUESTION
Q: R-squared is 0.98 for every model. Does that prove the model predicts well?
A: No. IV is already very persistent over five minutes, so even persistence has R2 of 0.9843. The evidence is the lower MAE and RMSE of Random Forest than persistence on the same chronological holdout: modest but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Interpret the feature importance: recent IV movement and current IV dominate, with liquidity and spot information also contributing. Explain the relative-IV labels carefully: "low IV" means current IV is below the model's five-minute forecast, not that the option is definitely cheap. Mention that thresholding improved directional accuracy on a smaller subset, while the probability classifier was too weak to use as a confidence score.
WHY THIS WAS DONE
Relative-IV compares today's IV with the model's five-minute expectation, turning a forecast into a low / neutral / high reading. Directional filtering checks whether larger predicted moves are more reliable.
WHAT THE RESULT / POINT MEANS
Relative-IV: Fair/Neutral 766 (77.92%), High IV vs forecast 152 (15.46%), Low IV vs forecast 65 (6.61%); most were neutral because the model forecast only a small near-term IV change. Overall RF direction accuracy was 53.20%; at predicted |dIV| thresholds of 0.05-0.25 accuracy rose to about 63-64% while coverage fell to about 16-28%. The experimental Random Forest classifier reached 50.36% accuracy (51.44% balanced), so its probabilities were not treated as reliable trading confidence.
LIKELY VIVA QUESTION
Q: Does "Low IV vs forecast" mean the option is cheap and should be bought?
A: No. It only means current IV is below the model's five-minute forecast. Option value also depends on spot movement and time decay, which is why I added Black-Scholes stress testing, and the forecast is a research signal, not a guaranteed trading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Use the stress-test case to show why an "IV up" forecast is not automatically a buy signal. For the selected near-ATM call, a 2% spot fall overwhelmed the benefit of higher IV. Then explain the practical application: the dashboard combines forecast, relative valuation and risk rather than relying on a single model output.
WHY THIS WAS DONE
Option value depends on spot, IV and time. Stress testing shows how theoretical value moves when those inputs are shocked, using Black-Scholes with a 6% annual risk-free-rate assumption.
WHAT THE RESULT / POINT MEANS
Case: 23,150 CE, spot 23,125.65, market LTP Rs 81.70, IV 10.71%, time to expiry 74.58 hours, Black-Scholes value Rs 85.07. Results: Spot -2% gives Rs 1.47 (-98.28%); IV +20% gives Rs 103.29 (+21.41%); severe spot fall + IV spike gives Rs 4.39 (-94.84%); spot rise + IV crush gives Rs 450.42 (+429.47%). For this call, spot-price exposure dominated moderate IV and short-horizon time-decay effects.
LIKELY VIVA QUESTION
Q: If the model forecasts IV to rise, should one buy the call?
A: Not automatically. In the stress test, a 2% spot fall cut the theoretical value by 98.28% even though higher IV alone added about 21%. The forecast is a research signal that has to be read together with spot risk, not a guaranteed trading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This slide is important. Do not hide the poor expiry-day result. Explain that it is evidence of regime shift, not a reason to delete difficult observations. The training set had roughly three to four days remaining, while the robustness sample had minutes remaining. More historical days, especially expiry days, are the highest-priority extension.
WHY THIS WAS DONE
The 19 Oct 2026 expiry-day sample (1,137 rows, 18 lag-ready timestamps) was kept separate to test whether the model holds up in a regime it was not developed on.
WHAT THE RESULT / POINT MEANS
On expiry day the Random Forest MAE was 17.42 versus 14.47 for persistence (the better baseline), and direction accuracy collapsed to 19.09%. In the chart, RF MAE exceeds the actual mean |dIV| at every plotted time (13:55 to 15:20). Development time-to-expiry was 74.6-100.6 hours; on 19 Oct it was 0.17-1.58 hours, so the model had never seen true expiry-day conditions.
LIKELY VIVA QUESTION
Q: Why did the model fail on expiry day, and does that invalidate the project?
A: It is a regime shift: training saw roughly three to four days to expiry, the test had minutes. It does not invalidate the development-regime result, but it shows performance is regime-dependent; priorities are more days including expiry days, exact time-to-expiry and Greeks, and regime-aware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Summarise the project without introducing new results. The core objective was achieved as a prototype: RF improved on persistence in the development holdout, the forecast was translated into a relative-IV layer, and stress testing/dashboard deployment were implemented. The strongest caution is that performance is regime-dependent, especially near expiry.
WHY THIS WAS DONE
The conclusion is built directly from the reported results: a modest improvement over persistence in the development regime, an implemented interpretation layer, implemented stress testing, an API connection and 5-minute loop, and an honest statement of what remains.
WHAT THE RESULT / POINT MEANS
Random Forest MAE 0.5214 versus persistence 0.5505 on the development holdout; the expiry-day test (RF MAE 17.42 vs persistence 14.47) shows that the advantage does not carry over to a different regime. Full market-hours live validation remains incomplete.
LIKELY VIVA QUESTION
Q: Was the project successful?
A: As a prototype, yes: it achieved a modest but measurable improvement over persistence in the normal development regime and implemented relative-IV interpretation, Black-Scholes stress testing, API connection and a 5-minute collection loop. It is not a stand-alone trading rule, because performance is regime-dependent and full live validation remains.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EXPLAIN
Close by acknowledging the internship organisation and university. The references shown are the main traceable theoretical, market-data, API and software sources used in the project. Invite questions.
WHY THIS WAS DONE
The references cover the theory (Black and Scholes), the market and API data sources (NSE, Upstox) and the software documentation (scikit-learn, XGBoost, Streamlit).
WHAT THE RESULT / POINT MEANS
The acknowledgement thanks Surabhi Investment Services Pvt. Ltd. for the internship exposure in options trading and Pondicherry University for academic guidance and support.
LIKELY VIVA QUESTION
Q: What would you do next if you continued this project?
A: Collect months of 5-minute data including multiple expiry days, add exact time-to-expiry and Greeks, calibrate probabilities, run cost-aware backtests with time-series cross-validation, and build regime-aware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2F5F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73952"/>
            <a:ext cx="8229600" cy="228600"/>
          </a:xfrm>
          <a:prstGeom prst="rect">
            <a:avLst/>
          </a:prstGeom>
          <a:noFill/>
          <a:ln/>
        </p:spPr>
        <p:txBody>
          <a:bodyPr wrap="square" lIns="0" tIns="0" rIns="0" bIns="0" rtlCol="0" anchor="ctr"/>
          <a:lstStyle/>
          <a:p>
            <a:pPr indent="0" marL="0">
              <a:buNone/>
            </a:pPr>
            <a:r>
              <a:rPr lang="en-US" sz="1000" dirty="0">
                <a:solidFill>
                  <a:schemeClr val="accent4"/>
                </a:solidFill>
              </a:rPr>
              <a:t>Diviya C.  |  Real-Time IV Forecasting of NIFTY 50 Options  |  Pondicherry University</a:t>
            </a:r>
            <a:endParaRPr lang="en-US" sz="100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A162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59436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548640" y="6473952"/>
            <a:ext cx="8229600" cy="228600"/>
          </a:xfrm>
          <a:prstGeom prst="rect">
            <a:avLst/>
          </a:prstGeom>
          <a:noFill/>
          <a:ln/>
        </p:spPr>
        <p:txBody>
          <a:bodyPr wrap="square" lIns="0" tIns="0" rIns="0" bIns="0" rtlCol="0" anchor="ctr"/>
          <a:lstStyle/>
          <a:p>
            <a:pPr indent="0" marL="0">
              <a:buNone/>
            </a:pPr>
            <a:r>
              <a:rPr lang="en-US" sz="1000" dirty="0">
                <a:solidFill>
                  <a:schemeClr val="accent6"/>
                </a:solidFill>
              </a:rPr>
              <a:t>Diviya C.  |  Real-Time IV Forecasting of NIFTY 50 Options  |  Pondicherry University</a:t>
            </a:r>
            <a:endParaRPr lang="en-US" sz="100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A162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6766560" cy="1828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548640"/>
            <a:ext cx="6400800" cy="228600"/>
          </a:xfrm>
          <a:prstGeom prst="rect">
            <a:avLst/>
          </a:prstGeom>
          <a:noFill/>
          <a:ln/>
        </p:spPr>
        <p:txBody>
          <a:bodyPr wrap="square" lIns="0" tIns="0" rIns="0" bIns="0" rtlCol="0" anchor="t"/>
          <a:lstStyle/>
          <a:p>
            <a:pPr indent="0" marL="0">
              <a:buNone/>
            </a:pPr>
            <a:r>
              <a:rPr lang="en-US" sz="1200" b="1" spc="300" kern="0" dirty="0">
                <a:solidFill>
                  <a:schemeClr val="accent6"/>
                </a:solidFill>
              </a:rPr>
              <a:t>ACADEMIC INTERNSHIP PROJECT</a:t>
            </a:r>
            <a:endParaRPr lang="en-US" sz="1200" dirty="0"/>
          </a:p>
        </p:txBody>
      </p:sp>
      <p:sp>
        <p:nvSpPr>
          <p:cNvPr id="4" name="Text 0"/>
          <p:cNvSpPr/>
          <p:nvPr>
            <p:ph idx="100" type="title" hasCustomPrompt="1"/>
          </p:nvPr>
        </p:nvSpPr>
        <p:spPr>
          <a:xfrm>
            <a:off x="640080" y="914400"/>
            <a:ext cx="6766560" cy="1828800"/>
          </a:xfrm>
          <a:prstGeom prst="rect">
            <a:avLst/>
          </a:prstGeom>
          <a:noFill/>
          <a:ln/>
        </p:spPr>
        <p:txBody>
          <a:bodyPr wrap="square" lIns="0" tIns="0" rIns="0" bIns="0" rtlCol="0" anchor="t"/>
          <a:lstStyle/>
          <a:p>
            <a:pPr algn="l" indent="0" marL="0">
              <a:buNone/>
            </a:pPr>
            <a:r>
              <a:rPr lang="en-US" sz="3200" b="1" dirty="0">
                <a:solidFill>
                  <a:schemeClr val="bg1"/>
                </a:solidFill>
              </a:rPr>
              <a:t>Real-Time Implied Volatility Forecasting and Relative Valuation of NIFTY 50 Options Using Machine Learning</a:t>
            </a:r>
            <a:endParaRPr lang="en-US" sz="3200" dirty="0"/>
          </a:p>
        </p:txBody>
      </p:sp>
      <p:sp>
        <p:nvSpPr>
          <p:cNvPr id="5" name="Text 2"/>
          <p:cNvSpPr txBox="1"/>
          <p:nvPr/>
        </p:nvSpPr>
        <p:spPr>
          <a:xfrm>
            <a:off x="640080" y="2834640"/>
            <a:ext cx="6858000" cy="457200"/>
          </a:xfrm>
          <a:prstGeom prst="rect">
            <a:avLst/>
          </a:prstGeom>
          <a:noFill/>
          <a:ln/>
        </p:spPr>
        <p:txBody>
          <a:bodyPr wrap="square" lIns="0" tIns="0" rIns="0" bIns="0" rtlCol="0" anchor="t"/>
          <a:lstStyle/>
          <a:p>
            <a:pPr indent="0" marL="0">
              <a:buNone/>
            </a:pPr>
            <a:r>
              <a:rPr lang="en-US" sz="1200" b="1" dirty="0">
                <a:solidFill>
                  <a:schemeClr val="accent6"/>
                </a:solidFill>
              </a:rPr>
              <a:t>Quantitative Options Analytics  |  Implied Volatility Intelligence  |  Machine Learning  |  Risk-Aware Decision Support</a:t>
            </a:r>
            <a:endParaRPr lang="en-US" sz="1200" dirty="0"/>
          </a:p>
        </p:txBody>
      </p:sp>
      <p:sp>
        <p:nvSpPr>
          <p:cNvPr id="6" name="Text 3"/>
          <p:cNvSpPr txBox="1"/>
          <p:nvPr/>
        </p:nvSpPr>
        <p:spPr>
          <a:xfrm>
            <a:off x="640080" y="3401568"/>
            <a:ext cx="6858000" cy="548640"/>
          </a:xfrm>
          <a:prstGeom prst="rect">
            <a:avLst/>
          </a:prstGeom>
          <a:noFill/>
          <a:ln/>
        </p:spPr>
        <p:txBody>
          <a:bodyPr wrap="square" lIns="0" tIns="0" rIns="0" bIns="0" rtlCol="0" anchor="t"/>
          <a:lstStyle/>
          <a:p>
            <a:pPr indent="0" marL="0">
              <a:buNone/>
            </a:pPr>
            <a:r>
              <a:rPr lang="en-US" sz="1300" dirty="0">
                <a:solidFill>
                  <a:srgbClr val="C9D3E2"/>
                </a:solidFill>
              </a:rPr>
              <a:t>A 5-minute forecasting prototype integrating option-chain analytics, machine learning, relative-IV interpretation, stress testing and a live dashboard.</a:t>
            </a:r>
            <a:endParaRPr lang="en-US" sz="1300" dirty="0"/>
          </a:p>
        </p:txBody>
      </p:sp>
      <p:sp>
        <p:nvSpPr>
          <p:cNvPr id="7" name="Shape 4"/>
          <p:cNvSpPr/>
          <p:nvPr/>
        </p:nvSpPr>
        <p:spPr>
          <a:xfrm>
            <a:off x="640080" y="4114800"/>
            <a:ext cx="1143000" cy="310896"/>
          </a:xfrm>
          <a:prstGeom prst="roundRect">
            <a:avLst>
              <a:gd name="adj" fmla="val 50000"/>
            </a:avLst>
          </a:prstGeom>
          <a:solidFill>
            <a:schemeClr val="accent6">
              <a:alpha val="12000"/>
            </a:schemeClr>
          </a:solidFill>
          <a:ln w="9525">
            <a:solidFill>
              <a:schemeClr val="accent6">
                <a:alpha val="60000"/>
              </a:schemeClr>
            </a:solidFill>
            <a:prstDash val="solid"/>
          </a:ln>
        </p:spPr>
      </p:sp>
      <p:sp>
        <p:nvSpPr>
          <p:cNvPr id="8" name="Text 5"/>
          <p:cNvSpPr txBox="1"/>
          <p:nvPr/>
        </p:nvSpPr>
        <p:spPr>
          <a:xfrm>
            <a:off x="640080" y="4114800"/>
            <a:ext cx="1143000" cy="310896"/>
          </a:xfrm>
          <a:prstGeom prst="rect">
            <a:avLst/>
          </a:prstGeom>
          <a:noFill/>
          <a:ln/>
        </p:spPr>
        <p:txBody>
          <a:bodyPr wrap="square" lIns="0" tIns="0" rIns="0" bIns="0" rtlCol="0" anchor="ctr"/>
          <a:lstStyle/>
          <a:p>
            <a:pPr algn="ctr" indent="0" marL="0">
              <a:buNone/>
            </a:pPr>
            <a:r>
              <a:rPr lang="en-US" sz="1100" b="1" dirty="0">
                <a:solidFill>
                  <a:schemeClr val="accent6"/>
                </a:solidFill>
              </a:rPr>
              <a:t>NIFTY 50</a:t>
            </a:r>
            <a:endParaRPr lang="en-US" sz="1100" dirty="0"/>
          </a:p>
        </p:txBody>
      </p:sp>
      <p:sp>
        <p:nvSpPr>
          <p:cNvPr id="9" name="Shape 6"/>
          <p:cNvSpPr/>
          <p:nvPr/>
        </p:nvSpPr>
        <p:spPr>
          <a:xfrm>
            <a:off x="1920240" y="4114800"/>
            <a:ext cx="1463040" cy="310896"/>
          </a:xfrm>
          <a:prstGeom prst="roundRect">
            <a:avLst>
              <a:gd name="adj" fmla="val 50000"/>
            </a:avLst>
          </a:prstGeom>
          <a:solidFill>
            <a:schemeClr val="accent6">
              <a:alpha val="12000"/>
            </a:schemeClr>
          </a:solidFill>
          <a:ln w="9525">
            <a:solidFill>
              <a:schemeClr val="accent6">
                <a:alpha val="60000"/>
              </a:schemeClr>
            </a:solidFill>
            <a:prstDash val="solid"/>
          </a:ln>
        </p:spPr>
      </p:sp>
      <p:sp>
        <p:nvSpPr>
          <p:cNvPr id="10" name="Text 7"/>
          <p:cNvSpPr txBox="1"/>
          <p:nvPr/>
        </p:nvSpPr>
        <p:spPr>
          <a:xfrm>
            <a:off x="1920240" y="4114800"/>
            <a:ext cx="1463040" cy="310896"/>
          </a:xfrm>
          <a:prstGeom prst="rect">
            <a:avLst/>
          </a:prstGeom>
          <a:noFill/>
          <a:ln/>
        </p:spPr>
        <p:txBody>
          <a:bodyPr wrap="square" lIns="0" tIns="0" rIns="0" bIns="0" rtlCol="0" anchor="ctr"/>
          <a:lstStyle/>
          <a:p>
            <a:pPr algn="ctr" indent="0" marL="0">
              <a:buNone/>
            </a:pPr>
            <a:r>
              <a:rPr lang="en-US" sz="1100" b="1" dirty="0">
                <a:solidFill>
                  <a:schemeClr val="accent6"/>
                </a:solidFill>
              </a:rPr>
              <a:t>5-minute horizon</a:t>
            </a:r>
            <a:endParaRPr lang="en-US" sz="1100" dirty="0"/>
          </a:p>
        </p:txBody>
      </p:sp>
      <p:sp>
        <p:nvSpPr>
          <p:cNvPr id="11" name="Shape 8"/>
          <p:cNvSpPr/>
          <p:nvPr/>
        </p:nvSpPr>
        <p:spPr>
          <a:xfrm>
            <a:off x="3520440" y="4114800"/>
            <a:ext cx="1371600" cy="310896"/>
          </a:xfrm>
          <a:prstGeom prst="roundRect">
            <a:avLst>
              <a:gd name="adj" fmla="val 50000"/>
            </a:avLst>
          </a:prstGeom>
          <a:solidFill>
            <a:schemeClr val="accent6">
              <a:alpha val="12000"/>
            </a:schemeClr>
          </a:solidFill>
          <a:ln w="9525">
            <a:solidFill>
              <a:schemeClr val="accent6">
                <a:alpha val="60000"/>
              </a:schemeClr>
            </a:solidFill>
            <a:prstDash val="solid"/>
          </a:ln>
        </p:spPr>
      </p:sp>
      <p:sp>
        <p:nvSpPr>
          <p:cNvPr id="12" name="Text 9"/>
          <p:cNvSpPr txBox="1"/>
          <p:nvPr/>
        </p:nvSpPr>
        <p:spPr>
          <a:xfrm>
            <a:off x="3520440" y="4114800"/>
            <a:ext cx="1371600" cy="310896"/>
          </a:xfrm>
          <a:prstGeom prst="rect">
            <a:avLst/>
          </a:prstGeom>
          <a:noFill/>
          <a:ln/>
        </p:spPr>
        <p:txBody>
          <a:bodyPr wrap="square" lIns="0" tIns="0" rIns="0" bIns="0" rtlCol="0" anchor="ctr"/>
          <a:lstStyle/>
          <a:p>
            <a:pPr algn="ctr" indent="0" marL="0">
              <a:buNone/>
            </a:pPr>
            <a:r>
              <a:rPr lang="en-US" sz="1100" b="1" dirty="0">
                <a:solidFill>
                  <a:schemeClr val="accent6"/>
                </a:solidFill>
              </a:rPr>
              <a:t>Random Forest</a:t>
            </a:r>
            <a:endParaRPr lang="en-US" sz="1100" dirty="0"/>
          </a:p>
        </p:txBody>
      </p:sp>
      <p:graphicFrame>
        <p:nvGraphicFramePr>
          <p:cNvPr id="13" name="Chart 0" descr=""/>
          <p:cNvGraphicFramePr/>
          <p:nvPr/>
        </p:nvGraphicFramePr>
        <p:xfrm>
          <a:off x="548640" y="4572000"/>
          <a:ext cx="6858000" cy="1508760"/>
        </p:xfrm>
        <a:graphic xmlns:a="http://schemas.openxmlformats.org/drawingml/2006/main">
          <a:graphicData uri="http://schemas.openxmlformats.org/drawingml/2006/chart">
            <c:chart xmlns:c="http://schemas.openxmlformats.org/drawingml/2006/chart" r:id="rId1"/>
          </a:graphicData>
        </a:graphic>
      </p:graphicFrame>
      <p:sp>
        <p:nvSpPr>
          <p:cNvPr id="14" name="Text 10"/>
          <p:cNvSpPr txBox="1"/>
          <p:nvPr/>
        </p:nvSpPr>
        <p:spPr>
          <a:xfrm>
            <a:off x="640080" y="6108192"/>
            <a:ext cx="6766560" cy="201168"/>
          </a:xfrm>
          <a:prstGeom prst="rect">
            <a:avLst/>
          </a:prstGeom>
          <a:noFill/>
          <a:ln/>
        </p:spPr>
        <p:txBody>
          <a:bodyPr wrap="square" lIns="0" tIns="0" rIns="0" bIns="0" rtlCol="0" anchor="t"/>
          <a:lstStyle/>
          <a:p>
            <a:pPr indent="0" marL="0">
              <a:buNone/>
            </a:pPr>
            <a:r>
              <a:rPr lang="en-US" sz="1000" i="1" dirty="0">
                <a:solidFill>
                  <a:srgbClr val="8FA0BB"/>
                </a:solidFill>
              </a:rPr>
              <a:t>Illustrative implied-volatility smile across strikes (schematic, not market data)</a:t>
            </a:r>
            <a:endParaRPr lang="en-US" sz="1000" dirty="0"/>
          </a:p>
        </p:txBody>
      </p:sp>
      <p:sp>
        <p:nvSpPr>
          <p:cNvPr id="15" name="Shape 11"/>
          <p:cNvSpPr/>
          <p:nvPr/>
        </p:nvSpPr>
        <p:spPr>
          <a:xfrm>
            <a:off x="7818120" y="548640"/>
            <a:ext cx="3822192" cy="5760720"/>
          </a:xfrm>
          <a:prstGeom prst="roundRect">
            <a:avLst>
              <a:gd name="adj" fmla="val 1914"/>
            </a:avLst>
          </a:prstGeom>
          <a:solidFill>
            <a:schemeClr val="tx2"/>
          </a:solidFill>
          <a:ln w="9525">
            <a:solidFill>
              <a:schemeClr val="accent6">
                <a:alpha val="30000"/>
              </a:schemeClr>
            </a:solidFill>
            <a:prstDash val="solid"/>
          </a:ln>
        </p:spPr>
      </p:sp>
      <p:sp>
        <p:nvSpPr>
          <p:cNvPr id="16" name="Text 12"/>
          <p:cNvSpPr txBox="1"/>
          <p:nvPr/>
        </p:nvSpPr>
        <p:spPr>
          <a:xfrm>
            <a:off x="8138160" y="841248"/>
            <a:ext cx="320040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PRESENTED BY</a:t>
            </a:r>
            <a:endParaRPr lang="en-US" sz="1000" dirty="0"/>
          </a:p>
        </p:txBody>
      </p:sp>
      <p:sp>
        <p:nvSpPr>
          <p:cNvPr id="17" name="Text 13"/>
          <p:cNvSpPr txBox="1"/>
          <p:nvPr/>
        </p:nvSpPr>
        <p:spPr>
          <a:xfrm>
            <a:off x="8138160" y="1115568"/>
            <a:ext cx="3200400" cy="502920"/>
          </a:xfrm>
          <a:prstGeom prst="rect">
            <a:avLst/>
          </a:prstGeom>
          <a:noFill/>
          <a:ln/>
        </p:spPr>
        <p:txBody>
          <a:bodyPr wrap="square" lIns="0" tIns="0" rIns="0" bIns="0" rtlCol="0" anchor="t"/>
          <a:lstStyle/>
          <a:p>
            <a:pPr indent="0" marL="0">
              <a:buNone/>
            </a:pPr>
            <a:r>
              <a:rPr lang="en-US" sz="3000" b="1" dirty="0">
                <a:solidFill>
                  <a:schemeClr val="bg1"/>
                </a:solidFill>
              </a:rPr>
              <a:t>Diviya C.</a:t>
            </a:r>
            <a:endParaRPr lang="en-US" sz="3000" dirty="0"/>
          </a:p>
        </p:txBody>
      </p:sp>
      <p:sp>
        <p:nvSpPr>
          <p:cNvPr id="18" name="Text 14"/>
          <p:cNvSpPr txBox="1"/>
          <p:nvPr/>
        </p:nvSpPr>
        <p:spPr>
          <a:xfrm>
            <a:off x="8138160" y="1719072"/>
            <a:ext cx="3200400" cy="457200"/>
          </a:xfrm>
          <a:prstGeom prst="rect">
            <a:avLst/>
          </a:prstGeom>
          <a:noFill/>
          <a:ln/>
        </p:spPr>
        <p:txBody>
          <a:bodyPr wrap="square" lIns="0" tIns="0" rIns="0" bIns="0" rtlCol="0" anchor="t"/>
          <a:lstStyle/>
          <a:p>
            <a:pPr indent="0" marL="0">
              <a:buNone/>
            </a:pPr>
            <a:r>
              <a:rPr lang="en-US" sz="1500" dirty="0">
                <a:solidFill>
                  <a:schemeClr val="bg1"/>
                </a:solidFill>
              </a:rPr>
              <a:t>Second Year M.Sc. Quantitative Finance</a:t>
            </a:r>
            <a:endParaRPr lang="en-US" sz="1500" dirty="0"/>
          </a:p>
        </p:txBody>
      </p:sp>
      <p:sp>
        <p:nvSpPr>
          <p:cNvPr id="19" name="Text 15"/>
          <p:cNvSpPr txBox="1"/>
          <p:nvPr/>
        </p:nvSpPr>
        <p:spPr>
          <a:xfrm>
            <a:off x="8138160" y="2286000"/>
            <a:ext cx="3200400" cy="256032"/>
          </a:xfrm>
          <a:prstGeom prst="rect">
            <a:avLst/>
          </a:prstGeom>
          <a:noFill/>
          <a:ln/>
        </p:spPr>
        <p:txBody>
          <a:bodyPr wrap="square" lIns="0" tIns="0" rIns="0" bIns="0" rtlCol="0" anchor="t"/>
          <a:lstStyle/>
          <a:p>
            <a:pPr indent="0" marL="0">
              <a:buNone/>
            </a:pPr>
            <a:r>
              <a:rPr lang="en-US" sz="1300" dirty="0">
                <a:solidFill>
                  <a:srgbClr val="C9D3E2"/>
                </a:solidFill>
              </a:rPr>
              <a:t>Registration No. 25MSQUFPY0018</a:t>
            </a:r>
            <a:endParaRPr lang="en-US" sz="1300" dirty="0"/>
          </a:p>
        </p:txBody>
      </p:sp>
      <p:sp>
        <p:nvSpPr>
          <p:cNvPr id="20" name="Text 16"/>
          <p:cNvSpPr txBox="1"/>
          <p:nvPr/>
        </p:nvSpPr>
        <p:spPr>
          <a:xfrm>
            <a:off x="8138160" y="2606040"/>
            <a:ext cx="3200400" cy="274320"/>
          </a:xfrm>
          <a:prstGeom prst="rect">
            <a:avLst/>
          </a:prstGeom>
          <a:noFill/>
          <a:ln/>
        </p:spPr>
        <p:txBody>
          <a:bodyPr wrap="square" lIns="0" tIns="0" rIns="0" bIns="0" rtlCol="0" anchor="t"/>
          <a:lstStyle/>
          <a:p>
            <a:pPr indent="0" marL="0">
              <a:buNone/>
            </a:pPr>
            <a:r>
              <a:rPr lang="en-US" sz="1500" b="1" dirty="0">
                <a:solidFill>
                  <a:schemeClr val="bg1"/>
                </a:solidFill>
              </a:rPr>
              <a:t>Pondicherry University</a:t>
            </a:r>
            <a:endParaRPr lang="en-US" sz="1500" dirty="0"/>
          </a:p>
        </p:txBody>
      </p:sp>
      <p:sp>
        <p:nvSpPr>
          <p:cNvPr id="21" name="Text 17"/>
          <p:cNvSpPr txBox="1"/>
          <p:nvPr/>
        </p:nvSpPr>
        <p:spPr>
          <a:xfrm>
            <a:off x="8138160" y="2926080"/>
            <a:ext cx="3200400" cy="256032"/>
          </a:xfrm>
          <a:prstGeom prst="rect">
            <a:avLst/>
          </a:prstGeom>
          <a:noFill/>
          <a:ln/>
        </p:spPr>
        <p:txBody>
          <a:bodyPr wrap="square" lIns="0" tIns="0" rIns="0" bIns="0" rtlCol="0" anchor="t"/>
          <a:lstStyle/>
          <a:p>
            <a:pPr indent="0" marL="0">
              <a:buNone/>
            </a:pPr>
            <a:r>
              <a:rPr lang="en-US" sz="1300" dirty="0">
                <a:solidFill>
                  <a:srgbClr val="C9D3E2"/>
                </a:solidFill>
              </a:rPr>
              <a:t>Academic Year 2026–27</a:t>
            </a:r>
            <a:endParaRPr lang="en-US" sz="1300" dirty="0"/>
          </a:p>
        </p:txBody>
      </p:sp>
      <p:sp>
        <p:nvSpPr>
          <p:cNvPr id="22" name="Shape 18"/>
          <p:cNvSpPr/>
          <p:nvPr/>
        </p:nvSpPr>
        <p:spPr>
          <a:xfrm>
            <a:off x="8138160" y="3520440"/>
            <a:ext cx="3182112" cy="0"/>
          </a:xfrm>
          <a:prstGeom prst="line">
            <a:avLst/>
          </a:prstGeom>
          <a:noFill/>
          <a:ln w="9525">
            <a:solidFill>
              <a:schemeClr val="accent6">
                <a:alpha val="40000"/>
              </a:schemeClr>
            </a:solidFill>
            <a:prstDash val="solid"/>
          </a:ln>
        </p:spPr>
      </p:sp>
      <p:sp>
        <p:nvSpPr>
          <p:cNvPr id="23" name="Text 19"/>
          <p:cNvSpPr txBox="1"/>
          <p:nvPr/>
        </p:nvSpPr>
        <p:spPr>
          <a:xfrm>
            <a:off x="8138160" y="3749040"/>
            <a:ext cx="320040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INTERNSHIP ORGANISATION</a:t>
            </a:r>
            <a:endParaRPr lang="en-US" sz="1000" dirty="0"/>
          </a:p>
        </p:txBody>
      </p:sp>
      <p:sp>
        <p:nvSpPr>
          <p:cNvPr id="24" name="Text 20"/>
          <p:cNvSpPr txBox="1"/>
          <p:nvPr/>
        </p:nvSpPr>
        <p:spPr>
          <a:xfrm>
            <a:off x="8138160" y="4023360"/>
            <a:ext cx="3200400" cy="594360"/>
          </a:xfrm>
          <a:prstGeom prst="rect">
            <a:avLst/>
          </a:prstGeom>
          <a:noFill/>
          <a:ln/>
        </p:spPr>
        <p:txBody>
          <a:bodyPr wrap="square" lIns="0" tIns="0" rIns="0" bIns="0" rtlCol="0" anchor="t"/>
          <a:lstStyle/>
          <a:p>
            <a:pPr indent="0" marL="0">
              <a:buNone/>
            </a:pPr>
            <a:r>
              <a:rPr lang="en-US" sz="1800" b="1" dirty="0">
                <a:solidFill>
                  <a:schemeClr val="bg1"/>
                </a:solidFill>
              </a:rPr>
              <a:t>Surabhi Investment Services Pvt. Ltd.</a:t>
            </a:r>
            <a:endParaRPr lang="en-US" sz="1800" dirty="0"/>
          </a:p>
        </p:txBody>
      </p:sp>
      <p:sp>
        <p:nvSpPr>
          <p:cNvPr id="25" name="Text 21"/>
          <p:cNvSpPr txBox="1"/>
          <p:nvPr/>
        </p:nvSpPr>
        <p:spPr>
          <a:xfrm>
            <a:off x="8138160" y="4681728"/>
            <a:ext cx="3200400" cy="256032"/>
          </a:xfrm>
          <a:prstGeom prst="rect">
            <a:avLst/>
          </a:prstGeom>
          <a:noFill/>
          <a:ln/>
        </p:spPr>
        <p:txBody>
          <a:bodyPr wrap="square" lIns="0" tIns="0" rIns="0" bIns="0" rtlCol="0" anchor="t"/>
          <a:lstStyle/>
          <a:p>
            <a:pPr indent="0" marL="0">
              <a:buNone/>
            </a:pPr>
            <a:r>
              <a:rPr lang="en-US" sz="1400" dirty="0">
                <a:solidFill>
                  <a:srgbClr val="C9D3E2"/>
                </a:solidFill>
              </a:rPr>
              <a:t>Tiruchirappalli, Tamil Nadu</a:t>
            </a:r>
            <a:endParaRPr lang="en-US" sz="1400" dirty="0"/>
          </a:p>
        </p:txBody>
      </p:sp>
      <p:sp>
        <p:nvSpPr>
          <p:cNvPr id="26" name="Text 22"/>
          <p:cNvSpPr txBox="1"/>
          <p:nvPr/>
        </p:nvSpPr>
        <p:spPr>
          <a:xfrm>
            <a:off x="8138160" y="5166360"/>
            <a:ext cx="320040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INTERNSHIP PERIOD</a:t>
            </a:r>
            <a:endParaRPr lang="en-US" sz="1000" dirty="0"/>
          </a:p>
        </p:txBody>
      </p:sp>
      <p:sp>
        <p:nvSpPr>
          <p:cNvPr id="27" name="Text 23"/>
          <p:cNvSpPr txBox="1"/>
          <p:nvPr/>
        </p:nvSpPr>
        <p:spPr>
          <a:xfrm>
            <a:off x="8138160" y="5440680"/>
            <a:ext cx="3200400" cy="274320"/>
          </a:xfrm>
          <a:prstGeom prst="rect">
            <a:avLst/>
          </a:prstGeom>
          <a:noFill/>
          <a:ln/>
        </p:spPr>
        <p:txBody>
          <a:bodyPr wrap="square" lIns="0" tIns="0" rIns="0" bIns="0" rtlCol="0" anchor="t"/>
          <a:lstStyle/>
          <a:p>
            <a:pPr indent="0" marL="0">
              <a:buNone/>
            </a:pPr>
            <a:r>
              <a:rPr lang="en-US" sz="1500" b="1" dirty="0">
                <a:solidFill>
                  <a:schemeClr val="bg1"/>
                </a:solidFill>
              </a:rPr>
              <a:t>18 June 2026 – 15 August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02  ·  INTERNSHIP OVERVIEW</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Internship overview: an options-market setting for IV research</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Context in which the project was developed</a:t>
            </a:r>
            <a:endParaRPr lang="en-US" sz="1400" dirty="0"/>
          </a:p>
        </p:txBody>
      </p:sp>
      <p:sp>
        <p:nvSpPr>
          <p:cNvPr id="6" name="Shape 3"/>
          <p:cNvSpPr/>
          <p:nvPr/>
        </p:nvSpPr>
        <p:spPr>
          <a:xfrm>
            <a:off x="548640" y="1508760"/>
            <a:ext cx="5486400" cy="2331720"/>
          </a:xfrm>
          <a:prstGeom prst="roundRect">
            <a:avLst>
              <a:gd name="adj" fmla="val 3137"/>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7" name="Shape 4"/>
          <p:cNvSpPr/>
          <p:nvPr/>
        </p:nvSpPr>
        <p:spPr>
          <a:xfrm>
            <a:off x="777240" y="1737360"/>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918972" y="1879092"/>
            <a:ext cx="283464" cy="283464"/>
          </a:xfrm>
          <a:prstGeom prst="rect">
            <a:avLst/>
          </a:prstGeom>
        </p:spPr>
      </p:pic>
      <p:sp>
        <p:nvSpPr>
          <p:cNvPr id="9" name="Text 5"/>
          <p:cNvSpPr txBox="1"/>
          <p:nvPr/>
        </p:nvSpPr>
        <p:spPr>
          <a:xfrm>
            <a:off x="1508760" y="1737360"/>
            <a:ext cx="4389120" cy="566928"/>
          </a:xfrm>
          <a:prstGeom prst="rect">
            <a:avLst/>
          </a:prstGeom>
          <a:noFill/>
          <a:ln/>
        </p:spPr>
        <p:txBody>
          <a:bodyPr wrap="square" lIns="0" tIns="0" rIns="0" bIns="0" rtlCol="0" anchor="ctr"/>
          <a:lstStyle/>
          <a:p>
            <a:pPr indent="0" marL="0">
              <a:buNone/>
            </a:pPr>
            <a:r>
              <a:rPr lang="en-US" sz="2000" b="1" dirty="0">
                <a:solidFill>
                  <a:schemeClr val="tx1"/>
                </a:solidFill>
              </a:rPr>
              <a:t>Surabhi Investment Services Pvt. Ltd.</a:t>
            </a:r>
            <a:endParaRPr lang="en-US" sz="2000" dirty="0"/>
          </a:p>
        </p:txBody>
      </p:sp>
      <p:sp>
        <p:nvSpPr>
          <p:cNvPr id="10" name="Shape 6"/>
          <p:cNvSpPr/>
          <p:nvPr/>
        </p:nvSpPr>
        <p:spPr>
          <a:xfrm>
            <a:off x="777240" y="2487168"/>
            <a:ext cx="420624" cy="420624"/>
          </a:xfrm>
          <a:prstGeom prst="ellipse">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882396" y="2592324"/>
            <a:ext cx="210312" cy="210312"/>
          </a:xfrm>
          <a:prstGeom prst="rect">
            <a:avLst/>
          </a:prstGeom>
        </p:spPr>
      </p:pic>
      <p:sp>
        <p:nvSpPr>
          <p:cNvPr id="12" name="Text 7"/>
          <p:cNvSpPr txBox="1"/>
          <p:nvPr/>
        </p:nvSpPr>
        <p:spPr>
          <a:xfrm>
            <a:off x="1371600" y="2487168"/>
            <a:ext cx="4480560" cy="420624"/>
          </a:xfrm>
          <a:prstGeom prst="rect">
            <a:avLst/>
          </a:prstGeom>
          <a:noFill/>
          <a:ln/>
        </p:spPr>
        <p:txBody>
          <a:bodyPr wrap="square" lIns="0" tIns="0" rIns="0" bIns="0" rtlCol="0" anchor="ctr"/>
          <a:lstStyle/>
          <a:p>
            <a:pPr indent="0" marL="0">
              <a:buNone/>
            </a:pPr>
            <a:r>
              <a:rPr lang="en-US" sz="1500" dirty="0">
                <a:solidFill>
                  <a:schemeClr val="tx1"/>
                </a:solidFill>
              </a:rPr>
              <a:t>Tiruchirappalli (Trichy), Tamil Nadu</a:t>
            </a:r>
            <a:endParaRPr lang="en-US" sz="1500" dirty="0"/>
          </a:p>
        </p:txBody>
      </p:sp>
      <p:sp>
        <p:nvSpPr>
          <p:cNvPr id="13" name="Text 8"/>
          <p:cNvSpPr txBox="1"/>
          <p:nvPr/>
        </p:nvSpPr>
        <p:spPr>
          <a:xfrm>
            <a:off x="777240" y="3108960"/>
            <a:ext cx="2743200"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NATURE OF ORGANISATION</a:t>
            </a:r>
            <a:endParaRPr lang="en-US" sz="1000" dirty="0"/>
          </a:p>
        </p:txBody>
      </p:sp>
      <p:sp>
        <p:nvSpPr>
          <p:cNvPr id="14" name="Text 9"/>
          <p:cNvSpPr txBox="1"/>
          <p:nvPr/>
        </p:nvSpPr>
        <p:spPr>
          <a:xfrm>
            <a:off x="777240" y="3337560"/>
            <a:ext cx="4937760" cy="365760"/>
          </a:xfrm>
          <a:prstGeom prst="rect">
            <a:avLst/>
          </a:prstGeom>
          <a:noFill/>
          <a:ln/>
        </p:spPr>
        <p:txBody>
          <a:bodyPr wrap="square" lIns="0" tIns="0" rIns="0" bIns="0" rtlCol="0" anchor="t"/>
          <a:lstStyle/>
          <a:p>
            <a:pPr indent="0" marL="0">
              <a:buNone/>
            </a:pPr>
            <a:r>
              <a:rPr lang="en-US" sz="1800" b="1" dirty="0">
                <a:solidFill>
                  <a:schemeClr val="tx1"/>
                </a:solidFill>
              </a:rPr>
              <a:t>Investment company</a:t>
            </a:r>
            <a:endParaRPr lang="en-US" sz="1800" dirty="0"/>
          </a:p>
        </p:txBody>
      </p:sp>
      <p:sp>
        <p:nvSpPr>
          <p:cNvPr id="15" name="Shape 10"/>
          <p:cNvSpPr/>
          <p:nvPr/>
        </p:nvSpPr>
        <p:spPr>
          <a:xfrm>
            <a:off x="548640" y="4023360"/>
            <a:ext cx="2651760" cy="1188720"/>
          </a:xfrm>
          <a:prstGeom prst="roundRect">
            <a:avLst>
              <a:gd name="adj" fmla="val 615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6" name="Text 11"/>
          <p:cNvSpPr txBox="1"/>
          <p:nvPr/>
        </p:nvSpPr>
        <p:spPr>
          <a:xfrm>
            <a:off x="713232" y="4151376"/>
            <a:ext cx="2322576"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INTERNSHIP AREA</a:t>
            </a:r>
            <a:endParaRPr lang="en-US" sz="1000" dirty="0"/>
          </a:p>
        </p:txBody>
      </p:sp>
      <p:sp>
        <p:nvSpPr>
          <p:cNvPr id="17" name="Text 12"/>
          <p:cNvSpPr txBox="1"/>
          <p:nvPr/>
        </p:nvSpPr>
        <p:spPr>
          <a:xfrm>
            <a:off x="713232" y="4370832"/>
            <a:ext cx="2322576" cy="365760"/>
          </a:xfrm>
          <a:prstGeom prst="rect">
            <a:avLst/>
          </a:prstGeom>
          <a:noFill/>
          <a:ln/>
        </p:spPr>
        <p:txBody>
          <a:bodyPr wrap="square" lIns="0" tIns="0" rIns="0" bIns="0" rtlCol="0" anchor="ctr"/>
          <a:lstStyle/>
          <a:p>
            <a:pPr indent="0" marL="0">
              <a:buNone/>
            </a:pPr>
            <a:r>
              <a:rPr lang="en-US" sz="2200" b="1" dirty="0">
                <a:solidFill>
                  <a:schemeClr val="tx1"/>
                </a:solidFill>
              </a:rPr>
              <a:t>Options Trading</a:t>
            </a:r>
            <a:endParaRPr lang="en-US" sz="2200" dirty="0"/>
          </a:p>
        </p:txBody>
      </p:sp>
      <p:sp>
        <p:nvSpPr>
          <p:cNvPr id="18" name="Text 13"/>
          <p:cNvSpPr txBox="1"/>
          <p:nvPr/>
        </p:nvSpPr>
        <p:spPr>
          <a:xfrm>
            <a:off x="713232" y="4791456"/>
            <a:ext cx="2322576" cy="310896"/>
          </a:xfrm>
          <a:prstGeom prst="rect">
            <a:avLst/>
          </a:prstGeom>
          <a:noFill/>
          <a:ln/>
        </p:spPr>
        <p:txBody>
          <a:bodyPr wrap="square" lIns="0" tIns="0" rIns="0" bIns="0" rtlCol="0" anchor="b"/>
          <a:lstStyle/>
          <a:p>
            <a:pPr indent="0" marL="0">
              <a:buNone/>
            </a:pPr>
            <a:r>
              <a:rPr lang="en-US" sz="1100" dirty="0">
                <a:solidFill>
                  <a:schemeClr val="accent4"/>
                </a:solidFill>
              </a:rPr>
              <a:t>derivatives-market focus</a:t>
            </a:r>
            <a:endParaRPr lang="en-US" sz="1100" dirty="0"/>
          </a:p>
        </p:txBody>
      </p:sp>
      <p:sp>
        <p:nvSpPr>
          <p:cNvPr id="19" name="Shape 14"/>
          <p:cNvSpPr/>
          <p:nvPr/>
        </p:nvSpPr>
        <p:spPr>
          <a:xfrm>
            <a:off x="3383280" y="4023360"/>
            <a:ext cx="2651760" cy="1188720"/>
          </a:xfrm>
          <a:prstGeom prst="roundRect">
            <a:avLst>
              <a:gd name="adj" fmla="val 615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0" name="Text 15"/>
          <p:cNvSpPr txBox="1"/>
          <p:nvPr/>
        </p:nvSpPr>
        <p:spPr>
          <a:xfrm>
            <a:off x="3547872" y="4151376"/>
            <a:ext cx="2322576"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DURATION</a:t>
            </a:r>
            <a:endParaRPr lang="en-US" sz="1000" dirty="0"/>
          </a:p>
        </p:txBody>
      </p:sp>
      <p:sp>
        <p:nvSpPr>
          <p:cNvPr id="21" name="Text 16"/>
          <p:cNvSpPr txBox="1"/>
          <p:nvPr/>
        </p:nvSpPr>
        <p:spPr>
          <a:xfrm>
            <a:off x="3547872" y="4370832"/>
            <a:ext cx="2322576" cy="365760"/>
          </a:xfrm>
          <a:prstGeom prst="rect">
            <a:avLst/>
          </a:prstGeom>
          <a:noFill/>
          <a:ln/>
        </p:spPr>
        <p:txBody>
          <a:bodyPr wrap="square" lIns="0" tIns="0" rIns="0" bIns="0" rtlCol="0" anchor="ctr"/>
          <a:lstStyle/>
          <a:p>
            <a:pPr indent="0" marL="0">
              <a:buNone/>
            </a:pPr>
            <a:r>
              <a:rPr lang="en-US" sz="2800" b="1" dirty="0">
                <a:solidFill>
                  <a:schemeClr val="tx1"/>
                </a:solidFill>
              </a:rPr>
              <a:t>59 days</a:t>
            </a:r>
            <a:endParaRPr lang="en-US" sz="2800" dirty="0"/>
          </a:p>
        </p:txBody>
      </p:sp>
      <p:sp>
        <p:nvSpPr>
          <p:cNvPr id="22" name="Text 17"/>
          <p:cNvSpPr txBox="1"/>
          <p:nvPr/>
        </p:nvSpPr>
        <p:spPr>
          <a:xfrm>
            <a:off x="3547872" y="4791456"/>
            <a:ext cx="2322576" cy="310896"/>
          </a:xfrm>
          <a:prstGeom prst="rect">
            <a:avLst/>
          </a:prstGeom>
          <a:noFill/>
          <a:ln/>
        </p:spPr>
        <p:txBody>
          <a:bodyPr wrap="square" lIns="0" tIns="0" rIns="0" bIns="0" rtlCol="0" anchor="b"/>
          <a:lstStyle/>
          <a:p>
            <a:pPr indent="0" marL="0">
              <a:buNone/>
            </a:pPr>
            <a:r>
              <a:rPr lang="en-US" sz="1100" dirty="0">
                <a:solidFill>
                  <a:schemeClr val="accent4"/>
                </a:solidFill>
              </a:rPr>
              <a:t>18 Jun – 15 Aug 2026</a:t>
            </a:r>
            <a:endParaRPr lang="en-US" sz="1100" dirty="0"/>
          </a:p>
        </p:txBody>
      </p:sp>
      <p:sp>
        <p:nvSpPr>
          <p:cNvPr id="23" name="Shape 18"/>
          <p:cNvSpPr/>
          <p:nvPr/>
        </p:nvSpPr>
        <p:spPr>
          <a:xfrm>
            <a:off x="548640" y="5394960"/>
            <a:ext cx="5486400" cy="914400"/>
          </a:xfrm>
          <a:prstGeom prst="roundRect">
            <a:avLst>
              <a:gd name="adj" fmla="val 8000"/>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4" name="Shape 19"/>
          <p:cNvSpPr/>
          <p:nvPr/>
        </p:nvSpPr>
        <p:spPr>
          <a:xfrm>
            <a:off x="731520" y="5550408"/>
            <a:ext cx="384048" cy="384048"/>
          </a:xfrm>
          <a:prstGeom prst="ellipse">
            <a:avLst/>
          </a:prstGeom>
          <a:solidFill>
            <a:schemeClr val="accent1"/>
          </a:solidFill>
          <a:ln/>
        </p:spPr>
      </p:sp>
      <p:pic>
        <p:nvPicPr>
          <p:cNvPr id="25" name="Image 2" descr="preencoded.png">    </p:cNvPr>
          <p:cNvPicPr>
            <a:picLocks noChangeAspect="1"/>
          </p:cNvPicPr>
          <p:nvPr/>
        </p:nvPicPr>
        <p:blipFill>
          <a:blip r:embed="rId3"/>
          <a:stretch>
            <a:fillRect/>
          </a:stretch>
        </p:blipFill>
        <p:spPr>
          <a:xfrm>
            <a:off x="827532" y="5646420"/>
            <a:ext cx="192024" cy="192024"/>
          </a:xfrm>
          <a:prstGeom prst="rect">
            <a:avLst/>
          </a:prstGeom>
        </p:spPr>
      </p:pic>
      <p:sp>
        <p:nvSpPr>
          <p:cNvPr id="26" name="Shape 20"/>
          <p:cNvSpPr/>
          <p:nvPr/>
        </p:nvSpPr>
        <p:spPr>
          <a:xfrm>
            <a:off x="1417320" y="5742432"/>
            <a:ext cx="4343400" cy="0"/>
          </a:xfrm>
          <a:prstGeom prst="line">
            <a:avLst/>
          </a:prstGeom>
          <a:noFill/>
          <a:ln w="31750">
            <a:solidFill>
              <a:schemeClr val="accent1"/>
            </a:solidFill>
            <a:prstDash val="solid"/>
          </a:ln>
        </p:spPr>
      </p:sp>
      <p:sp>
        <p:nvSpPr>
          <p:cNvPr id="27" name="Shape 21"/>
          <p:cNvSpPr/>
          <p:nvPr/>
        </p:nvSpPr>
        <p:spPr>
          <a:xfrm>
            <a:off x="1371600" y="5696712"/>
            <a:ext cx="91440" cy="91440"/>
          </a:xfrm>
          <a:prstGeom prst="ellipse">
            <a:avLst/>
          </a:prstGeom>
          <a:solidFill>
            <a:schemeClr val="accent1"/>
          </a:solidFill>
          <a:ln/>
        </p:spPr>
      </p:sp>
      <p:sp>
        <p:nvSpPr>
          <p:cNvPr id="28" name="Shape 22"/>
          <p:cNvSpPr/>
          <p:nvPr/>
        </p:nvSpPr>
        <p:spPr>
          <a:xfrm>
            <a:off x="5715000" y="5696712"/>
            <a:ext cx="91440" cy="91440"/>
          </a:xfrm>
          <a:prstGeom prst="ellipse">
            <a:avLst/>
          </a:prstGeom>
          <a:solidFill>
            <a:schemeClr val="accent1"/>
          </a:solidFill>
          <a:ln/>
        </p:spPr>
      </p:sp>
      <p:sp>
        <p:nvSpPr>
          <p:cNvPr id="29" name="Text 23"/>
          <p:cNvSpPr txBox="1"/>
          <p:nvPr/>
        </p:nvSpPr>
        <p:spPr>
          <a:xfrm>
            <a:off x="1371600" y="5870448"/>
            <a:ext cx="1645920" cy="274320"/>
          </a:xfrm>
          <a:prstGeom prst="rect">
            <a:avLst/>
          </a:prstGeom>
          <a:noFill/>
          <a:ln/>
        </p:spPr>
        <p:txBody>
          <a:bodyPr wrap="square" lIns="0" tIns="0" rIns="0" bIns="0" rtlCol="0" anchor="t"/>
          <a:lstStyle/>
          <a:p>
            <a:pPr indent="0" marL="0">
              <a:buNone/>
            </a:pPr>
            <a:r>
              <a:rPr lang="en-US" sz="1200" b="1" dirty="0">
                <a:solidFill>
                  <a:schemeClr val="accent4"/>
                </a:solidFill>
              </a:rPr>
              <a:t>18 June 2026</a:t>
            </a:r>
            <a:endParaRPr lang="en-US" sz="1200" dirty="0"/>
          </a:p>
        </p:txBody>
      </p:sp>
      <p:sp>
        <p:nvSpPr>
          <p:cNvPr id="30" name="Text 24"/>
          <p:cNvSpPr txBox="1"/>
          <p:nvPr/>
        </p:nvSpPr>
        <p:spPr>
          <a:xfrm>
            <a:off x="4160520" y="5870448"/>
            <a:ext cx="1645920" cy="274320"/>
          </a:xfrm>
          <a:prstGeom prst="rect">
            <a:avLst/>
          </a:prstGeom>
          <a:noFill/>
          <a:ln/>
        </p:spPr>
        <p:txBody>
          <a:bodyPr wrap="square" lIns="0" tIns="0" rIns="0" bIns="0" rtlCol="0" anchor="t"/>
          <a:lstStyle/>
          <a:p>
            <a:pPr algn="r" indent="0" marL="0">
              <a:buNone/>
            </a:pPr>
            <a:r>
              <a:rPr lang="en-US" sz="1200" b="1" dirty="0">
                <a:solidFill>
                  <a:schemeClr val="accent4"/>
                </a:solidFill>
              </a:rPr>
              <a:t>15 August 2026</a:t>
            </a:r>
            <a:endParaRPr lang="en-US" sz="1200" dirty="0"/>
          </a:p>
        </p:txBody>
      </p:sp>
      <p:sp>
        <p:nvSpPr>
          <p:cNvPr id="31" name="Text 25"/>
          <p:cNvSpPr txBox="1"/>
          <p:nvPr/>
        </p:nvSpPr>
        <p:spPr>
          <a:xfrm>
            <a:off x="2651760" y="5870448"/>
            <a:ext cx="2011680" cy="274320"/>
          </a:xfrm>
          <a:prstGeom prst="rect">
            <a:avLst/>
          </a:prstGeom>
          <a:noFill/>
          <a:ln/>
        </p:spPr>
        <p:txBody>
          <a:bodyPr wrap="square" lIns="0" tIns="0" rIns="0" bIns="0" rtlCol="0" anchor="t"/>
          <a:lstStyle/>
          <a:p>
            <a:pPr algn="ctr" indent="0" marL="0">
              <a:buNone/>
            </a:pPr>
            <a:r>
              <a:rPr lang="en-US" sz="1100" dirty="0">
                <a:solidFill>
                  <a:schemeClr val="accent4"/>
                </a:solidFill>
              </a:rPr>
              <a:t>59 calendar days (inclusive)</a:t>
            </a:r>
            <a:endParaRPr lang="en-US" sz="1100" dirty="0"/>
          </a:p>
        </p:txBody>
      </p:sp>
      <p:sp>
        <p:nvSpPr>
          <p:cNvPr id="32" name="Shape 26"/>
          <p:cNvSpPr/>
          <p:nvPr/>
        </p:nvSpPr>
        <p:spPr>
          <a:xfrm>
            <a:off x="6309360" y="1508760"/>
            <a:ext cx="5330952" cy="4800600"/>
          </a:xfrm>
          <a:prstGeom prst="roundRect">
            <a:avLst>
              <a:gd name="adj" fmla="val 1524"/>
            </a:avLst>
          </a:prstGeom>
          <a:solidFill>
            <a:schemeClr val="tx2"/>
          </a:solidFill>
          <a:ln w="9525">
            <a:solidFill>
              <a:schemeClr val="accent6">
                <a:alpha val="30000"/>
              </a:schemeClr>
            </a:solidFill>
            <a:prstDash val="solid"/>
          </a:ln>
        </p:spPr>
      </p:sp>
      <p:sp>
        <p:nvSpPr>
          <p:cNvPr id="33" name="Text 27"/>
          <p:cNvSpPr txBox="1"/>
          <p:nvPr/>
        </p:nvSpPr>
        <p:spPr>
          <a:xfrm>
            <a:off x="6583680" y="1737360"/>
            <a:ext cx="484632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WHY IMPLIED VOLATILITY MATTERS IN OPTIONS TRADING</a:t>
            </a:r>
            <a:endParaRPr lang="en-US" sz="1000" dirty="0"/>
          </a:p>
        </p:txBody>
      </p:sp>
      <p:sp>
        <p:nvSpPr>
          <p:cNvPr id="34" name="Shape 28"/>
          <p:cNvSpPr/>
          <p:nvPr/>
        </p:nvSpPr>
        <p:spPr>
          <a:xfrm>
            <a:off x="6583680" y="2148840"/>
            <a:ext cx="329184" cy="329184"/>
          </a:xfrm>
          <a:prstGeom prst="ellipse">
            <a:avLst/>
          </a:prstGeom>
          <a:solidFill>
            <a:schemeClr val="accent1"/>
          </a:solidFill>
          <a:ln/>
        </p:spPr>
      </p:sp>
      <p:sp>
        <p:nvSpPr>
          <p:cNvPr id="35" name="Text 29"/>
          <p:cNvSpPr txBox="1"/>
          <p:nvPr/>
        </p:nvSpPr>
        <p:spPr>
          <a:xfrm>
            <a:off x="6583680" y="21488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6" name="Text 30"/>
          <p:cNvSpPr txBox="1"/>
          <p:nvPr/>
        </p:nvSpPr>
        <p:spPr>
          <a:xfrm>
            <a:off x="7086600" y="2130552"/>
            <a:ext cx="4343400" cy="777240"/>
          </a:xfrm>
          <a:prstGeom prst="rect">
            <a:avLst/>
          </a:prstGeom>
          <a:noFill/>
          <a:ln/>
        </p:spPr>
        <p:txBody>
          <a:bodyPr wrap="square" lIns="0" tIns="0" rIns="0" bIns="0" rtlCol="0" anchor="t"/>
          <a:lstStyle/>
          <a:p>
            <a:pPr indent="0" marL="0">
              <a:buNone/>
            </a:pPr>
            <a:r>
              <a:rPr lang="en-US" sz="1400" dirty="0">
                <a:solidFill>
                  <a:schemeClr val="bg1"/>
                </a:solidFill>
              </a:rPr>
              <a:t>Options trading makes implied volatility a directly observable and economically important market variable.</a:t>
            </a:r>
            <a:endParaRPr lang="en-US" sz="1400" dirty="0"/>
          </a:p>
        </p:txBody>
      </p:sp>
      <p:sp>
        <p:nvSpPr>
          <p:cNvPr id="37" name="Shape 31"/>
          <p:cNvSpPr/>
          <p:nvPr/>
        </p:nvSpPr>
        <p:spPr>
          <a:xfrm>
            <a:off x="6583680" y="3017520"/>
            <a:ext cx="329184" cy="329184"/>
          </a:xfrm>
          <a:prstGeom prst="ellipse">
            <a:avLst/>
          </a:prstGeom>
          <a:solidFill>
            <a:schemeClr val="accent1"/>
          </a:solidFill>
          <a:ln/>
        </p:spPr>
      </p:sp>
      <p:sp>
        <p:nvSpPr>
          <p:cNvPr id="38" name="Text 32"/>
          <p:cNvSpPr txBox="1"/>
          <p:nvPr/>
        </p:nvSpPr>
        <p:spPr>
          <a:xfrm>
            <a:off x="6583680" y="301752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9" name="Text 33"/>
          <p:cNvSpPr txBox="1"/>
          <p:nvPr/>
        </p:nvSpPr>
        <p:spPr>
          <a:xfrm>
            <a:off x="7086600" y="2999232"/>
            <a:ext cx="4343400" cy="777240"/>
          </a:xfrm>
          <a:prstGeom prst="rect">
            <a:avLst/>
          </a:prstGeom>
          <a:noFill/>
          <a:ln/>
        </p:spPr>
        <p:txBody>
          <a:bodyPr wrap="square" lIns="0" tIns="0" rIns="0" bIns="0" rtlCol="0" anchor="t"/>
          <a:lstStyle/>
          <a:p>
            <a:pPr indent="0" marL="0">
              <a:buNone/>
            </a:pPr>
            <a:r>
              <a:rPr lang="en-US" sz="1400" dirty="0">
                <a:solidFill>
                  <a:schemeClr val="bg1"/>
                </a:solidFill>
              </a:rPr>
              <a:t>Short-horizon volatility changes affect option premiums, relative value and risk-management decisions.</a:t>
            </a:r>
            <a:endParaRPr lang="en-US" sz="1400" dirty="0"/>
          </a:p>
        </p:txBody>
      </p:sp>
      <p:sp>
        <p:nvSpPr>
          <p:cNvPr id="40" name="Shape 34"/>
          <p:cNvSpPr/>
          <p:nvPr/>
        </p:nvSpPr>
        <p:spPr>
          <a:xfrm>
            <a:off x="6583680" y="3886200"/>
            <a:ext cx="329184" cy="329184"/>
          </a:xfrm>
          <a:prstGeom prst="ellipse">
            <a:avLst/>
          </a:prstGeom>
          <a:solidFill>
            <a:schemeClr val="accent1"/>
          </a:solidFill>
          <a:ln/>
        </p:spPr>
      </p:sp>
      <p:sp>
        <p:nvSpPr>
          <p:cNvPr id="41" name="Text 35"/>
          <p:cNvSpPr txBox="1"/>
          <p:nvPr/>
        </p:nvSpPr>
        <p:spPr>
          <a:xfrm>
            <a:off x="6583680" y="38862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2" name="Text 36"/>
          <p:cNvSpPr txBox="1"/>
          <p:nvPr/>
        </p:nvSpPr>
        <p:spPr>
          <a:xfrm>
            <a:off x="7086600" y="3867912"/>
            <a:ext cx="4343400" cy="777240"/>
          </a:xfrm>
          <a:prstGeom prst="rect">
            <a:avLst/>
          </a:prstGeom>
          <a:noFill/>
          <a:ln/>
        </p:spPr>
        <p:txBody>
          <a:bodyPr wrap="square" lIns="0" tIns="0" rIns="0" bIns="0" rtlCol="0" anchor="t"/>
          <a:lstStyle/>
          <a:p>
            <a:pPr indent="0" marL="0">
              <a:buNone/>
            </a:pPr>
            <a:r>
              <a:rPr lang="en-US" sz="1400" dirty="0">
                <a:solidFill>
                  <a:schemeClr val="bg1"/>
                </a:solidFill>
              </a:rPr>
              <a:t>The project therefore focused on a practical question: can near-term IV movement be forecast and interpreted in a usable way?</a:t>
            </a:r>
            <a:endParaRPr lang="en-US" sz="1400" dirty="0"/>
          </a:p>
        </p:txBody>
      </p:sp>
      <p:sp>
        <p:nvSpPr>
          <p:cNvPr id="43" name="Shape 37"/>
          <p:cNvSpPr/>
          <p:nvPr/>
        </p:nvSpPr>
        <p:spPr>
          <a:xfrm>
            <a:off x="6583680" y="4846320"/>
            <a:ext cx="4782312" cy="0"/>
          </a:xfrm>
          <a:prstGeom prst="line">
            <a:avLst/>
          </a:prstGeom>
          <a:noFill/>
          <a:ln w="9525">
            <a:solidFill>
              <a:schemeClr val="accent6">
                <a:alpha val="40000"/>
              </a:schemeClr>
            </a:solidFill>
            <a:prstDash val="solid"/>
          </a:ln>
        </p:spPr>
      </p:sp>
      <p:sp>
        <p:nvSpPr>
          <p:cNvPr id="44" name="Text 38"/>
          <p:cNvSpPr txBox="1"/>
          <p:nvPr/>
        </p:nvSpPr>
        <p:spPr>
          <a:xfrm>
            <a:off x="6583680" y="4983480"/>
            <a:ext cx="4846320" cy="201168"/>
          </a:xfrm>
          <a:prstGeom prst="rect">
            <a:avLst/>
          </a:prstGeom>
          <a:noFill/>
          <a:ln/>
        </p:spPr>
        <p:txBody>
          <a:bodyPr wrap="square" lIns="0" tIns="0" rIns="0" bIns="0" rtlCol="0" anchor="t"/>
          <a:lstStyle/>
          <a:p>
            <a:pPr indent="0" marL="0">
              <a:buNone/>
            </a:pPr>
            <a:r>
              <a:rPr lang="en-US" sz="1000" b="1" spc="100" kern="0" dirty="0">
                <a:solidFill>
                  <a:schemeClr val="accent6"/>
                </a:solidFill>
              </a:rPr>
              <a:t>RELEVANCE TO QUANTITATIVE FINANCE</a:t>
            </a:r>
            <a:endParaRPr lang="en-US" sz="1000" dirty="0"/>
          </a:p>
        </p:txBody>
      </p:sp>
      <p:sp>
        <p:nvSpPr>
          <p:cNvPr id="45" name="Text 39"/>
          <p:cNvSpPr txBox="1"/>
          <p:nvPr/>
        </p:nvSpPr>
        <p:spPr>
          <a:xfrm>
            <a:off x="6583680" y="5230368"/>
            <a:ext cx="4800600" cy="685800"/>
          </a:xfrm>
          <a:prstGeom prst="rect">
            <a:avLst/>
          </a:prstGeom>
          <a:noFill/>
          <a:ln/>
        </p:spPr>
        <p:txBody>
          <a:bodyPr wrap="square" lIns="0" tIns="0" rIns="0" bIns="0" rtlCol="0" anchor="t"/>
          <a:lstStyle/>
          <a:p>
            <a:pPr indent="0" marL="0">
              <a:buNone/>
            </a:pPr>
            <a:r>
              <a:rPr lang="en-US" sz="1300" dirty="0">
                <a:solidFill>
                  <a:schemeClr val="bg1"/>
                </a:solidFill>
              </a:rPr>
              <a:t>The internship provided a practical options-market context for translating volatility, pricing and risk concepts into a data-driven research project.</a:t>
            </a:r>
            <a:endParaRPr lang="en-US" sz="1300" dirty="0"/>
          </a:p>
        </p:txBody>
      </p:sp>
      <p:sp>
        <p:nvSpPr>
          <p:cNvPr id="46" name="Text 40"/>
          <p:cNvSpPr txBox="1"/>
          <p:nvPr/>
        </p:nvSpPr>
        <p:spPr>
          <a:xfrm>
            <a:off x="6583680" y="5897880"/>
            <a:ext cx="4800600" cy="347472"/>
          </a:xfrm>
          <a:prstGeom prst="rect">
            <a:avLst/>
          </a:prstGeom>
          <a:noFill/>
          <a:ln/>
        </p:spPr>
        <p:txBody>
          <a:bodyPr wrap="square" lIns="0" tIns="0" rIns="0" bIns="0" rtlCol="0" anchor="t"/>
          <a:lstStyle/>
          <a:p>
            <a:pPr indent="0" marL="0">
              <a:buNone/>
            </a:pPr>
            <a:r>
              <a:rPr lang="en-US" sz="1000" i="1" dirty="0">
                <a:solidFill>
                  <a:srgbClr val="AEBBD0"/>
                </a:solidFill>
              </a:rPr>
              <a:t>No additional company responsibilities are claimed beyond the project/internship details documented in this work.</a:t>
            </a:r>
            <a:endParaRPr lang="en-US" sz="100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03  ·  INTRODUCTION AND BACKGROUND</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Implied volatility: a forward-looking signal that varies by strike</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Implied volatility as a forward-looking market signal</a:t>
            </a:r>
            <a:endParaRPr lang="en-US" sz="1400" dirty="0"/>
          </a:p>
        </p:txBody>
      </p:sp>
      <p:sp>
        <p:nvSpPr>
          <p:cNvPr id="6" name="Shape 3"/>
          <p:cNvSpPr/>
          <p:nvPr/>
        </p:nvSpPr>
        <p:spPr>
          <a:xfrm>
            <a:off x="548640" y="1508760"/>
            <a:ext cx="5760720" cy="1508760"/>
          </a:xfrm>
          <a:prstGeom prst="roundRect">
            <a:avLst>
              <a:gd name="adj" fmla="val 484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7" name="Shape 4"/>
          <p:cNvSpPr/>
          <p:nvPr/>
        </p:nvSpPr>
        <p:spPr>
          <a:xfrm>
            <a:off x="749808" y="1664208"/>
            <a:ext cx="329184" cy="329184"/>
          </a:xfrm>
          <a:prstGeom prst="ellipse">
            <a:avLst/>
          </a:prstGeom>
          <a:solidFill>
            <a:schemeClr val="accent1"/>
          </a:solidFill>
          <a:ln/>
        </p:spPr>
      </p:sp>
      <p:sp>
        <p:nvSpPr>
          <p:cNvPr id="8" name="Text 5"/>
          <p:cNvSpPr txBox="1"/>
          <p:nvPr/>
        </p:nvSpPr>
        <p:spPr>
          <a:xfrm>
            <a:off x="749808" y="16642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6"/>
          <p:cNvSpPr txBox="1"/>
          <p:nvPr/>
        </p:nvSpPr>
        <p:spPr>
          <a:xfrm>
            <a:off x="1188720" y="1636776"/>
            <a:ext cx="4937760" cy="365760"/>
          </a:xfrm>
          <a:prstGeom prst="rect">
            <a:avLst/>
          </a:prstGeom>
          <a:noFill/>
          <a:ln/>
        </p:spPr>
        <p:txBody>
          <a:bodyPr wrap="square" lIns="0" tIns="0" rIns="0" bIns="0" rtlCol="0" anchor="ctr"/>
          <a:lstStyle/>
          <a:p>
            <a:pPr indent="0" marL="0">
              <a:buNone/>
            </a:pPr>
            <a:r>
              <a:rPr lang="en-US" sz="1700" b="1" dirty="0">
                <a:solidFill>
                  <a:schemeClr val="tx1"/>
                </a:solidFill>
              </a:rPr>
              <a:t>Implied volatility</a:t>
            </a:r>
            <a:endParaRPr lang="en-US" sz="1700" dirty="0"/>
          </a:p>
        </p:txBody>
      </p:sp>
      <p:sp>
        <p:nvSpPr>
          <p:cNvPr id="10" name="Text 7"/>
          <p:cNvSpPr txBox="1"/>
          <p:nvPr/>
        </p:nvSpPr>
        <p:spPr>
          <a:xfrm>
            <a:off x="749808" y="2039112"/>
            <a:ext cx="5394960" cy="548640"/>
          </a:xfrm>
          <a:prstGeom prst="rect">
            <a:avLst/>
          </a:prstGeom>
          <a:noFill/>
          <a:ln/>
        </p:spPr>
        <p:txBody>
          <a:bodyPr wrap="square" lIns="0" tIns="0" rIns="0" bIns="0" rtlCol="0" anchor="t"/>
          <a:lstStyle/>
          <a:p>
            <a:pPr indent="0" marL="0">
              <a:buNone/>
            </a:pPr>
            <a:r>
              <a:rPr lang="en-US" sz="1200" dirty="0">
                <a:solidFill>
                  <a:schemeClr val="tx1"/>
                </a:solidFill>
              </a:rPr>
              <a:t>The volatility level embedded in an option’s market price. It reflects market expectations and changes with strike, moneyness and time to expiry.</a:t>
            </a:r>
            <a:endParaRPr lang="en-US" sz="1200" dirty="0"/>
          </a:p>
        </p:txBody>
      </p:sp>
      <p:sp>
        <p:nvSpPr>
          <p:cNvPr id="11" name="Text 8"/>
          <p:cNvSpPr txBox="1"/>
          <p:nvPr/>
        </p:nvSpPr>
        <p:spPr>
          <a:xfrm>
            <a:off x="749808" y="2560320"/>
            <a:ext cx="5394960" cy="384048"/>
          </a:xfrm>
          <a:prstGeom prst="rect">
            <a:avLst/>
          </a:prstGeom>
          <a:noFill/>
          <a:ln/>
        </p:spPr>
        <p:txBody>
          <a:bodyPr wrap="square" lIns="0" tIns="0" rIns="0" bIns="0" rtlCol="0" anchor="t"/>
          <a:lstStyle/>
          <a:p>
            <a:pPr indent="0" marL="0">
              <a:buNone/>
            </a:pPr>
            <a:r>
              <a:rPr lang="en-US" sz="1150" b="1" dirty="0">
                <a:solidFill>
                  <a:schemeClr val="accent1"/>
                </a:solidFill>
              </a:rPr>
              <a:t>Why it matters: </a:t>
            </a:r>
            <a:pPr indent="0" marL="0">
              <a:buNone/>
            </a:pPr>
            <a:r>
              <a:rPr lang="en-US" sz="1150" b="1" dirty="0">
                <a:solidFill>
                  <a:schemeClr val="tx1"/>
                </a:solidFill>
              </a:rPr>
              <a:t>IV is central to option pricing, relative value, risk and trading decisions.</a:t>
            </a:r>
            <a:endParaRPr lang="en-US" sz="1150" dirty="0"/>
          </a:p>
        </p:txBody>
      </p:sp>
      <p:sp>
        <p:nvSpPr>
          <p:cNvPr id="12" name="Shape 9"/>
          <p:cNvSpPr/>
          <p:nvPr/>
        </p:nvSpPr>
        <p:spPr>
          <a:xfrm>
            <a:off x="548640" y="3127248"/>
            <a:ext cx="5760720" cy="1508760"/>
          </a:xfrm>
          <a:prstGeom prst="roundRect">
            <a:avLst>
              <a:gd name="adj" fmla="val 484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3" name="Shape 10"/>
          <p:cNvSpPr/>
          <p:nvPr/>
        </p:nvSpPr>
        <p:spPr>
          <a:xfrm>
            <a:off x="749808" y="3282696"/>
            <a:ext cx="329184" cy="329184"/>
          </a:xfrm>
          <a:prstGeom prst="ellipse">
            <a:avLst/>
          </a:prstGeom>
          <a:solidFill>
            <a:schemeClr val="accent1"/>
          </a:solidFill>
          <a:ln/>
        </p:spPr>
      </p:sp>
      <p:sp>
        <p:nvSpPr>
          <p:cNvPr id="14" name="Text 11"/>
          <p:cNvSpPr txBox="1"/>
          <p:nvPr/>
        </p:nvSpPr>
        <p:spPr>
          <a:xfrm>
            <a:off x="749808" y="328269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2"/>
          <p:cNvSpPr txBox="1"/>
          <p:nvPr/>
        </p:nvSpPr>
        <p:spPr>
          <a:xfrm>
            <a:off x="1188720" y="3255264"/>
            <a:ext cx="4937760" cy="365760"/>
          </a:xfrm>
          <a:prstGeom prst="rect">
            <a:avLst/>
          </a:prstGeom>
          <a:noFill/>
          <a:ln/>
        </p:spPr>
        <p:txBody>
          <a:bodyPr wrap="square" lIns="0" tIns="0" rIns="0" bIns="0" rtlCol="0" anchor="ctr"/>
          <a:lstStyle/>
          <a:p>
            <a:pPr indent="0" marL="0">
              <a:buNone/>
            </a:pPr>
            <a:r>
              <a:rPr lang="en-US" sz="1700" b="1" dirty="0">
                <a:solidFill>
                  <a:schemeClr val="tx1"/>
                </a:solidFill>
              </a:rPr>
              <a:t>Volatility smile</a:t>
            </a:r>
            <a:endParaRPr lang="en-US" sz="1700" dirty="0"/>
          </a:p>
        </p:txBody>
      </p:sp>
      <p:sp>
        <p:nvSpPr>
          <p:cNvPr id="16" name="Text 13"/>
          <p:cNvSpPr txBox="1"/>
          <p:nvPr/>
        </p:nvSpPr>
        <p:spPr>
          <a:xfrm>
            <a:off x="749808" y="3657600"/>
            <a:ext cx="5394960" cy="548640"/>
          </a:xfrm>
          <a:prstGeom prst="rect">
            <a:avLst/>
          </a:prstGeom>
          <a:noFill/>
          <a:ln/>
        </p:spPr>
        <p:txBody>
          <a:bodyPr wrap="square" lIns="0" tIns="0" rIns="0" bIns="0" rtlCol="0" anchor="t"/>
          <a:lstStyle/>
          <a:p>
            <a:pPr indent="0" marL="0">
              <a:buNone/>
            </a:pPr>
            <a:r>
              <a:rPr lang="en-US" sz="1200" dirty="0">
                <a:solidFill>
                  <a:schemeClr val="tx1"/>
                </a:solidFill>
              </a:rPr>
              <a:t>IV is not constant across strikes. The cross-section can form a smile or skew, so strike and moneyness are important dimensions in option analysis.</a:t>
            </a:r>
            <a:endParaRPr lang="en-US" sz="1200" dirty="0"/>
          </a:p>
        </p:txBody>
      </p:sp>
      <p:sp>
        <p:nvSpPr>
          <p:cNvPr id="17" name="Text 14"/>
          <p:cNvSpPr txBox="1"/>
          <p:nvPr/>
        </p:nvSpPr>
        <p:spPr>
          <a:xfrm>
            <a:off x="749808" y="4178808"/>
            <a:ext cx="5394960" cy="384048"/>
          </a:xfrm>
          <a:prstGeom prst="rect">
            <a:avLst/>
          </a:prstGeom>
          <a:noFill/>
          <a:ln/>
        </p:spPr>
        <p:txBody>
          <a:bodyPr wrap="square" lIns="0" tIns="0" rIns="0" bIns="0" rtlCol="0" anchor="t"/>
          <a:lstStyle/>
          <a:p>
            <a:pPr indent="0" marL="0">
              <a:buNone/>
            </a:pPr>
            <a:r>
              <a:rPr lang="en-US" sz="1150" b="1" dirty="0">
                <a:solidFill>
                  <a:schemeClr val="accent1"/>
                </a:solidFill>
              </a:rPr>
              <a:t>Project focus: </a:t>
            </a:r>
            <a:pPr indent="0" marL="0">
              <a:buNone/>
            </a:pPr>
            <a:r>
              <a:rPr lang="en-US" sz="1150" b="1" dirty="0">
                <a:solidFill>
                  <a:schemeClr val="tx1"/>
                </a:solidFill>
              </a:rPr>
              <a:t>Map current IV structure and forecast how IV may change over the next five minutes.</a:t>
            </a:r>
            <a:endParaRPr lang="en-US" sz="1150" dirty="0"/>
          </a:p>
        </p:txBody>
      </p:sp>
      <p:sp>
        <p:nvSpPr>
          <p:cNvPr id="18" name="Shape 15"/>
          <p:cNvSpPr/>
          <p:nvPr/>
        </p:nvSpPr>
        <p:spPr>
          <a:xfrm>
            <a:off x="548640" y="4745736"/>
            <a:ext cx="5760720" cy="1508760"/>
          </a:xfrm>
          <a:prstGeom prst="roundRect">
            <a:avLst>
              <a:gd name="adj" fmla="val 484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9" name="Shape 16"/>
          <p:cNvSpPr/>
          <p:nvPr/>
        </p:nvSpPr>
        <p:spPr>
          <a:xfrm>
            <a:off x="749808" y="4901184"/>
            <a:ext cx="329184" cy="329184"/>
          </a:xfrm>
          <a:prstGeom prst="ellipse">
            <a:avLst/>
          </a:prstGeom>
          <a:solidFill>
            <a:schemeClr val="accent1"/>
          </a:solidFill>
          <a:ln/>
        </p:spPr>
      </p:sp>
      <p:sp>
        <p:nvSpPr>
          <p:cNvPr id="20" name="Text 17"/>
          <p:cNvSpPr txBox="1"/>
          <p:nvPr/>
        </p:nvSpPr>
        <p:spPr>
          <a:xfrm>
            <a:off x="749808" y="490118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Text 18"/>
          <p:cNvSpPr txBox="1"/>
          <p:nvPr/>
        </p:nvSpPr>
        <p:spPr>
          <a:xfrm>
            <a:off x="1188720" y="4873752"/>
            <a:ext cx="4937760" cy="365760"/>
          </a:xfrm>
          <a:prstGeom prst="rect">
            <a:avLst/>
          </a:prstGeom>
          <a:noFill/>
          <a:ln/>
        </p:spPr>
        <p:txBody>
          <a:bodyPr wrap="square" lIns="0" tIns="0" rIns="0" bIns="0" rtlCol="0" anchor="ctr"/>
          <a:lstStyle/>
          <a:p>
            <a:pPr indent="0" marL="0">
              <a:buNone/>
            </a:pPr>
            <a:r>
              <a:rPr lang="en-US" sz="1700" b="1" dirty="0">
                <a:solidFill>
                  <a:schemeClr val="tx1"/>
                </a:solidFill>
              </a:rPr>
              <a:t>Quantitative-finance link</a:t>
            </a:r>
            <a:endParaRPr lang="en-US" sz="1700" dirty="0"/>
          </a:p>
        </p:txBody>
      </p:sp>
      <p:sp>
        <p:nvSpPr>
          <p:cNvPr id="22" name="Text 19"/>
          <p:cNvSpPr txBox="1"/>
          <p:nvPr/>
        </p:nvSpPr>
        <p:spPr>
          <a:xfrm>
            <a:off x="749808" y="5276088"/>
            <a:ext cx="5394960" cy="548640"/>
          </a:xfrm>
          <a:prstGeom prst="rect">
            <a:avLst/>
          </a:prstGeom>
          <a:noFill/>
          <a:ln/>
        </p:spPr>
        <p:txBody>
          <a:bodyPr wrap="square" lIns="0" tIns="0" rIns="0" bIns="0" rtlCol="0" anchor="t"/>
          <a:lstStyle/>
          <a:p>
            <a:pPr indent="0" marL="0">
              <a:buNone/>
            </a:pPr>
            <a:r>
              <a:rPr lang="en-US" sz="1200" dirty="0">
                <a:solidFill>
                  <a:schemeClr val="tx1"/>
                </a:solidFill>
              </a:rPr>
              <a:t>The project combines derivatives theory, time-series feature engineering, machine learning, out-of-sample validation and scenario-based risk analysis.</a:t>
            </a:r>
            <a:endParaRPr lang="en-US" sz="1200" dirty="0"/>
          </a:p>
        </p:txBody>
      </p:sp>
      <p:sp>
        <p:nvSpPr>
          <p:cNvPr id="23" name="Text 20"/>
          <p:cNvSpPr txBox="1"/>
          <p:nvPr/>
        </p:nvSpPr>
        <p:spPr>
          <a:xfrm>
            <a:off x="749808" y="5797296"/>
            <a:ext cx="5394960" cy="384048"/>
          </a:xfrm>
          <a:prstGeom prst="rect">
            <a:avLst/>
          </a:prstGeom>
          <a:noFill/>
          <a:ln/>
        </p:spPr>
        <p:txBody>
          <a:bodyPr wrap="square" lIns="0" tIns="0" rIns="0" bIns="0" rtlCol="0" anchor="t"/>
          <a:lstStyle/>
          <a:p>
            <a:pPr indent="0" marL="0">
              <a:buNone/>
            </a:pPr>
            <a:r>
              <a:rPr lang="en-US" sz="1150" b="1" dirty="0">
                <a:solidFill>
                  <a:schemeClr val="accent1"/>
                </a:solidFill>
              </a:rPr>
              <a:t>Decision support: </a:t>
            </a:r>
            <a:pPr indent="0" marL="0">
              <a:buNone/>
            </a:pPr>
            <a:r>
              <a:rPr lang="en-US" sz="1150" b="1" dirty="0">
                <a:solidFill>
                  <a:schemeClr val="tx1"/>
                </a:solidFill>
              </a:rPr>
              <a:t>Forecasts are treated as research signals, not guaranteed buy/sell recommendations.</a:t>
            </a:r>
            <a:endParaRPr lang="en-US" sz="1150" dirty="0"/>
          </a:p>
        </p:txBody>
      </p:sp>
      <p:sp>
        <p:nvSpPr>
          <p:cNvPr id="24" name="Shape 21"/>
          <p:cNvSpPr/>
          <p:nvPr/>
        </p:nvSpPr>
        <p:spPr>
          <a:xfrm>
            <a:off x="6537960" y="1508760"/>
            <a:ext cx="5102352" cy="3337560"/>
          </a:xfrm>
          <a:prstGeom prst="roundRect">
            <a:avLst>
              <a:gd name="adj" fmla="val 2192"/>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5" name="Text 22"/>
          <p:cNvSpPr txBox="1"/>
          <p:nvPr/>
        </p:nvSpPr>
        <p:spPr>
          <a:xfrm>
            <a:off x="6766560" y="1664208"/>
            <a:ext cx="466344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VOLATILITY SMILE / SKEW  ·  ILLUSTRATIVE SCHEMATIC</a:t>
            </a:r>
            <a:endParaRPr lang="en-US" sz="1000" dirty="0"/>
          </a:p>
        </p:txBody>
      </p:sp>
      <p:graphicFrame>
        <p:nvGraphicFramePr>
          <p:cNvPr id="26" name="Chart 0" descr=""/>
          <p:cNvGraphicFramePr/>
          <p:nvPr/>
        </p:nvGraphicFramePr>
        <p:xfrm>
          <a:off x="6903720" y="1920240"/>
          <a:ext cx="4572000" cy="2331720"/>
        </p:xfrm>
        <a:graphic xmlns:a="http://schemas.openxmlformats.org/drawingml/2006/main">
          <a:graphicData uri="http://schemas.openxmlformats.org/drawingml/2006/chart">
            <c:chart xmlns:c="http://schemas.openxmlformats.org/drawingml/2006/chart" r:id="rId1"/>
          </a:graphicData>
        </a:graphic>
      </p:graphicFrame>
      <p:sp>
        <p:nvSpPr>
          <p:cNvPr id="27" name="Shape 23"/>
          <p:cNvSpPr/>
          <p:nvPr/>
        </p:nvSpPr>
        <p:spPr>
          <a:xfrm>
            <a:off x="6903720" y="4297680"/>
            <a:ext cx="4572000" cy="0"/>
          </a:xfrm>
          <a:prstGeom prst="line">
            <a:avLst/>
          </a:prstGeom>
          <a:noFill/>
          <a:ln w="12700">
            <a:solidFill>
              <a:schemeClr val="accent4"/>
            </a:solidFill>
            <a:prstDash val="solid"/>
            <a:tailEnd type="triangle"/>
          </a:ln>
        </p:spPr>
      </p:sp>
      <p:sp>
        <p:nvSpPr>
          <p:cNvPr id="28" name="Shape 24"/>
          <p:cNvSpPr/>
          <p:nvPr/>
        </p:nvSpPr>
        <p:spPr>
          <a:xfrm>
            <a:off x="6903720" y="1920240"/>
            <a:ext cx="0" cy="2377440"/>
          </a:xfrm>
          <a:prstGeom prst="line">
            <a:avLst/>
          </a:prstGeom>
          <a:noFill/>
          <a:ln w="12700">
            <a:solidFill>
              <a:schemeClr val="accent4"/>
            </a:solidFill>
            <a:prstDash val="solid"/>
            <a:headEnd type="triangle"/>
          </a:ln>
        </p:spPr>
      </p:sp>
      <p:sp>
        <p:nvSpPr>
          <p:cNvPr id="29" name="Shape 25"/>
          <p:cNvSpPr/>
          <p:nvPr/>
        </p:nvSpPr>
        <p:spPr>
          <a:xfrm>
            <a:off x="9189720" y="2057400"/>
            <a:ext cx="0" cy="2240280"/>
          </a:xfrm>
          <a:prstGeom prst="line">
            <a:avLst/>
          </a:prstGeom>
          <a:noFill/>
          <a:ln w="12700">
            <a:solidFill>
              <a:schemeClr val="accent1"/>
            </a:solidFill>
            <a:prstDash val="dash"/>
          </a:ln>
        </p:spPr>
      </p:sp>
      <p:sp>
        <p:nvSpPr>
          <p:cNvPr id="30" name="Text 26"/>
          <p:cNvSpPr txBox="1"/>
          <p:nvPr/>
        </p:nvSpPr>
        <p:spPr>
          <a:xfrm>
            <a:off x="9281160" y="2011680"/>
            <a:ext cx="1280160" cy="228600"/>
          </a:xfrm>
          <a:prstGeom prst="rect">
            <a:avLst/>
          </a:prstGeom>
          <a:noFill/>
          <a:ln/>
        </p:spPr>
        <p:txBody>
          <a:bodyPr wrap="square" lIns="0" tIns="0" rIns="0" bIns="0" rtlCol="0" anchor="t"/>
          <a:lstStyle/>
          <a:p>
            <a:pPr indent="0" marL="0">
              <a:buNone/>
            </a:pPr>
            <a:r>
              <a:rPr lang="en-US" sz="1100" b="1" dirty="0">
                <a:solidFill>
                  <a:schemeClr val="accent1"/>
                </a:solidFill>
              </a:rPr>
              <a:t>ATM (K ≈ S)</a:t>
            </a:r>
            <a:endParaRPr lang="en-US" sz="1100" dirty="0"/>
          </a:p>
        </p:txBody>
      </p:sp>
      <p:sp>
        <p:nvSpPr>
          <p:cNvPr id="31" name="Text 27"/>
          <p:cNvSpPr txBox="1"/>
          <p:nvPr/>
        </p:nvSpPr>
        <p:spPr>
          <a:xfrm rot="16200000">
            <a:off x="5943600" y="2743200"/>
            <a:ext cx="1463040" cy="274320"/>
          </a:xfrm>
          <a:prstGeom prst="rect">
            <a:avLst/>
          </a:prstGeom>
          <a:noFill/>
          <a:ln/>
        </p:spPr>
        <p:txBody>
          <a:bodyPr wrap="square" lIns="0" tIns="0" rIns="0" bIns="0" rtlCol="0" anchor="t"/>
          <a:lstStyle/>
          <a:p>
            <a:pPr algn="ctr" indent="0" marL="0">
              <a:buNone/>
            </a:pPr>
            <a:r>
              <a:rPr lang="en-US" sz="1100" dirty="0">
                <a:solidFill>
                  <a:schemeClr val="accent4"/>
                </a:solidFill>
              </a:rPr>
              <a:t>Implied volatility</a:t>
            </a:r>
            <a:endParaRPr lang="en-US" sz="1100" dirty="0"/>
          </a:p>
        </p:txBody>
      </p:sp>
      <p:sp>
        <p:nvSpPr>
          <p:cNvPr id="32" name="Text 28"/>
          <p:cNvSpPr txBox="1"/>
          <p:nvPr/>
        </p:nvSpPr>
        <p:spPr>
          <a:xfrm>
            <a:off x="6949440" y="4370832"/>
            <a:ext cx="2011680" cy="228600"/>
          </a:xfrm>
          <a:prstGeom prst="rect">
            <a:avLst/>
          </a:prstGeom>
          <a:noFill/>
          <a:ln/>
        </p:spPr>
        <p:txBody>
          <a:bodyPr wrap="square" lIns="0" tIns="0" rIns="0" bIns="0" rtlCol="0" anchor="t"/>
          <a:lstStyle/>
          <a:p>
            <a:pPr indent="0" marL="0">
              <a:buNone/>
            </a:pPr>
            <a:r>
              <a:rPr lang="en-US" sz="1100" dirty="0">
                <a:solidFill>
                  <a:schemeClr val="accent4"/>
                </a:solidFill>
              </a:rPr>
              <a:t>Lower strikes (K &lt; S)</a:t>
            </a:r>
            <a:endParaRPr lang="en-US" sz="1100" dirty="0"/>
          </a:p>
        </p:txBody>
      </p:sp>
      <p:sp>
        <p:nvSpPr>
          <p:cNvPr id="33" name="Text 29"/>
          <p:cNvSpPr txBox="1"/>
          <p:nvPr/>
        </p:nvSpPr>
        <p:spPr>
          <a:xfrm>
            <a:off x="8549640" y="4370832"/>
            <a:ext cx="1280160" cy="228600"/>
          </a:xfrm>
          <a:prstGeom prst="rect">
            <a:avLst/>
          </a:prstGeom>
          <a:noFill/>
          <a:ln/>
        </p:spPr>
        <p:txBody>
          <a:bodyPr wrap="square" lIns="0" tIns="0" rIns="0" bIns="0" rtlCol="0" anchor="t"/>
          <a:lstStyle/>
          <a:p>
            <a:pPr algn="ctr" indent="0" marL="0">
              <a:buNone/>
            </a:pPr>
            <a:r>
              <a:rPr lang="en-US" sz="1100" b="1" dirty="0">
                <a:solidFill>
                  <a:schemeClr val="accent4"/>
                </a:solidFill>
              </a:rPr>
              <a:t>Strike price (K)</a:t>
            </a:r>
            <a:endParaRPr lang="en-US" sz="1100" dirty="0"/>
          </a:p>
        </p:txBody>
      </p:sp>
      <p:sp>
        <p:nvSpPr>
          <p:cNvPr id="34" name="Text 30"/>
          <p:cNvSpPr txBox="1"/>
          <p:nvPr/>
        </p:nvSpPr>
        <p:spPr>
          <a:xfrm>
            <a:off x="9966960" y="4370832"/>
            <a:ext cx="1508760" cy="228600"/>
          </a:xfrm>
          <a:prstGeom prst="rect">
            <a:avLst/>
          </a:prstGeom>
          <a:noFill/>
          <a:ln/>
        </p:spPr>
        <p:txBody>
          <a:bodyPr wrap="square" lIns="0" tIns="0" rIns="0" bIns="0" rtlCol="0" anchor="t"/>
          <a:lstStyle/>
          <a:p>
            <a:pPr algn="r" indent="0" marL="0">
              <a:buNone/>
            </a:pPr>
            <a:r>
              <a:rPr lang="en-US" sz="1100" dirty="0">
                <a:solidFill>
                  <a:schemeClr val="accent4"/>
                </a:solidFill>
              </a:rPr>
              <a:t>Higher strikes (K &gt; S)</a:t>
            </a:r>
            <a:endParaRPr lang="en-US" sz="1100" dirty="0"/>
          </a:p>
        </p:txBody>
      </p:sp>
      <p:sp>
        <p:nvSpPr>
          <p:cNvPr id="35" name="Shape 31"/>
          <p:cNvSpPr/>
          <p:nvPr/>
        </p:nvSpPr>
        <p:spPr>
          <a:xfrm>
            <a:off x="6537960" y="4983480"/>
            <a:ext cx="5102352" cy="1325880"/>
          </a:xfrm>
          <a:prstGeom prst="roundRect">
            <a:avLst>
              <a:gd name="adj" fmla="val 5517"/>
            </a:avLst>
          </a:prstGeom>
          <a:solidFill>
            <a:schemeClr val="tx2"/>
          </a:solidFill>
          <a:ln w="9525">
            <a:solidFill>
              <a:schemeClr val="accent6">
                <a:alpha val="30000"/>
              </a:schemeClr>
            </a:solidFill>
            <a:prstDash val="solid"/>
          </a:ln>
        </p:spPr>
      </p:sp>
      <p:sp>
        <p:nvSpPr>
          <p:cNvPr id="36" name="Text 32"/>
          <p:cNvSpPr txBox="1"/>
          <p:nvPr/>
        </p:nvSpPr>
        <p:spPr>
          <a:xfrm>
            <a:off x="6766560" y="5120640"/>
            <a:ext cx="466344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FIVE-MINUTE FORECASTING OBJECTIVE</a:t>
            </a:r>
            <a:endParaRPr lang="en-US" sz="1000" dirty="0"/>
          </a:p>
        </p:txBody>
      </p:sp>
      <p:sp>
        <p:nvSpPr>
          <p:cNvPr id="37" name="Shape 33"/>
          <p:cNvSpPr/>
          <p:nvPr/>
        </p:nvSpPr>
        <p:spPr>
          <a:xfrm>
            <a:off x="6858000" y="5623560"/>
            <a:ext cx="182880" cy="182880"/>
          </a:xfrm>
          <a:prstGeom prst="ellipse">
            <a:avLst/>
          </a:prstGeom>
          <a:solidFill>
            <a:schemeClr val="accent6"/>
          </a:solidFill>
          <a:ln/>
        </p:spPr>
      </p:sp>
      <p:sp>
        <p:nvSpPr>
          <p:cNvPr id="38" name="Shape 34"/>
          <p:cNvSpPr/>
          <p:nvPr/>
        </p:nvSpPr>
        <p:spPr>
          <a:xfrm>
            <a:off x="7040880" y="5715000"/>
            <a:ext cx="3474720" cy="0"/>
          </a:xfrm>
          <a:prstGeom prst="line">
            <a:avLst/>
          </a:prstGeom>
          <a:noFill/>
          <a:ln w="25400">
            <a:solidFill>
              <a:schemeClr val="accent6"/>
            </a:solidFill>
            <a:prstDash val="solid"/>
            <a:tailEnd type="triangle"/>
          </a:ln>
        </p:spPr>
      </p:sp>
      <p:sp>
        <p:nvSpPr>
          <p:cNvPr id="39" name="Shape 35"/>
          <p:cNvSpPr/>
          <p:nvPr/>
        </p:nvSpPr>
        <p:spPr>
          <a:xfrm>
            <a:off x="10561320" y="5623560"/>
            <a:ext cx="182880" cy="182880"/>
          </a:xfrm>
          <a:prstGeom prst="ellipse">
            <a:avLst/>
          </a:prstGeom>
          <a:solidFill>
            <a:schemeClr val="accent6"/>
          </a:solidFill>
          <a:ln/>
        </p:spPr>
      </p:sp>
      <p:sp>
        <p:nvSpPr>
          <p:cNvPr id="40" name="Text 36"/>
          <p:cNvSpPr txBox="1"/>
          <p:nvPr/>
        </p:nvSpPr>
        <p:spPr>
          <a:xfrm>
            <a:off x="6766560" y="5870448"/>
            <a:ext cx="1645920" cy="274320"/>
          </a:xfrm>
          <a:prstGeom prst="rect">
            <a:avLst/>
          </a:prstGeom>
          <a:noFill/>
          <a:ln/>
        </p:spPr>
        <p:txBody>
          <a:bodyPr wrap="square" lIns="0" tIns="0" rIns="0" bIns="0" rtlCol="0" anchor="t"/>
          <a:lstStyle/>
          <a:p>
            <a:pPr indent="0" marL="0">
              <a:buNone/>
            </a:pPr>
            <a:r>
              <a:rPr lang="en-US" sz="1100" b="1" dirty="0">
                <a:solidFill>
                  <a:schemeClr val="bg1"/>
                </a:solidFill>
              </a:rPr>
              <a:t>IV observed now (t)</a:t>
            </a:r>
            <a:endParaRPr lang="en-US" sz="1100" dirty="0"/>
          </a:p>
        </p:txBody>
      </p:sp>
      <p:sp>
        <p:nvSpPr>
          <p:cNvPr id="41" name="Text 37"/>
          <p:cNvSpPr txBox="1"/>
          <p:nvPr/>
        </p:nvSpPr>
        <p:spPr>
          <a:xfrm>
            <a:off x="9601200" y="5870448"/>
            <a:ext cx="1920240" cy="274320"/>
          </a:xfrm>
          <a:prstGeom prst="rect">
            <a:avLst/>
          </a:prstGeom>
          <a:noFill/>
          <a:ln/>
        </p:spPr>
        <p:txBody>
          <a:bodyPr wrap="square" lIns="0" tIns="0" rIns="0" bIns="0" rtlCol="0" anchor="t"/>
          <a:lstStyle/>
          <a:p>
            <a:pPr algn="r" indent="0" marL="0">
              <a:buNone/>
            </a:pPr>
            <a:r>
              <a:rPr lang="en-US" sz="1100" b="1" dirty="0">
                <a:solidFill>
                  <a:schemeClr val="bg1"/>
                </a:solidFill>
              </a:rPr>
              <a:t>IV to forecast (t + 5 min)</a:t>
            </a:r>
            <a:endParaRPr lang="en-US" sz="1100" dirty="0"/>
          </a:p>
        </p:txBody>
      </p:sp>
      <p:sp>
        <p:nvSpPr>
          <p:cNvPr id="42" name="Text 38"/>
          <p:cNvSpPr txBox="1"/>
          <p:nvPr/>
        </p:nvSpPr>
        <p:spPr>
          <a:xfrm>
            <a:off x="8138160" y="5376672"/>
            <a:ext cx="2377440" cy="274320"/>
          </a:xfrm>
          <a:prstGeom prst="rect">
            <a:avLst/>
          </a:prstGeom>
          <a:noFill/>
          <a:ln/>
        </p:spPr>
        <p:txBody>
          <a:bodyPr wrap="square" lIns="0" tIns="0" rIns="0" bIns="0" rtlCol="0" anchor="t"/>
          <a:lstStyle/>
          <a:p>
            <a:pPr algn="ctr" indent="0" marL="0">
              <a:buNone/>
            </a:pPr>
            <a:r>
              <a:rPr lang="en-US" sz="1400" b="1" dirty="0">
                <a:solidFill>
                  <a:schemeClr val="accent6"/>
                </a:solidFill>
                <a:latin typeface="Cambria" pitchFamily="34" charset="0"/>
                <a:ea typeface="Cambria" pitchFamily="34" charset="-122"/>
                <a:cs typeface="Cambria" pitchFamily="34" charset="-120"/>
              </a:rPr>
              <a:t>ΔIV</a:t>
            </a:r>
            <a:pPr algn="ctr" indent="0" marL="0">
              <a:buNone/>
            </a:pPr>
            <a:r>
              <a:rPr lang="en-US" sz="1400" b="1" baseline="-40000" dirty="0">
                <a:solidFill>
                  <a:schemeClr val="accent6"/>
                </a:solidFill>
                <a:latin typeface="Cambria" pitchFamily="34" charset="0"/>
                <a:ea typeface="Cambria" pitchFamily="34" charset="-122"/>
                <a:cs typeface="Cambria" pitchFamily="34" charset="-120"/>
              </a:rPr>
              <a:t>t+5</a:t>
            </a:r>
            <a:pPr algn="ctr" indent="0" marL="0">
              <a:buNone/>
            </a:pPr>
            <a:r>
              <a:rPr lang="en-US" sz="1400" b="1" dirty="0">
                <a:solidFill>
                  <a:schemeClr val="accent6"/>
                </a:solidFill>
                <a:latin typeface="Cambria" pitchFamily="34" charset="0"/>
                <a:ea typeface="Cambria" pitchFamily="34" charset="-122"/>
                <a:cs typeface="Cambria" pitchFamily="34" charset="-120"/>
              </a:rPr>
              <a:t> = IV</a:t>
            </a:r>
            <a:pPr algn="ctr" indent="0" marL="0">
              <a:buNone/>
            </a:pPr>
            <a:r>
              <a:rPr lang="en-US" sz="1400" b="1" baseline="-40000" dirty="0">
                <a:solidFill>
                  <a:schemeClr val="accent6"/>
                </a:solidFill>
                <a:latin typeface="Cambria" pitchFamily="34" charset="0"/>
                <a:ea typeface="Cambria" pitchFamily="34" charset="-122"/>
                <a:cs typeface="Cambria" pitchFamily="34" charset="-120"/>
              </a:rPr>
              <a:t>t+5</a:t>
            </a:r>
            <a:pPr algn="ctr" indent="0" marL="0">
              <a:buNone/>
            </a:pPr>
            <a:r>
              <a:rPr lang="en-US" sz="1400" b="1" dirty="0">
                <a:solidFill>
                  <a:schemeClr val="accent6"/>
                </a:solidFill>
                <a:latin typeface="Cambria" pitchFamily="34" charset="0"/>
                <a:ea typeface="Cambria" pitchFamily="34" charset="-122"/>
                <a:cs typeface="Cambria" pitchFamily="34" charset="-120"/>
              </a:rPr>
              <a:t> − IV</a:t>
            </a:r>
            <a:pPr algn="ctr" indent="0" marL="0">
              <a:buNone/>
            </a:pPr>
            <a:r>
              <a:rPr lang="en-US" sz="1400" b="1" baseline="-40000" dirty="0">
                <a:solidFill>
                  <a:schemeClr val="accent6"/>
                </a:solidFill>
                <a:latin typeface="Cambria" pitchFamily="34" charset="0"/>
                <a:ea typeface="Cambria" pitchFamily="34" charset="-122"/>
                <a:cs typeface="Cambria" pitchFamily="34" charset="-120"/>
              </a:rPr>
              <a:t>t</a:t>
            </a:r>
            <a:endParaRPr lang="en-US" sz="140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04  ·  PROBLEM STATEMENT AND MOTIVATION</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Problem statement: can ΔIV over five minutes beat persistence?</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From raw option-chain data to a usable decision-support prototype</a:t>
            </a:r>
            <a:endParaRPr lang="en-US" sz="1400" dirty="0"/>
          </a:p>
        </p:txBody>
      </p:sp>
      <p:sp>
        <p:nvSpPr>
          <p:cNvPr id="6" name="Shape 3"/>
          <p:cNvSpPr/>
          <p:nvPr/>
        </p:nvSpPr>
        <p:spPr>
          <a:xfrm>
            <a:off x="548640" y="1508760"/>
            <a:ext cx="3566160" cy="2606040"/>
          </a:xfrm>
          <a:prstGeom prst="roundRect">
            <a:avLst>
              <a:gd name="adj" fmla="val 2807"/>
            </a:avLst>
          </a:prstGeom>
          <a:solidFill>
            <a:schemeClr val="tx2"/>
          </a:solidFill>
          <a:ln w="9525">
            <a:solidFill>
              <a:schemeClr val="accent6">
                <a:alpha val="30000"/>
              </a:schemeClr>
            </a:solidFill>
            <a:prstDash val="solid"/>
          </a:ln>
        </p:spPr>
      </p:sp>
      <p:sp>
        <p:nvSpPr>
          <p:cNvPr id="7" name="Text 4"/>
          <p:cNvSpPr txBox="1"/>
          <p:nvPr/>
        </p:nvSpPr>
        <p:spPr>
          <a:xfrm>
            <a:off x="777240" y="1691640"/>
            <a:ext cx="310896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THE FORECASTING PROBLEM</a:t>
            </a:r>
            <a:endParaRPr lang="en-US" sz="1000" dirty="0"/>
          </a:p>
        </p:txBody>
      </p:sp>
      <p:sp>
        <p:nvSpPr>
          <p:cNvPr id="8" name="Text 5"/>
          <p:cNvSpPr txBox="1"/>
          <p:nvPr/>
        </p:nvSpPr>
        <p:spPr>
          <a:xfrm>
            <a:off x="777240" y="1993392"/>
            <a:ext cx="3154680" cy="1463040"/>
          </a:xfrm>
          <a:prstGeom prst="rect">
            <a:avLst/>
          </a:prstGeom>
          <a:noFill/>
          <a:ln/>
        </p:spPr>
        <p:txBody>
          <a:bodyPr wrap="square" lIns="0" tIns="0" rIns="0" bIns="0" rtlCol="0" anchor="t"/>
          <a:lstStyle/>
          <a:p>
            <a:pPr indent="0" marL="0">
              <a:buNone/>
            </a:pPr>
            <a:r>
              <a:rPr lang="en-US" sz="1650" b="1" dirty="0">
                <a:solidFill>
                  <a:schemeClr val="bg1"/>
                </a:solidFill>
              </a:rPr>
              <a:t>Can short-horizon changes in NIFTY 50 option implied volatility be forecast more effectively than a simple “IV stays unchanged” benchmark?</a:t>
            </a:r>
            <a:endParaRPr lang="en-US" sz="1650" dirty="0"/>
          </a:p>
        </p:txBody>
      </p:sp>
      <p:sp>
        <p:nvSpPr>
          <p:cNvPr id="9" name="Shape 6"/>
          <p:cNvSpPr/>
          <p:nvPr/>
        </p:nvSpPr>
        <p:spPr>
          <a:xfrm>
            <a:off x="777240" y="3611880"/>
            <a:ext cx="1371600" cy="292608"/>
          </a:xfrm>
          <a:prstGeom prst="roundRect">
            <a:avLst>
              <a:gd name="adj" fmla="val 50000"/>
            </a:avLst>
          </a:prstGeom>
          <a:solidFill>
            <a:schemeClr val="accent6">
              <a:alpha val="12000"/>
            </a:schemeClr>
          </a:solidFill>
          <a:ln w="9525">
            <a:solidFill>
              <a:schemeClr val="accent6">
                <a:alpha val="60000"/>
              </a:schemeClr>
            </a:solidFill>
            <a:prstDash val="solid"/>
          </a:ln>
        </p:spPr>
      </p:sp>
      <p:sp>
        <p:nvSpPr>
          <p:cNvPr id="10" name="Text 7"/>
          <p:cNvSpPr txBox="1"/>
          <p:nvPr/>
        </p:nvSpPr>
        <p:spPr>
          <a:xfrm>
            <a:off x="777240" y="3611880"/>
            <a:ext cx="1371600" cy="292608"/>
          </a:xfrm>
          <a:prstGeom prst="rect">
            <a:avLst/>
          </a:prstGeom>
          <a:noFill/>
          <a:ln/>
        </p:spPr>
        <p:txBody>
          <a:bodyPr wrap="square" lIns="0" tIns="0" rIns="0" bIns="0" rtlCol="0" anchor="ctr"/>
          <a:lstStyle/>
          <a:p>
            <a:pPr algn="ctr" indent="0" marL="0">
              <a:buNone/>
            </a:pPr>
            <a:r>
              <a:rPr lang="en-US" sz="1100" b="1" dirty="0">
                <a:solidFill>
                  <a:schemeClr val="accent6"/>
                </a:solidFill>
              </a:rPr>
              <a:t>t → t + 5 min</a:t>
            </a:r>
            <a:endParaRPr lang="en-US" sz="1100" dirty="0"/>
          </a:p>
        </p:txBody>
      </p:sp>
      <p:sp>
        <p:nvSpPr>
          <p:cNvPr id="11" name="Shape 8"/>
          <p:cNvSpPr/>
          <p:nvPr/>
        </p:nvSpPr>
        <p:spPr>
          <a:xfrm>
            <a:off x="2286000" y="3611880"/>
            <a:ext cx="1097280" cy="292608"/>
          </a:xfrm>
          <a:prstGeom prst="roundRect">
            <a:avLst>
              <a:gd name="adj" fmla="val 50000"/>
            </a:avLst>
          </a:prstGeom>
          <a:solidFill>
            <a:schemeClr val="accent6">
              <a:alpha val="12000"/>
            </a:schemeClr>
          </a:solidFill>
          <a:ln w="9525">
            <a:solidFill>
              <a:schemeClr val="accent6">
                <a:alpha val="60000"/>
              </a:schemeClr>
            </a:solidFill>
            <a:prstDash val="solid"/>
          </a:ln>
        </p:spPr>
      </p:sp>
      <p:sp>
        <p:nvSpPr>
          <p:cNvPr id="12" name="Text 9"/>
          <p:cNvSpPr txBox="1"/>
          <p:nvPr/>
        </p:nvSpPr>
        <p:spPr>
          <a:xfrm>
            <a:off x="2286000" y="3611880"/>
            <a:ext cx="1097280" cy="292608"/>
          </a:xfrm>
          <a:prstGeom prst="rect">
            <a:avLst/>
          </a:prstGeom>
          <a:noFill/>
          <a:ln/>
        </p:spPr>
        <p:txBody>
          <a:bodyPr wrap="square" lIns="0" tIns="0" rIns="0" bIns="0" rtlCol="0" anchor="ctr"/>
          <a:lstStyle/>
          <a:p>
            <a:pPr algn="ctr" indent="0" marL="0">
              <a:buNone/>
            </a:pPr>
            <a:r>
              <a:rPr lang="en-US" sz="1100" b="1" dirty="0">
                <a:solidFill>
                  <a:schemeClr val="accent6"/>
                </a:solidFill>
              </a:rPr>
              <a:t>ΔIV target</a:t>
            </a:r>
            <a:endParaRPr lang="en-US" sz="1100" dirty="0"/>
          </a:p>
        </p:txBody>
      </p:sp>
      <p:sp>
        <p:nvSpPr>
          <p:cNvPr id="13" name="Shape 10"/>
          <p:cNvSpPr/>
          <p:nvPr/>
        </p:nvSpPr>
        <p:spPr>
          <a:xfrm>
            <a:off x="4297680" y="1508760"/>
            <a:ext cx="3566160" cy="2606040"/>
          </a:xfrm>
          <a:prstGeom prst="roundRect">
            <a:avLst>
              <a:gd name="adj" fmla="val 2807"/>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4" name="Text 11"/>
          <p:cNvSpPr txBox="1"/>
          <p:nvPr/>
        </p:nvSpPr>
        <p:spPr>
          <a:xfrm>
            <a:off x="4526280" y="1691640"/>
            <a:ext cx="310896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THE BENCHMARK</a:t>
            </a:r>
            <a:endParaRPr lang="en-US" sz="1000" dirty="0"/>
          </a:p>
        </p:txBody>
      </p:sp>
      <p:sp>
        <p:nvSpPr>
          <p:cNvPr id="15" name="Text 12"/>
          <p:cNvSpPr txBox="1"/>
          <p:nvPr/>
        </p:nvSpPr>
        <p:spPr>
          <a:xfrm>
            <a:off x="4526280" y="1965960"/>
            <a:ext cx="3108960" cy="365760"/>
          </a:xfrm>
          <a:prstGeom prst="rect">
            <a:avLst/>
          </a:prstGeom>
          <a:noFill/>
          <a:ln/>
        </p:spPr>
        <p:txBody>
          <a:bodyPr wrap="square" lIns="0" tIns="0" rIns="0" bIns="0" rtlCol="0" anchor="t"/>
          <a:lstStyle/>
          <a:p>
            <a:pPr indent="0" marL="0">
              <a:buNone/>
            </a:pPr>
            <a:r>
              <a:rPr lang="en-US" sz="2000" b="1" dirty="0">
                <a:solidFill>
                  <a:schemeClr val="tx1"/>
                </a:solidFill>
              </a:rPr>
              <a:t>Persistence</a:t>
            </a:r>
            <a:endParaRPr lang="en-US" sz="2000" dirty="0"/>
          </a:p>
        </p:txBody>
      </p:sp>
      <p:sp>
        <p:nvSpPr>
          <p:cNvPr id="16" name="Shape 13"/>
          <p:cNvSpPr/>
          <p:nvPr/>
        </p:nvSpPr>
        <p:spPr>
          <a:xfrm>
            <a:off x="4526280" y="2423160"/>
            <a:ext cx="3108960" cy="566928"/>
          </a:xfrm>
          <a:prstGeom prst="rect">
            <a:avLst/>
          </a:prstGeom>
          <a:solidFill>
            <a:schemeClr val="accent1">
              <a:alpha val="12000"/>
            </a:schemeClr>
          </a:solidFill>
          <a:ln w="9525">
            <a:solidFill>
              <a:schemeClr val="accent1">
                <a:alpha val="50000"/>
              </a:schemeClr>
            </a:solidFill>
            <a:prstDash val="solid"/>
          </a:ln>
        </p:spPr>
      </p:sp>
      <p:sp>
        <p:nvSpPr>
          <p:cNvPr id="17" name="Text 14"/>
          <p:cNvSpPr txBox="1"/>
          <p:nvPr/>
        </p:nvSpPr>
        <p:spPr>
          <a:xfrm>
            <a:off x="4526280" y="2423160"/>
            <a:ext cx="3108960" cy="566928"/>
          </a:xfrm>
          <a:prstGeom prst="rect">
            <a:avLst/>
          </a:prstGeom>
          <a:noFill/>
          <a:ln/>
        </p:spPr>
        <p:txBody>
          <a:bodyPr wrap="square" lIns="0" tIns="0" rIns="0" bIns="0"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IV̂</a:t>
            </a:r>
            <a:pPr algn="ctr" indent="0" marL="0">
              <a:buNone/>
            </a:pPr>
            <a:r>
              <a:rPr lang="en-US" sz="2000" b="1" baseline="-40000" dirty="0">
                <a:solidFill>
                  <a:schemeClr val="tx1"/>
                </a:solidFill>
                <a:latin typeface="Cambria" pitchFamily="34" charset="0"/>
                <a:ea typeface="Cambria" pitchFamily="34" charset="-122"/>
                <a:cs typeface="Cambria" pitchFamily="34" charset="-120"/>
              </a:rPr>
              <a:t>t+5</a:t>
            </a:r>
            <a:pPr algn="ctr" indent="0" marL="0">
              <a:buNone/>
            </a:pPr>
            <a:r>
              <a:rPr lang="en-US" sz="2000" b="1" dirty="0">
                <a:solidFill>
                  <a:schemeClr val="tx1"/>
                </a:solidFill>
                <a:latin typeface="Cambria" pitchFamily="34" charset="0"/>
                <a:ea typeface="Cambria" pitchFamily="34" charset="-122"/>
                <a:cs typeface="Cambria" pitchFamily="34" charset="-120"/>
              </a:rPr>
              <a:t> = IV</a:t>
            </a:r>
            <a:pPr algn="ctr" indent="0" marL="0">
              <a:buNone/>
            </a:pPr>
            <a:r>
              <a:rPr lang="en-US" sz="2000" b="1" baseline="-40000" dirty="0">
                <a:solidFill>
                  <a:schemeClr val="tx1"/>
                </a:solidFill>
                <a:latin typeface="Cambria" pitchFamily="34" charset="0"/>
                <a:ea typeface="Cambria" pitchFamily="34" charset="-122"/>
                <a:cs typeface="Cambria" pitchFamily="34" charset="-120"/>
              </a:rPr>
              <a:t>t</a:t>
            </a:r>
            <a:endParaRPr lang="en-US" sz="2000" dirty="0"/>
          </a:p>
        </p:txBody>
      </p:sp>
      <p:sp>
        <p:nvSpPr>
          <p:cNvPr id="18" name="Text 15"/>
          <p:cNvSpPr txBox="1"/>
          <p:nvPr/>
        </p:nvSpPr>
        <p:spPr>
          <a:xfrm>
            <a:off x="4526280" y="3154680"/>
            <a:ext cx="3108960" cy="868680"/>
          </a:xfrm>
          <a:prstGeom prst="rect">
            <a:avLst/>
          </a:prstGeom>
          <a:noFill/>
          <a:ln/>
        </p:spPr>
        <p:txBody>
          <a:bodyPr wrap="square" lIns="0" tIns="0" rIns="0" bIns="0" rtlCol="0" anchor="t"/>
          <a:lstStyle/>
          <a:p>
            <a:pPr indent="0" marL="0">
              <a:buNone/>
            </a:pPr>
            <a:r>
              <a:rPr lang="en-US" sz="1300" dirty="0">
                <a:solidFill>
                  <a:schemeClr val="tx1"/>
                </a:solidFill>
              </a:rPr>
              <a:t>A strong baseline over only five minutes. The ML model adds value only if its out-of-sample error is lower than this benchmark.</a:t>
            </a:r>
            <a:endParaRPr lang="en-US" sz="1300" dirty="0"/>
          </a:p>
        </p:txBody>
      </p:sp>
      <p:sp>
        <p:nvSpPr>
          <p:cNvPr id="19" name="Shape 16"/>
          <p:cNvSpPr/>
          <p:nvPr/>
        </p:nvSpPr>
        <p:spPr>
          <a:xfrm>
            <a:off x="8046720" y="1508760"/>
            <a:ext cx="3593592" cy="2606040"/>
          </a:xfrm>
          <a:prstGeom prst="roundRect">
            <a:avLst>
              <a:gd name="adj" fmla="val 2807"/>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0" name="Text 17"/>
          <p:cNvSpPr txBox="1"/>
          <p:nvPr/>
        </p:nvSpPr>
        <p:spPr>
          <a:xfrm>
            <a:off x="8275320" y="1691640"/>
            <a:ext cx="32004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DECISION-SUPPORT APPLICATIONS</a:t>
            </a:r>
            <a:endParaRPr lang="en-US" sz="1000" dirty="0"/>
          </a:p>
        </p:txBody>
      </p:sp>
      <p:sp>
        <p:nvSpPr>
          <p:cNvPr id="21" name="Shape 18"/>
          <p:cNvSpPr/>
          <p:nvPr/>
        </p:nvSpPr>
        <p:spPr>
          <a:xfrm>
            <a:off x="8275320" y="2011680"/>
            <a:ext cx="384048" cy="384048"/>
          </a:xfrm>
          <a:prstGeom prst="ellipse">
            <a:avLst/>
          </a:prstGeom>
          <a:solidFill>
            <a:schemeClr val="accent1"/>
          </a:solidFill>
          <a:ln/>
        </p:spPr>
      </p:sp>
      <p:pic>
        <p:nvPicPr>
          <p:cNvPr id="22" name="Image 0" descr="preencoded.png">    </p:cNvPr>
          <p:cNvPicPr>
            <a:picLocks noChangeAspect="1"/>
          </p:cNvPicPr>
          <p:nvPr/>
        </p:nvPicPr>
        <p:blipFill>
          <a:blip r:embed="rId1"/>
          <a:stretch>
            <a:fillRect/>
          </a:stretch>
        </p:blipFill>
        <p:spPr>
          <a:xfrm>
            <a:off x="8371332" y="2107692"/>
            <a:ext cx="192024" cy="192024"/>
          </a:xfrm>
          <a:prstGeom prst="rect">
            <a:avLst/>
          </a:prstGeom>
        </p:spPr>
      </p:pic>
      <p:sp>
        <p:nvSpPr>
          <p:cNvPr id="23" name="Text 19"/>
          <p:cNvSpPr txBox="1"/>
          <p:nvPr/>
        </p:nvSpPr>
        <p:spPr>
          <a:xfrm>
            <a:off x="8778240" y="2011680"/>
            <a:ext cx="2743200" cy="384048"/>
          </a:xfrm>
          <a:prstGeom prst="rect">
            <a:avLst/>
          </a:prstGeom>
          <a:noFill/>
          <a:ln/>
        </p:spPr>
        <p:txBody>
          <a:bodyPr wrap="square" lIns="0" tIns="0" rIns="0" bIns="0" rtlCol="0" anchor="ctr"/>
          <a:lstStyle/>
          <a:p>
            <a:pPr indent="0" marL="0">
              <a:buNone/>
            </a:pPr>
            <a:r>
              <a:rPr lang="en-US" sz="1400" b="1" dirty="0">
                <a:solidFill>
                  <a:schemeClr val="tx1"/>
                </a:solidFill>
              </a:rPr>
              <a:t>5-minute IV forecast</a:t>
            </a:r>
            <a:endParaRPr lang="en-US" sz="1400" dirty="0"/>
          </a:p>
        </p:txBody>
      </p:sp>
      <p:sp>
        <p:nvSpPr>
          <p:cNvPr id="24" name="Shape 20"/>
          <p:cNvSpPr/>
          <p:nvPr/>
        </p:nvSpPr>
        <p:spPr>
          <a:xfrm>
            <a:off x="8275320" y="2523744"/>
            <a:ext cx="384048" cy="384048"/>
          </a:xfrm>
          <a:prstGeom prst="ellipse">
            <a:avLst/>
          </a:prstGeom>
          <a:solidFill>
            <a:schemeClr val="accent1"/>
          </a:solidFill>
          <a:ln/>
        </p:spPr>
      </p:sp>
      <p:pic>
        <p:nvPicPr>
          <p:cNvPr id="25" name="Image 1" descr="preencoded.png">    </p:cNvPr>
          <p:cNvPicPr>
            <a:picLocks noChangeAspect="1"/>
          </p:cNvPicPr>
          <p:nvPr/>
        </p:nvPicPr>
        <p:blipFill>
          <a:blip r:embed="rId2"/>
          <a:stretch>
            <a:fillRect/>
          </a:stretch>
        </p:blipFill>
        <p:spPr>
          <a:xfrm>
            <a:off x="8371332" y="2619756"/>
            <a:ext cx="192024" cy="192024"/>
          </a:xfrm>
          <a:prstGeom prst="rect">
            <a:avLst/>
          </a:prstGeom>
        </p:spPr>
      </p:pic>
      <p:sp>
        <p:nvSpPr>
          <p:cNvPr id="26" name="Text 21"/>
          <p:cNvSpPr txBox="1"/>
          <p:nvPr/>
        </p:nvSpPr>
        <p:spPr>
          <a:xfrm>
            <a:off x="8778240" y="2523744"/>
            <a:ext cx="2743200" cy="384048"/>
          </a:xfrm>
          <a:prstGeom prst="rect">
            <a:avLst/>
          </a:prstGeom>
          <a:noFill/>
          <a:ln/>
        </p:spPr>
        <p:txBody>
          <a:bodyPr wrap="square" lIns="0" tIns="0" rIns="0" bIns="0" rtlCol="0" anchor="ctr"/>
          <a:lstStyle/>
          <a:p>
            <a:pPr indent="0" marL="0">
              <a:buNone/>
            </a:pPr>
            <a:r>
              <a:rPr lang="en-US" sz="1400" b="1" dirty="0">
                <a:solidFill>
                  <a:schemeClr val="tx1"/>
                </a:solidFill>
              </a:rPr>
              <a:t>Relative-IV interpretation</a:t>
            </a:r>
            <a:endParaRPr lang="en-US" sz="1400" dirty="0"/>
          </a:p>
        </p:txBody>
      </p:sp>
      <p:sp>
        <p:nvSpPr>
          <p:cNvPr id="27" name="Shape 22"/>
          <p:cNvSpPr/>
          <p:nvPr/>
        </p:nvSpPr>
        <p:spPr>
          <a:xfrm>
            <a:off x="8275320" y="3035808"/>
            <a:ext cx="384048" cy="384048"/>
          </a:xfrm>
          <a:prstGeom prst="ellipse">
            <a:avLst/>
          </a:prstGeom>
          <a:solidFill>
            <a:schemeClr val="accent1"/>
          </a:solidFill>
          <a:ln/>
        </p:spPr>
      </p:sp>
      <p:pic>
        <p:nvPicPr>
          <p:cNvPr id="28" name="Image 2" descr="preencoded.png">    </p:cNvPr>
          <p:cNvPicPr>
            <a:picLocks noChangeAspect="1"/>
          </p:cNvPicPr>
          <p:nvPr/>
        </p:nvPicPr>
        <p:blipFill>
          <a:blip r:embed="rId3"/>
          <a:stretch>
            <a:fillRect/>
          </a:stretch>
        </p:blipFill>
        <p:spPr>
          <a:xfrm>
            <a:off x="8371332" y="3131820"/>
            <a:ext cx="192024" cy="192024"/>
          </a:xfrm>
          <a:prstGeom prst="rect">
            <a:avLst/>
          </a:prstGeom>
        </p:spPr>
      </p:pic>
      <p:sp>
        <p:nvSpPr>
          <p:cNvPr id="29" name="Text 23"/>
          <p:cNvSpPr txBox="1"/>
          <p:nvPr/>
        </p:nvSpPr>
        <p:spPr>
          <a:xfrm>
            <a:off x="8778240" y="3035808"/>
            <a:ext cx="2743200" cy="384048"/>
          </a:xfrm>
          <a:prstGeom prst="rect">
            <a:avLst/>
          </a:prstGeom>
          <a:noFill/>
          <a:ln/>
        </p:spPr>
        <p:txBody>
          <a:bodyPr wrap="square" lIns="0" tIns="0" rIns="0" bIns="0" rtlCol="0" anchor="ctr"/>
          <a:lstStyle/>
          <a:p>
            <a:pPr indent="0" marL="0">
              <a:buNone/>
            </a:pPr>
            <a:r>
              <a:rPr lang="en-US" sz="1400" b="1" dirty="0">
                <a:solidFill>
                  <a:schemeClr val="tx1"/>
                </a:solidFill>
              </a:rPr>
              <a:t>Option stress testing</a:t>
            </a:r>
            <a:endParaRPr lang="en-US" sz="1400" dirty="0"/>
          </a:p>
        </p:txBody>
      </p:sp>
      <p:sp>
        <p:nvSpPr>
          <p:cNvPr id="30" name="Shape 24"/>
          <p:cNvSpPr/>
          <p:nvPr/>
        </p:nvSpPr>
        <p:spPr>
          <a:xfrm>
            <a:off x="8275320" y="3547872"/>
            <a:ext cx="384048" cy="384048"/>
          </a:xfrm>
          <a:prstGeom prst="ellipse">
            <a:avLst/>
          </a:prstGeom>
          <a:solidFill>
            <a:schemeClr val="accent1"/>
          </a:solidFill>
          <a:ln/>
        </p:spPr>
      </p:sp>
      <p:pic>
        <p:nvPicPr>
          <p:cNvPr id="31" name="Image 3" descr="preencoded.png">    </p:cNvPr>
          <p:cNvPicPr>
            <a:picLocks noChangeAspect="1"/>
          </p:cNvPicPr>
          <p:nvPr/>
        </p:nvPicPr>
        <p:blipFill>
          <a:blip r:embed="rId4"/>
          <a:stretch>
            <a:fillRect/>
          </a:stretch>
        </p:blipFill>
        <p:spPr>
          <a:xfrm>
            <a:off x="8371332" y="3643884"/>
            <a:ext cx="192024" cy="192024"/>
          </a:xfrm>
          <a:prstGeom prst="rect">
            <a:avLst/>
          </a:prstGeom>
        </p:spPr>
      </p:pic>
      <p:sp>
        <p:nvSpPr>
          <p:cNvPr id="32" name="Text 25"/>
          <p:cNvSpPr txBox="1"/>
          <p:nvPr/>
        </p:nvSpPr>
        <p:spPr>
          <a:xfrm>
            <a:off x="8778240" y="3547872"/>
            <a:ext cx="2743200" cy="384048"/>
          </a:xfrm>
          <a:prstGeom prst="rect">
            <a:avLst/>
          </a:prstGeom>
          <a:noFill/>
          <a:ln/>
        </p:spPr>
        <p:txBody>
          <a:bodyPr wrap="square" lIns="0" tIns="0" rIns="0" bIns="0" rtlCol="0" anchor="ctr"/>
          <a:lstStyle/>
          <a:p>
            <a:pPr indent="0" marL="0">
              <a:buNone/>
            </a:pPr>
            <a:r>
              <a:rPr lang="en-US" sz="1400" b="1" dirty="0">
                <a:solidFill>
                  <a:schemeClr val="tx1"/>
                </a:solidFill>
              </a:rPr>
              <a:t>Interactive dashboard</a:t>
            </a:r>
            <a:endParaRPr lang="en-US" sz="1400" dirty="0"/>
          </a:p>
        </p:txBody>
      </p:sp>
      <p:sp>
        <p:nvSpPr>
          <p:cNvPr id="33" name="Text 26"/>
          <p:cNvSpPr txBox="1"/>
          <p:nvPr/>
        </p:nvSpPr>
        <p:spPr>
          <a:xfrm>
            <a:off x="548640" y="4297680"/>
            <a:ext cx="5486400" cy="274320"/>
          </a:xfrm>
          <a:prstGeom prst="rect">
            <a:avLst/>
          </a:prstGeom>
          <a:noFill/>
          <a:ln/>
        </p:spPr>
        <p:txBody>
          <a:bodyPr wrap="square" lIns="0" tIns="0" rIns="0" bIns="0" rtlCol="0" anchor="t"/>
          <a:lstStyle/>
          <a:p>
            <a:pPr indent="0" marL="0">
              <a:buNone/>
            </a:pPr>
            <a:r>
              <a:rPr lang="en-US" sz="1600" b="1" dirty="0">
                <a:solidFill>
                  <a:schemeClr val="tx1"/>
                </a:solidFill>
              </a:rPr>
              <a:t>Why this matters</a:t>
            </a:r>
            <a:endParaRPr lang="en-US" sz="1600" dirty="0"/>
          </a:p>
        </p:txBody>
      </p:sp>
      <p:sp>
        <p:nvSpPr>
          <p:cNvPr id="34" name="Shape 27"/>
          <p:cNvSpPr/>
          <p:nvPr/>
        </p:nvSpPr>
        <p:spPr>
          <a:xfrm>
            <a:off x="548640" y="4663440"/>
            <a:ext cx="3566160" cy="1645920"/>
          </a:xfrm>
          <a:prstGeom prst="roundRect">
            <a:avLst>
              <a:gd name="adj" fmla="val 444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5" name="Shape 28"/>
          <p:cNvSpPr/>
          <p:nvPr/>
        </p:nvSpPr>
        <p:spPr>
          <a:xfrm>
            <a:off x="749808" y="4846320"/>
            <a:ext cx="310896" cy="310896"/>
          </a:xfrm>
          <a:prstGeom prst="ellipse">
            <a:avLst/>
          </a:prstGeom>
          <a:solidFill>
            <a:schemeClr val="accent1"/>
          </a:solidFill>
          <a:ln/>
        </p:spPr>
      </p:sp>
      <p:sp>
        <p:nvSpPr>
          <p:cNvPr id="36" name="Text 29"/>
          <p:cNvSpPr txBox="1"/>
          <p:nvPr/>
        </p:nvSpPr>
        <p:spPr>
          <a:xfrm>
            <a:off x="749808" y="4846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7" name="Text 30"/>
          <p:cNvSpPr txBox="1"/>
          <p:nvPr/>
        </p:nvSpPr>
        <p:spPr>
          <a:xfrm>
            <a:off x="749808" y="5257800"/>
            <a:ext cx="3163824" cy="1005840"/>
          </a:xfrm>
          <a:prstGeom prst="rect">
            <a:avLst/>
          </a:prstGeom>
          <a:noFill/>
          <a:ln/>
        </p:spPr>
        <p:txBody>
          <a:bodyPr wrap="square" lIns="0" tIns="0" rIns="0" bIns="0" rtlCol="0" anchor="t"/>
          <a:lstStyle/>
          <a:p>
            <a:pPr indent="0" marL="0">
              <a:buNone/>
            </a:pPr>
            <a:r>
              <a:rPr lang="en-US" sz="1350" dirty="0">
                <a:solidFill>
                  <a:schemeClr val="tx1"/>
                </a:solidFill>
              </a:rPr>
              <a:t>Current IV alone does not indicate whether volatility is likely to rise or fall in the next few minutes.</a:t>
            </a:r>
            <a:endParaRPr lang="en-US" sz="1350" dirty="0"/>
          </a:p>
        </p:txBody>
      </p:sp>
      <p:sp>
        <p:nvSpPr>
          <p:cNvPr id="38" name="Shape 31"/>
          <p:cNvSpPr/>
          <p:nvPr/>
        </p:nvSpPr>
        <p:spPr>
          <a:xfrm>
            <a:off x="4297680" y="4663440"/>
            <a:ext cx="3566160" cy="1645920"/>
          </a:xfrm>
          <a:prstGeom prst="roundRect">
            <a:avLst>
              <a:gd name="adj" fmla="val 444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9" name="Shape 32"/>
          <p:cNvSpPr/>
          <p:nvPr/>
        </p:nvSpPr>
        <p:spPr>
          <a:xfrm>
            <a:off x="4498848" y="4846320"/>
            <a:ext cx="310896" cy="310896"/>
          </a:xfrm>
          <a:prstGeom prst="ellipse">
            <a:avLst/>
          </a:prstGeom>
          <a:solidFill>
            <a:schemeClr val="accent1"/>
          </a:solidFill>
          <a:ln/>
        </p:spPr>
      </p:sp>
      <p:sp>
        <p:nvSpPr>
          <p:cNvPr id="40" name="Text 33"/>
          <p:cNvSpPr txBox="1"/>
          <p:nvPr/>
        </p:nvSpPr>
        <p:spPr>
          <a:xfrm>
            <a:off x="4498848" y="4846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1" name="Text 34"/>
          <p:cNvSpPr txBox="1"/>
          <p:nvPr/>
        </p:nvSpPr>
        <p:spPr>
          <a:xfrm>
            <a:off x="4498848" y="5257800"/>
            <a:ext cx="3163824" cy="1005840"/>
          </a:xfrm>
          <a:prstGeom prst="rect">
            <a:avLst/>
          </a:prstGeom>
          <a:noFill/>
          <a:ln/>
        </p:spPr>
        <p:txBody>
          <a:bodyPr wrap="square" lIns="0" tIns="0" rIns="0" bIns="0" rtlCol="0" anchor="t"/>
          <a:lstStyle/>
          <a:p>
            <a:pPr indent="0" marL="0">
              <a:buNone/>
            </a:pPr>
            <a:r>
              <a:rPr lang="en-US" sz="1350" dirty="0">
                <a:solidFill>
                  <a:schemeClr val="tx1"/>
                </a:solidFill>
              </a:rPr>
              <a:t>Option premiums are sensitive to IV, spot movement and time decay, so forecast interpretation must be paired with risk analysis.</a:t>
            </a:r>
            <a:endParaRPr lang="en-US" sz="1350" dirty="0"/>
          </a:p>
        </p:txBody>
      </p:sp>
      <p:sp>
        <p:nvSpPr>
          <p:cNvPr id="42" name="Shape 35"/>
          <p:cNvSpPr/>
          <p:nvPr/>
        </p:nvSpPr>
        <p:spPr>
          <a:xfrm>
            <a:off x="8046720" y="4663440"/>
            <a:ext cx="3566160" cy="1645920"/>
          </a:xfrm>
          <a:prstGeom prst="roundRect">
            <a:avLst>
              <a:gd name="adj" fmla="val 444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43" name="Shape 36"/>
          <p:cNvSpPr/>
          <p:nvPr/>
        </p:nvSpPr>
        <p:spPr>
          <a:xfrm>
            <a:off x="8247888" y="4846320"/>
            <a:ext cx="310896" cy="310896"/>
          </a:xfrm>
          <a:prstGeom prst="ellipse">
            <a:avLst/>
          </a:prstGeom>
          <a:solidFill>
            <a:schemeClr val="accent1"/>
          </a:solidFill>
          <a:ln/>
        </p:spPr>
      </p:sp>
      <p:sp>
        <p:nvSpPr>
          <p:cNvPr id="44" name="Text 37"/>
          <p:cNvSpPr txBox="1"/>
          <p:nvPr/>
        </p:nvSpPr>
        <p:spPr>
          <a:xfrm>
            <a:off x="8247888" y="4846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5" name="Text 38"/>
          <p:cNvSpPr txBox="1"/>
          <p:nvPr/>
        </p:nvSpPr>
        <p:spPr>
          <a:xfrm>
            <a:off x="8247888" y="5257800"/>
            <a:ext cx="3163824" cy="1005840"/>
          </a:xfrm>
          <a:prstGeom prst="rect">
            <a:avLst/>
          </a:prstGeom>
          <a:noFill/>
          <a:ln/>
        </p:spPr>
        <p:txBody>
          <a:bodyPr wrap="square" lIns="0" tIns="0" rIns="0" bIns="0" rtlCol="0" anchor="t"/>
          <a:lstStyle/>
          <a:p>
            <a:pPr indent="0" marL="0">
              <a:buNone/>
            </a:pPr>
            <a:r>
              <a:rPr lang="en-US" sz="1350" dirty="0">
                <a:solidFill>
                  <a:schemeClr val="tx1"/>
                </a:solidFill>
              </a:rPr>
              <a:t>A useful model must be validated chronologically and compared with a strong persistence baseline.</a:t>
            </a:r>
            <a:endParaRPr lang="en-US" sz="135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05  ·  PROJECT OBJECTIVES</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Objectives: an end-to-end path from data to dashboard</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Five objectives, from data acquisition to deployment</a:t>
            </a:r>
            <a:endParaRPr lang="en-US" sz="1400" dirty="0"/>
          </a:p>
        </p:txBody>
      </p:sp>
      <p:sp>
        <p:nvSpPr>
          <p:cNvPr id="6" name="Shape 3"/>
          <p:cNvSpPr/>
          <p:nvPr/>
        </p:nvSpPr>
        <p:spPr>
          <a:xfrm>
            <a:off x="548640" y="1554480"/>
            <a:ext cx="2103120" cy="3429000"/>
          </a:xfrm>
          <a:prstGeom prst="roundRect">
            <a:avLst>
              <a:gd name="adj" fmla="val 347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7" name="Text 4"/>
          <p:cNvSpPr txBox="1"/>
          <p:nvPr/>
        </p:nvSpPr>
        <p:spPr>
          <a:xfrm>
            <a:off x="731520" y="1719072"/>
            <a:ext cx="914400" cy="274320"/>
          </a:xfrm>
          <a:prstGeom prst="rect">
            <a:avLst/>
          </a:prstGeom>
          <a:noFill/>
          <a:ln/>
        </p:spPr>
        <p:txBody>
          <a:bodyPr wrap="square" lIns="0" tIns="0" rIns="0" bIns="0" rtlCol="0" anchor="t"/>
          <a:lstStyle/>
          <a:p>
            <a:pPr indent="0" marL="0">
              <a:buNone/>
            </a:pPr>
            <a:r>
              <a:rPr lang="en-US" sz="1300" b="1" dirty="0">
                <a:solidFill>
                  <a:schemeClr val="accent1"/>
                </a:solidFill>
              </a:rPr>
              <a:t>01</a:t>
            </a:r>
            <a:endParaRPr lang="en-US" sz="1300" dirty="0"/>
          </a:p>
        </p:txBody>
      </p:sp>
      <p:sp>
        <p:nvSpPr>
          <p:cNvPr id="8" name="Shape 5"/>
          <p:cNvSpPr/>
          <p:nvPr/>
        </p:nvSpPr>
        <p:spPr>
          <a:xfrm>
            <a:off x="731520" y="2057400"/>
            <a:ext cx="566928" cy="566928"/>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873252" y="2199132"/>
            <a:ext cx="283464" cy="283464"/>
          </a:xfrm>
          <a:prstGeom prst="rect">
            <a:avLst/>
          </a:prstGeom>
        </p:spPr>
      </p:pic>
      <p:sp>
        <p:nvSpPr>
          <p:cNvPr id="10" name="Text 6"/>
          <p:cNvSpPr txBox="1"/>
          <p:nvPr/>
        </p:nvSpPr>
        <p:spPr>
          <a:xfrm>
            <a:off x="731520" y="2743200"/>
            <a:ext cx="1783080" cy="548640"/>
          </a:xfrm>
          <a:prstGeom prst="rect">
            <a:avLst/>
          </a:prstGeom>
          <a:noFill/>
          <a:ln/>
        </p:spPr>
        <p:txBody>
          <a:bodyPr wrap="square" lIns="0" tIns="0" rIns="0" bIns="0" rtlCol="0" anchor="t"/>
          <a:lstStyle/>
          <a:p>
            <a:pPr indent="0" marL="0">
              <a:buNone/>
            </a:pPr>
            <a:r>
              <a:rPr lang="en-US" sz="1900" b="1" dirty="0">
                <a:solidFill>
                  <a:schemeClr val="tx1"/>
                </a:solidFill>
              </a:rPr>
              <a:t>Collect</a:t>
            </a:r>
            <a:endParaRPr lang="en-US" sz="1900" dirty="0"/>
          </a:p>
        </p:txBody>
      </p:sp>
      <p:sp>
        <p:nvSpPr>
          <p:cNvPr id="11" name="Text 7"/>
          <p:cNvSpPr txBox="1"/>
          <p:nvPr/>
        </p:nvSpPr>
        <p:spPr>
          <a:xfrm>
            <a:off x="731520" y="3566160"/>
            <a:ext cx="1783080" cy="1371600"/>
          </a:xfrm>
          <a:prstGeom prst="rect">
            <a:avLst/>
          </a:prstGeom>
          <a:noFill/>
          <a:ln/>
        </p:spPr>
        <p:txBody>
          <a:bodyPr wrap="square" lIns="0" tIns="0" rIns="0" bIns="0" rtlCol="0" anchor="t"/>
          <a:lstStyle/>
          <a:p>
            <a:pPr indent="0" marL="0">
              <a:buNone/>
            </a:pPr>
            <a:r>
              <a:rPr lang="en-US" sz="1300" dirty="0">
                <a:solidFill>
                  <a:schemeClr val="tx1"/>
                </a:solidFill>
              </a:rPr>
              <a:t>Build a repeatable NIFTY 50 option-chain data pipeline using NSE CSV snapshots and Upstox API connectivity.</a:t>
            </a:r>
            <a:endParaRPr lang="en-US" sz="1300" dirty="0"/>
          </a:p>
        </p:txBody>
      </p:sp>
      <p:sp>
        <p:nvSpPr>
          <p:cNvPr id="12" name="Shape 8"/>
          <p:cNvSpPr/>
          <p:nvPr/>
        </p:nvSpPr>
        <p:spPr>
          <a:xfrm>
            <a:off x="2560320" y="3108960"/>
            <a:ext cx="182880" cy="274320"/>
          </a:xfrm>
          <a:prstGeom prst="chevron">
            <a:avLst/>
          </a:prstGeom>
          <a:solidFill>
            <a:schemeClr val="accent1"/>
          </a:solidFill>
          <a:ln/>
        </p:spPr>
      </p:sp>
      <p:sp>
        <p:nvSpPr>
          <p:cNvPr id="13" name="Shape 9"/>
          <p:cNvSpPr/>
          <p:nvPr/>
        </p:nvSpPr>
        <p:spPr>
          <a:xfrm>
            <a:off x="2788920" y="1554480"/>
            <a:ext cx="2103120" cy="3429000"/>
          </a:xfrm>
          <a:prstGeom prst="roundRect">
            <a:avLst>
              <a:gd name="adj" fmla="val 347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4" name="Text 10"/>
          <p:cNvSpPr txBox="1"/>
          <p:nvPr/>
        </p:nvSpPr>
        <p:spPr>
          <a:xfrm>
            <a:off x="2971800" y="1719072"/>
            <a:ext cx="914400" cy="274320"/>
          </a:xfrm>
          <a:prstGeom prst="rect">
            <a:avLst/>
          </a:prstGeom>
          <a:noFill/>
          <a:ln/>
        </p:spPr>
        <p:txBody>
          <a:bodyPr wrap="square" lIns="0" tIns="0" rIns="0" bIns="0" rtlCol="0" anchor="t"/>
          <a:lstStyle/>
          <a:p>
            <a:pPr indent="0" marL="0">
              <a:buNone/>
            </a:pPr>
            <a:r>
              <a:rPr lang="en-US" sz="1300" b="1" dirty="0">
                <a:solidFill>
                  <a:schemeClr val="accent1"/>
                </a:solidFill>
              </a:rPr>
              <a:t>02</a:t>
            </a:r>
            <a:endParaRPr lang="en-US" sz="1300" dirty="0"/>
          </a:p>
        </p:txBody>
      </p:sp>
      <p:sp>
        <p:nvSpPr>
          <p:cNvPr id="15" name="Shape 11"/>
          <p:cNvSpPr/>
          <p:nvPr/>
        </p:nvSpPr>
        <p:spPr>
          <a:xfrm>
            <a:off x="2971800" y="2057400"/>
            <a:ext cx="566928" cy="566928"/>
          </a:xfrm>
          <a:prstGeom prst="ellipse">
            <a:avLst/>
          </a:prstGeom>
          <a:solidFill>
            <a:schemeClr val="accent1"/>
          </a:solidFill>
          <a:ln/>
        </p:spPr>
      </p:sp>
      <p:pic>
        <p:nvPicPr>
          <p:cNvPr id="16" name="Image 1" descr="preencoded.png">    </p:cNvPr>
          <p:cNvPicPr>
            <a:picLocks noChangeAspect="1"/>
          </p:cNvPicPr>
          <p:nvPr/>
        </p:nvPicPr>
        <p:blipFill>
          <a:blip r:embed="rId2"/>
          <a:stretch>
            <a:fillRect/>
          </a:stretch>
        </p:blipFill>
        <p:spPr>
          <a:xfrm>
            <a:off x="3113532" y="2199132"/>
            <a:ext cx="283464" cy="283464"/>
          </a:xfrm>
          <a:prstGeom prst="rect">
            <a:avLst/>
          </a:prstGeom>
        </p:spPr>
      </p:pic>
      <p:sp>
        <p:nvSpPr>
          <p:cNvPr id="17" name="Text 12"/>
          <p:cNvSpPr txBox="1"/>
          <p:nvPr/>
        </p:nvSpPr>
        <p:spPr>
          <a:xfrm>
            <a:off x="2971800" y="2743200"/>
            <a:ext cx="1783080" cy="548640"/>
          </a:xfrm>
          <a:prstGeom prst="rect">
            <a:avLst/>
          </a:prstGeom>
          <a:noFill/>
          <a:ln/>
        </p:spPr>
        <p:txBody>
          <a:bodyPr wrap="square" lIns="0" tIns="0" rIns="0" bIns="0" rtlCol="0" anchor="t"/>
          <a:lstStyle/>
          <a:p>
            <a:pPr indent="0" marL="0">
              <a:buNone/>
            </a:pPr>
            <a:r>
              <a:rPr lang="en-US" sz="1900" b="1" dirty="0">
                <a:solidFill>
                  <a:schemeClr val="tx1"/>
                </a:solidFill>
              </a:rPr>
              <a:t>Engineer</a:t>
            </a:r>
            <a:endParaRPr lang="en-US" sz="1900" dirty="0"/>
          </a:p>
        </p:txBody>
      </p:sp>
      <p:sp>
        <p:nvSpPr>
          <p:cNvPr id="18" name="Text 13"/>
          <p:cNvSpPr txBox="1"/>
          <p:nvPr/>
        </p:nvSpPr>
        <p:spPr>
          <a:xfrm>
            <a:off x="2971800" y="3566160"/>
            <a:ext cx="1783080" cy="1371600"/>
          </a:xfrm>
          <a:prstGeom prst="rect">
            <a:avLst/>
          </a:prstGeom>
          <a:noFill/>
          <a:ln/>
        </p:spPr>
        <p:txBody>
          <a:bodyPr wrap="square" lIns="0" tIns="0" rIns="0" bIns="0" rtlCol="0" anchor="t"/>
          <a:lstStyle/>
          <a:p>
            <a:pPr indent="0" marL="0">
              <a:buNone/>
            </a:pPr>
            <a:r>
              <a:rPr lang="en-US" sz="1300" dirty="0">
                <a:solidFill>
                  <a:schemeClr val="tx1"/>
                </a:solidFill>
              </a:rPr>
              <a:t>Create moneyness, liquidity, lag, momentum and exact time-alignment features without look-ahead leakage.</a:t>
            </a:r>
            <a:endParaRPr lang="en-US" sz="1300" dirty="0"/>
          </a:p>
        </p:txBody>
      </p:sp>
      <p:sp>
        <p:nvSpPr>
          <p:cNvPr id="19" name="Shape 14"/>
          <p:cNvSpPr/>
          <p:nvPr/>
        </p:nvSpPr>
        <p:spPr>
          <a:xfrm>
            <a:off x="4800600" y="3108960"/>
            <a:ext cx="182880" cy="274320"/>
          </a:xfrm>
          <a:prstGeom prst="chevron">
            <a:avLst/>
          </a:prstGeom>
          <a:solidFill>
            <a:schemeClr val="accent1"/>
          </a:solidFill>
          <a:ln/>
        </p:spPr>
      </p:sp>
      <p:sp>
        <p:nvSpPr>
          <p:cNvPr id="20" name="Shape 15"/>
          <p:cNvSpPr/>
          <p:nvPr/>
        </p:nvSpPr>
        <p:spPr>
          <a:xfrm>
            <a:off x="5029200" y="1554480"/>
            <a:ext cx="2103120" cy="3429000"/>
          </a:xfrm>
          <a:prstGeom prst="roundRect">
            <a:avLst>
              <a:gd name="adj" fmla="val 347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1" name="Text 16"/>
          <p:cNvSpPr txBox="1"/>
          <p:nvPr/>
        </p:nvSpPr>
        <p:spPr>
          <a:xfrm>
            <a:off x="5212080" y="1719072"/>
            <a:ext cx="914400" cy="274320"/>
          </a:xfrm>
          <a:prstGeom prst="rect">
            <a:avLst/>
          </a:prstGeom>
          <a:noFill/>
          <a:ln/>
        </p:spPr>
        <p:txBody>
          <a:bodyPr wrap="square" lIns="0" tIns="0" rIns="0" bIns="0" rtlCol="0" anchor="t"/>
          <a:lstStyle/>
          <a:p>
            <a:pPr indent="0" marL="0">
              <a:buNone/>
            </a:pPr>
            <a:r>
              <a:rPr lang="en-US" sz="1300" b="1" dirty="0">
                <a:solidFill>
                  <a:schemeClr val="accent1"/>
                </a:solidFill>
              </a:rPr>
              <a:t>03</a:t>
            </a:r>
            <a:endParaRPr lang="en-US" sz="1300" dirty="0"/>
          </a:p>
        </p:txBody>
      </p:sp>
      <p:sp>
        <p:nvSpPr>
          <p:cNvPr id="22" name="Shape 17"/>
          <p:cNvSpPr/>
          <p:nvPr/>
        </p:nvSpPr>
        <p:spPr>
          <a:xfrm>
            <a:off x="5212080" y="2057400"/>
            <a:ext cx="566928" cy="566928"/>
          </a:xfrm>
          <a:prstGeom prst="ellipse">
            <a:avLst/>
          </a:prstGeom>
          <a:solidFill>
            <a:schemeClr val="accent1"/>
          </a:solidFill>
          <a:ln/>
        </p:spPr>
      </p:sp>
      <p:pic>
        <p:nvPicPr>
          <p:cNvPr id="23" name="Image 2" descr="preencoded.png">    </p:cNvPr>
          <p:cNvPicPr>
            <a:picLocks noChangeAspect="1"/>
          </p:cNvPicPr>
          <p:nvPr/>
        </p:nvPicPr>
        <p:blipFill>
          <a:blip r:embed="rId3"/>
          <a:stretch>
            <a:fillRect/>
          </a:stretch>
        </p:blipFill>
        <p:spPr>
          <a:xfrm>
            <a:off x="5353812" y="2199132"/>
            <a:ext cx="283464" cy="283464"/>
          </a:xfrm>
          <a:prstGeom prst="rect">
            <a:avLst/>
          </a:prstGeom>
        </p:spPr>
      </p:pic>
      <p:sp>
        <p:nvSpPr>
          <p:cNvPr id="24" name="Text 18"/>
          <p:cNvSpPr txBox="1"/>
          <p:nvPr/>
        </p:nvSpPr>
        <p:spPr>
          <a:xfrm>
            <a:off x="5212080" y="2743200"/>
            <a:ext cx="1783080" cy="548640"/>
          </a:xfrm>
          <a:prstGeom prst="rect">
            <a:avLst/>
          </a:prstGeom>
          <a:noFill/>
          <a:ln/>
        </p:spPr>
        <p:txBody>
          <a:bodyPr wrap="square" lIns="0" tIns="0" rIns="0" bIns="0" rtlCol="0" anchor="t"/>
          <a:lstStyle/>
          <a:p>
            <a:pPr indent="0" marL="0">
              <a:buNone/>
            </a:pPr>
            <a:r>
              <a:rPr lang="en-US" sz="1900" b="1" dirty="0">
                <a:solidFill>
                  <a:schemeClr val="tx1"/>
                </a:solidFill>
              </a:rPr>
              <a:t>Forecast</a:t>
            </a:r>
            <a:endParaRPr lang="en-US" sz="1900" dirty="0"/>
          </a:p>
        </p:txBody>
      </p:sp>
      <p:sp>
        <p:nvSpPr>
          <p:cNvPr id="25" name="Text 19"/>
          <p:cNvSpPr txBox="1"/>
          <p:nvPr/>
        </p:nvSpPr>
        <p:spPr>
          <a:xfrm>
            <a:off x="5212080" y="3566160"/>
            <a:ext cx="1783080" cy="1371600"/>
          </a:xfrm>
          <a:prstGeom prst="rect">
            <a:avLst/>
          </a:prstGeom>
          <a:noFill/>
          <a:ln/>
        </p:spPr>
        <p:txBody>
          <a:bodyPr wrap="square" lIns="0" tIns="0" rIns="0" bIns="0" rtlCol="0" anchor="t"/>
          <a:lstStyle/>
          <a:p>
            <a:pPr indent="0" marL="0">
              <a:buNone/>
            </a:pPr>
            <a:r>
              <a:rPr lang="en-US" sz="1300" dirty="0">
                <a:solidFill>
                  <a:schemeClr val="tx1"/>
                </a:solidFill>
              </a:rPr>
              <a:t>Predict 5-minute-ahead IV change and compare machine-learning models with persistence.</a:t>
            </a:r>
            <a:endParaRPr lang="en-US" sz="1300" dirty="0"/>
          </a:p>
        </p:txBody>
      </p:sp>
      <p:sp>
        <p:nvSpPr>
          <p:cNvPr id="26" name="Shape 20"/>
          <p:cNvSpPr/>
          <p:nvPr/>
        </p:nvSpPr>
        <p:spPr>
          <a:xfrm>
            <a:off x="7040880" y="3108960"/>
            <a:ext cx="182880" cy="274320"/>
          </a:xfrm>
          <a:prstGeom prst="chevron">
            <a:avLst/>
          </a:prstGeom>
          <a:solidFill>
            <a:schemeClr val="accent1"/>
          </a:solidFill>
          <a:ln/>
        </p:spPr>
      </p:sp>
      <p:sp>
        <p:nvSpPr>
          <p:cNvPr id="27" name="Shape 21"/>
          <p:cNvSpPr/>
          <p:nvPr/>
        </p:nvSpPr>
        <p:spPr>
          <a:xfrm>
            <a:off x="7269480" y="1554480"/>
            <a:ext cx="2103120" cy="3429000"/>
          </a:xfrm>
          <a:prstGeom prst="roundRect">
            <a:avLst>
              <a:gd name="adj" fmla="val 347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8" name="Text 22"/>
          <p:cNvSpPr txBox="1"/>
          <p:nvPr/>
        </p:nvSpPr>
        <p:spPr>
          <a:xfrm>
            <a:off x="7452360" y="1719072"/>
            <a:ext cx="914400" cy="274320"/>
          </a:xfrm>
          <a:prstGeom prst="rect">
            <a:avLst/>
          </a:prstGeom>
          <a:noFill/>
          <a:ln/>
        </p:spPr>
        <p:txBody>
          <a:bodyPr wrap="square" lIns="0" tIns="0" rIns="0" bIns="0" rtlCol="0" anchor="t"/>
          <a:lstStyle/>
          <a:p>
            <a:pPr indent="0" marL="0">
              <a:buNone/>
            </a:pPr>
            <a:r>
              <a:rPr lang="en-US" sz="1300" b="1" dirty="0">
                <a:solidFill>
                  <a:schemeClr val="accent1"/>
                </a:solidFill>
              </a:rPr>
              <a:t>04</a:t>
            </a:r>
            <a:endParaRPr lang="en-US" sz="1300" dirty="0"/>
          </a:p>
        </p:txBody>
      </p:sp>
      <p:sp>
        <p:nvSpPr>
          <p:cNvPr id="29" name="Shape 23"/>
          <p:cNvSpPr/>
          <p:nvPr/>
        </p:nvSpPr>
        <p:spPr>
          <a:xfrm>
            <a:off x="7452360" y="2057400"/>
            <a:ext cx="566928" cy="566928"/>
          </a:xfrm>
          <a:prstGeom prst="ellipse">
            <a:avLst/>
          </a:prstGeom>
          <a:solidFill>
            <a:schemeClr val="accent1"/>
          </a:solidFill>
          <a:ln/>
        </p:spPr>
      </p:sp>
      <p:pic>
        <p:nvPicPr>
          <p:cNvPr id="30" name="Image 3" descr="preencoded.png">    </p:cNvPr>
          <p:cNvPicPr>
            <a:picLocks noChangeAspect="1"/>
          </p:cNvPicPr>
          <p:nvPr/>
        </p:nvPicPr>
        <p:blipFill>
          <a:blip r:embed="rId4"/>
          <a:stretch>
            <a:fillRect/>
          </a:stretch>
        </p:blipFill>
        <p:spPr>
          <a:xfrm>
            <a:off x="7594092" y="2199132"/>
            <a:ext cx="283464" cy="283464"/>
          </a:xfrm>
          <a:prstGeom prst="rect">
            <a:avLst/>
          </a:prstGeom>
        </p:spPr>
      </p:pic>
      <p:sp>
        <p:nvSpPr>
          <p:cNvPr id="31" name="Text 24"/>
          <p:cNvSpPr txBox="1"/>
          <p:nvPr/>
        </p:nvSpPr>
        <p:spPr>
          <a:xfrm>
            <a:off x="7452360" y="2743200"/>
            <a:ext cx="1783080" cy="548640"/>
          </a:xfrm>
          <a:prstGeom prst="rect">
            <a:avLst/>
          </a:prstGeom>
          <a:noFill/>
          <a:ln/>
        </p:spPr>
        <p:txBody>
          <a:bodyPr wrap="square" lIns="0" tIns="0" rIns="0" bIns="0" rtlCol="0" anchor="t"/>
          <a:lstStyle/>
          <a:p>
            <a:pPr indent="0" marL="0">
              <a:buNone/>
            </a:pPr>
            <a:r>
              <a:rPr lang="en-US" sz="1900" b="1" dirty="0">
                <a:solidFill>
                  <a:schemeClr val="tx1"/>
                </a:solidFill>
              </a:rPr>
              <a:t>Interpret</a:t>
            </a:r>
            <a:endParaRPr lang="en-US" sz="1900" dirty="0"/>
          </a:p>
        </p:txBody>
      </p:sp>
      <p:sp>
        <p:nvSpPr>
          <p:cNvPr id="32" name="Text 25"/>
          <p:cNvSpPr txBox="1"/>
          <p:nvPr/>
        </p:nvSpPr>
        <p:spPr>
          <a:xfrm>
            <a:off x="7452360" y="3566160"/>
            <a:ext cx="1783080" cy="1371600"/>
          </a:xfrm>
          <a:prstGeom prst="rect">
            <a:avLst/>
          </a:prstGeom>
          <a:noFill/>
          <a:ln/>
        </p:spPr>
        <p:txBody>
          <a:bodyPr wrap="square" lIns="0" tIns="0" rIns="0" bIns="0" rtlCol="0" anchor="t"/>
          <a:lstStyle/>
          <a:p>
            <a:pPr indent="0" marL="0">
              <a:buNone/>
            </a:pPr>
            <a:r>
              <a:rPr lang="en-US" sz="1300" dirty="0">
                <a:solidFill>
                  <a:schemeClr val="tx1"/>
                </a:solidFill>
              </a:rPr>
              <a:t>Translate the IV forecast into relative low / neutral / high IV versus the model expectation.</a:t>
            </a:r>
            <a:endParaRPr lang="en-US" sz="1300" dirty="0"/>
          </a:p>
        </p:txBody>
      </p:sp>
      <p:sp>
        <p:nvSpPr>
          <p:cNvPr id="33" name="Shape 26"/>
          <p:cNvSpPr/>
          <p:nvPr/>
        </p:nvSpPr>
        <p:spPr>
          <a:xfrm>
            <a:off x="9281160" y="3108960"/>
            <a:ext cx="182880" cy="274320"/>
          </a:xfrm>
          <a:prstGeom prst="chevron">
            <a:avLst/>
          </a:prstGeom>
          <a:solidFill>
            <a:schemeClr val="accent1"/>
          </a:solidFill>
          <a:ln/>
        </p:spPr>
      </p:sp>
      <p:sp>
        <p:nvSpPr>
          <p:cNvPr id="34" name="Shape 27"/>
          <p:cNvSpPr/>
          <p:nvPr/>
        </p:nvSpPr>
        <p:spPr>
          <a:xfrm>
            <a:off x="9509760" y="1554480"/>
            <a:ext cx="2103120" cy="3429000"/>
          </a:xfrm>
          <a:prstGeom prst="roundRect">
            <a:avLst>
              <a:gd name="adj" fmla="val 347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5" name="Text 28"/>
          <p:cNvSpPr txBox="1"/>
          <p:nvPr/>
        </p:nvSpPr>
        <p:spPr>
          <a:xfrm>
            <a:off x="9692640" y="1719072"/>
            <a:ext cx="914400" cy="274320"/>
          </a:xfrm>
          <a:prstGeom prst="rect">
            <a:avLst/>
          </a:prstGeom>
          <a:noFill/>
          <a:ln/>
        </p:spPr>
        <p:txBody>
          <a:bodyPr wrap="square" lIns="0" tIns="0" rIns="0" bIns="0" rtlCol="0" anchor="t"/>
          <a:lstStyle/>
          <a:p>
            <a:pPr indent="0" marL="0">
              <a:buNone/>
            </a:pPr>
            <a:r>
              <a:rPr lang="en-US" sz="1300" b="1" dirty="0">
                <a:solidFill>
                  <a:schemeClr val="accent1"/>
                </a:solidFill>
              </a:rPr>
              <a:t>05</a:t>
            </a:r>
            <a:endParaRPr lang="en-US" sz="1300" dirty="0"/>
          </a:p>
        </p:txBody>
      </p:sp>
      <p:sp>
        <p:nvSpPr>
          <p:cNvPr id="36" name="Shape 29"/>
          <p:cNvSpPr/>
          <p:nvPr/>
        </p:nvSpPr>
        <p:spPr>
          <a:xfrm>
            <a:off x="9692640" y="2057400"/>
            <a:ext cx="566928" cy="566928"/>
          </a:xfrm>
          <a:prstGeom prst="ellipse">
            <a:avLst/>
          </a:prstGeom>
          <a:solidFill>
            <a:schemeClr val="accent1"/>
          </a:solidFill>
          <a:ln/>
        </p:spPr>
      </p:sp>
      <p:pic>
        <p:nvPicPr>
          <p:cNvPr id="37" name="Image 4" descr="preencoded.png">    </p:cNvPr>
          <p:cNvPicPr>
            <a:picLocks noChangeAspect="1"/>
          </p:cNvPicPr>
          <p:nvPr/>
        </p:nvPicPr>
        <p:blipFill>
          <a:blip r:embed="rId5"/>
          <a:stretch>
            <a:fillRect/>
          </a:stretch>
        </p:blipFill>
        <p:spPr>
          <a:xfrm>
            <a:off x="9834372" y="2199132"/>
            <a:ext cx="283464" cy="283464"/>
          </a:xfrm>
          <a:prstGeom prst="rect">
            <a:avLst/>
          </a:prstGeom>
        </p:spPr>
      </p:pic>
      <p:sp>
        <p:nvSpPr>
          <p:cNvPr id="38" name="Text 30"/>
          <p:cNvSpPr txBox="1"/>
          <p:nvPr/>
        </p:nvSpPr>
        <p:spPr>
          <a:xfrm>
            <a:off x="9692640" y="2743200"/>
            <a:ext cx="1783080" cy="548640"/>
          </a:xfrm>
          <a:prstGeom prst="rect">
            <a:avLst/>
          </a:prstGeom>
          <a:noFill/>
          <a:ln/>
        </p:spPr>
        <p:txBody>
          <a:bodyPr wrap="square" lIns="0" tIns="0" rIns="0" bIns="0" rtlCol="0" anchor="t"/>
          <a:lstStyle/>
          <a:p>
            <a:pPr indent="0" marL="0">
              <a:buNone/>
            </a:pPr>
            <a:r>
              <a:rPr lang="en-US" sz="1900" b="1" dirty="0">
                <a:solidFill>
                  <a:schemeClr val="tx1"/>
                </a:solidFill>
              </a:rPr>
              <a:t>Risk-test &amp; deploy</a:t>
            </a:r>
            <a:endParaRPr lang="en-US" sz="1900" dirty="0"/>
          </a:p>
        </p:txBody>
      </p:sp>
      <p:sp>
        <p:nvSpPr>
          <p:cNvPr id="39" name="Text 31"/>
          <p:cNvSpPr txBox="1"/>
          <p:nvPr/>
        </p:nvSpPr>
        <p:spPr>
          <a:xfrm>
            <a:off x="9692640" y="3566160"/>
            <a:ext cx="1783080" cy="1371600"/>
          </a:xfrm>
          <a:prstGeom prst="rect">
            <a:avLst/>
          </a:prstGeom>
          <a:noFill/>
          <a:ln/>
        </p:spPr>
        <p:txBody>
          <a:bodyPr wrap="square" lIns="0" tIns="0" rIns="0" bIns="0" rtlCol="0" anchor="t"/>
          <a:lstStyle/>
          <a:p>
            <a:pPr indent="0" marL="0">
              <a:buNone/>
            </a:pPr>
            <a:r>
              <a:rPr lang="en-US" sz="1300" dirty="0">
                <a:solidFill>
                  <a:schemeClr val="tx1"/>
                </a:solidFill>
              </a:rPr>
              <a:t>Stress option value under spot, IV and time shocks and present results in a Streamlit dashboard.</a:t>
            </a:r>
            <a:endParaRPr lang="en-US" sz="1300" dirty="0"/>
          </a:p>
        </p:txBody>
      </p:sp>
      <p:sp>
        <p:nvSpPr>
          <p:cNvPr id="40" name="Shape 32"/>
          <p:cNvSpPr/>
          <p:nvPr/>
        </p:nvSpPr>
        <p:spPr>
          <a:xfrm>
            <a:off x="9601200" y="4663440"/>
            <a:ext cx="914400" cy="25603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41" name="Text 33"/>
          <p:cNvSpPr txBox="1"/>
          <p:nvPr/>
        </p:nvSpPr>
        <p:spPr>
          <a:xfrm>
            <a:off x="9601200" y="4663440"/>
            <a:ext cx="914400" cy="256032"/>
          </a:xfrm>
          <a:prstGeom prst="rect">
            <a:avLst/>
          </a:prstGeom>
          <a:noFill/>
          <a:ln/>
        </p:spPr>
        <p:txBody>
          <a:bodyPr wrap="square" lIns="0" tIns="0" rIns="0" bIns="0" rtlCol="0" anchor="ctr"/>
          <a:lstStyle/>
          <a:p>
            <a:pPr algn="ctr" indent="0" marL="0">
              <a:buNone/>
            </a:pPr>
            <a:r>
              <a:rPr lang="en-US" sz="1000" b="1" dirty="0">
                <a:solidFill>
                  <a:schemeClr val="accent1"/>
                </a:solidFill>
              </a:rPr>
              <a:t>Stress testing</a:t>
            </a:r>
            <a:endParaRPr lang="en-US" sz="1000" dirty="0"/>
          </a:p>
        </p:txBody>
      </p:sp>
      <p:sp>
        <p:nvSpPr>
          <p:cNvPr id="42" name="Shape 34"/>
          <p:cNvSpPr/>
          <p:nvPr/>
        </p:nvSpPr>
        <p:spPr>
          <a:xfrm>
            <a:off x="10561320" y="4663440"/>
            <a:ext cx="777240" cy="256032"/>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43" name="Text 35"/>
          <p:cNvSpPr txBox="1"/>
          <p:nvPr/>
        </p:nvSpPr>
        <p:spPr>
          <a:xfrm>
            <a:off x="10561320" y="4663440"/>
            <a:ext cx="777240" cy="256032"/>
          </a:xfrm>
          <a:prstGeom prst="rect">
            <a:avLst/>
          </a:prstGeom>
          <a:noFill/>
          <a:ln/>
        </p:spPr>
        <p:txBody>
          <a:bodyPr wrap="square" lIns="0" tIns="0" rIns="0" bIns="0" rtlCol="0" anchor="ctr"/>
          <a:lstStyle/>
          <a:p>
            <a:pPr algn="ctr" indent="0" marL="0">
              <a:buNone/>
            </a:pPr>
            <a:r>
              <a:rPr lang="en-US" sz="1000" b="1" dirty="0">
                <a:solidFill>
                  <a:schemeClr val="accent1"/>
                </a:solidFill>
              </a:rPr>
              <a:t>Streamlit</a:t>
            </a:r>
            <a:endParaRPr lang="en-US" sz="1000" dirty="0"/>
          </a:p>
        </p:txBody>
      </p:sp>
      <p:sp>
        <p:nvSpPr>
          <p:cNvPr id="44" name="Shape 36"/>
          <p:cNvSpPr/>
          <p:nvPr/>
        </p:nvSpPr>
        <p:spPr>
          <a:xfrm>
            <a:off x="548640" y="5212080"/>
            <a:ext cx="11091672" cy="1097280"/>
          </a:xfrm>
          <a:prstGeom prst="roundRect">
            <a:avLst>
              <a:gd name="adj" fmla="val 6667"/>
            </a:avLst>
          </a:prstGeom>
          <a:solidFill>
            <a:schemeClr val="tx2"/>
          </a:solidFill>
          <a:ln w="9525">
            <a:solidFill>
              <a:schemeClr val="accent6">
                <a:alpha val="30000"/>
              </a:schemeClr>
            </a:solidFill>
            <a:prstDash val="solid"/>
          </a:ln>
        </p:spPr>
      </p:sp>
      <p:sp>
        <p:nvSpPr>
          <p:cNvPr id="45" name="Text 37"/>
          <p:cNvSpPr txBox="1"/>
          <p:nvPr/>
        </p:nvSpPr>
        <p:spPr>
          <a:xfrm>
            <a:off x="777240" y="5376672"/>
            <a:ext cx="310896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INPUTS</a:t>
            </a:r>
            <a:endParaRPr lang="en-US" sz="1000" dirty="0"/>
          </a:p>
        </p:txBody>
      </p:sp>
      <p:sp>
        <p:nvSpPr>
          <p:cNvPr id="46" name="Text 38"/>
          <p:cNvSpPr txBox="1"/>
          <p:nvPr/>
        </p:nvSpPr>
        <p:spPr>
          <a:xfrm>
            <a:off x="777240" y="5641848"/>
            <a:ext cx="3017520" cy="594360"/>
          </a:xfrm>
          <a:prstGeom prst="rect">
            <a:avLst/>
          </a:prstGeom>
          <a:noFill/>
          <a:ln/>
        </p:spPr>
        <p:txBody>
          <a:bodyPr wrap="square" lIns="0" tIns="0" rIns="0" bIns="0" rtlCol="0" anchor="t"/>
          <a:lstStyle/>
          <a:p>
            <a:pPr indent="0" marL="0">
              <a:buNone/>
            </a:pPr>
            <a:r>
              <a:rPr lang="en-US" sz="1350" b="1" dirty="0">
                <a:solidFill>
                  <a:schemeClr val="bg1"/>
                </a:solidFill>
              </a:rPr>
              <a:t>NSE CSV snapshots  ·  Upstox option-chain API</a:t>
            </a:r>
            <a:endParaRPr lang="en-US" sz="1350" dirty="0"/>
          </a:p>
        </p:txBody>
      </p:sp>
      <p:sp>
        <p:nvSpPr>
          <p:cNvPr id="47" name="Shape 39"/>
          <p:cNvSpPr/>
          <p:nvPr/>
        </p:nvSpPr>
        <p:spPr>
          <a:xfrm>
            <a:off x="3977640" y="5669280"/>
            <a:ext cx="182880" cy="274320"/>
          </a:xfrm>
          <a:prstGeom prst="chevron">
            <a:avLst/>
          </a:prstGeom>
          <a:solidFill>
            <a:schemeClr val="accent6"/>
          </a:solidFill>
          <a:ln/>
        </p:spPr>
      </p:sp>
      <p:sp>
        <p:nvSpPr>
          <p:cNvPr id="48" name="Text 40"/>
          <p:cNvSpPr txBox="1"/>
          <p:nvPr/>
        </p:nvSpPr>
        <p:spPr>
          <a:xfrm>
            <a:off x="4434840" y="5376672"/>
            <a:ext cx="310896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CORE ANALYTICS</a:t>
            </a:r>
            <a:endParaRPr lang="en-US" sz="1000" dirty="0"/>
          </a:p>
        </p:txBody>
      </p:sp>
      <p:sp>
        <p:nvSpPr>
          <p:cNvPr id="49" name="Text 41"/>
          <p:cNvSpPr txBox="1"/>
          <p:nvPr/>
        </p:nvSpPr>
        <p:spPr>
          <a:xfrm>
            <a:off x="4434840" y="5641848"/>
            <a:ext cx="3017520" cy="594360"/>
          </a:xfrm>
          <a:prstGeom prst="rect">
            <a:avLst/>
          </a:prstGeom>
          <a:noFill/>
          <a:ln/>
        </p:spPr>
        <p:txBody>
          <a:bodyPr wrap="square" lIns="0" tIns="0" rIns="0" bIns="0" rtlCol="0" anchor="t"/>
          <a:lstStyle/>
          <a:p>
            <a:pPr indent="0" marL="0">
              <a:buNone/>
            </a:pPr>
            <a:r>
              <a:rPr lang="en-US" sz="1350" b="1" dirty="0">
                <a:solidFill>
                  <a:schemeClr val="bg1"/>
                </a:solidFill>
              </a:rPr>
              <a:t>Exact-aligned features  ·  Random Forest vs persistence and XGBoost</a:t>
            </a:r>
            <a:endParaRPr lang="en-US" sz="1350" dirty="0"/>
          </a:p>
        </p:txBody>
      </p:sp>
      <p:sp>
        <p:nvSpPr>
          <p:cNvPr id="50" name="Shape 42"/>
          <p:cNvSpPr/>
          <p:nvPr/>
        </p:nvSpPr>
        <p:spPr>
          <a:xfrm>
            <a:off x="7635240" y="5669280"/>
            <a:ext cx="182880" cy="274320"/>
          </a:xfrm>
          <a:prstGeom prst="chevron">
            <a:avLst/>
          </a:prstGeom>
          <a:solidFill>
            <a:schemeClr val="accent6"/>
          </a:solidFill>
          <a:ln/>
        </p:spPr>
      </p:sp>
      <p:sp>
        <p:nvSpPr>
          <p:cNvPr id="51" name="Text 43"/>
          <p:cNvSpPr txBox="1"/>
          <p:nvPr/>
        </p:nvSpPr>
        <p:spPr>
          <a:xfrm>
            <a:off x="8092440" y="5376672"/>
            <a:ext cx="310896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OUTPUTS</a:t>
            </a:r>
            <a:endParaRPr lang="en-US" sz="1000" dirty="0"/>
          </a:p>
        </p:txBody>
      </p:sp>
      <p:sp>
        <p:nvSpPr>
          <p:cNvPr id="52" name="Text 44"/>
          <p:cNvSpPr txBox="1"/>
          <p:nvPr/>
        </p:nvSpPr>
        <p:spPr>
          <a:xfrm>
            <a:off x="8092440" y="5641848"/>
            <a:ext cx="3017520" cy="594360"/>
          </a:xfrm>
          <a:prstGeom prst="rect">
            <a:avLst/>
          </a:prstGeom>
          <a:noFill/>
          <a:ln/>
        </p:spPr>
        <p:txBody>
          <a:bodyPr wrap="square" lIns="0" tIns="0" rIns="0" bIns="0" rtlCol="0" anchor="t"/>
          <a:lstStyle/>
          <a:p>
            <a:pPr indent="0" marL="0">
              <a:buNone/>
            </a:pPr>
            <a:r>
              <a:rPr lang="en-US" sz="1350" b="1" dirty="0">
                <a:solidFill>
                  <a:schemeClr val="bg1"/>
                </a:solidFill>
              </a:rPr>
              <a:t>Relative-IV interpretation  ·  stress scenarios  ·  Streamlit dashboard</a:t>
            </a:r>
            <a:endParaRPr lang="en-US" sz="135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06  ·  THEORETICAL BACKGROUND</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Theory: Black–Scholes, moneyness, target and benchmark</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Key financial and quantitative concepts used in the project</a:t>
            </a:r>
            <a:endParaRPr lang="en-US" sz="1400" dirty="0"/>
          </a:p>
        </p:txBody>
      </p:sp>
      <p:sp>
        <p:nvSpPr>
          <p:cNvPr id="6" name="Shape 3"/>
          <p:cNvSpPr/>
          <p:nvPr/>
        </p:nvSpPr>
        <p:spPr>
          <a:xfrm>
            <a:off x="548640" y="1508760"/>
            <a:ext cx="4206240" cy="3063240"/>
          </a:xfrm>
          <a:prstGeom prst="roundRect">
            <a:avLst>
              <a:gd name="adj" fmla="val 238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7" name="Text 4"/>
          <p:cNvSpPr txBox="1"/>
          <p:nvPr/>
        </p:nvSpPr>
        <p:spPr>
          <a:xfrm>
            <a:off x="749808" y="1664208"/>
            <a:ext cx="384048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BLACK–SCHOLES AND IMPLIED VOLATILITY</a:t>
            </a:r>
            <a:endParaRPr lang="en-US" sz="1000" dirty="0"/>
          </a:p>
        </p:txBody>
      </p:sp>
      <p:sp>
        <p:nvSpPr>
          <p:cNvPr id="8" name="Text 5"/>
          <p:cNvSpPr txBox="1"/>
          <p:nvPr/>
        </p:nvSpPr>
        <p:spPr>
          <a:xfrm>
            <a:off x="749808" y="1938528"/>
            <a:ext cx="384048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C = S N(d</a:t>
            </a:r>
            <a:pPr indent="0" marL="0">
              <a:buNone/>
            </a:pPr>
            <a:r>
              <a:rPr lang="en-US" sz="2000" b="1" baseline="-40000" dirty="0">
                <a:solidFill>
                  <a:schemeClr val="accent1"/>
                </a:solidFill>
                <a:latin typeface="Cambria" pitchFamily="34" charset="0"/>
                <a:ea typeface="Cambria" pitchFamily="34" charset="-122"/>
                <a:cs typeface="Cambria" pitchFamily="34" charset="-120"/>
              </a:rPr>
              <a:t>1</a:t>
            </a:r>
            <a:pPr indent="0" marL="0">
              <a:buNone/>
            </a:pPr>
            <a:r>
              <a:rPr lang="en-US" sz="2000" b="1" dirty="0">
                <a:solidFill>
                  <a:schemeClr val="accent1"/>
                </a:solidFill>
                <a:latin typeface="Cambria" pitchFamily="34" charset="0"/>
                <a:ea typeface="Cambria" pitchFamily="34" charset="-122"/>
                <a:cs typeface="Cambria" pitchFamily="34" charset="-120"/>
              </a:rPr>
              <a:t>) − K e</a:t>
            </a:r>
            <a:pPr indent="0" marL="0">
              <a:buNone/>
            </a:pPr>
            <a:r>
              <a:rPr lang="en-US" sz="2000" b="1" baseline="30000" dirty="0">
                <a:solidFill>
                  <a:schemeClr val="accent1"/>
                </a:solidFill>
                <a:latin typeface="Cambria" pitchFamily="34" charset="0"/>
                <a:ea typeface="Cambria" pitchFamily="34" charset="-122"/>
                <a:cs typeface="Cambria" pitchFamily="34" charset="-120"/>
              </a:rPr>
              <a:t>−rT</a:t>
            </a:r>
            <a:pPr indent="0" marL="0">
              <a:buNone/>
            </a:pPr>
            <a:r>
              <a:rPr lang="en-US" sz="2000" b="1" dirty="0">
                <a:solidFill>
                  <a:schemeClr val="accent1"/>
                </a:solidFill>
                <a:latin typeface="Cambria" pitchFamily="34" charset="0"/>
                <a:ea typeface="Cambria" pitchFamily="34" charset="-122"/>
                <a:cs typeface="Cambria" pitchFamily="34" charset="-120"/>
              </a:rPr>
              <a:t> N(d</a:t>
            </a:r>
            <a:pPr indent="0" marL="0">
              <a:buNone/>
            </a:pPr>
            <a:r>
              <a:rPr lang="en-US" sz="2000" b="1" baseline="-40000" dirty="0">
                <a:solidFill>
                  <a:schemeClr val="accent1"/>
                </a:solidFill>
                <a:latin typeface="Cambria" pitchFamily="34" charset="0"/>
                <a:ea typeface="Cambria" pitchFamily="34" charset="-122"/>
                <a:cs typeface="Cambria" pitchFamily="34" charset="-120"/>
              </a:rPr>
              <a:t>2</a:t>
            </a:r>
            <a:pPr indent="0" marL="0">
              <a:buNone/>
            </a:pPr>
            <a:r>
              <a:rPr lang="en-US" sz="2000" b="1" dirty="0">
                <a:solidFill>
                  <a:schemeClr val="accent1"/>
                </a:solidFill>
                <a:latin typeface="Cambria" pitchFamily="34" charset="0"/>
                <a:ea typeface="Cambria" pitchFamily="34" charset="-122"/>
                <a:cs typeface="Cambria" pitchFamily="34" charset="-120"/>
              </a:rPr>
              <a:t>)</a:t>
            </a:r>
            <a:endParaRPr lang="en-US" sz="2000" dirty="0"/>
          </a:p>
        </p:txBody>
      </p:sp>
      <p:sp>
        <p:nvSpPr>
          <p:cNvPr id="9" name="Text 6"/>
          <p:cNvSpPr txBox="1"/>
          <p:nvPr/>
        </p:nvSpPr>
        <p:spPr>
          <a:xfrm>
            <a:off x="749808" y="2377440"/>
            <a:ext cx="3840480" cy="274320"/>
          </a:xfrm>
          <a:prstGeom prst="rect">
            <a:avLst/>
          </a:prstGeom>
          <a:noFill/>
          <a:ln/>
        </p:spPr>
        <p:txBody>
          <a:bodyPr wrap="square" lIns="0" tIns="0" rIns="0" bIns="0" rtlCol="0" anchor="t"/>
          <a:lstStyle/>
          <a:p>
            <a:pPr indent="0" marL="0">
              <a:buNone/>
            </a:pPr>
            <a:r>
              <a:rPr lang="en-US" sz="1100" dirty="0">
                <a:solidFill>
                  <a:schemeClr val="accent4"/>
                </a:solidFill>
                <a:latin typeface="Cambria" pitchFamily="34" charset="0"/>
                <a:ea typeface="Cambria" pitchFamily="34" charset="-122"/>
                <a:cs typeface="Cambria" pitchFamily="34" charset="-120"/>
              </a:rPr>
              <a:t>d</a:t>
            </a:r>
            <a:pPr indent="0" marL="0">
              <a:buNone/>
            </a:pPr>
            <a:r>
              <a:rPr lang="en-US" sz="1100" baseline="-40000" dirty="0">
                <a:solidFill>
                  <a:schemeClr val="accent4"/>
                </a:solidFill>
                <a:latin typeface="Cambria" pitchFamily="34" charset="0"/>
                <a:ea typeface="Cambria" pitchFamily="34" charset="-122"/>
                <a:cs typeface="Cambria" pitchFamily="34" charset="-120"/>
              </a:rPr>
              <a:t>1</a:t>
            </a:r>
            <a:pPr indent="0" marL="0">
              <a:buNone/>
            </a:pPr>
            <a:r>
              <a:rPr lang="en-US" sz="1100" dirty="0">
                <a:solidFill>
                  <a:schemeClr val="accent4"/>
                </a:solidFill>
                <a:latin typeface="Cambria" pitchFamily="34" charset="0"/>
                <a:ea typeface="Cambria" pitchFamily="34" charset="-122"/>
                <a:cs typeface="Cambria" pitchFamily="34" charset="-120"/>
              </a:rPr>
              <a:t> = [ln(S/K) + (r + σ²/2)T] / (σ√T),   d</a:t>
            </a:r>
            <a:pPr indent="0" marL="0">
              <a:buNone/>
            </a:pPr>
            <a:r>
              <a:rPr lang="en-US" sz="1100" baseline="-40000" dirty="0">
                <a:solidFill>
                  <a:schemeClr val="accent4"/>
                </a:solidFill>
                <a:latin typeface="Cambria" pitchFamily="34" charset="0"/>
                <a:ea typeface="Cambria" pitchFamily="34" charset="-122"/>
                <a:cs typeface="Cambria" pitchFamily="34" charset="-120"/>
              </a:rPr>
              <a:t>2</a:t>
            </a:r>
            <a:pPr indent="0" marL="0">
              <a:buNone/>
            </a:pPr>
            <a:r>
              <a:rPr lang="en-US" sz="1100" dirty="0">
                <a:solidFill>
                  <a:schemeClr val="accent4"/>
                </a:solidFill>
                <a:latin typeface="Cambria" pitchFamily="34" charset="0"/>
                <a:ea typeface="Cambria" pitchFamily="34" charset="-122"/>
                <a:cs typeface="Cambria" pitchFamily="34" charset="-120"/>
              </a:rPr>
              <a:t> = d</a:t>
            </a:r>
            <a:pPr indent="0" marL="0">
              <a:buNone/>
            </a:pPr>
            <a:r>
              <a:rPr lang="en-US" sz="1100" baseline="-40000" dirty="0">
                <a:solidFill>
                  <a:schemeClr val="accent4"/>
                </a:solidFill>
                <a:latin typeface="Cambria" pitchFamily="34" charset="0"/>
                <a:ea typeface="Cambria" pitchFamily="34" charset="-122"/>
                <a:cs typeface="Cambria" pitchFamily="34" charset="-120"/>
              </a:rPr>
              <a:t>1</a:t>
            </a:r>
            <a:pPr indent="0" marL="0">
              <a:buNone/>
            </a:pPr>
            <a:r>
              <a:rPr lang="en-US" sz="1100" dirty="0">
                <a:solidFill>
                  <a:schemeClr val="accent4"/>
                </a:solidFill>
                <a:latin typeface="Cambria" pitchFamily="34" charset="0"/>
                <a:ea typeface="Cambria" pitchFamily="34" charset="-122"/>
                <a:cs typeface="Cambria" pitchFamily="34" charset="-120"/>
              </a:rPr>
              <a:t> − σ√T</a:t>
            </a:r>
            <a:endParaRPr lang="en-US" sz="1100" dirty="0"/>
          </a:p>
        </p:txBody>
      </p:sp>
      <p:sp>
        <p:nvSpPr>
          <p:cNvPr id="10" name="Text 7"/>
          <p:cNvSpPr txBox="1"/>
          <p:nvPr/>
        </p:nvSpPr>
        <p:spPr>
          <a:xfrm>
            <a:off x="749808" y="2679192"/>
            <a:ext cx="3840480" cy="365760"/>
          </a:xfrm>
          <a:prstGeom prst="rect">
            <a:avLst/>
          </a:prstGeom>
          <a:noFill/>
          <a:ln/>
        </p:spPr>
        <p:txBody>
          <a:bodyPr wrap="square" lIns="0" tIns="0" rIns="0" bIns="0" rtlCol="0" anchor="t"/>
          <a:lstStyle/>
          <a:p>
            <a:pPr indent="0" marL="0">
              <a:buNone/>
            </a:pPr>
            <a:r>
              <a:rPr lang="en-US" sz="1000" dirty="0">
                <a:solidFill>
                  <a:schemeClr val="accent4"/>
                </a:solidFill>
              </a:rPr>
              <a:t>S spot · K strike · r risk-free rate · T time to expiry · N(·) standard normal CDF</a:t>
            </a:r>
            <a:endParaRPr lang="en-US" sz="1000" dirty="0"/>
          </a:p>
        </p:txBody>
      </p:sp>
      <p:sp>
        <p:nvSpPr>
          <p:cNvPr id="11" name="Text 8"/>
          <p:cNvSpPr txBox="1"/>
          <p:nvPr/>
        </p:nvSpPr>
        <p:spPr>
          <a:xfrm>
            <a:off x="749808" y="3108960"/>
            <a:ext cx="3840480" cy="960120"/>
          </a:xfrm>
          <a:prstGeom prst="rect">
            <a:avLst/>
          </a:prstGeom>
          <a:noFill/>
          <a:ln/>
        </p:spPr>
        <p:txBody>
          <a:bodyPr wrap="square" lIns="0" tIns="0" rIns="0" bIns="0" rtlCol="0" anchor="t"/>
          <a:lstStyle/>
          <a:p>
            <a:pPr indent="0" marL="0">
              <a:buNone/>
            </a:pPr>
            <a:r>
              <a:rPr lang="en-US" sz="1200" dirty="0">
                <a:solidFill>
                  <a:schemeClr val="tx1"/>
                </a:solidFill>
              </a:rPr>
              <a:t>IV is the value of σ that makes the theoretical option price match the observed market price. There is no direct closed-form inversion, so numerical root-finding is normally required.</a:t>
            </a:r>
            <a:endParaRPr lang="en-US" sz="1200" dirty="0"/>
          </a:p>
        </p:txBody>
      </p:sp>
      <p:sp>
        <p:nvSpPr>
          <p:cNvPr id="12" name="Shape 9"/>
          <p:cNvSpPr/>
          <p:nvPr/>
        </p:nvSpPr>
        <p:spPr>
          <a:xfrm>
            <a:off x="749808" y="4114800"/>
            <a:ext cx="3794760" cy="310896"/>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13" name="Text 10"/>
          <p:cNvSpPr txBox="1"/>
          <p:nvPr/>
        </p:nvSpPr>
        <p:spPr>
          <a:xfrm>
            <a:off x="749808" y="4114800"/>
            <a:ext cx="3794760" cy="310896"/>
          </a:xfrm>
          <a:prstGeom prst="rect">
            <a:avLst/>
          </a:prstGeom>
          <a:noFill/>
          <a:ln/>
        </p:spPr>
        <p:txBody>
          <a:bodyPr wrap="square" lIns="0" tIns="0" rIns="0" bIns="0" rtlCol="0" anchor="ctr"/>
          <a:lstStyle/>
          <a:p>
            <a:pPr algn="ctr" indent="0" marL="0">
              <a:buNone/>
            </a:pPr>
            <a:r>
              <a:rPr lang="en-US" sz="1150" b="1" dirty="0">
                <a:solidFill>
                  <a:schemeClr val="accent1"/>
                </a:solidFill>
              </a:rPr>
              <a:t>σ ↑  ⇒  option value usually ↑, all else equal</a:t>
            </a:r>
            <a:endParaRPr lang="en-US" sz="1150" dirty="0"/>
          </a:p>
        </p:txBody>
      </p:sp>
      <p:sp>
        <p:nvSpPr>
          <p:cNvPr id="14" name="Shape 11"/>
          <p:cNvSpPr/>
          <p:nvPr/>
        </p:nvSpPr>
        <p:spPr>
          <a:xfrm>
            <a:off x="4937760" y="1508760"/>
            <a:ext cx="3200400" cy="3063240"/>
          </a:xfrm>
          <a:prstGeom prst="roundRect">
            <a:avLst>
              <a:gd name="adj" fmla="val 238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5" name="Text 12"/>
          <p:cNvSpPr txBox="1"/>
          <p:nvPr/>
        </p:nvSpPr>
        <p:spPr>
          <a:xfrm>
            <a:off x="5138928" y="1664208"/>
            <a:ext cx="27432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MONEYNESS</a:t>
            </a:r>
            <a:endParaRPr lang="en-US" sz="1000" dirty="0"/>
          </a:p>
        </p:txBody>
      </p:sp>
      <p:sp>
        <p:nvSpPr>
          <p:cNvPr id="16" name="Text 13"/>
          <p:cNvSpPr txBox="1"/>
          <p:nvPr/>
        </p:nvSpPr>
        <p:spPr>
          <a:xfrm>
            <a:off x="5138928" y="1965960"/>
            <a:ext cx="283464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M = K / S</a:t>
            </a:r>
            <a:endParaRPr lang="en-US" sz="3000" dirty="0"/>
          </a:p>
        </p:txBody>
      </p:sp>
      <p:sp>
        <p:nvSpPr>
          <p:cNvPr id="17" name="Text 14"/>
          <p:cNvSpPr txBox="1"/>
          <p:nvPr/>
        </p:nvSpPr>
        <p:spPr>
          <a:xfrm>
            <a:off x="5138928" y="2743200"/>
            <a:ext cx="2834640" cy="274320"/>
          </a:xfrm>
          <a:prstGeom prst="rect">
            <a:avLst/>
          </a:prstGeom>
          <a:noFill/>
          <a:ln/>
        </p:spPr>
        <p:txBody>
          <a:bodyPr wrap="square" lIns="0" tIns="0" rIns="0" bIns="0" rtlCol="0" anchor="t"/>
          <a:lstStyle/>
          <a:p>
            <a:pPr indent="0" marL="0">
              <a:buNone/>
            </a:pPr>
            <a:r>
              <a:rPr lang="en-US" sz="1300" b="1" dirty="0">
                <a:solidFill>
                  <a:schemeClr val="tx1"/>
                </a:solidFill>
              </a:rPr>
              <a:t>M ≈ 1 : </a:t>
            </a:r>
            <a:pPr indent="0" marL="0">
              <a:buNone/>
            </a:pPr>
            <a:r>
              <a:rPr lang="en-US" sz="1300" dirty="0">
                <a:solidFill>
                  <a:schemeClr val="tx1"/>
                </a:solidFill>
              </a:rPr>
              <a:t>near ATM</a:t>
            </a:r>
            <a:endParaRPr lang="en-US" sz="1300" dirty="0"/>
          </a:p>
        </p:txBody>
      </p:sp>
      <p:sp>
        <p:nvSpPr>
          <p:cNvPr id="18" name="Text 15"/>
          <p:cNvSpPr txBox="1"/>
          <p:nvPr/>
        </p:nvSpPr>
        <p:spPr>
          <a:xfrm>
            <a:off x="5138928" y="3063240"/>
            <a:ext cx="2834640" cy="640080"/>
          </a:xfrm>
          <a:prstGeom prst="rect">
            <a:avLst/>
          </a:prstGeom>
          <a:noFill/>
          <a:ln/>
        </p:spPr>
        <p:txBody>
          <a:bodyPr wrap="square" lIns="0" tIns="0" rIns="0" bIns="0" rtlCol="0" anchor="t"/>
          <a:lstStyle/>
          <a:p>
            <a:pPr indent="0" marL="0">
              <a:buNone/>
            </a:pPr>
            <a:r>
              <a:rPr lang="en-US" sz="1300" b="1" dirty="0">
                <a:solidFill>
                  <a:schemeClr val="tx1"/>
                </a:solidFill>
              </a:rPr>
              <a:t>M &lt; 1 or &gt; 1 : </a:t>
            </a:r>
            <a:pPr indent="0" marL="0">
              <a:buNone/>
            </a:pPr>
            <a:r>
              <a:rPr lang="en-US" sz="1300" dirty="0">
                <a:solidFill>
                  <a:schemeClr val="tx1"/>
                </a:solidFill>
              </a:rPr>
              <a:t>different relative strike positions depending on option type</a:t>
            </a:r>
            <a:endParaRPr lang="en-US" sz="1300" dirty="0"/>
          </a:p>
        </p:txBody>
      </p:sp>
      <p:sp>
        <p:nvSpPr>
          <p:cNvPr id="19" name="Text 16"/>
          <p:cNvSpPr txBox="1"/>
          <p:nvPr/>
        </p:nvSpPr>
        <p:spPr>
          <a:xfrm>
            <a:off x="5138928" y="3776472"/>
            <a:ext cx="2743200" cy="182880"/>
          </a:xfrm>
          <a:prstGeom prst="rect">
            <a:avLst/>
          </a:prstGeom>
          <a:noFill/>
          <a:ln/>
        </p:spPr>
        <p:txBody>
          <a:bodyPr wrap="square" lIns="0" tIns="0" rIns="0" bIns="0" rtlCol="0" anchor="t"/>
          <a:lstStyle/>
          <a:p>
            <a:pPr indent="0" marL="0">
              <a:buNone/>
            </a:pPr>
            <a:r>
              <a:rPr lang="en-US" sz="1000" b="1" spc="100" kern="0" dirty="0">
                <a:solidFill>
                  <a:schemeClr val="accent4"/>
                </a:solidFill>
              </a:rPr>
              <a:t>NEAR-ATM FILTER USED</a:t>
            </a:r>
            <a:endParaRPr lang="en-US" sz="1000" dirty="0"/>
          </a:p>
        </p:txBody>
      </p:sp>
      <p:sp>
        <p:nvSpPr>
          <p:cNvPr id="20" name="Shape 17"/>
          <p:cNvSpPr/>
          <p:nvPr/>
        </p:nvSpPr>
        <p:spPr>
          <a:xfrm>
            <a:off x="5138928" y="4023360"/>
            <a:ext cx="1920240" cy="365760"/>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21" name="Text 18"/>
          <p:cNvSpPr txBox="1"/>
          <p:nvPr/>
        </p:nvSpPr>
        <p:spPr>
          <a:xfrm>
            <a:off x="5138928" y="4023360"/>
            <a:ext cx="1920240" cy="365760"/>
          </a:xfrm>
          <a:prstGeom prst="rect">
            <a:avLst/>
          </a:prstGeom>
          <a:noFill/>
          <a:ln/>
        </p:spPr>
        <p:txBody>
          <a:bodyPr wrap="square" lIns="0" tIns="0" rIns="0" bIns="0" rtlCol="0" anchor="ctr"/>
          <a:lstStyle/>
          <a:p>
            <a:pPr algn="ctr" indent="0" marL="0">
              <a:buNone/>
            </a:pPr>
            <a:r>
              <a:rPr lang="en-US" sz="1500" b="1" dirty="0">
                <a:solidFill>
                  <a:schemeClr val="accent1"/>
                </a:solidFill>
              </a:rPr>
              <a:t>0.95 ≤ M ≤ 1.05</a:t>
            </a:r>
            <a:endParaRPr lang="en-US" sz="1500" dirty="0"/>
          </a:p>
        </p:txBody>
      </p:sp>
      <p:sp>
        <p:nvSpPr>
          <p:cNvPr id="22" name="Shape 19"/>
          <p:cNvSpPr/>
          <p:nvPr/>
        </p:nvSpPr>
        <p:spPr>
          <a:xfrm>
            <a:off x="8321040" y="1508760"/>
            <a:ext cx="3319272" cy="3063240"/>
          </a:xfrm>
          <a:prstGeom prst="roundRect">
            <a:avLst>
              <a:gd name="adj" fmla="val 238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3" name="Text 20"/>
          <p:cNvSpPr txBox="1"/>
          <p:nvPr/>
        </p:nvSpPr>
        <p:spPr>
          <a:xfrm>
            <a:off x="8522208" y="1664208"/>
            <a:ext cx="301752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FORECAST TARGET AND BENCHMARK</a:t>
            </a:r>
            <a:endParaRPr lang="en-US" sz="1000" dirty="0"/>
          </a:p>
        </p:txBody>
      </p:sp>
      <p:sp>
        <p:nvSpPr>
          <p:cNvPr id="24" name="Text 21"/>
          <p:cNvSpPr txBox="1"/>
          <p:nvPr/>
        </p:nvSpPr>
        <p:spPr>
          <a:xfrm>
            <a:off x="8522208" y="1965960"/>
            <a:ext cx="3017520" cy="41148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ΔIV</a:t>
            </a:r>
            <a:pPr indent="0" marL="0">
              <a:buNone/>
            </a:pPr>
            <a:r>
              <a:rPr lang="en-US" sz="1900" b="1" baseline="-40000" dirty="0">
                <a:solidFill>
                  <a:schemeClr val="accent1"/>
                </a:solidFill>
                <a:latin typeface="Cambria" pitchFamily="34" charset="0"/>
                <a:ea typeface="Cambria" pitchFamily="34" charset="-122"/>
                <a:cs typeface="Cambria" pitchFamily="34" charset="-120"/>
              </a:rPr>
              <a:t>t+5</a:t>
            </a:r>
            <a:pPr indent="0" marL="0">
              <a:buNone/>
            </a:pPr>
            <a:r>
              <a:rPr lang="en-US" sz="1900" b="1" dirty="0">
                <a:solidFill>
                  <a:schemeClr val="accent1"/>
                </a:solidFill>
                <a:latin typeface="Cambria" pitchFamily="34" charset="0"/>
                <a:ea typeface="Cambria" pitchFamily="34" charset="-122"/>
                <a:cs typeface="Cambria" pitchFamily="34" charset="-120"/>
              </a:rPr>
              <a:t> = IV</a:t>
            </a:r>
            <a:pPr indent="0" marL="0">
              <a:buNone/>
            </a:pPr>
            <a:r>
              <a:rPr lang="en-US" sz="1900" b="1" baseline="-40000" dirty="0">
                <a:solidFill>
                  <a:schemeClr val="accent1"/>
                </a:solidFill>
                <a:latin typeface="Cambria" pitchFamily="34" charset="0"/>
                <a:ea typeface="Cambria" pitchFamily="34" charset="-122"/>
                <a:cs typeface="Cambria" pitchFamily="34" charset="-120"/>
              </a:rPr>
              <a:t>t+5</a:t>
            </a:r>
            <a:pPr indent="0" marL="0">
              <a:buNone/>
            </a:pPr>
            <a:r>
              <a:rPr lang="en-US" sz="1900" b="1" dirty="0">
                <a:solidFill>
                  <a:schemeClr val="accent1"/>
                </a:solidFill>
                <a:latin typeface="Cambria" pitchFamily="34" charset="0"/>
                <a:ea typeface="Cambria" pitchFamily="34" charset="-122"/>
                <a:cs typeface="Cambria" pitchFamily="34" charset="-120"/>
              </a:rPr>
              <a:t> − IV</a:t>
            </a:r>
            <a:pPr indent="0" marL="0">
              <a:buNone/>
            </a:pPr>
            <a:r>
              <a:rPr lang="en-US" sz="1900" b="1" baseline="-40000" dirty="0">
                <a:solidFill>
                  <a:schemeClr val="accent1"/>
                </a:solidFill>
                <a:latin typeface="Cambria" pitchFamily="34" charset="0"/>
                <a:ea typeface="Cambria" pitchFamily="34" charset="-122"/>
                <a:cs typeface="Cambria" pitchFamily="34" charset="-120"/>
              </a:rPr>
              <a:t>t</a:t>
            </a:r>
            <a:endParaRPr lang="en-US" sz="1900" dirty="0"/>
          </a:p>
        </p:txBody>
      </p:sp>
      <p:sp>
        <p:nvSpPr>
          <p:cNvPr id="25" name="Text 22"/>
          <p:cNvSpPr txBox="1"/>
          <p:nvPr/>
        </p:nvSpPr>
        <p:spPr>
          <a:xfrm>
            <a:off x="8522208" y="2697480"/>
            <a:ext cx="3017520" cy="256032"/>
          </a:xfrm>
          <a:prstGeom prst="rect">
            <a:avLst/>
          </a:prstGeom>
          <a:noFill/>
          <a:ln/>
        </p:spPr>
        <p:txBody>
          <a:bodyPr wrap="square" lIns="0" tIns="0" rIns="0" bIns="0" rtlCol="0" anchor="t"/>
          <a:lstStyle/>
          <a:p>
            <a:pPr indent="0" marL="0">
              <a:buNone/>
            </a:pPr>
            <a:r>
              <a:rPr lang="en-US" sz="1250" b="1" dirty="0">
                <a:solidFill>
                  <a:schemeClr val="tx1"/>
                </a:solidFill>
              </a:rPr>
              <a:t>Persistence forecast:</a:t>
            </a:r>
            <a:endParaRPr lang="en-US" sz="1250" dirty="0"/>
          </a:p>
        </p:txBody>
      </p:sp>
      <p:sp>
        <p:nvSpPr>
          <p:cNvPr id="26" name="Text 23"/>
          <p:cNvSpPr txBox="1"/>
          <p:nvPr/>
        </p:nvSpPr>
        <p:spPr>
          <a:xfrm>
            <a:off x="8522208" y="2971800"/>
            <a:ext cx="3017520" cy="411480"/>
          </a:xfrm>
          <a:prstGeom prst="rect">
            <a:avLst/>
          </a:prstGeom>
          <a:noFill/>
          <a:ln/>
        </p:spPr>
        <p:txBody>
          <a:bodyPr wrap="square" lIns="0" tIns="0" rIns="0" bIns="0" rtlCol="0" anchor="t"/>
          <a:lstStyle/>
          <a:p>
            <a:pPr indent="0" marL="0">
              <a:buNone/>
            </a:pPr>
            <a:r>
              <a:rPr lang="en-US" sz="1900" b="1" dirty="0">
                <a:solidFill>
                  <a:schemeClr val="accent1"/>
                </a:solidFill>
                <a:latin typeface="Cambria" pitchFamily="34" charset="0"/>
                <a:ea typeface="Cambria" pitchFamily="34" charset="-122"/>
                <a:cs typeface="Cambria" pitchFamily="34" charset="-120"/>
              </a:rPr>
              <a:t>IV̂</a:t>
            </a:r>
            <a:pPr indent="0" marL="0">
              <a:buNone/>
            </a:pPr>
            <a:r>
              <a:rPr lang="en-US" sz="1900" b="1" baseline="-40000" dirty="0">
                <a:solidFill>
                  <a:schemeClr val="accent1"/>
                </a:solidFill>
                <a:latin typeface="Cambria" pitchFamily="34" charset="0"/>
                <a:ea typeface="Cambria" pitchFamily="34" charset="-122"/>
                <a:cs typeface="Cambria" pitchFamily="34" charset="-120"/>
              </a:rPr>
              <a:t>t+5</a:t>
            </a:r>
            <a:pPr indent="0" marL="0">
              <a:buNone/>
            </a:pPr>
            <a:r>
              <a:rPr lang="en-US" sz="1900" b="1" dirty="0">
                <a:solidFill>
                  <a:schemeClr val="accent1"/>
                </a:solidFill>
                <a:latin typeface="Cambria" pitchFamily="34" charset="0"/>
                <a:ea typeface="Cambria" pitchFamily="34" charset="-122"/>
                <a:cs typeface="Cambria" pitchFamily="34" charset="-120"/>
              </a:rPr>
              <a:t> = IV</a:t>
            </a:r>
            <a:pPr indent="0" marL="0">
              <a:buNone/>
            </a:pPr>
            <a:r>
              <a:rPr lang="en-US" sz="1900" b="1" baseline="-40000" dirty="0">
                <a:solidFill>
                  <a:schemeClr val="accent1"/>
                </a:solidFill>
                <a:latin typeface="Cambria" pitchFamily="34" charset="0"/>
                <a:ea typeface="Cambria" pitchFamily="34" charset="-122"/>
                <a:cs typeface="Cambria" pitchFamily="34" charset="-120"/>
              </a:rPr>
              <a:t>t</a:t>
            </a:r>
            <a:endParaRPr lang="en-US" sz="1900" dirty="0"/>
          </a:p>
        </p:txBody>
      </p:sp>
      <p:sp>
        <p:nvSpPr>
          <p:cNvPr id="27" name="Text 24"/>
          <p:cNvSpPr txBox="1"/>
          <p:nvPr/>
        </p:nvSpPr>
        <p:spPr>
          <a:xfrm>
            <a:off x="8522208" y="3566160"/>
            <a:ext cx="2926080" cy="868680"/>
          </a:xfrm>
          <a:prstGeom prst="rect">
            <a:avLst/>
          </a:prstGeom>
          <a:noFill/>
          <a:ln/>
        </p:spPr>
        <p:txBody>
          <a:bodyPr wrap="square" lIns="0" tIns="0" rIns="0" bIns="0" rtlCol="0" anchor="t"/>
          <a:lstStyle/>
          <a:p>
            <a:pPr indent="0" marL="0">
              <a:buNone/>
            </a:pPr>
            <a:r>
              <a:rPr lang="en-US" sz="1250" dirty="0">
                <a:solidFill>
                  <a:schemeClr val="tx1"/>
                </a:solidFill>
              </a:rPr>
              <a:t>The ML model adds value only if its out-of-sample error is lower than this benchmark.</a:t>
            </a:r>
            <a:endParaRPr lang="en-US" sz="1250" dirty="0"/>
          </a:p>
        </p:txBody>
      </p:sp>
      <p:sp>
        <p:nvSpPr>
          <p:cNvPr id="28" name="Shape 25"/>
          <p:cNvSpPr/>
          <p:nvPr/>
        </p:nvSpPr>
        <p:spPr>
          <a:xfrm>
            <a:off x="548640" y="4754880"/>
            <a:ext cx="11091672" cy="1554480"/>
          </a:xfrm>
          <a:prstGeom prst="roundRect">
            <a:avLst>
              <a:gd name="adj" fmla="val 4706"/>
            </a:avLst>
          </a:prstGeom>
          <a:solidFill>
            <a:schemeClr val="tx2"/>
          </a:solidFill>
          <a:ln w="9525">
            <a:solidFill>
              <a:schemeClr val="accent6">
                <a:alpha val="30000"/>
              </a:schemeClr>
            </a:solidFill>
            <a:prstDash val="solid"/>
          </a:ln>
        </p:spPr>
      </p:sp>
      <p:sp>
        <p:nvSpPr>
          <p:cNvPr id="29" name="Text 26"/>
          <p:cNvSpPr txBox="1"/>
          <p:nvPr/>
        </p:nvSpPr>
        <p:spPr>
          <a:xfrm>
            <a:off x="777240" y="4892040"/>
            <a:ext cx="548640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MONEYNESS ON THE STRIKE LADDER  ·  SCHEMATIC</a:t>
            </a:r>
            <a:endParaRPr lang="en-US" sz="1000" dirty="0"/>
          </a:p>
        </p:txBody>
      </p:sp>
      <p:sp>
        <p:nvSpPr>
          <p:cNvPr id="30" name="Shape 27"/>
          <p:cNvSpPr/>
          <p:nvPr/>
        </p:nvSpPr>
        <p:spPr>
          <a:xfrm>
            <a:off x="914400" y="5669280"/>
            <a:ext cx="3566160" cy="0"/>
          </a:xfrm>
          <a:prstGeom prst="line">
            <a:avLst/>
          </a:prstGeom>
          <a:noFill/>
          <a:ln w="25400">
            <a:solidFill>
              <a:srgbClr val="8FA0BB"/>
            </a:solidFill>
            <a:prstDash val="solid"/>
            <a:headEnd type="triangle"/>
          </a:ln>
        </p:spPr>
      </p:sp>
      <p:sp>
        <p:nvSpPr>
          <p:cNvPr id="31" name="Shape 28"/>
          <p:cNvSpPr/>
          <p:nvPr/>
        </p:nvSpPr>
        <p:spPr>
          <a:xfrm>
            <a:off x="7680960" y="5669280"/>
            <a:ext cx="3611880" cy="0"/>
          </a:xfrm>
          <a:prstGeom prst="line">
            <a:avLst/>
          </a:prstGeom>
          <a:noFill/>
          <a:ln w="25400">
            <a:solidFill>
              <a:srgbClr val="8FA0BB"/>
            </a:solidFill>
            <a:prstDash val="solid"/>
            <a:tailEnd type="triangle"/>
          </a:ln>
        </p:spPr>
      </p:sp>
      <p:sp>
        <p:nvSpPr>
          <p:cNvPr id="32" name="Shape 29"/>
          <p:cNvSpPr/>
          <p:nvPr/>
        </p:nvSpPr>
        <p:spPr>
          <a:xfrm>
            <a:off x="4480560" y="5486400"/>
            <a:ext cx="3200400" cy="365760"/>
          </a:xfrm>
          <a:prstGeom prst="rect">
            <a:avLst/>
          </a:prstGeom>
          <a:solidFill>
            <a:schemeClr val="accent1"/>
          </a:solidFill>
          <a:ln w="12700">
            <a:solidFill>
              <a:schemeClr val="accent6"/>
            </a:solidFill>
            <a:prstDash val="solid"/>
          </a:ln>
        </p:spPr>
      </p:sp>
      <p:sp>
        <p:nvSpPr>
          <p:cNvPr id="33" name="Text 30"/>
          <p:cNvSpPr txBox="1"/>
          <p:nvPr/>
        </p:nvSpPr>
        <p:spPr>
          <a:xfrm>
            <a:off x="4480560" y="5486400"/>
            <a:ext cx="3200400" cy="365760"/>
          </a:xfrm>
          <a:prstGeom prst="rect">
            <a:avLst/>
          </a:prstGeom>
          <a:noFill/>
          <a:ln/>
        </p:spPr>
        <p:txBody>
          <a:bodyPr wrap="square" lIns="0" tIns="0" rIns="0" bIns="0" rtlCol="0" anchor="ctr"/>
          <a:lstStyle/>
          <a:p>
            <a:pPr algn="ctr" indent="0" marL="0">
              <a:buNone/>
            </a:pPr>
            <a:r>
              <a:rPr lang="en-US" sz="1200" b="1" dirty="0">
                <a:solidFill>
                  <a:schemeClr val="bg1"/>
                </a:solidFill>
              </a:rPr>
              <a:t>near-ATM filter used</a:t>
            </a:r>
            <a:endParaRPr lang="en-US" sz="1200" dirty="0"/>
          </a:p>
        </p:txBody>
      </p:sp>
      <p:sp>
        <p:nvSpPr>
          <p:cNvPr id="34" name="Shape 31"/>
          <p:cNvSpPr/>
          <p:nvPr/>
        </p:nvSpPr>
        <p:spPr>
          <a:xfrm>
            <a:off x="4480560" y="5852160"/>
            <a:ext cx="0" cy="109728"/>
          </a:xfrm>
          <a:prstGeom prst="line">
            <a:avLst/>
          </a:prstGeom>
          <a:noFill/>
          <a:ln w="15875">
            <a:solidFill>
              <a:schemeClr val="accent6"/>
            </a:solidFill>
            <a:prstDash val="solid"/>
          </a:ln>
        </p:spPr>
      </p:sp>
      <p:sp>
        <p:nvSpPr>
          <p:cNvPr id="35" name="Text 32"/>
          <p:cNvSpPr txBox="1"/>
          <p:nvPr/>
        </p:nvSpPr>
        <p:spPr>
          <a:xfrm>
            <a:off x="3749040" y="5998464"/>
            <a:ext cx="1463040" cy="228600"/>
          </a:xfrm>
          <a:prstGeom prst="rect">
            <a:avLst/>
          </a:prstGeom>
          <a:noFill/>
          <a:ln/>
        </p:spPr>
        <p:txBody>
          <a:bodyPr wrap="square" lIns="0" tIns="0" rIns="0" bIns="0" rtlCol="0" anchor="t"/>
          <a:lstStyle/>
          <a:p>
            <a:pPr algn="ctr" indent="0" marL="0">
              <a:buNone/>
            </a:pPr>
            <a:r>
              <a:rPr lang="en-US" sz="1100" b="1" dirty="0">
                <a:solidFill>
                  <a:schemeClr val="accent6"/>
                </a:solidFill>
              </a:rPr>
              <a:t>0.95</a:t>
            </a:r>
            <a:endParaRPr lang="en-US" sz="1100" dirty="0"/>
          </a:p>
        </p:txBody>
      </p:sp>
      <p:sp>
        <p:nvSpPr>
          <p:cNvPr id="36" name="Shape 33"/>
          <p:cNvSpPr/>
          <p:nvPr/>
        </p:nvSpPr>
        <p:spPr>
          <a:xfrm>
            <a:off x="6080760" y="5852160"/>
            <a:ext cx="0" cy="109728"/>
          </a:xfrm>
          <a:prstGeom prst="line">
            <a:avLst/>
          </a:prstGeom>
          <a:noFill/>
          <a:ln w="15875">
            <a:solidFill>
              <a:schemeClr val="accent6"/>
            </a:solidFill>
            <a:prstDash val="solid"/>
          </a:ln>
        </p:spPr>
      </p:sp>
      <p:sp>
        <p:nvSpPr>
          <p:cNvPr id="37" name="Text 34"/>
          <p:cNvSpPr txBox="1"/>
          <p:nvPr/>
        </p:nvSpPr>
        <p:spPr>
          <a:xfrm>
            <a:off x="5349240" y="5998464"/>
            <a:ext cx="1463040" cy="228600"/>
          </a:xfrm>
          <a:prstGeom prst="rect">
            <a:avLst/>
          </a:prstGeom>
          <a:noFill/>
          <a:ln/>
        </p:spPr>
        <p:txBody>
          <a:bodyPr wrap="square" lIns="0" tIns="0" rIns="0" bIns="0" rtlCol="0" anchor="t"/>
          <a:lstStyle/>
          <a:p>
            <a:pPr algn="ctr" indent="0" marL="0">
              <a:buNone/>
            </a:pPr>
            <a:r>
              <a:rPr lang="en-US" sz="1100" b="1" dirty="0">
                <a:solidFill>
                  <a:schemeClr val="accent6"/>
                </a:solidFill>
              </a:rPr>
              <a:t>1.00  (ATM)</a:t>
            </a:r>
            <a:endParaRPr lang="en-US" sz="1100" dirty="0"/>
          </a:p>
        </p:txBody>
      </p:sp>
      <p:sp>
        <p:nvSpPr>
          <p:cNvPr id="38" name="Shape 35"/>
          <p:cNvSpPr/>
          <p:nvPr/>
        </p:nvSpPr>
        <p:spPr>
          <a:xfrm>
            <a:off x="7680960" y="5852160"/>
            <a:ext cx="0" cy="109728"/>
          </a:xfrm>
          <a:prstGeom prst="line">
            <a:avLst/>
          </a:prstGeom>
          <a:noFill/>
          <a:ln w="15875">
            <a:solidFill>
              <a:schemeClr val="accent6"/>
            </a:solidFill>
            <a:prstDash val="solid"/>
          </a:ln>
        </p:spPr>
      </p:sp>
      <p:sp>
        <p:nvSpPr>
          <p:cNvPr id="39" name="Text 36"/>
          <p:cNvSpPr txBox="1"/>
          <p:nvPr/>
        </p:nvSpPr>
        <p:spPr>
          <a:xfrm>
            <a:off x="6949440" y="5998464"/>
            <a:ext cx="1463040" cy="228600"/>
          </a:xfrm>
          <a:prstGeom prst="rect">
            <a:avLst/>
          </a:prstGeom>
          <a:noFill/>
          <a:ln/>
        </p:spPr>
        <p:txBody>
          <a:bodyPr wrap="square" lIns="0" tIns="0" rIns="0" bIns="0" rtlCol="0" anchor="t"/>
          <a:lstStyle/>
          <a:p>
            <a:pPr algn="ctr" indent="0" marL="0">
              <a:buNone/>
            </a:pPr>
            <a:r>
              <a:rPr lang="en-US" sz="1100" b="1" dirty="0">
                <a:solidFill>
                  <a:schemeClr val="accent6"/>
                </a:solidFill>
              </a:rPr>
              <a:t>1.05</a:t>
            </a:r>
            <a:endParaRPr lang="en-US" sz="1100" dirty="0"/>
          </a:p>
        </p:txBody>
      </p:sp>
      <p:sp>
        <p:nvSpPr>
          <p:cNvPr id="40" name="Text 37"/>
          <p:cNvSpPr txBox="1"/>
          <p:nvPr/>
        </p:nvSpPr>
        <p:spPr>
          <a:xfrm>
            <a:off x="914400" y="5230368"/>
            <a:ext cx="3017520" cy="256032"/>
          </a:xfrm>
          <a:prstGeom prst="rect">
            <a:avLst/>
          </a:prstGeom>
          <a:noFill/>
          <a:ln/>
        </p:spPr>
        <p:txBody>
          <a:bodyPr wrap="square" lIns="0" tIns="0" rIns="0" bIns="0" rtlCol="0" anchor="t"/>
          <a:lstStyle/>
          <a:p>
            <a:pPr indent="0" marL="0">
              <a:buNone/>
            </a:pPr>
            <a:r>
              <a:rPr lang="en-US" sz="1200" b="1" dirty="0">
                <a:solidFill>
                  <a:schemeClr val="bg1"/>
                </a:solidFill>
              </a:rPr>
              <a:t>M &lt; 1  (K &lt; S)</a:t>
            </a:r>
            <a:endParaRPr lang="en-US" sz="1200" dirty="0"/>
          </a:p>
        </p:txBody>
      </p:sp>
      <p:sp>
        <p:nvSpPr>
          <p:cNvPr id="41" name="Text 38"/>
          <p:cNvSpPr txBox="1"/>
          <p:nvPr/>
        </p:nvSpPr>
        <p:spPr>
          <a:xfrm>
            <a:off x="914400" y="5468112"/>
            <a:ext cx="3383280" cy="228600"/>
          </a:xfrm>
          <a:prstGeom prst="rect">
            <a:avLst/>
          </a:prstGeom>
          <a:noFill/>
          <a:ln/>
        </p:spPr>
        <p:txBody>
          <a:bodyPr wrap="square" lIns="0" tIns="0" rIns="0" bIns="0" rtlCol="0" anchor="t"/>
          <a:lstStyle/>
          <a:p>
            <a:pPr indent="0" marL="0">
              <a:buNone/>
            </a:pPr>
            <a:r>
              <a:rPr lang="en-US" sz="1050" dirty="0">
                <a:solidFill>
                  <a:srgbClr val="AEBBD0"/>
                </a:solidFill>
              </a:rPr>
              <a:t>calls in-the-money  ·  puts out-of-the-money</a:t>
            </a:r>
            <a:endParaRPr lang="en-US" sz="1050" dirty="0"/>
          </a:p>
        </p:txBody>
      </p:sp>
      <p:sp>
        <p:nvSpPr>
          <p:cNvPr id="42" name="Text 39"/>
          <p:cNvSpPr txBox="1"/>
          <p:nvPr/>
        </p:nvSpPr>
        <p:spPr>
          <a:xfrm>
            <a:off x="8275320" y="5230368"/>
            <a:ext cx="3017520" cy="256032"/>
          </a:xfrm>
          <a:prstGeom prst="rect">
            <a:avLst/>
          </a:prstGeom>
          <a:noFill/>
          <a:ln/>
        </p:spPr>
        <p:txBody>
          <a:bodyPr wrap="square" lIns="0" tIns="0" rIns="0" bIns="0" rtlCol="0" anchor="t"/>
          <a:lstStyle/>
          <a:p>
            <a:pPr algn="r" indent="0" marL="0">
              <a:buNone/>
            </a:pPr>
            <a:r>
              <a:rPr lang="en-US" sz="1200" b="1" dirty="0">
                <a:solidFill>
                  <a:schemeClr val="bg1"/>
                </a:solidFill>
              </a:rPr>
              <a:t>M &gt; 1  (K &gt; S)</a:t>
            </a:r>
            <a:endParaRPr lang="en-US" sz="1200" dirty="0"/>
          </a:p>
        </p:txBody>
      </p:sp>
      <p:sp>
        <p:nvSpPr>
          <p:cNvPr id="43" name="Text 40"/>
          <p:cNvSpPr txBox="1"/>
          <p:nvPr/>
        </p:nvSpPr>
        <p:spPr>
          <a:xfrm>
            <a:off x="7909560" y="5468112"/>
            <a:ext cx="3383280" cy="228600"/>
          </a:xfrm>
          <a:prstGeom prst="rect">
            <a:avLst/>
          </a:prstGeom>
          <a:noFill/>
          <a:ln/>
        </p:spPr>
        <p:txBody>
          <a:bodyPr wrap="square" lIns="0" tIns="0" rIns="0" bIns="0" rtlCol="0" anchor="t"/>
          <a:lstStyle/>
          <a:p>
            <a:pPr algn="r" indent="0" marL="0">
              <a:buNone/>
            </a:pPr>
            <a:r>
              <a:rPr lang="en-US" sz="1050" dirty="0">
                <a:solidFill>
                  <a:srgbClr val="AEBBD0"/>
                </a:solidFill>
              </a:rPr>
              <a:t>calls out-of-the-money  ·  puts in-the-money</a:t>
            </a:r>
            <a:endParaRPr lang="en-US" sz="105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07  ·  DATA DESCRIPTION AND PREPROCESSING</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Data: from 81 snapshots to 4,853 lag-ready near-ATM rows</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NIFTY 50 option-chain snapshots, cleaning and modelling sample</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440680" cy="914400"/>
        </p:xfrm>
        <a:graphic>
          <a:graphicData uri="http://schemas.openxmlformats.org/drawingml/2006/table">
            <a:tbl>
              <a:tblPr/>
              <a:tblGrid>
                <a:gridCol w="1691640"/>
                <a:gridCol w="3749040"/>
              </a:tblGrid>
              <a:tr h="457200">
                <a:tc>
                  <a:txBody>
                    <a:bodyPr/>
                    <a:lstStyle/>
                    <a:p>
                      <a:pPr indent="0" marL="0">
                        <a:buNone/>
                      </a:pPr>
                      <a:r>
                        <a:rPr lang="en-US" sz="1150" b="1" dirty="0">
                          <a:solidFill>
                            <a:srgbClr val="64748B"/>
                          </a:solidFill>
                        </a:rPr>
                        <a:t>Source</a:t>
                      </a:r>
                      <a:endParaRPr lang="en-US" sz="115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300" dirty="0">
                          <a:solidFill>
                            <a:srgbClr val="0A1628"/>
                          </a:solidFill>
                        </a:rPr>
                        <a:t>NSE option-chain CSV snapshots; Upstox option-chain API for live prototype</a:t>
                      </a:r>
                      <a:endParaRPr lang="en-US" sz="130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64748B"/>
                          </a:solidFill>
                        </a:rPr>
                        <a:t>Instrument</a:t>
                      </a:r>
                      <a:endParaRPr lang="en-US" sz="115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7F9FC"/>
                    </a:solidFill>
                  </a:tcPr>
                </a:tc>
                <a:tc>
                  <a:txBody>
                    <a:bodyPr/>
                    <a:lstStyle/>
                    <a:p>
                      <a:pPr indent="0" marL="0">
                        <a:buNone/>
                      </a:pPr>
                      <a:r>
                        <a:rPr lang="en-US" sz="1300" dirty="0">
                          <a:solidFill>
                            <a:srgbClr val="0A1628"/>
                          </a:solidFill>
                        </a:rPr>
                        <a:t>NIFTY 50 weekly index options (CE and PE)</a:t>
                      </a:r>
                      <a:endParaRPr lang="en-US" sz="130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7F9FC"/>
                    </a:solidFill>
                  </a:tcPr>
                </a:tc>
              </a:tr>
              <a:tr h="457200">
                <a:tc>
                  <a:txBody>
                    <a:bodyPr/>
                    <a:lstStyle/>
                    <a:p>
                      <a:pPr indent="0" marL="0">
                        <a:buNone/>
                      </a:pPr>
                      <a:r>
                        <a:rPr lang="en-US" sz="1150" b="1" dirty="0">
                          <a:solidFill>
                            <a:srgbClr val="64748B"/>
                          </a:solidFill>
                        </a:rPr>
                        <a:t>Development period</a:t>
                      </a:r>
                      <a:endParaRPr lang="en-US" sz="115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300" dirty="0">
                          <a:solidFill>
                            <a:srgbClr val="0A1628"/>
                          </a:solidFill>
                        </a:rPr>
                        <a:t>15–16 Oct 2026; expiry 19 Oct 2026</a:t>
                      </a:r>
                      <a:endParaRPr lang="en-US" sz="130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64748B"/>
                          </a:solidFill>
                        </a:rPr>
                        <a:t>Development raw master</a:t>
                      </a:r>
                      <a:endParaRPr lang="en-US" sz="115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7F9FC"/>
                    </a:solidFill>
                  </a:tcPr>
                </a:tc>
                <a:tc>
                  <a:txBody>
                    <a:bodyPr/>
                    <a:lstStyle/>
                    <a:p>
                      <a:pPr indent="0" marL="0">
                        <a:buNone/>
                      </a:pPr>
                      <a:r>
                        <a:rPr lang="en-US" sz="1300" dirty="0">
                          <a:solidFill>
                            <a:srgbClr val="0A1628"/>
                          </a:solidFill>
                        </a:rPr>
                        <a:t>8,424 rows across 81 successful snapshots</a:t>
                      </a:r>
                      <a:endParaRPr lang="en-US" sz="130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7F9FC"/>
                    </a:solidFill>
                  </a:tcPr>
                </a:tc>
              </a:tr>
              <a:tr h="457200">
                <a:tc>
                  <a:txBody>
                    <a:bodyPr/>
                    <a:lstStyle/>
                    <a:p>
                      <a:pPr indent="0" marL="0">
                        <a:buNone/>
                      </a:pPr>
                      <a:r>
                        <a:rPr lang="en-US" sz="1150" b="1" dirty="0">
                          <a:solidFill>
                            <a:srgbClr val="64748B"/>
                          </a:solidFill>
                        </a:rPr>
                        <a:t>Final lag-ready sample</a:t>
                      </a:r>
                      <a:endParaRPr lang="en-US" sz="115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300" dirty="0">
                          <a:solidFill>
                            <a:srgbClr val="0A1628"/>
                          </a:solidFill>
                        </a:rPr>
                        <a:t>4,853 near-ATM rows across 64 timestamps</a:t>
                      </a:r>
                      <a:endParaRPr lang="en-US" sz="130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8A5A00"/>
                          </a:solidFill>
                        </a:rPr>
                        <a:t>Expiry-day robustness sample</a:t>
                      </a:r>
                      <a:endParaRPr lang="en-US" sz="115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BF0D3"/>
                    </a:solidFill>
                  </a:tcPr>
                </a:tc>
                <a:tc>
                  <a:txBody>
                    <a:bodyPr/>
                    <a:lstStyle/>
                    <a:p>
                      <a:pPr indent="0" marL="0">
                        <a:buNone/>
                      </a:pPr>
                      <a:r>
                        <a:rPr lang="en-US" sz="1300" b="1" dirty="0">
                          <a:solidFill>
                            <a:srgbClr val="0A1628"/>
                          </a:solidFill>
                        </a:rPr>
                        <a:t>1,137 rows across 18 lag-ready timestamps on 19 Oct 2026</a:t>
                      </a:r>
                      <a:endParaRPr lang="en-US" sz="130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BF0D3"/>
                    </a:solidFill>
                  </a:tcPr>
                </a:tc>
              </a:tr>
              <a:tr h="457200">
                <a:tc>
                  <a:txBody>
                    <a:bodyPr/>
                    <a:lstStyle/>
                    <a:p>
                      <a:pPr indent="0" marL="0">
                        <a:buNone/>
                      </a:pPr>
                      <a:r>
                        <a:rPr lang="en-US" sz="1150" b="1" dirty="0">
                          <a:solidFill>
                            <a:srgbClr val="64748B"/>
                          </a:solidFill>
                        </a:rPr>
                        <a:t>Core variables</a:t>
                      </a:r>
                      <a:endParaRPr lang="en-US" sz="115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indent="0" marL="0">
                        <a:buNone/>
                      </a:pPr>
                      <a:r>
                        <a:rPr lang="en-US" sz="1300" dirty="0">
                          <a:solidFill>
                            <a:srgbClr val="0A1628"/>
                          </a:solidFill>
                        </a:rPr>
                        <a:t>IV, LTP, volume, OI, bid, ask, strike, spot; plus engineered features</a:t>
                      </a:r>
                      <a:endParaRPr lang="en-US" sz="1300" dirty="0"/>
                    </a:p>
                  </a:txBody>
                  <a:tcPr marL="91440" marR="91440" marT="64008" marB="64008"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bl>
          </a:graphicData>
        </a:graphic>
      </p:graphicFrame>
      <p:sp>
        <p:nvSpPr>
          <p:cNvPr id="7" name="Shape 3"/>
          <p:cNvSpPr/>
          <p:nvPr/>
        </p:nvSpPr>
        <p:spPr>
          <a:xfrm>
            <a:off x="6217920" y="1508760"/>
            <a:ext cx="5422392" cy="3794760"/>
          </a:xfrm>
          <a:prstGeom prst="roundRect">
            <a:avLst>
              <a:gd name="adj" fmla="val 192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8" name="Text 4"/>
          <p:cNvSpPr txBox="1"/>
          <p:nvPr/>
        </p:nvSpPr>
        <p:spPr>
          <a:xfrm>
            <a:off x="6446520" y="1664208"/>
            <a:ext cx="36576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PREPROCESSING FUNNEL</a:t>
            </a:r>
            <a:endParaRPr lang="en-US" sz="1000" dirty="0"/>
          </a:p>
        </p:txBody>
      </p:sp>
      <p:sp>
        <p:nvSpPr>
          <p:cNvPr id="9" name="Text 5"/>
          <p:cNvSpPr txBox="1"/>
          <p:nvPr/>
        </p:nvSpPr>
        <p:spPr>
          <a:xfrm>
            <a:off x="6446520" y="2011680"/>
            <a:ext cx="1508760" cy="457200"/>
          </a:xfrm>
          <a:prstGeom prst="rect">
            <a:avLst/>
          </a:prstGeom>
          <a:noFill/>
          <a:ln/>
        </p:spPr>
        <p:txBody>
          <a:bodyPr wrap="square" lIns="0" tIns="0" rIns="0" bIns="0" rtlCol="0" anchor="ctr"/>
          <a:lstStyle/>
          <a:p>
            <a:pPr indent="0" marL="0">
              <a:buNone/>
            </a:pPr>
            <a:r>
              <a:rPr lang="en-US" sz="1200" b="1" dirty="0">
                <a:solidFill>
                  <a:schemeClr val="accent4"/>
                </a:solidFill>
              </a:rPr>
              <a:t>Raw snapshots</a:t>
            </a:r>
            <a:endParaRPr lang="en-US" sz="1200" dirty="0"/>
          </a:p>
        </p:txBody>
      </p:sp>
      <p:sp>
        <p:nvSpPr>
          <p:cNvPr id="10" name="Shape 6"/>
          <p:cNvSpPr/>
          <p:nvPr/>
        </p:nvSpPr>
        <p:spPr>
          <a:xfrm>
            <a:off x="8001000" y="2011680"/>
            <a:ext cx="3383280" cy="457200"/>
          </a:xfrm>
          <a:prstGeom prst="rect">
            <a:avLst/>
          </a:prstGeom>
          <a:solidFill>
            <a:srgbClr val="10264A"/>
          </a:solidFill>
          <a:ln/>
        </p:spPr>
      </p:sp>
      <p:sp>
        <p:nvSpPr>
          <p:cNvPr id="11" name="Text 7"/>
          <p:cNvSpPr txBox="1"/>
          <p:nvPr/>
        </p:nvSpPr>
        <p:spPr>
          <a:xfrm>
            <a:off x="8001000" y="2011680"/>
            <a:ext cx="3383280" cy="457200"/>
          </a:xfrm>
          <a:prstGeom prst="rect">
            <a:avLst/>
          </a:prstGeom>
          <a:noFill/>
          <a:ln/>
        </p:spPr>
        <p:txBody>
          <a:bodyPr wrap="square" lIns="0" tIns="0" rIns="0" bIns="0" rtlCol="0" anchor="ctr"/>
          <a:lstStyle/>
          <a:p>
            <a:pPr algn="ctr" indent="0" marL="0">
              <a:buNone/>
            </a:pPr>
            <a:r>
              <a:rPr lang="en-US" sz="1300" b="1" dirty="0">
                <a:solidFill>
                  <a:schemeClr val="bg1"/>
                </a:solidFill>
              </a:rPr>
              <a:t>81 timestamps</a:t>
            </a:r>
            <a:endParaRPr lang="en-US" sz="1300" dirty="0"/>
          </a:p>
        </p:txBody>
      </p:sp>
      <p:sp>
        <p:nvSpPr>
          <p:cNvPr id="12" name="Text 8"/>
          <p:cNvSpPr txBox="1"/>
          <p:nvPr/>
        </p:nvSpPr>
        <p:spPr>
          <a:xfrm>
            <a:off x="6446520" y="2615184"/>
            <a:ext cx="1508760" cy="457200"/>
          </a:xfrm>
          <a:prstGeom prst="rect">
            <a:avLst/>
          </a:prstGeom>
          <a:noFill/>
          <a:ln/>
        </p:spPr>
        <p:txBody>
          <a:bodyPr wrap="square" lIns="0" tIns="0" rIns="0" bIns="0" rtlCol="0" anchor="ctr"/>
          <a:lstStyle/>
          <a:p>
            <a:pPr indent="0" marL="0">
              <a:buNone/>
            </a:pPr>
            <a:r>
              <a:rPr lang="en-US" sz="1200" b="1" dirty="0">
                <a:solidFill>
                  <a:schemeClr val="accent4"/>
                </a:solidFill>
              </a:rPr>
              <a:t>Long-format CE/PE</a:t>
            </a:r>
            <a:endParaRPr lang="en-US" sz="1200" dirty="0"/>
          </a:p>
        </p:txBody>
      </p:sp>
      <p:sp>
        <p:nvSpPr>
          <p:cNvPr id="13" name="Shape 9"/>
          <p:cNvSpPr/>
          <p:nvPr/>
        </p:nvSpPr>
        <p:spPr>
          <a:xfrm>
            <a:off x="8001000" y="2615184"/>
            <a:ext cx="3383280" cy="457200"/>
          </a:xfrm>
          <a:prstGeom prst="rect">
            <a:avLst/>
          </a:prstGeom>
          <a:solidFill>
            <a:srgbClr val="10264A"/>
          </a:solidFill>
          <a:ln/>
        </p:spPr>
      </p:sp>
      <p:sp>
        <p:nvSpPr>
          <p:cNvPr id="14" name="Text 10"/>
          <p:cNvSpPr txBox="1"/>
          <p:nvPr/>
        </p:nvSpPr>
        <p:spPr>
          <a:xfrm>
            <a:off x="8001000" y="2615184"/>
            <a:ext cx="3383280" cy="457200"/>
          </a:xfrm>
          <a:prstGeom prst="rect">
            <a:avLst/>
          </a:prstGeom>
          <a:noFill/>
          <a:ln/>
        </p:spPr>
        <p:txBody>
          <a:bodyPr wrap="square" lIns="0" tIns="0" rIns="0" bIns="0" rtlCol="0" anchor="ctr"/>
          <a:lstStyle/>
          <a:p>
            <a:pPr algn="ctr" indent="0" marL="0">
              <a:buNone/>
            </a:pPr>
            <a:r>
              <a:rPr lang="en-US" sz="1300" b="1" dirty="0">
                <a:solidFill>
                  <a:schemeClr val="bg1"/>
                </a:solidFill>
              </a:rPr>
              <a:t>12,816 valid IV rows</a:t>
            </a:r>
            <a:endParaRPr lang="en-US" sz="1300" dirty="0"/>
          </a:p>
        </p:txBody>
      </p:sp>
      <p:sp>
        <p:nvSpPr>
          <p:cNvPr id="15" name="Text 11"/>
          <p:cNvSpPr txBox="1"/>
          <p:nvPr/>
        </p:nvSpPr>
        <p:spPr>
          <a:xfrm>
            <a:off x="6446520" y="3218688"/>
            <a:ext cx="1508760" cy="457200"/>
          </a:xfrm>
          <a:prstGeom prst="rect">
            <a:avLst/>
          </a:prstGeom>
          <a:noFill/>
          <a:ln/>
        </p:spPr>
        <p:txBody>
          <a:bodyPr wrap="square" lIns="0" tIns="0" rIns="0" bIns="0" rtlCol="0" anchor="ctr"/>
          <a:lstStyle/>
          <a:p>
            <a:pPr indent="0" marL="0">
              <a:buNone/>
            </a:pPr>
            <a:r>
              <a:rPr lang="en-US" sz="1200" b="1" dirty="0">
                <a:solidFill>
                  <a:schemeClr val="accent4"/>
                </a:solidFill>
              </a:rPr>
              <a:t>Exact +5m target</a:t>
            </a:r>
            <a:endParaRPr lang="en-US" sz="1200" dirty="0"/>
          </a:p>
        </p:txBody>
      </p:sp>
      <p:sp>
        <p:nvSpPr>
          <p:cNvPr id="16" name="Shape 12"/>
          <p:cNvSpPr/>
          <p:nvPr/>
        </p:nvSpPr>
        <p:spPr>
          <a:xfrm>
            <a:off x="8001000" y="3218688"/>
            <a:ext cx="2938195" cy="457200"/>
          </a:xfrm>
          <a:prstGeom prst="rect">
            <a:avLst/>
          </a:prstGeom>
          <a:solidFill>
            <a:srgbClr val="475D80"/>
          </a:solidFill>
          <a:ln/>
        </p:spPr>
      </p:sp>
      <p:sp>
        <p:nvSpPr>
          <p:cNvPr id="17" name="Text 13"/>
          <p:cNvSpPr txBox="1"/>
          <p:nvPr/>
        </p:nvSpPr>
        <p:spPr>
          <a:xfrm>
            <a:off x="8001000" y="3218688"/>
            <a:ext cx="2938195" cy="457200"/>
          </a:xfrm>
          <a:prstGeom prst="rect">
            <a:avLst/>
          </a:prstGeom>
          <a:noFill/>
          <a:ln/>
        </p:spPr>
        <p:txBody>
          <a:bodyPr wrap="square" lIns="0" tIns="0" rIns="0" bIns="0" rtlCol="0" anchor="ctr"/>
          <a:lstStyle/>
          <a:p>
            <a:pPr algn="ctr" indent="0" marL="0">
              <a:buNone/>
            </a:pPr>
            <a:r>
              <a:rPr lang="en-US" sz="1300" b="1" dirty="0">
                <a:solidFill>
                  <a:schemeClr val="bg1"/>
                </a:solidFill>
              </a:rPr>
              <a:t>11,130 matches</a:t>
            </a:r>
            <a:endParaRPr lang="en-US" sz="1300" dirty="0"/>
          </a:p>
        </p:txBody>
      </p:sp>
      <p:sp>
        <p:nvSpPr>
          <p:cNvPr id="18" name="Text 14"/>
          <p:cNvSpPr txBox="1"/>
          <p:nvPr/>
        </p:nvSpPr>
        <p:spPr>
          <a:xfrm>
            <a:off x="6446520" y="3822192"/>
            <a:ext cx="1508760" cy="457200"/>
          </a:xfrm>
          <a:prstGeom prst="rect">
            <a:avLst/>
          </a:prstGeom>
          <a:noFill/>
          <a:ln/>
        </p:spPr>
        <p:txBody>
          <a:bodyPr wrap="square" lIns="0" tIns="0" rIns="0" bIns="0" rtlCol="0" anchor="ctr"/>
          <a:lstStyle/>
          <a:p>
            <a:pPr indent="0" marL="0">
              <a:buNone/>
            </a:pPr>
            <a:r>
              <a:rPr lang="en-US" sz="1200" b="1" dirty="0">
                <a:solidFill>
                  <a:schemeClr val="accent4"/>
                </a:solidFill>
              </a:rPr>
              <a:t>Near-ATM universe</a:t>
            </a:r>
            <a:endParaRPr lang="en-US" sz="1200" dirty="0"/>
          </a:p>
        </p:txBody>
      </p:sp>
      <p:sp>
        <p:nvSpPr>
          <p:cNvPr id="19" name="Shape 15"/>
          <p:cNvSpPr/>
          <p:nvPr/>
        </p:nvSpPr>
        <p:spPr>
          <a:xfrm>
            <a:off x="8001000" y="3822192"/>
            <a:ext cx="1483617" cy="457200"/>
          </a:xfrm>
          <a:prstGeom prst="rect">
            <a:avLst/>
          </a:prstGeom>
          <a:solidFill>
            <a:srgbClr val="475D80"/>
          </a:solidFill>
          <a:ln/>
        </p:spPr>
      </p:sp>
      <p:sp>
        <p:nvSpPr>
          <p:cNvPr id="20" name="Text 16"/>
          <p:cNvSpPr txBox="1"/>
          <p:nvPr/>
        </p:nvSpPr>
        <p:spPr>
          <a:xfrm>
            <a:off x="8001000" y="3822192"/>
            <a:ext cx="1483617" cy="457200"/>
          </a:xfrm>
          <a:prstGeom prst="rect">
            <a:avLst/>
          </a:prstGeom>
          <a:noFill/>
          <a:ln/>
        </p:spPr>
        <p:txBody>
          <a:bodyPr wrap="square" lIns="0" tIns="0" rIns="0" bIns="0" rtlCol="0" anchor="ctr"/>
          <a:lstStyle/>
          <a:p>
            <a:pPr algn="ctr" indent="0" marL="0">
              <a:buNone/>
            </a:pPr>
            <a:r>
              <a:rPr lang="en-US" sz="1300" b="1" dirty="0">
                <a:solidFill>
                  <a:schemeClr val="bg1"/>
                </a:solidFill>
              </a:rPr>
              <a:t>5,620 rows</a:t>
            </a:r>
            <a:endParaRPr lang="en-US" sz="1300" dirty="0"/>
          </a:p>
        </p:txBody>
      </p:sp>
      <p:sp>
        <p:nvSpPr>
          <p:cNvPr id="21" name="Text 17"/>
          <p:cNvSpPr txBox="1"/>
          <p:nvPr/>
        </p:nvSpPr>
        <p:spPr>
          <a:xfrm>
            <a:off x="6446520" y="4425696"/>
            <a:ext cx="1508760" cy="457200"/>
          </a:xfrm>
          <a:prstGeom prst="rect">
            <a:avLst/>
          </a:prstGeom>
          <a:noFill/>
          <a:ln/>
        </p:spPr>
        <p:txBody>
          <a:bodyPr wrap="square" lIns="0" tIns="0" rIns="0" bIns="0" rtlCol="0" anchor="ctr"/>
          <a:lstStyle/>
          <a:p>
            <a:pPr indent="0" marL="0">
              <a:buNone/>
            </a:pPr>
            <a:r>
              <a:rPr lang="en-US" sz="1200" b="1" dirty="0">
                <a:solidFill>
                  <a:schemeClr val="accent4"/>
                </a:solidFill>
              </a:rPr>
              <a:t>Exact 5m/10m lags</a:t>
            </a:r>
            <a:endParaRPr lang="en-US" sz="1200" dirty="0"/>
          </a:p>
        </p:txBody>
      </p:sp>
      <p:sp>
        <p:nvSpPr>
          <p:cNvPr id="22" name="Shape 18"/>
          <p:cNvSpPr/>
          <p:nvPr/>
        </p:nvSpPr>
        <p:spPr>
          <a:xfrm>
            <a:off x="8001000" y="4425696"/>
            <a:ext cx="1281137" cy="457200"/>
          </a:xfrm>
          <a:prstGeom prst="rect">
            <a:avLst/>
          </a:prstGeom>
          <a:solidFill>
            <a:srgbClr val="0E9AA7"/>
          </a:solidFill>
          <a:ln/>
        </p:spPr>
      </p:sp>
      <p:sp>
        <p:nvSpPr>
          <p:cNvPr id="23" name="Text 19"/>
          <p:cNvSpPr txBox="1"/>
          <p:nvPr/>
        </p:nvSpPr>
        <p:spPr>
          <a:xfrm>
            <a:off x="8001000" y="4425696"/>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4,853 rows</a:t>
            </a:r>
            <a:endParaRPr lang="en-US" sz="1300" dirty="0"/>
          </a:p>
        </p:txBody>
      </p:sp>
      <p:sp>
        <p:nvSpPr>
          <p:cNvPr id="24" name="Text 20"/>
          <p:cNvSpPr txBox="1"/>
          <p:nvPr/>
        </p:nvSpPr>
        <p:spPr>
          <a:xfrm>
            <a:off x="6446520" y="5029200"/>
            <a:ext cx="5029200" cy="228600"/>
          </a:xfrm>
          <a:prstGeom prst="rect">
            <a:avLst/>
          </a:prstGeom>
          <a:noFill/>
          <a:ln/>
        </p:spPr>
        <p:txBody>
          <a:bodyPr wrap="square" lIns="0" tIns="0" rIns="0" bIns="0" rtlCol="0" anchor="t"/>
          <a:lstStyle/>
          <a:p>
            <a:pPr indent="0" marL="0">
              <a:buNone/>
            </a:pPr>
            <a:r>
              <a:rPr lang="en-US" sz="1000" i="1" dirty="0">
                <a:solidFill>
                  <a:schemeClr val="accent4"/>
                </a:solidFill>
              </a:rPr>
              <a:t>Bar widths scale with row counts for stages 2–5; stage 1 is a timestamp count (8,424 raw rows).</a:t>
            </a:r>
            <a:endParaRPr lang="en-US" sz="1000" dirty="0"/>
          </a:p>
        </p:txBody>
      </p:sp>
      <p:sp>
        <p:nvSpPr>
          <p:cNvPr id="25" name="Shape 21"/>
          <p:cNvSpPr/>
          <p:nvPr/>
        </p:nvSpPr>
        <p:spPr>
          <a:xfrm>
            <a:off x="548640" y="5486400"/>
            <a:ext cx="5440680" cy="822960"/>
          </a:xfrm>
          <a:prstGeom prst="roundRect">
            <a:avLst>
              <a:gd name="adj" fmla="val 888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6" name="Text 22"/>
          <p:cNvSpPr txBox="1"/>
          <p:nvPr/>
        </p:nvSpPr>
        <p:spPr>
          <a:xfrm>
            <a:off x="749808" y="5559552"/>
            <a:ext cx="5074920" cy="685800"/>
          </a:xfrm>
          <a:prstGeom prst="rect">
            <a:avLst/>
          </a:prstGeom>
          <a:noFill/>
          <a:ln/>
        </p:spPr>
        <p:txBody>
          <a:bodyPr wrap="square" lIns="0" tIns="0" rIns="0" bIns="0" rtlCol="0" anchor="ctr"/>
          <a:lstStyle/>
          <a:p>
            <a:pPr indent="0" marL="0">
              <a:buNone/>
            </a:pPr>
            <a:r>
              <a:rPr lang="en-US" sz="1250" b="1" dirty="0">
                <a:solidFill>
                  <a:schemeClr val="accent1"/>
                </a:solidFill>
              </a:rPr>
              <a:t>Key cleaning choices: </a:t>
            </a:r>
            <a:pPr indent="0" marL="0">
              <a:buNone/>
            </a:pPr>
            <a:r>
              <a:rPr lang="en-US" sz="1250" dirty="0">
                <a:solidFill>
                  <a:schemeClr val="tx1"/>
                </a:solidFill>
              </a:rPr>
              <a:t>positive IV only, near-ATM economic filter, exact time matching, and no target-based outlier deletion.</a:t>
            </a:r>
            <a:endParaRPr lang="en-US" sz="1250" dirty="0"/>
          </a:p>
        </p:txBody>
      </p:sp>
      <p:sp>
        <p:nvSpPr>
          <p:cNvPr id="27" name="Shape 23"/>
          <p:cNvSpPr/>
          <p:nvPr/>
        </p:nvSpPr>
        <p:spPr>
          <a:xfrm>
            <a:off x="6217920" y="5486400"/>
            <a:ext cx="5422392" cy="822960"/>
          </a:xfrm>
          <a:prstGeom prst="roundRect">
            <a:avLst>
              <a:gd name="adj" fmla="val 8889"/>
            </a:avLst>
          </a:prstGeom>
          <a:solidFill>
            <a:schemeClr val="bg1"/>
          </a:solidFill>
          <a:ln w="19050">
            <a:solidFill>
              <a:schemeClr val="accent5">
                <a:alpha val="80000"/>
              </a:schemeClr>
            </a:solidFill>
            <a:prstDash val="solid"/>
          </a:ln>
          <a:effectLst>
            <a:outerShdw sx="100000" sy="100000" kx="0" ky="0" algn="bl" rotWithShape="0" blurRad="76200" dist="25400" dir="5400000">
              <a:srgbClr val="0A1628">
                <a:alpha val="10000"/>
              </a:srgbClr>
            </a:outerShdw>
          </a:effectLst>
        </p:spPr>
      </p:sp>
      <p:sp>
        <p:nvSpPr>
          <p:cNvPr id="28" name="Text 24"/>
          <p:cNvSpPr txBox="1"/>
          <p:nvPr/>
        </p:nvSpPr>
        <p:spPr>
          <a:xfrm>
            <a:off x="6419088" y="5559552"/>
            <a:ext cx="5074920" cy="685800"/>
          </a:xfrm>
          <a:prstGeom prst="rect">
            <a:avLst/>
          </a:prstGeom>
          <a:noFill/>
          <a:ln/>
        </p:spPr>
        <p:txBody>
          <a:bodyPr wrap="square" lIns="0" tIns="0" rIns="0" bIns="0" rtlCol="0" anchor="ctr"/>
          <a:lstStyle/>
          <a:p>
            <a:pPr indent="0" marL="0">
              <a:buNone/>
            </a:pPr>
            <a:r>
              <a:rPr lang="en-US" sz="1250" b="1" dirty="0">
                <a:solidFill>
                  <a:srgbClr val="8A5A00"/>
                </a:solidFill>
              </a:rPr>
              <a:t>Held separate — expiry-day robustness sample: </a:t>
            </a:r>
            <a:pPr indent="0" marL="0">
              <a:buNone/>
            </a:pPr>
            <a:r>
              <a:rPr lang="en-US" sz="1250" dirty="0">
                <a:solidFill>
                  <a:schemeClr val="tx1"/>
                </a:solidFill>
              </a:rPr>
              <a:t>1,137 rows, 18 lag-ready timestamps, 19 Oct 2026. Not part of the 4,853-row development sample.</a:t>
            </a:r>
            <a:endParaRPr lang="en-US" sz="125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08  ·  METHODOLOGY AND ANALYTICAL FRAMEWORK</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Methodology: eight stages, chronological validation</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From option-chain snapshots to risk testing</a:t>
            </a:r>
            <a:endParaRPr lang="en-US" sz="1400" dirty="0"/>
          </a:p>
        </p:txBody>
      </p:sp>
      <p:sp>
        <p:nvSpPr>
          <p:cNvPr id="6" name="Shape 3"/>
          <p:cNvSpPr/>
          <p:nvPr/>
        </p:nvSpPr>
        <p:spPr>
          <a:xfrm>
            <a:off x="548640" y="1508760"/>
            <a:ext cx="2606040" cy="1280160"/>
          </a:xfrm>
          <a:prstGeom prst="roundRect">
            <a:avLst>
              <a:gd name="adj" fmla="val 571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7" name="Shape 4"/>
          <p:cNvSpPr/>
          <p:nvPr/>
        </p:nvSpPr>
        <p:spPr>
          <a:xfrm>
            <a:off x="731520" y="1691640"/>
            <a:ext cx="365760" cy="365760"/>
          </a:xfrm>
          <a:prstGeom prst="ellipse">
            <a:avLst/>
          </a:prstGeom>
          <a:solidFill>
            <a:schemeClr val="tx2"/>
          </a:solidFill>
          <a:ln/>
        </p:spPr>
      </p:sp>
      <p:sp>
        <p:nvSpPr>
          <p:cNvPr id="8" name="Text 5"/>
          <p:cNvSpPr txBox="1"/>
          <p:nvPr/>
        </p:nvSpPr>
        <p:spPr>
          <a:xfrm>
            <a:off x="731520" y="169164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6"/>
          <p:cNvSpPr txBox="1"/>
          <p:nvPr/>
        </p:nvSpPr>
        <p:spPr>
          <a:xfrm>
            <a:off x="1234440" y="1691640"/>
            <a:ext cx="1828800" cy="365760"/>
          </a:xfrm>
          <a:prstGeom prst="rect">
            <a:avLst/>
          </a:prstGeom>
          <a:noFill/>
          <a:ln/>
        </p:spPr>
        <p:txBody>
          <a:bodyPr wrap="square" lIns="0" tIns="0" rIns="0" bIns="0" rtlCol="0" anchor="ctr"/>
          <a:lstStyle/>
          <a:p>
            <a:pPr indent="0" marL="0">
              <a:buNone/>
            </a:pPr>
            <a:r>
              <a:rPr lang="en-US" sz="1800" b="1" dirty="0">
                <a:solidFill>
                  <a:schemeClr val="tx1"/>
                </a:solidFill>
              </a:rPr>
              <a:t>Acquire</a:t>
            </a:r>
            <a:endParaRPr lang="en-US" sz="1800" dirty="0"/>
          </a:p>
        </p:txBody>
      </p:sp>
      <p:sp>
        <p:nvSpPr>
          <p:cNvPr id="10" name="Text 7"/>
          <p:cNvSpPr txBox="1"/>
          <p:nvPr/>
        </p:nvSpPr>
        <p:spPr>
          <a:xfrm>
            <a:off x="731520" y="2221992"/>
            <a:ext cx="2286000" cy="457200"/>
          </a:xfrm>
          <a:prstGeom prst="rect">
            <a:avLst/>
          </a:prstGeom>
          <a:noFill/>
          <a:ln/>
        </p:spPr>
        <p:txBody>
          <a:bodyPr wrap="square" lIns="0" tIns="0" rIns="0" bIns="0" rtlCol="0" anchor="t"/>
          <a:lstStyle/>
          <a:p>
            <a:pPr indent="0" marL="0">
              <a:buNone/>
            </a:pPr>
            <a:r>
              <a:rPr lang="en-US" sz="1400" dirty="0">
                <a:solidFill>
                  <a:schemeClr val="tx1"/>
                </a:solidFill>
              </a:rPr>
              <a:t>Option-chain snapshots</a:t>
            </a:r>
            <a:endParaRPr lang="en-US" sz="1400" dirty="0"/>
          </a:p>
        </p:txBody>
      </p:sp>
      <p:sp>
        <p:nvSpPr>
          <p:cNvPr id="11" name="Shape 8"/>
          <p:cNvSpPr/>
          <p:nvPr/>
        </p:nvSpPr>
        <p:spPr>
          <a:xfrm>
            <a:off x="3182112" y="2011680"/>
            <a:ext cx="155448" cy="274320"/>
          </a:xfrm>
          <a:prstGeom prst="chevron">
            <a:avLst/>
          </a:prstGeom>
          <a:solidFill>
            <a:schemeClr val="accent1"/>
          </a:solidFill>
          <a:ln/>
        </p:spPr>
      </p:sp>
      <p:sp>
        <p:nvSpPr>
          <p:cNvPr id="12" name="Shape 9"/>
          <p:cNvSpPr/>
          <p:nvPr/>
        </p:nvSpPr>
        <p:spPr>
          <a:xfrm>
            <a:off x="3364992" y="1508760"/>
            <a:ext cx="2606040" cy="1280160"/>
          </a:xfrm>
          <a:prstGeom prst="roundRect">
            <a:avLst>
              <a:gd name="adj" fmla="val 571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3" name="Shape 10"/>
          <p:cNvSpPr/>
          <p:nvPr/>
        </p:nvSpPr>
        <p:spPr>
          <a:xfrm>
            <a:off x="3547872" y="1691640"/>
            <a:ext cx="365760" cy="365760"/>
          </a:xfrm>
          <a:prstGeom prst="ellipse">
            <a:avLst/>
          </a:prstGeom>
          <a:solidFill>
            <a:schemeClr val="tx2"/>
          </a:solidFill>
          <a:ln/>
        </p:spPr>
      </p:sp>
      <p:sp>
        <p:nvSpPr>
          <p:cNvPr id="14" name="Text 11"/>
          <p:cNvSpPr txBox="1"/>
          <p:nvPr/>
        </p:nvSpPr>
        <p:spPr>
          <a:xfrm>
            <a:off x="3547872" y="169164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2"/>
          <p:cNvSpPr txBox="1"/>
          <p:nvPr/>
        </p:nvSpPr>
        <p:spPr>
          <a:xfrm>
            <a:off x="4050792" y="1691640"/>
            <a:ext cx="1828800" cy="365760"/>
          </a:xfrm>
          <a:prstGeom prst="rect">
            <a:avLst/>
          </a:prstGeom>
          <a:noFill/>
          <a:ln/>
        </p:spPr>
        <p:txBody>
          <a:bodyPr wrap="square" lIns="0" tIns="0" rIns="0" bIns="0" rtlCol="0" anchor="ctr"/>
          <a:lstStyle/>
          <a:p>
            <a:pPr indent="0" marL="0">
              <a:buNone/>
            </a:pPr>
            <a:r>
              <a:rPr lang="en-US" sz="1800" b="1" dirty="0">
                <a:solidFill>
                  <a:schemeClr val="tx1"/>
                </a:solidFill>
              </a:rPr>
              <a:t>Clean</a:t>
            </a:r>
            <a:endParaRPr lang="en-US" sz="1800" dirty="0"/>
          </a:p>
        </p:txBody>
      </p:sp>
      <p:sp>
        <p:nvSpPr>
          <p:cNvPr id="16" name="Text 13"/>
          <p:cNvSpPr txBox="1"/>
          <p:nvPr/>
        </p:nvSpPr>
        <p:spPr>
          <a:xfrm>
            <a:off x="3547872" y="2221992"/>
            <a:ext cx="2286000" cy="457200"/>
          </a:xfrm>
          <a:prstGeom prst="rect">
            <a:avLst/>
          </a:prstGeom>
          <a:noFill/>
          <a:ln/>
        </p:spPr>
        <p:txBody>
          <a:bodyPr wrap="square" lIns="0" tIns="0" rIns="0" bIns="0" rtlCol="0" anchor="t"/>
          <a:lstStyle/>
          <a:p>
            <a:pPr indent="0" marL="0">
              <a:buNone/>
            </a:pPr>
            <a:r>
              <a:rPr lang="en-US" sz="1400" dirty="0">
                <a:solidFill>
                  <a:schemeClr val="tx1"/>
                </a:solidFill>
              </a:rPr>
              <a:t>CE/PE long format</a:t>
            </a:r>
            <a:endParaRPr lang="en-US" sz="1400" dirty="0"/>
          </a:p>
        </p:txBody>
      </p:sp>
      <p:sp>
        <p:nvSpPr>
          <p:cNvPr id="17" name="Shape 14"/>
          <p:cNvSpPr/>
          <p:nvPr/>
        </p:nvSpPr>
        <p:spPr>
          <a:xfrm>
            <a:off x="5998464" y="2011680"/>
            <a:ext cx="155448" cy="274320"/>
          </a:xfrm>
          <a:prstGeom prst="chevron">
            <a:avLst/>
          </a:prstGeom>
          <a:solidFill>
            <a:schemeClr val="accent1"/>
          </a:solidFill>
          <a:ln/>
        </p:spPr>
      </p:sp>
      <p:sp>
        <p:nvSpPr>
          <p:cNvPr id="18" name="Shape 15"/>
          <p:cNvSpPr/>
          <p:nvPr/>
        </p:nvSpPr>
        <p:spPr>
          <a:xfrm>
            <a:off x="6181344" y="1508760"/>
            <a:ext cx="2606040" cy="1280160"/>
          </a:xfrm>
          <a:prstGeom prst="roundRect">
            <a:avLst>
              <a:gd name="adj" fmla="val 5714"/>
            </a:avLst>
          </a:prstGeom>
          <a:solidFill>
            <a:schemeClr val="bg1"/>
          </a:solidFill>
          <a:ln w="22225">
            <a:solidFill>
              <a:schemeClr val="accent1">
                <a:alpha val="90000"/>
              </a:schemeClr>
            </a:solidFill>
            <a:prstDash val="solid"/>
          </a:ln>
          <a:effectLst>
            <a:outerShdw sx="100000" sy="100000" kx="0" ky="0" algn="bl" rotWithShape="0" blurRad="76200" dist="25400" dir="5400000">
              <a:srgbClr val="0A1628">
                <a:alpha val="10000"/>
              </a:srgbClr>
            </a:outerShdw>
          </a:effectLst>
        </p:spPr>
      </p:sp>
      <p:sp>
        <p:nvSpPr>
          <p:cNvPr id="19" name="Shape 16"/>
          <p:cNvSpPr/>
          <p:nvPr/>
        </p:nvSpPr>
        <p:spPr>
          <a:xfrm>
            <a:off x="6364224" y="1691640"/>
            <a:ext cx="365760" cy="365760"/>
          </a:xfrm>
          <a:prstGeom prst="ellipse">
            <a:avLst/>
          </a:prstGeom>
          <a:solidFill>
            <a:schemeClr val="accent1"/>
          </a:solidFill>
          <a:ln/>
        </p:spPr>
      </p:sp>
      <p:sp>
        <p:nvSpPr>
          <p:cNvPr id="20" name="Text 17"/>
          <p:cNvSpPr txBox="1"/>
          <p:nvPr/>
        </p:nvSpPr>
        <p:spPr>
          <a:xfrm>
            <a:off x="6364224" y="169164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Text 18"/>
          <p:cNvSpPr txBox="1"/>
          <p:nvPr/>
        </p:nvSpPr>
        <p:spPr>
          <a:xfrm>
            <a:off x="6867144" y="1691640"/>
            <a:ext cx="1828800" cy="365760"/>
          </a:xfrm>
          <a:prstGeom prst="rect">
            <a:avLst/>
          </a:prstGeom>
          <a:noFill/>
          <a:ln/>
        </p:spPr>
        <p:txBody>
          <a:bodyPr wrap="square" lIns="0" tIns="0" rIns="0" bIns="0" rtlCol="0" anchor="ctr"/>
          <a:lstStyle/>
          <a:p>
            <a:pPr indent="0" marL="0">
              <a:buNone/>
            </a:pPr>
            <a:r>
              <a:rPr lang="en-US" sz="1800" b="1" dirty="0">
                <a:solidFill>
                  <a:schemeClr val="tx1"/>
                </a:solidFill>
              </a:rPr>
              <a:t>Engineer</a:t>
            </a:r>
            <a:endParaRPr lang="en-US" sz="1800" dirty="0"/>
          </a:p>
        </p:txBody>
      </p:sp>
      <p:sp>
        <p:nvSpPr>
          <p:cNvPr id="22" name="Text 19"/>
          <p:cNvSpPr txBox="1"/>
          <p:nvPr/>
        </p:nvSpPr>
        <p:spPr>
          <a:xfrm>
            <a:off x="6364224" y="2221992"/>
            <a:ext cx="2286000" cy="457200"/>
          </a:xfrm>
          <a:prstGeom prst="rect">
            <a:avLst/>
          </a:prstGeom>
          <a:noFill/>
          <a:ln/>
        </p:spPr>
        <p:txBody>
          <a:bodyPr wrap="square" lIns="0" tIns="0" rIns="0" bIns="0" rtlCol="0" anchor="t"/>
          <a:lstStyle/>
          <a:p>
            <a:pPr indent="0" marL="0">
              <a:buNone/>
            </a:pPr>
            <a:r>
              <a:rPr lang="en-US" sz="1400" b="1" dirty="0">
                <a:solidFill>
                  <a:schemeClr val="accent1"/>
                </a:solidFill>
              </a:rPr>
              <a:t>39 current + lag features</a:t>
            </a:r>
            <a:endParaRPr lang="en-US" sz="1400" dirty="0"/>
          </a:p>
        </p:txBody>
      </p:sp>
      <p:sp>
        <p:nvSpPr>
          <p:cNvPr id="23" name="Shape 20"/>
          <p:cNvSpPr/>
          <p:nvPr/>
        </p:nvSpPr>
        <p:spPr>
          <a:xfrm>
            <a:off x="8814816" y="2011680"/>
            <a:ext cx="155448" cy="274320"/>
          </a:xfrm>
          <a:prstGeom prst="chevron">
            <a:avLst/>
          </a:prstGeom>
          <a:solidFill>
            <a:schemeClr val="accent1"/>
          </a:solidFill>
          <a:ln/>
        </p:spPr>
      </p:sp>
      <p:sp>
        <p:nvSpPr>
          <p:cNvPr id="24" name="Shape 21"/>
          <p:cNvSpPr/>
          <p:nvPr/>
        </p:nvSpPr>
        <p:spPr>
          <a:xfrm>
            <a:off x="8997696" y="1508760"/>
            <a:ext cx="2606040" cy="1280160"/>
          </a:xfrm>
          <a:prstGeom prst="roundRect">
            <a:avLst>
              <a:gd name="adj" fmla="val 5714"/>
            </a:avLst>
          </a:prstGeom>
          <a:solidFill>
            <a:schemeClr val="bg1"/>
          </a:solidFill>
          <a:ln w="22225">
            <a:solidFill>
              <a:schemeClr val="accent1">
                <a:alpha val="90000"/>
              </a:schemeClr>
            </a:solidFill>
            <a:prstDash val="solid"/>
          </a:ln>
          <a:effectLst>
            <a:outerShdw sx="100000" sy="100000" kx="0" ky="0" algn="bl" rotWithShape="0" blurRad="76200" dist="25400" dir="5400000">
              <a:srgbClr val="0A1628">
                <a:alpha val="10000"/>
              </a:srgbClr>
            </a:outerShdw>
          </a:effectLst>
        </p:spPr>
      </p:sp>
      <p:sp>
        <p:nvSpPr>
          <p:cNvPr id="25" name="Shape 22"/>
          <p:cNvSpPr/>
          <p:nvPr/>
        </p:nvSpPr>
        <p:spPr>
          <a:xfrm>
            <a:off x="9180576" y="1691640"/>
            <a:ext cx="365760" cy="365760"/>
          </a:xfrm>
          <a:prstGeom prst="ellipse">
            <a:avLst/>
          </a:prstGeom>
          <a:solidFill>
            <a:schemeClr val="accent1"/>
          </a:solidFill>
          <a:ln/>
        </p:spPr>
      </p:sp>
      <p:sp>
        <p:nvSpPr>
          <p:cNvPr id="26" name="Text 23"/>
          <p:cNvSpPr txBox="1"/>
          <p:nvPr/>
        </p:nvSpPr>
        <p:spPr>
          <a:xfrm>
            <a:off x="9180576" y="169164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7" name="Text 24"/>
          <p:cNvSpPr txBox="1"/>
          <p:nvPr/>
        </p:nvSpPr>
        <p:spPr>
          <a:xfrm>
            <a:off x="9683496" y="1691640"/>
            <a:ext cx="1828800" cy="365760"/>
          </a:xfrm>
          <a:prstGeom prst="rect">
            <a:avLst/>
          </a:prstGeom>
          <a:noFill/>
          <a:ln/>
        </p:spPr>
        <p:txBody>
          <a:bodyPr wrap="square" lIns="0" tIns="0" rIns="0" bIns="0" rtlCol="0" anchor="ctr"/>
          <a:lstStyle/>
          <a:p>
            <a:pPr indent="0" marL="0">
              <a:buNone/>
            </a:pPr>
            <a:r>
              <a:rPr lang="en-US" sz="1800" b="1" dirty="0">
                <a:solidFill>
                  <a:schemeClr val="tx1"/>
                </a:solidFill>
              </a:rPr>
              <a:t>Target</a:t>
            </a:r>
            <a:endParaRPr lang="en-US" sz="1800" dirty="0"/>
          </a:p>
        </p:txBody>
      </p:sp>
      <p:sp>
        <p:nvSpPr>
          <p:cNvPr id="28" name="Text 25"/>
          <p:cNvSpPr txBox="1"/>
          <p:nvPr/>
        </p:nvSpPr>
        <p:spPr>
          <a:xfrm>
            <a:off x="9180576" y="2221992"/>
            <a:ext cx="2286000" cy="457200"/>
          </a:xfrm>
          <a:prstGeom prst="rect">
            <a:avLst/>
          </a:prstGeom>
          <a:noFill/>
          <a:ln/>
        </p:spPr>
        <p:txBody>
          <a:bodyPr wrap="square" lIns="0" tIns="0" rIns="0" bIns="0" rtlCol="0" anchor="t"/>
          <a:lstStyle/>
          <a:p>
            <a:pPr indent="0" marL="0">
              <a:buNone/>
            </a:pPr>
            <a:r>
              <a:rPr lang="en-US" sz="1400" b="1" dirty="0">
                <a:solidFill>
                  <a:schemeClr val="accent1"/>
                </a:solidFill>
              </a:rPr>
              <a:t>Exact ΔIV at t+5</a:t>
            </a:r>
            <a:endParaRPr lang="en-US" sz="1400" dirty="0"/>
          </a:p>
        </p:txBody>
      </p:sp>
      <p:sp>
        <p:nvSpPr>
          <p:cNvPr id="29" name="Shape 26"/>
          <p:cNvSpPr/>
          <p:nvPr/>
        </p:nvSpPr>
        <p:spPr>
          <a:xfrm>
            <a:off x="548640" y="2971800"/>
            <a:ext cx="2606040" cy="1280160"/>
          </a:xfrm>
          <a:prstGeom prst="roundRect">
            <a:avLst>
              <a:gd name="adj" fmla="val 5714"/>
            </a:avLst>
          </a:prstGeom>
          <a:solidFill>
            <a:schemeClr val="bg1"/>
          </a:solidFill>
          <a:ln w="22225">
            <a:solidFill>
              <a:schemeClr val="accent1">
                <a:alpha val="90000"/>
              </a:schemeClr>
            </a:solidFill>
            <a:prstDash val="solid"/>
          </a:ln>
          <a:effectLst>
            <a:outerShdw sx="100000" sy="100000" kx="0" ky="0" algn="bl" rotWithShape="0" blurRad="76200" dist="25400" dir="5400000">
              <a:srgbClr val="0A1628">
                <a:alpha val="10000"/>
              </a:srgbClr>
            </a:outerShdw>
          </a:effectLst>
        </p:spPr>
      </p:sp>
      <p:sp>
        <p:nvSpPr>
          <p:cNvPr id="30" name="Shape 27"/>
          <p:cNvSpPr/>
          <p:nvPr/>
        </p:nvSpPr>
        <p:spPr>
          <a:xfrm>
            <a:off x="731520" y="3154680"/>
            <a:ext cx="365760" cy="365760"/>
          </a:xfrm>
          <a:prstGeom prst="ellipse">
            <a:avLst/>
          </a:prstGeom>
          <a:solidFill>
            <a:schemeClr val="accent1"/>
          </a:solidFill>
          <a:ln/>
        </p:spPr>
      </p:sp>
      <p:sp>
        <p:nvSpPr>
          <p:cNvPr id="31" name="Text 28"/>
          <p:cNvSpPr txBox="1"/>
          <p:nvPr/>
        </p:nvSpPr>
        <p:spPr>
          <a:xfrm>
            <a:off x="731520" y="315468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2" name="Text 29"/>
          <p:cNvSpPr txBox="1"/>
          <p:nvPr/>
        </p:nvSpPr>
        <p:spPr>
          <a:xfrm>
            <a:off x="1234440" y="3154680"/>
            <a:ext cx="1828800" cy="365760"/>
          </a:xfrm>
          <a:prstGeom prst="rect">
            <a:avLst/>
          </a:prstGeom>
          <a:noFill/>
          <a:ln/>
        </p:spPr>
        <p:txBody>
          <a:bodyPr wrap="square" lIns="0" tIns="0" rIns="0" bIns="0" rtlCol="0" anchor="ctr"/>
          <a:lstStyle/>
          <a:p>
            <a:pPr indent="0" marL="0">
              <a:buNone/>
            </a:pPr>
            <a:r>
              <a:rPr lang="en-US" sz="1800" b="1" dirty="0">
                <a:solidFill>
                  <a:schemeClr val="tx1"/>
                </a:solidFill>
              </a:rPr>
              <a:t>Validate</a:t>
            </a:r>
            <a:endParaRPr lang="en-US" sz="1800" dirty="0"/>
          </a:p>
        </p:txBody>
      </p:sp>
      <p:sp>
        <p:nvSpPr>
          <p:cNvPr id="33" name="Text 30"/>
          <p:cNvSpPr txBox="1"/>
          <p:nvPr/>
        </p:nvSpPr>
        <p:spPr>
          <a:xfrm>
            <a:off x="731520" y="3685032"/>
            <a:ext cx="2286000" cy="457200"/>
          </a:xfrm>
          <a:prstGeom prst="rect">
            <a:avLst/>
          </a:prstGeom>
          <a:noFill/>
          <a:ln/>
        </p:spPr>
        <p:txBody>
          <a:bodyPr wrap="square" lIns="0" tIns="0" rIns="0" bIns="0" rtlCol="0" anchor="t"/>
          <a:lstStyle/>
          <a:p>
            <a:pPr indent="0" marL="0">
              <a:buNone/>
            </a:pPr>
            <a:r>
              <a:rPr lang="en-US" sz="1400" b="1" dirty="0">
                <a:solidFill>
                  <a:schemeClr val="accent1"/>
                </a:solidFill>
              </a:rPr>
              <a:t>Chronological split</a:t>
            </a:r>
            <a:endParaRPr lang="en-US" sz="1400" dirty="0"/>
          </a:p>
        </p:txBody>
      </p:sp>
      <p:sp>
        <p:nvSpPr>
          <p:cNvPr id="34" name="Shape 31"/>
          <p:cNvSpPr/>
          <p:nvPr/>
        </p:nvSpPr>
        <p:spPr>
          <a:xfrm>
            <a:off x="3182112" y="3474720"/>
            <a:ext cx="155448" cy="274320"/>
          </a:xfrm>
          <a:prstGeom prst="chevron">
            <a:avLst/>
          </a:prstGeom>
          <a:solidFill>
            <a:schemeClr val="accent1"/>
          </a:solidFill>
          <a:ln/>
        </p:spPr>
      </p:sp>
      <p:sp>
        <p:nvSpPr>
          <p:cNvPr id="35" name="Shape 32"/>
          <p:cNvSpPr/>
          <p:nvPr/>
        </p:nvSpPr>
        <p:spPr>
          <a:xfrm>
            <a:off x="3364992" y="2971800"/>
            <a:ext cx="2606040" cy="1280160"/>
          </a:xfrm>
          <a:prstGeom prst="roundRect">
            <a:avLst>
              <a:gd name="adj" fmla="val 571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6" name="Shape 33"/>
          <p:cNvSpPr/>
          <p:nvPr/>
        </p:nvSpPr>
        <p:spPr>
          <a:xfrm>
            <a:off x="3547872" y="3154680"/>
            <a:ext cx="365760" cy="365760"/>
          </a:xfrm>
          <a:prstGeom prst="ellipse">
            <a:avLst/>
          </a:prstGeom>
          <a:solidFill>
            <a:schemeClr val="tx2"/>
          </a:solidFill>
          <a:ln/>
        </p:spPr>
      </p:sp>
      <p:sp>
        <p:nvSpPr>
          <p:cNvPr id="37" name="Text 34"/>
          <p:cNvSpPr txBox="1"/>
          <p:nvPr/>
        </p:nvSpPr>
        <p:spPr>
          <a:xfrm>
            <a:off x="3547872" y="315468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8" name="Text 35"/>
          <p:cNvSpPr txBox="1"/>
          <p:nvPr/>
        </p:nvSpPr>
        <p:spPr>
          <a:xfrm>
            <a:off x="4050792" y="3154680"/>
            <a:ext cx="1828800" cy="365760"/>
          </a:xfrm>
          <a:prstGeom prst="rect">
            <a:avLst/>
          </a:prstGeom>
          <a:noFill/>
          <a:ln/>
        </p:spPr>
        <p:txBody>
          <a:bodyPr wrap="square" lIns="0" tIns="0" rIns="0" bIns="0" rtlCol="0" anchor="ctr"/>
          <a:lstStyle/>
          <a:p>
            <a:pPr indent="0" marL="0">
              <a:buNone/>
            </a:pPr>
            <a:r>
              <a:rPr lang="en-US" sz="1800" b="1" dirty="0">
                <a:solidFill>
                  <a:schemeClr val="tx1"/>
                </a:solidFill>
              </a:rPr>
              <a:t>Compare</a:t>
            </a:r>
            <a:endParaRPr lang="en-US" sz="1800" dirty="0"/>
          </a:p>
        </p:txBody>
      </p:sp>
      <p:sp>
        <p:nvSpPr>
          <p:cNvPr id="39" name="Text 36"/>
          <p:cNvSpPr txBox="1"/>
          <p:nvPr/>
        </p:nvSpPr>
        <p:spPr>
          <a:xfrm>
            <a:off x="3547872" y="3685032"/>
            <a:ext cx="2286000" cy="457200"/>
          </a:xfrm>
          <a:prstGeom prst="rect">
            <a:avLst/>
          </a:prstGeom>
          <a:noFill/>
          <a:ln/>
        </p:spPr>
        <p:txBody>
          <a:bodyPr wrap="square" lIns="0" tIns="0" rIns="0" bIns="0" rtlCol="0" anchor="t"/>
          <a:lstStyle/>
          <a:p>
            <a:pPr indent="0" marL="0">
              <a:buNone/>
            </a:pPr>
            <a:r>
              <a:rPr lang="en-US" sz="1400" dirty="0">
                <a:solidFill>
                  <a:schemeClr val="tx1"/>
                </a:solidFill>
              </a:rPr>
              <a:t>Persistence / RF / XGB</a:t>
            </a:r>
            <a:endParaRPr lang="en-US" sz="1400" dirty="0"/>
          </a:p>
        </p:txBody>
      </p:sp>
      <p:sp>
        <p:nvSpPr>
          <p:cNvPr id="40" name="Shape 37"/>
          <p:cNvSpPr/>
          <p:nvPr/>
        </p:nvSpPr>
        <p:spPr>
          <a:xfrm>
            <a:off x="5998464" y="3474720"/>
            <a:ext cx="155448" cy="274320"/>
          </a:xfrm>
          <a:prstGeom prst="chevron">
            <a:avLst/>
          </a:prstGeom>
          <a:solidFill>
            <a:schemeClr val="accent1"/>
          </a:solidFill>
          <a:ln/>
        </p:spPr>
      </p:sp>
      <p:sp>
        <p:nvSpPr>
          <p:cNvPr id="41" name="Shape 38"/>
          <p:cNvSpPr/>
          <p:nvPr/>
        </p:nvSpPr>
        <p:spPr>
          <a:xfrm>
            <a:off x="6181344" y="2971800"/>
            <a:ext cx="2606040" cy="1280160"/>
          </a:xfrm>
          <a:prstGeom prst="roundRect">
            <a:avLst>
              <a:gd name="adj" fmla="val 571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42" name="Shape 39"/>
          <p:cNvSpPr/>
          <p:nvPr/>
        </p:nvSpPr>
        <p:spPr>
          <a:xfrm>
            <a:off x="6364224" y="3154680"/>
            <a:ext cx="365760" cy="365760"/>
          </a:xfrm>
          <a:prstGeom prst="ellipse">
            <a:avLst/>
          </a:prstGeom>
          <a:solidFill>
            <a:schemeClr val="tx2"/>
          </a:solidFill>
          <a:ln/>
        </p:spPr>
      </p:sp>
      <p:sp>
        <p:nvSpPr>
          <p:cNvPr id="43" name="Text 40"/>
          <p:cNvSpPr txBox="1"/>
          <p:nvPr/>
        </p:nvSpPr>
        <p:spPr>
          <a:xfrm>
            <a:off x="6364224" y="315468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4" name="Text 41"/>
          <p:cNvSpPr txBox="1"/>
          <p:nvPr/>
        </p:nvSpPr>
        <p:spPr>
          <a:xfrm>
            <a:off x="6867144" y="3154680"/>
            <a:ext cx="1828800" cy="365760"/>
          </a:xfrm>
          <a:prstGeom prst="rect">
            <a:avLst/>
          </a:prstGeom>
          <a:noFill/>
          <a:ln/>
        </p:spPr>
        <p:txBody>
          <a:bodyPr wrap="square" lIns="0" tIns="0" rIns="0" bIns="0" rtlCol="0" anchor="ctr"/>
          <a:lstStyle/>
          <a:p>
            <a:pPr indent="0" marL="0">
              <a:buNone/>
            </a:pPr>
            <a:r>
              <a:rPr lang="en-US" sz="1800" b="1" dirty="0">
                <a:solidFill>
                  <a:schemeClr val="tx1"/>
                </a:solidFill>
              </a:rPr>
              <a:t>Interpret</a:t>
            </a:r>
            <a:endParaRPr lang="en-US" sz="1800" dirty="0"/>
          </a:p>
        </p:txBody>
      </p:sp>
      <p:sp>
        <p:nvSpPr>
          <p:cNvPr id="45" name="Text 42"/>
          <p:cNvSpPr txBox="1"/>
          <p:nvPr/>
        </p:nvSpPr>
        <p:spPr>
          <a:xfrm>
            <a:off x="6364224" y="3685032"/>
            <a:ext cx="2286000" cy="457200"/>
          </a:xfrm>
          <a:prstGeom prst="rect">
            <a:avLst/>
          </a:prstGeom>
          <a:noFill/>
          <a:ln/>
        </p:spPr>
        <p:txBody>
          <a:bodyPr wrap="square" lIns="0" tIns="0" rIns="0" bIns="0" rtlCol="0" anchor="t"/>
          <a:lstStyle/>
          <a:p>
            <a:pPr indent="0" marL="0">
              <a:buNone/>
            </a:pPr>
            <a:r>
              <a:rPr lang="en-US" sz="1400" dirty="0">
                <a:solidFill>
                  <a:schemeClr val="tx1"/>
                </a:solidFill>
              </a:rPr>
              <a:t>Relative-IV signals</a:t>
            </a:r>
            <a:endParaRPr lang="en-US" sz="1400" dirty="0"/>
          </a:p>
        </p:txBody>
      </p:sp>
      <p:sp>
        <p:nvSpPr>
          <p:cNvPr id="46" name="Shape 43"/>
          <p:cNvSpPr/>
          <p:nvPr/>
        </p:nvSpPr>
        <p:spPr>
          <a:xfrm>
            <a:off x="8814816" y="3474720"/>
            <a:ext cx="155448" cy="274320"/>
          </a:xfrm>
          <a:prstGeom prst="chevron">
            <a:avLst/>
          </a:prstGeom>
          <a:solidFill>
            <a:schemeClr val="accent1"/>
          </a:solidFill>
          <a:ln/>
        </p:spPr>
      </p:sp>
      <p:sp>
        <p:nvSpPr>
          <p:cNvPr id="47" name="Shape 44"/>
          <p:cNvSpPr/>
          <p:nvPr/>
        </p:nvSpPr>
        <p:spPr>
          <a:xfrm>
            <a:off x="8997696" y="2971800"/>
            <a:ext cx="2606040" cy="1280160"/>
          </a:xfrm>
          <a:prstGeom prst="roundRect">
            <a:avLst>
              <a:gd name="adj" fmla="val 5714"/>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48" name="Shape 45"/>
          <p:cNvSpPr/>
          <p:nvPr/>
        </p:nvSpPr>
        <p:spPr>
          <a:xfrm>
            <a:off x="9180576" y="3154680"/>
            <a:ext cx="365760" cy="365760"/>
          </a:xfrm>
          <a:prstGeom prst="ellipse">
            <a:avLst/>
          </a:prstGeom>
          <a:solidFill>
            <a:schemeClr val="tx2"/>
          </a:solidFill>
          <a:ln/>
        </p:spPr>
      </p:sp>
      <p:sp>
        <p:nvSpPr>
          <p:cNvPr id="49" name="Text 46"/>
          <p:cNvSpPr txBox="1"/>
          <p:nvPr/>
        </p:nvSpPr>
        <p:spPr>
          <a:xfrm>
            <a:off x="9180576" y="315468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50" name="Text 47"/>
          <p:cNvSpPr txBox="1"/>
          <p:nvPr/>
        </p:nvSpPr>
        <p:spPr>
          <a:xfrm>
            <a:off x="9683496" y="3154680"/>
            <a:ext cx="1828800" cy="365760"/>
          </a:xfrm>
          <a:prstGeom prst="rect">
            <a:avLst/>
          </a:prstGeom>
          <a:noFill/>
          <a:ln/>
        </p:spPr>
        <p:txBody>
          <a:bodyPr wrap="square" lIns="0" tIns="0" rIns="0" bIns="0" rtlCol="0" anchor="ctr"/>
          <a:lstStyle/>
          <a:p>
            <a:pPr indent="0" marL="0">
              <a:buNone/>
            </a:pPr>
            <a:r>
              <a:rPr lang="en-US" sz="1800" b="1" dirty="0">
                <a:solidFill>
                  <a:schemeClr val="tx1"/>
                </a:solidFill>
              </a:rPr>
              <a:t>Risk test</a:t>
            </a:r>
            <a:endParaRPr lang="en-US" sz="1800" dirty="0"/>
          </a:p>
        </p:txBody>
      </p:sp>
      <p:sp>
        <p:nvSpPr>
          <p:cNvPr id="51" name="Text 48"/>
          <p:cNvSpPr txBox="1"/>
          <p:nvPr/>
        </p:nvSpPr>
        <p:spPr>
          <a:xfrm>
            <a:off x="9180576" y="3685032"/>
            <a:ext cx="2286000" cy="457200"/>
          </a:xfrm>
          <a:prstGeom prst="rect">
            <a:avLst/>
          </a:prstGeom>
          <a:noFill/>
          <a:ln/>
        </p:spPr>
        <p:txBody>
          <a:bodyPr wrap="square" lIns="0" tIns="0" rIns="0" bIns="0" rtlCol="0" anchor="t"/>
          <a:lstStyle/>
          <a:p>
            <a:pPr indent="0" marL="0">
              <a:buNone/>
            </a:pPr>
            <a:r>
              <a:rPr lang="en-US" sz="1400" dirty="0">
                <a:solidFill>
                  <a:schemeClr val="tx1"/>
                </a:solidFill>
              </a:rPr>
              <a:t>Black-Scholes scenarios</a:t>
            </a:r>
            <a:endParaRPr lang="en-US" sz="1400" dirty="0"/>
          </a:p>
        </p:txBody>
      </p:sp>
      <p:sp>
        <p:nvSpPr>
          <p:cNvPr id="52" name="Text 49"/>
          <p:cNvSpPr txBox="1"/>
          <p:nvPr/>
        </p:nvSpPr>
        <p:spPr>
          <a:xfrm>
            <a:off x="548640" y="4434840"/>
            <a:ext cx="11064240" cy="228600"/>
          </a:xfrm>
          <a:prstGeom prst="rect">
            <a:avLst/>
          </a:prstGeom>
          <a:noFill/>
          <a:ln/>
        </p:spPr>
        <p:txBody>
          <a:bodyPr wrap="square" lIns="0" tIns="0" rIns="0" bIns="0" rtlCol="0" anchor="t"/>
          <a:lstStyle/>
          <a:p>
            <a:pPr indent="0" marL="0">
              <a:buNone/>
            </a:pPr>
            <a:r>
              <a:rPr lang="en-US" sz="1100" i="1" dirty="0">
                <a:solidFill>
                  <a:schemeClr val="accent4"/>
                </a:solidFill>
              </a:rPr>
              <a:t>Key safeguards highlighted: engineering without look-ahead, exact +5-minute target matching and time-based validation</a:t>
            </a:r>
            <a:endParaRPr lang="en-US" sz="1100" dirty="0"/>
          </a:p>
        </p:txBody>
      </p:sp>
      <p:sp>
        <p:nvSpPr>
          <p:cNvPr id="53" name="Shape 50"/>
          <p:cNvSpPr/>
          <p:nvPr/>
        </p:nvSpPr>
        <p:spPr>
          <a:xfrm>
            <a:off x="548640" y="4754880"/>
            <a:ext cx="4937760" cy="1554480"/>
          </a:xfrm>
          <a:prstGeom prst="roundRect">
            <a:avLst>
              <a:gd name="adj" fmla="val 4706"/>
            </a:avLst>
          </a:prstGeom>
          <a:solidFill>
            <a:schemeClr val="tx2"/>
          </a:solidFill>
          <a:ln w="9525">
            <a:solidFill>
              <a:schemeClr val="accent6">
                <a:alpha val="30000"/>
              </a:schemeClr>
            </a:solidFill>
            <a:prstDash val="solid"/>
          </a:ln>
        </p:spPr>
      </p:sp>
      <p:sp>
        <p:nvSpPr>
          <p:cNvPr id="54" name="Text 51"/>
          <p:cNvSpPr txBox="1"/>
          <p:nvPr/>
        </p:nvSpPr>
        <p:spPr>
          <a:xfrm>
            <a:off x="777240" y="4892040"/>
            <a:ext cx="411480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VALIDATION PRINCIPLE</a:t>
            </a:r>
            <a:endParaRPr lang="en-US" sz="1000" dirty="0"/>
          </a:p>
        </p:txBody>
      </p:sp>
      <p:sp>
        <p:nvSpPr>
          <p:cNvPr id="55" name="Text 52"/>
          <p:cNvSpPr txBox="1"/>
          <p:nvPr/>
        </p:nvSpPr>
        <p:spPr>
          <a:xfrm>
            <a:off x="777240" y="5166360"/>
            <a:ext cx="4526280" cy="685800"/>
          </a:xfrm>
          <a:prstGeom prst="rect">
            <a:avLst/>
          </a:prstGeom>
          <a:noFill/>
          <a:ln/>
        </p:spPr>
        <p:txBody>
          <a:bodyPr wrap="square" lIns="0" tIns="0" rIns="0" bIns="0" rtlCol="0" anchor="t"/>
          <a:lstStyle/>
          <a:p>
            <a:pPr indent="0" marL="0">
              <a:buNone/>
            </a:pPr>
            <a:r>
              <a:rPr lang="en-US" sz="1350" b="1" dirty="0">
                <a:solidFill>
                  <a:schemeClr val="bg1"/>
                </a:solidFill>
              </a:rPr>
              <a:t>Split by unique timestamps, not random rows. Cross-sectional strikes at the same timestamp are not independent time periods.</a:t>
            </a:r>
            <a:endParaRPr lang="en-US" sz="1350" dirty="0"/>
          </a:p>
        </p:txBody>
      </p:sp>
      <p:sp>
        <p:nvSpPr>
          <p:cNvPr id="56" name="Text 53"/>
          <p:cNvSpPr txBox="1"/>
          <p:nvPr/>
        </p:nvSpPr>
        <p:spPr>
          <a:xfrm>
            <a:off x="777240" y="5852160"/>
            <a:ext cx="4526280" cy="411480"/>
          </a:xfrm>
          <a:prstGeom prst="rect">
            <a:avLst/>
          </a:prstGeom>
          <a:noFill/>
          <a:ln/>
        </p:spPr>
        <p:txBody>
          <a:bodyPr wrap="square" lIns="0" tIns="0" rIns="0" bIns="0" rtlCol="0" anchor="t"/>
          <a:lstStyle/>
          <a:p>
            <a:pPr indent="0" marL="0">
              <a:buNone/>
            </a:pPr>
            <a:r>
              <a:rPr lang="en-US" sz="1150" dirty="0">
                <a:solidFill>
                  <a:srgbClr val="AEBBD0"/>
                </a:solidFill>
              </a:rPr>
              <a:t>A random row split could put strikes from the same timestamp on both sides of the split.</a:t>
            </a:r>
            <a:endParaRPr lang="en-US" sz="1150" dirty="0"/>
          </a:p>
        </p:txBody>
      </p:sp>
      <p:sp>
        <p:nvSpPr>
          <p:cNvPr id="57" name="Shape 54"/>
          <p:cNvSpPr/>
          <p:nvPr/>
        </p:nvSpPr>
        <p:spPr>
          <a:xfrm>
            <a:off x="5669280" y="4754880"/>
            <a:ext cx="5971032" cy="1554480"/>
          </a:xfrm>
          <a:prstGeom prst="roundRect">
            <a:avLst>
              <a:gd name="adj" fmla="val 4706"/>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58" name="Text 55"/>
          <p:cNvSpPr txBox="1"/>
          <p:nvPr/>
        </p:nvSpPr>
        <p:spPr>
          <a:xfrm>
            <a:off x="5852160" y="4892040"/>
            <a:ext cx="557784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SCHEMATIC  ·  COLUMN = TIMESTAMP, SQUARE = STRIKE</a:t>
            </a:r>
            <a:endParaRPr lang="en-US" sz="1000" dirty="0"/>
          </a:p>
        </p:txBody>
      </p:sp>
      <p:sp>
        <p:nvSpPr>
          <p:cNvPr id="59" name="Shape 56"/>
          <p:cNvSpPr/>
          <p:nvPr/>
        </p:nvSpPr>
        <p:spPr>
          <a:xfrm>
            <a:off x="5897880" y="5230368"/>
            <a:ext cx="201168" cy="182880"/>
          </a:xfrm>
          <a:prstGeom prst="rect">
            <a:avLst/>
          </a:prstGeom>
          <a:solidFill>
            <a:schemeClr val="tx2"/>
          </a:solidFill>
          <a:ln/>
        </p:spPr>
      </p:sp>
      <p:sp>
        <p:nvSpPr>
          <p:cNvPr id="60" name="Shape 57"/>
          <p:cNvSpPr/>
          <p:nvPr/>
        </p:nvSpPr>
        <p:spPr>
          <a:xfrm>
            <a:off x="5897880" y="5477256"/>
            <a:ext cx="201168" cy="182880"/>
          </a:xfrm>
          <a:prstGeom prst="rect">
            <a:avLst/>
          </a:prstGeom>
          <a:solidFill>
            <a:schemeClr val="tx2"/>
          </a:solidFill>
          <a:ln/>
        </p:spPr>
      </p:sp>
      <p:sp>
        <p:nvSpPr>
          <p:cNvPr id="61" name="Shape 58"/>
          <p:cNvSpPr/>
          <p:nvPr/>
        </p:nvSpPr>
        <p:spPr>
          <a:xfrm>
            <a:off x="5897880" y="5724144"/>
            <a:ext cx="201168" cy="182880"/>
          </a:xfrm>
          <a:prstGeom prst="rect">
            <a:avLst/>
          </a:prstGeom>
          <a:solidFill>
            <a:schemeClr val="tx2"/>
          </a:solidFill>
          <a:ln/>
        </p:spPr>
      </p:sp>
      <p:sp>
        <p:nvSpPr>
          <p:cNvPr id="62" name="Shape 59"/>
          <p:cNvSpPr/>
          <p:nvPr/>
        </p:nvSpPr>
        <p:spPr>
          <a:xfrm>
            <a:off x="5897880" y="5971032"/>
            <a:ext cx="201168" cy="182880"/>
          </a:xfrm>
          <a:prstGeom prst="rect">
            <a:avLst/>
          </a:prstGeom>
          <a:solidFill>
            <a:schemeClr val="tx2"/>
          </a:solidFill>
          <a:ln/>
        </p:spPr>
      </p:sp>
      <p:sp>
        <p:nvSpPr>
          <p:cNvPr id="63" name="Shape 60"/>
          <p:cNvSpPr/>
          <p:nvPr/>
        </p:nvSpPr>
        <p:spPr>
          <a:xfrm>
            <a:off x="6163056" y="5230368"/>
            <a:ext cx="201168" cy="182880"/>
          </a:xfrm>
          <a:prstGeom prst="rect">
            <a:avLst/>
          </a:prstGeom>
          <a:solidFill>
            <a:schemeClr val="tx2"/>
          </a:solidFill>
          <a:ln/>
        </p:spPr>
      </p:sp>
      <p:sp>
        <p:nvSpPr>
          <p:cNvPr id="64" name="Shape 61"/>
          <p:cNvSpPr/>
          <p:nvPr/>
        </p:nvSpPr>
        <p:spPr>
          <a:xfrm>
            <a:off x="6163056" y="5477256"/>
            <a:ext cx="201168" cy="182880"/>
          </a:xfrm>
          <a:prstGeom prst="rect">
            <a:avLst/>
          </a:prstGeom>
          <a:solidFill>
            <a:schemeClr val="tx2"/>
          </a:solidFill>
          <a:ln/>
        </p:spPr>
      </p:sp>
      <p:sp>
        <p:nvSpPr>
          <p:cNvPr id="65" name="Shape 62"/>
          <p:cNvSpPr/>
          <p:nvPr/>
        </p:nvSpPr>
        <p:spPr>
          <a:xfrm>
            <a:off x="6163056" y="5724144"/>
            <a:ext cx="201168" cy="182880"/>
          </a:xfrm>
          <a:prstGeom prst="rect">
            <a:avLst/>
          </a:prstGeom>
          <a:solidFill>
            <a:schemeClr val="tx2"/>
          </a:solidFill>
          <a:ln/>
        </p:spPr>
      </p:sp>
      <p:sp>
        <p:nvSpPr>
          <p:cNvPr id="66" name="Shape 63"/>
          <p:cNvSpPr/>
          <p:nvPr/>
        </p:nvSpPr>
        <p:spPr>
          <a:xfrm>
            <a:off x="6163056" y="5971032"/>
            <a:ext cx="201168" cy="182880"/>
          </a:xfrm>
          <a:prstGeom prst="rect">
            <a:avLst/>
          </a:prstGeom>
          <a:solidFill>
            <a:schemeClr val="tx2"/>
          </a:solidFill>
          <a:ln/>
        </p:spPr>
      </p:sp>
      <p:sp>
        <p:nvSpPr>
          <p:cNvPr id="67" name="Shape 64"/>
          <p:cNvSpPr/>
          <p:nvPr/>
        </p:nvSpPr>
        <p:spPr>
          <a:xfrm>
            <a:off x="6428232" y="5230368"/>
            <a:ext cx="201168" cy="182880"/>
          </a:xfrm>
          <a:prstGeom prst="rect">
            <a:avLst/>
          </a:prstGeom>
          <a:solidFill>
            <a:schemeClr val="tx2"/>
          </a:solidFill>
          <a:ln/>
        </p:spPr>
      </p:sp>
      <p:sp>
        <p:nvSpPr>
          <p:cNvPr id="68" name="Shape 65"/>
          <p:cNvSpPr/>
          <p:nvPr/>
        </p:nvSpPr>
        <p:spPr>
          <a:xfrm>
            <a:off x="6428232" y="5477256"/>
            <a:ext cx="201168" cy="182880"/>
          </a:xfrm>
          <a:prstGeom prst="rect">
            <a:avLst/>
          </a:prstGeom>
          <a:solidFill>
            <a:schemeClr val="tx2"/>
          </a:solidFill>
          <a:ln/>
        </p:spPr>
      </p:sp>
      <p:sp>
        <p:nvSpPr>
          <p:cNvPr id="69" name="Shape 66"/>
          <p:cNvSpPr/>
          <p:nvPr/>
        </p:nvSpPr>
        <p:spPr>
          <a:xfrm>
            <a:off x="6428232" y="5724144"/>
            <a:ext cx="201168" cy="182880"/>
          </a:xfrm>
          <a:prstGeom prst="rect">
            <a:avLst/>
          </a:prstGeom>
          <a:solidFill>
            <a:schemeClr val="tx2"/>
          </a:solidFill>
          <a:ln/>
        </p:spPr>
      </p:sp>
      <p:sp>
        <p:nvSpPr>
          <p:cNvPr id="70" name="Shape 67"/>
          <p:cNvSpPr/>
          <p:nvPr/>
        </p:nvSpPr>
        <p:spPr>
          <a:xfrm>
            <a:off x="6428232" y="5971032"/>
            <a:ext cx="201168" cy="182880"/>
          </a:xfrm>
          <a:prstGeom prst="rect">
            <a:avLst/>
          </a:prstGeom>
          <a:solidFill>
            <a:schemeClr val="tx2"/>
          </a:solidFill>
          <a:ln/>
        </p:spPr>
      </p:sp>
      <p:sp>
        <p:nvSpPr>
          <p:cNvPr id="71" name="Shape 68"/>
          <p:cNvSpPr/>
          <p:nvPr/>
        </p:nvSpPr>
        <p:spPr>
          <a:xfrm>
            <a:off x="6693408" y="5230368"/>
            <a:ext cx="201168" cy="182880"/>
          </a:xfrm>
          <a:prstGeom prst="rect">
            <a:avLst/>
          </a:prstGeom>
          <a:solidFill>
            <a:schemeClr val="tx2"/>
          </a:solidFill>
          <a:ln/>
        </p:spPr>
      </p:sp>
      <p:sp>
        <p:nvSpPr>
          <p:cNvPr id="72" name="Shape 69"/>
          <p:cNvSpPr/>
          <p:nvPr/>
        </p:nvSpPr>
        <p:spPr>
          <a:xfrm>
            <a:off x="6693408" y="5477256"/>
            <a:ext cx="201168" cy="182880"/>
          </a:xfrm>
          <a:prstGeom prst="rect">
            <a:avLst/>
          </a:prstGeom>
          <a:solidFill>
            <a:schemeClr val="tx2"/>
          </a:solidFill>
          <a:ln/>
        </p:spPr>
      </p:sp>
      <p:sp>
        <p:nvSpPr>
          <p:cNvPr id="73" name="Shape 70"/>
          <p:cNvSpPr/>
          <p:nvPr/>
        </p:nvSpPr>
        <p:spPr>
          <a:xfrm>
            <a:off x="6693408" y="5724144"/>
            <a:ext cx="201168" cy="182880"/>
          </a:xfrm>
          <a:prstGeom prst="rect">
            <a:avLst/>
          </a:prstGeom>
          <a:solidFill>
            <a:schemeClr val="tx2"/>
          </a:solidFill>
          <a:ln/>
        </p:spPr>
      </p:sp>
      <p:sp>
        <p:nvSpPr>
          <p:cNvPr id="74" name="Shape 71"/>
          <p:cNvSpPr/>
          <p:nvPr/>
        </p:nvSpPr>
        <p:spPr>
          <a:xfrm>
            <a:off x="6693408" y="5971032"/>
            <a:ext cx="201168" cy="182880"/>
          </a:xfrm>
          <a:prstGeom prst="rect">
            <a:avLst/>
          </a:prstGeom>
          <a:solidFill>
            <a:schemeClr val="tx2"/>
          </a:solidFill>
          <a:ln/>
        </p:spPr>
      </p:sp>
      <p:sp>
        <p:nvSpPr>
          <p:cNvPr id="75" name="Shape 72"/>
          <p:cNvSpPr/>
          <p:nvPr/>
        </p:nvSpPr>
        <p:spPr>
          <a:xfrm>
            <a:off x="6958584" y="5230368"/>
            <a:ext cx="201168" cy="182880"/>
          </a:xfrm>
          <a:prstGeom prst="rect">
            <a:avLst/>
          </a:prstGeom>
          <a:solidFill>
            <a:schemeClr val="tx2"/>
          </a:solidFill>
          <a:ln/>
        </p:spPr>
      </p:sp>
      <p:sp>
        <p:nvSpPr>
          <p:cNvPr id="76" name="Shape 73"/>
          <p:cNvSpPr/>
          <p:nvPr/>
        </p:nvSpPr>
        <p:spPr>
          <a:xfrm>
            <a:off x="6958584" y="5477256"/>
            <a:ext cx="201168" cy="182880"/>
          </a:xfrm>
          <a:prstGeom prst="rect">
            <a:avLst/>
          </a:prstGeom>
          <a:solidFill>
            <a:schemeClr val="tx2"/>
          </a:solidFill>
          <a:ln/>
        </p:spPr>
      </p:sp>
      <p:sp>
        <p:nvSpPr>
          <p:cNvPr id="77" name="Shape 74"/>
          <p:cNvSpPr/>
          <p:nvPr/>
        </p:nvSpPr>
        <p:spPr>
          <a:xfrm>
            <a:off x="6958584" y="5724144"/>
            <a:ext cx="201168" cy="182880"/>
          </a:xfrm>
          <a:prstGeom prst="rect">
            <a:avLst/>
          </a:prstGeom>
          <a:solidFill>
            <a:schemeClr val="tx2"/>
          </a:solidFill>
          <a:ln/>
        </p:spPr>
      </p:sp>
      <p:sp>
        <p:nvSpPr>
          <p:cNvPr id="78" name="Shape 75"/>
          <p:cNvSpPr/>
          <p:nvPr/>
        </p:nvSpPr>
        <p:spPr>
          <a:xfrm>
            <a:off x="6958584" y="5971032"/>
            <a:ext cx="201168" cy="182880"/>
          </a:xfrm>
          <a:prstGeom prst="rect">
            <a:avLst/>
          </a:prstGeom>
          <a:solidFill>
            <a:schemeClr val="tx2"/>
          </a:solidFill>
          <a:ln/>
        </p:spPr>
      </p:sp>
      <p:sp>
        <p:nvSpPr>
          <p:cNvPr id="79" name="Shape 76"/>
          <p:cNvSpPr/>
          <p:nvPr/>
        </p:nvSpPr>
        <p:spPr>
          <a:xfrm>
            <a:off x="7223760" y="5230368"/>
            <a:ext cx="201168" cy="182880"/>
          </a:xfrm>
          <a:prstGeom prst="rect">
            <a:avLst/>
          </a:prstGeom>
          <a:solidFill>
            <a:schemeClr val="tx2"/>
          </a:solidFill>
          <a:ln/>
        </p:spPr>
      </p:sp>
      <p:sp>
        <p:nvSpPr>
          <p:cNvPr id="80" name="Shape 77"/>
          <p:cNvSpPr/>
          <p:nvPr/>
        </p:nvSpPr>
        <p:spPr>
          <a:xfrm>
            <a:off x="7223760" y="5477256"/>
            <a:ext cx="201168" cy="182880"/>
          </a:xfrm>
          <a:prstGeom prst="rect">
            <a:avLst/>
          </a:prstGeom>
          <a:solidFill>
            <a:schemeClr val="tx2"/>
          </a:solidFill>
          <a:ln/>
        </p:spPr>
      </p:sp>
      <p:sp>
        <p:nvSpPr>
          <p:cNvPr id="81" name="Shape 78"/>
          <p:cNvSpPr/>
          <p:nvPr/>
        </p:nvSpPr>
        <p:spPr>
          <a:xfrm>
            <a:off x="7223760" y="5724144"/>
            <a:ext cx="201168" cy="182880"/>
          </a:xfrm>
          <a:prstGeom prst="rect">
            <a:avLst/>
          </a:prstGeom>
          <a:solidFill>
            <a:schemeClr val="tx2"/>
          </a:solidFill>
          <a:ln/>
        </p:spPr>
      </p:sp>
      <p:sp>
        <p:nvSpPr>
          <p:cNvPr id="82" name="Shape 79"/>
          <p:cNvSpPr/>
          <p:nvPr/>
        </p:nvSpPr>
        <p:spPr>
          <a:xfrm>
            <a:off x="7223760" y="5971032"/>
            <a:ext cx="201168" cy="182880"/>
          </a:xfrm>
          <a:prstGeom prst="rect">
            <a:avLst/>
          </a:prstGeom>
          <a:solidFill>
            <a:schemeClr val="tx2"/>
          </a:solidFill>
          <a:ln/>
        </p:spPr>
      </p:sp>
      <p:sp>
        <p:nvSpPr>
          <p:cNvPr id="83" name="Shape 80"/>
          <p:cNvSpPr/>
          <p:nvPr/>
        </p:nvSpPr>
        <p:spPr>
          <a:xfrm>
            <a:off x="7488936" y="5230368"/>
            <a:ext cx="201168" cy="182880"/>
          </a:xfrm>
          <a:prstGeom prst="rect">
            <a:avLst/>
          </a:prstGeom>
          <a:solidFill>
            <a:schemeClr val="tx2"/>
          </a:solidFill>
          <a:ln/>
        </p:spPr>
      </p:sp>
      <p:sp>
        <p:nvSpPr>
          <p:cNvPr id="84" name="Shape 81"/>
          <p:cNvSpPr/>
          <p:nvPr/>
        </p:nvSpPr>
        <p:spPr>
          <a:xfrm>
            <a:off x="7488936" y="5477256"/>
            <a:ext cx="201168" cy="182880"/>
          </a:xfrm>
          <a:prstGeom prst="rect">
            <a:avLst/>
          </a:prstGeom>
          <a:solidFill>
            <a:schemeClr val="tx2"/>
          </a:solidFill>
          <a:ln/>
        </p:spPr>
      </p:sp>
      <p:sp>
        <p:nvSpPr>
          <p:cNvPr id="85" name="Shape 82"/>
          <p:cNvSpPr/>
          <p:nvPr/>
        </p:nvSpPr>
        <p:spPr>
          <a:xfrm>
            <a:off x="7488936" y="5724144"/>
            <a:ext cx="201168" cy="182880"/>
          </a:xfrm>
          <a:prstGeom prst="rect">
            <a:avLst/>
          </a:prstGeom>
          <a:solidFill>
            <a:schemeClr val="tx2"/>
          </a:solidFill>
          <a:ln/>
        </p:spPr>
      </p:sp>
      <p:sp>
        <p:nvSpPr>
          <p:cNvPr id="86" name="Shape 83"/>
          <p:cNvSpPr/>
          <p:nvPr/>
        </p:nvSpPr>
        <p:spPr>
          <a:xfrm>
            <a:off x="7488936" y="5971032"/>
            <a:ext cx="201168" cy="182880"/>
          </a:xfrm>
          <a:prstGeom prst="rect">
            <a:avLst/>
          </a:prstGeom>
          <a:solidFill>
            <a:schemeClr val="tx2"/>
          </a:solidFill>
          <a:ln/>
        </p:spPr>
      </p:sp>
      <p:sp>
        <p:nvSpPr>
          <p:cNvPr id="87" name="Shape 84"/>
          <p:cNvSpPr/>
          <p:nvPr/>
        </p:nvSpPr>
        <p:spPr>
          <a:xfrm>
            <a:off x="7754112" y="5230368"/>
            <a:ext cx="201168" cy="182880"/>
          </a:xfrm>
          <a:prstGeom prst="rect">
            <a:avLst/>
          </a:prstGeom>
          <a:solidFill>
            <a:schemeClr val="tx2"/>
          </a:solidFill>
          <a:ln/>
        </p:spPr>
      </p:sp>
      <p:sp>
        <p:nvSpPr>
          <p:cNvPr id="88" name="Shape 85"/>
          <p:cNvSpPr/>
          <p:nvPr/>
        </p:nvSpPr>
        <p:spPr>
          <a:xfrm>
            <a:off x="7754112" y="5477256"/>
            <a:ext cx="201168" cy="182880"/>
          </a:xfrm>
          <a:prstGeom prst="rect">
            <a:avLst/>
          </a:prstGeom>
          <a:solidFill>
            <a:schemeClr val="tx2"/>
          </a:solidFill>
          <a:ln/>
        </p:spPr>
      </p:sp>
      <p:sp>
        <p:nvSpPr>
          <p:cNvPr id="89" name="Shape 86"/>
          <p:cNvSpPr/>
          <p:nvPr/>
        </p:nvSpPr>
        <p:spPr>
          <a:xfrm>
            <a:off x="7754112" y="5724144"/>
            <a:ext cx="201168" cy="182880"/>
          </a:xfrm>
          <a:prstGeom prst="rect">
            <a:avLst/>
          </a:prstGeom>
          <a:solidFill>
            <a:schemeClr val="tx2"/>
          </a:solidFill>
          <a:ln/>
        </p:spPr>
      </p:sp>
      <p:sp>
        <p:nvSpPr>
          <p:cNvPr id="90" name="Shape 87"/>
          <p:cNvSpPr/>
          <p:nvPr/>
        </p:nvSpPr>
        <p:spPr>
          <a:xfrm>
            <a:off x="7754112" y="5971032"/>
            <a:ext cx="201168" cy="182880"/>
          </a:xfrm>
          <a:prstGeom prst="rect">
            <a:avLst/>
          </a:prstGeom>
          <a:solidFill>
            <a:schemeClr val="tx2"/>
          </a:solidFill>
          <a:ln/>
        </p:spPr>
      </p:sp>
      <p:sp>
        <p:nvSpPr>
          <p:cNvPr id="91" name="Shape 88"/>
          <p:cNvSpPr/>
          <p:nvPr/>
        </p:nvSpPr>
        <p:spPr>
          <a:xfrm>
            <a:off x="8019288" y="5230368"/>
            <a:ext cx="201168" cy="182880"/>
          </a:xfrm>
          <a:prstGeom prst="rect">
            <a:avLst/>
          </a:prstGeom>
          <a:solidFill>
            <a:schemeClr val="tx2"/>
          </a:solidFill>
          <a:ln/>
        </p:spPr>
      </p:sp>
      <p:sp>
        <p:nvSpPr>
          <p:cNvPr id="92" name="Shape 89"/>
          <p:cNvSpPr/>
          <p:nvPr/>
        </p:nvSpPr>
        <p:spPr>
          <a:xfrm>
            <a:off x="8019288" y="5477256"/>
            <a:ext cx="201168" cy="182880"/>
          </a:xfrm>
          <a:prstGeom prst="rect">
            <a:avLst/>
          </a:prstGeom>
          <a:solidFill>
            <a:schemeClr val="tx2"/>
          </a:solidFill>
          <a:ln/>
        </p:spPr>
      </p:sp>
      <p:sp>
        <p:nvSpPr>
          <p:cNvPr id="93" name="Shape 90"/>
          <p:cNvSpPr/>
          <p:nvPr/>
        </p:nvSpPr>
        <p:spPr>
          <a:xfrm>
            <a:off x="8019288" y="5724144"/>
            <a:ext cx="201168" cy="182880"/>
          </a:xfrm>
          <a:prstGeom prst="rect">
            <a:avLst/>
          </a:prstGeom>
          <a:solidFill>
            <a:schemeClr val="tx2"/>
          </a:solidFill>
          <a:ln/>
        </p:spPr>
      </p:sp>
      <p:sp>
        <p:nvSpPr>
          <p:cNvPr id="94" name="Shape 91"/>
          <p:cNvSpPr/>
          <p:nvPr/>
        </p:nvSpPr>
        <p:spPr>
          <a:xfrm>
            <a:off x="8019288" y="5971032"/>
            <a:ext cx="201168" cy="182880"/>
          </a:xfrm>
          <a:prstGeom prst="rect">
            <a:avLst/>
          </a:prstGeom>
          <a:solidFill>
            <a:schemeClr val="tx2"/>
          </a:solidFill>
          <a:ln/>
        </p:spPr>
      </p:sp>
      <p:sp>
        <p:nvSpPr>
          <p:cNvPr id="95" name="Shape 92"/>
          <p:cNvSpPr/>
          <p:nvPr/>
        </p:nvSpPr>
        <p:spPr>
          <a:xfrm>
            <a:off x="8284464" y="5230368"/>
            <a:ext cx="201168" cy="182880"/>
          </a:xfrm>
          <a:prstGeom prst="rect">
            <a:avLst/>
          </a:prstGeom>
          <a:solidFill>
            <a:schemeClr val="tx2"/>
          </a:solidFill>
          <a:ln/>
        </p:spPr>
      </p:sp>
      <p:sp>
        <p:nvSpPr>
          <p:cNvPr id="96" name="Shape 93"/>
          <p:cNvSpPr/>
          <p:nvPr/>
        </p:nvSpPr>
        <p:spPr>
          <a:xfrm>
            <a:off x="8284464" y="5477256"/>
            <a:ext cx="201168" cy="182880"/>
          </a:xfrm>
          <a:prstGeom prst="rect">
            <a:avLst/>
          </a:prstGeom>
          <a:solidFill>
            <a:schemeClr val="tx2"/>
          </a:solidFill>
          <a:ln/>
        </p:spPr>
      </p:sp>
      <p:sp>
        <p:nvSpPr>
          <p:cNvPr id="97" name="Shape 94"/>
          <p:cNvSpPr/>
          <p:nvPr/>
        </p:nvSpPr>
        <p:spPr>
          <a:xfrm>
            <a:off x="8284464" y="5724144"/>
            <a:ext cx="201168" cy="182880"/>
          </a:xfrm>
          <a:prstGeom prst="rect">
            <a:avLst/>
          </a:prstGeom>
          <a:solidFill>
            <a:schemeClr val="tx2"/>
          </a:solidFill>
          <a:ln/>
        </p:spPr>
      </p:sp>
      <p:sp>
        <p:nvSpPr>
          <p:cNvPr id="98" name="Shape 95"/>
          <p:cNvSpPr/>
          <p:nvPr/>
        </p:nvSpPr>
        <p:spPr>
          <a:xfrm>
            <a:off x="8284464" y="5971032"/>
            <a:ext cx="201168" cy="182880"/>
          </a:xfrm>
          <a:prstGeom prst="rect">
            <a:avLst/>
          </a:prstGeom>
          <a:solidFill>
            <a:schemeClr val="tx2"/>
          </a:solidFill>
          <a:ln/>
        </p:spPr>
      </p:sp>
      <p:sp>
        <p:nvSpPr>
          <p:cNvPr id="99" name="Shape 96"/>
          <p:cNvSpPr/>
          <p:nvPr/>
        </p:nvSpPr>
        <p:spPr>
          <a:xfrm>
            <a:off x="8549640" y="5230368"/>
            <a:ext cx="201168" cy="182880"/>
          </a:xfrm>
          <a:prstGeom prst="rect">
            <a:avLst/>
          </a:prstGeom>
          <a:solidFill>
            <a:schemeClr val="accent1"/>
          </a:solidFill>
          <a:ln/>
        </p:spPr>
      </p:sp>
      <p:sp>
        <p:nvSpPr>
          <p:cNvPr id="100" name="Shape 97"/>
          <p:cNvSpPr/>
          <p:nvPr/>
        </p:nvSpPr>
        <p:spPr>
          <a:xfrm>
            <a:off x="8549640" y="5477256"/>
            <a:ext cx="201168" cy="182880"/>
          </a:xfrm>
          <a:prstGeom prst="rect">
            <a:avLst/>
          </a:prstGeom>
          <a:solidFill>
            <a:schemeClr val="accent1"/>
          </a:solidFill>
          <a:ln/>
        </p:spPr>
      </p:sp>
      <p:sp>
        <p:nvSpPr>
          <p:cNvPr id="101" name="Shape 98"/>
          <p:cNvSpPr/>
          <p:nvPr/>
        </p:nvSpPr>
        <p:spPr>
          <a:xfrm>
            <a:off x="8549640" y="5724144"/>
            <a:ext cx="201168" cy="182880"/>
          </a:xfrm>
          <a:prstGeom prst="rect">
            <a:avLst/>
          </a:prstGeom>
          <a:solidFill>
            <a:schemeClr val="accent1"/>
          </a:solidFill>
          <a:ln/>
        </p:spPr>
      </p:sp>
      <p:sp>
        <p:nvSpPr>
          <p:cNvPr id="102" name="Shape 99"/>
          <p:cNvSpPr/>
          <p:nvPr/>
        </p:nvSpPr>
        <p:spPr>
          <a:xfrm>
            <a:off x="8549640" y="5971032"/>
            <a:ext cx="201168" cy="182880"/>
          </a:xfrm>
          <a:prstGeom prst="rect">
            <a:avLst/>
          </a:prstGeom>
          <a:solidFill>
            <a:schemeClr val="accent1"/>
          </a:solidFill>
          <a:ln/>
        </p:spPr>
      </p:sp>
      <p:sp>
        <p:nvSpPr>
          <p:cNvPr id="103" name="Shape 100"/>
          <p:cNvSpPr/>
          <p:nvPr/>
        </p:nvSpPr>
        <p:spPr>
          <a:xfrm>
            <a:off x="8814816" y="5230368"/>
            <a:ext cx="201168" cy="182880"/>
          </a:xfrm>
          <a:prstGeom prst="rect">
            <a:avLst/>
          </a:prstGeom>
          <a:solidFill>
            <a:schemeClr val="accent1"/>
          </a:solidFill>
          <a:ln/>
        </p:spPr>
      </p:sp>
      <p:sp>
        <p:nvSpPr>
          <p:cNvPr id="104" name="Shape 101"/>
          <p:cNvSpPr/>
          <p:nvPr/>
        </p:nvSpPr>
        <p:spPr>
          <a:xfrm>
            <a:off x="8814816" y="5477256"/>
            <a:ext cx="201168" cy="182880"/>
          </a:xfrm>
          <a:prstGeom prst="rect">
            <a:avLst/>
          </a:prstGeom>
          <a:solidFill>
            <a:schemeClr val="accent1"/>
          </a:solidFill>
          <a:ln/>
        </p:spPr>
      </p:sp>
      <p:sp>
        <p:nvSpPr>
          <p:cNvPr id="105" name="Shape 102"/>
          <p:cNvSpPr/>
          <p:nvPr/>
        </p:nvSpPr>
        <p:spPr>
          <a:xfrm>
            <a:off x="8814816" y="5724144"/>
            <a:ext cx="201168" cy="182880"/>
          </a:xfrm>
          <a:prstGeom prst="rect">
            <a:avLst/>
          </a:prstGeom>
          <a:solidFill>
            <a:schemeClr val="accent1"/>
          </a:solidFill>
          <a:ln/>
        </p:spPr>
      </p:sp>
      <p:sp>
        <p:nvSpPr>
          <p:cNvPr id="106" name="Shape 103"/>
          <p:cNvSpPr/>
          <p:nvPr/>
        </p:nvSpPr>
        <p:spPr>
          <a:xfrm>
            <a:off x="8814816" y="5971032"/>
            <a:ext cx="201168" cy="182880"/>
          </a:xfrm>
          <a:prstGeom prst="rect">
            <a:avLst/>
          </a:prstGeom>
          <a:solidFill>
            <a:schemeClr val="accent1"/>
          </a:solidFill>
          <a:ln/>
        </p:spPr>
      </p:sp>
      <p:sp>
        <p:nvSpPr>
          <p:cNvPr id="107" name="Shape 104"/>
          <p:cNvSpPr/>
          <p:nvPr/>
        </p:nvSpPr>
        <p:spPr>
          <a:xfrm>
            <a:off x="9079992" y="5230368"/>
            <a:ext cx="201168" cy="182880"/>
          </a:xfrm>
          <a:prstGeom prst="rect">
            <a:avLst/>
          </a:prstGeom>
          <a:solidFill>
            <a:schemeClr val="accent1"/>
          </a:solidFill>
          <a:ln/>
        </p:spPr>
      </p:sp>
      <p:sp>
        <p:nvSpPr>
          <p:cNvPr id="108" name="Shape 105"/>
          <p:cNvSpPr/>
          <p:nvPr/>
        </p:nvSpPr>
        <p:spPr>
          <a:xfrm>
            <a:off x="9079992" y="5477256"/>
            <a:ext cx="201168" cy="182880"/>
          </a:xfrm>
          <a:prstGeom prst="rect">
            <a:avLst/>
          </a:prstGeom>
          <a:solidFill>
            <a:schemeClr val="accent1"/>
          </a:solidFill>
          <a:ln/>
        </p:spPr>
      </p:sp>
      <p:sp>
        <p:nvSpPr>
          <p:cNvPr id="109" name="Shape 106"/>
          <p:cNvSpPr/>
          <p:nvPr/>
        </p:nvSpPr>
        <p:spPr>
          <a:xfrm>
            <a:off x="9079992" y="5724144"/>
            <a:ext cx="201168" cy="182880"/>
          </a:xfrm>
          <a:prstGeom prst="rect">
            <a:avLst/>
          </a:prstGeom>
          <a:solidFill>
            <a:schemeClr val="accent1"/>
          </a:solidFill>
          <a:ln/>
        </p:spPr>
      </p:sp>
      <p:sp>
        <p:nvSpPr>
          <p:cNvPr id="110" name="Shape 107"/>
          <p:cNvSpPr/>
          <p:nvPr/>
        </p:nvSpPr>
        <p:spPr>
          <a:xfrm>
            <a:off x="9079992" y="5971032"/>
            <a:ext cx="201168" cy="182880"/>
          </a:xfrm>
          <a:prstGeom prst="rect">
            <a:avLst/>
          </a:prstGeom>
          <a:solidFill>
            <a:schemeClr val="accent1"/>
          </a:solidFill>
          <a:ln/>
        </p:spPr>
      </p:sp>
      <p:sp>
        <p:nvSpPr>
          <p:cNvPr id="111" name="Shape 108"/>
          <p:cNvSpPr/>
          <p:nvPr/>
        </p:nvSpPr>
        <p:spPr>
          <a:xfrm>
            <a:off x="9345168" y="5230368"/>
            <a:ext cx="201168" cy="182880"/>
          </a:xfrm>
          <a:prstGeom prst="rect">
            <a:avLst/>
          </a:prstGeom>
          <a:solidFill>
            <a:schemeClr val="accent1"/>
          </a:solidFill>
          <a:ln/>
        </p:spPr>
      </p:sp>
      <p:sp>
        <p:nvSpPr>
          <p:cNvPr id="112" name="Shape 109"/>
          <p:cNvSpPr/>
          <p:nvPr/>
        </p:nvSpPr>
        <p:spPr>
          <a:xfrm>
            <a:off x="9345168" y="5477256"/>
            <a:ext cx="201168" cy="182880"/>
          </a:xfrm>
          <a:prstGeom prst="rect">
            <a:avLst/>
          </a:prstGeom>
          <a:solidFill>
            <a:schemeClr val="accent1"/>
          </a:solidFill>
          <a:ln/>
        </p:spPr>
      </p:sp>
      <p:sp>
        <p:nvSpPr>
          <p:cNvPr id="113" name="Shape 110"/>
          <p:cNvSpPr/>
          <p:nvPr/>
        </p:nvSpPr>
        <p:spPr>
          <a:xfrm>
            <a:off x="9345168" y="5724144"/>
            <a:ext cx="201168" cy="182880"/>
          </a:xfrm>
          <a:prstGeom prst="rect">
            <a:avLst/>
          </a:prstGeom>
          <a:solidFill>
            <a:schemeClr val="accent1"/>
          </a:solidFill>
          <a:ln/>
        </p:spPr>
      </p:sp>
      <p:sp>
        <p:nvSpPr>
          <p:cNvPr id="114" name="Shape 111"/>
          <p:cNvSpPr/>
          <p:nvPr/>
        </p:nvSpPr>
        <p:spPr>
          <a:xfrm>
            <a:off x="9345168" y="5971032"/>
            <a:ext cx="201168" cy="182880"/>
          </a:xfrm>
          <a:prstGeom prst="rect">
            <a:avLst/>
          </a:prstGeom>
          <a:solidFill>
            <a:schemeClr val="accent1"/>
          </a:solidFill>
          <a:ln/>
        </p:spPr>
      </p:sp>
      <p:sp>
        <p:nvSpPr>
          <p:cNvPr id="115" name="Shape 112"/>
          <p:cNvSpPr/>
          <p:nvPr/>
        </p:nvSpPr>
        <p:spPr>
          <a:xfrm>
            <a:off x="8517636" y="5138928"/>
            <a:ext cx="0" cy="1124712"/>
          </a:xfrm>
          <a:prstGeom prst="line">
            <a:avLst/>
          </a:prstGeom>
          <a:noFill/>
          <a:ln w="19050">
            <a:solidFill>
              <a:schemeClr val="accent3"/>
            </a:solidFill>
            <a:prstDash val="dash"/>
          </a:ln>
        </p:spPr>
      </p:sp>
      <p:sp>
        <p:nvSpPr>
          <p:cNvPr id="116" name="Text 113"/>
          <p:cNvSpPr txBox="1"/>
          <p:nvPr/>
        </p:nvSpPr>
        <p:spPr>
          <a:xfrm>
            <a:off x="9784080" y="5440680"/>
            <a:ext cx="1828800" cy="548640"/>
          </a:xfrm>
          <a:prstGeom prst="rect">
            <a:avLst/>
          </a:prstGeom>
          <a:noFill/>
          <a:ln/>
        </p:spPr>
        <p:txBody>
          <a:bodyPr wrap="square" lIns="0" tIns="0" rIns="0" bIns="0" rtlCol="0" anchor="ctr"/>
          <a:lstStyle/>
          <a:p>
            <a:pPr indent="0" marL="0">
              <a:spcAft>
                <a:spcPts val="400"/>
              </a:spcAft>
              <a:buNone/>
            </a:pPr>
            <a:r>
              <a:rPr lang="en-US" sz="1100" b="1" dirty="0">
                <a:solidFill>
                  <a:schemeClr val="tx2"/>
                </a:solidFill>
              </a:rPr>
              <a:t>Earlier timestamps → training</a:t>
            </a:r>
            <a:endParaRPr lang="en-US" sz="1100" dirty="0"/>
          </a:p>
          <a:p>
            <a:pPr indent="0" marL="0">
              <a:spcAft>
                <a:spcPts val="400"/>
              </a:spcAft>
              <a:buNone/>
            </a:pPr>
            <a:r>
              <a:rPr lang="en-US" sz="1100" b="1" dirty="0">
                <a:solidFill>
                  <a:schemeClr val="accent1"/>
                </a:solidFill>
              </a:rPr>
              <a:t>Later timestamps → holdout</a:t>
            </a:r>
            <a:endParaRPr lang="en-US" sz="110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09  ·  MODEL IMPLEMENTATION AND TECHNICAL SPECIFICATIONS</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Implementation: Random Forest, 39 features, live pipeline</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Model settings, feature design and system architecture</a:t>
            </a:r>
            <a:endParaRPr lang="en-US" sz="1400" dirty="0"/>
          </a:p>
        </p:txBody>
      </p:sp>
      <p:sp>
        <p:nvSpPr>
          <p:cNvPr id="6" name="Shape 3"/>
          <p:cNvSpPr/>
          <p:nvPr/>
        </p:nvSpPr>
        <p:spPr>
          <a:xfrm>
            <a:off x="548640" y="1508760"/>
            <a:ext cx="3383280" cy="2834640"/>
          </a:xfrm>
          <a:prstGeom prst="roundRect">
            <a:avLst>
              <a:gd name="adj" fmla="val 2581"/>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7" name="Text 4"/>
          <p:cNvSpPr txBox="1"/>
          <p:nvPr/>
        </p:nvSpPr>
        <p:spPr>
          <a:xfrm>
            <a:off x="749808" y="1664208"/>
            <a:ext cx="301752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RANDOM FOREST — SELECTED MODEL</a:t>
            </a:r>
            <a:endParaRPr lang="en-US" sz="1000" dirty="0"/>
          </a:p>
        </p:txBody>
      </p:sp>
      <p:sp>
        <p:nvSpPr>
          <p:cNvPr id="8" name="Shape 5"/>
          <p:cNvSpPr/>
          <p:nvPr/>
        </p:nvSpPr>
        <p:spPr>
          <a:xfrm>
            <a:off x="749808" y="1938528"/>
            <a:ext cx="1444752" cy="658368"/>
          </a:xfrm>
          <a:prstGeom prst="rect">
            <a:avLst/>
          </a:prstGeom>
          <a:solidFill>
            <a:schemeClr val="accent1">
              <a:alpha val="10000"/>
            </a:schemeClr>
          </a:solidFill>
          <a:ln w="6350">
            <a:solidFill>
              <a:schemeClr val="accent1">
                <a:alpha val="40000"/>
              </a:schemeClr>
            </a:solidFill>
            <a:prstDash val="solid"/>
          </a:ln>
        </p:spPr>
      </p:sp>
      <p:sp>
        <p:nvSpPr>
          <p:cNvPr id="9" name="Text 6"/>
          <p:cNvSpPr txBox="1"/>
          <p:nvPr/>
        </p:nvSpPr>
        <p:spPr>
          <a:xfrm>
            <a:off x="859536" y="2002536"/>
            <a:ext cx="1280160" cy="182880"/>
          </a:xfrm>
          <a:prstGeom prst="rect">
            <a:avLst/>
          </a:prstGeom>
          <a:noFill/>
          <a:ln/>
        </p:spPr>
        <p:txBody>
          <a:bodyPr wrap="square" lIns="0" tIns="0" rIns="0" bIns="0" rtlCol="0" anchor="t"/>
          <a:lstStyle/>
          <a:p>
            <a:pPr indent="0" marL="0">
              <a:buNone/>
            </a:pPr>
            <a:r>
              <a:rPr lang="en-US" sz="950" b="1" spc="100" kern="0" dirty="0">
                <a:solidFill>
                  <a:schemeClr val="accent4"/>
                </a:solidFill>
              </a:rPr>
              <a:t>TREES</a:t>
            </a:r>
            <a:endParaRPr lang="en-US" sz="950" dirty="0"/>
          </a:p>
        </p:txBody>
      </p:sp>
      <p:sp>
        <p:nvSpPr>
          <p:cNvPr id="10" name="Text 7"/>
          <p:cNvSpPr txBox="1"/>
          <p:nvPr/>
        </p:nvSpPr>
        <p:spPr>
          <a:xfrm>
            <a:off x="859536" y="2185416"/>
            <a:ext cx="1280160" cy="365760"/>
          </a:xfrm>
          <a:prstGeom prst="rect">
            <a:avLst/>
          </a:prstGeom>
          <a:noFill/>
          <a:ln/>
        </p:spPr>
        <p:txBody>
          <a:bodyPr wrap="square" lIns="0" tIns="0" rIns="0" bIns="0" rtlCol="0" anchor="t"/>
          <a:lstStyle/>
          <a:p>
            <a:pPr indent="0" marL="0">
              <a:buNone/>
            </a:pPr>
            <a:r>
              <a:rPr lang="en-US" sz="2200" b="1" dirty="0">
                <a:solidFill>
                  <a:schemeClr val="accent1"/>
                </a:solidFill>
              </a:rPr>
              <a:t>300</a:t>
            </a:r>
            <a:endParaRPr lang="en-US" sz="2200" dirty="0"/>
          </a:p>
        </p:txBody>
      </p:sp>
      <p:sp>
        <p:nvSpPr>
          <p:cNvPr id="11" name="Shape 8"/>
          <p:cNvSpPr/>
          <p:nvPr/>
        </p:nvSpPr>
        <p:spPr>
          <a:xfrm>
            <a:off x="2286000" y="1938528"/>
            <a:ext cx="1444752" cy="658368"/>
          </a:xfrm>
          <a:prstGeom prst="rect">
            <a:avLst/>
          </a:prstGeom>
          <a:solidFill>
            <a:schemeClr val="accent1">
              <a:alpha val="10000"/>
            </a:schemeClr>
          </a:solidFill>
          <a:ln w="6350">
            <a:solidFill>
              <a:schemeClr val="accent1">
                <a:alpha val="40000"/>
              </a:schemeClr>
            </a:solidFill>
            <a:prstDash val="solid"/>
          </a:ln>
        </p:spPr>
      </p:sp>
      <p:sp>
        <p:nvSpPr>
          <p:cNvPr id="12" name="Text 9"/>
          <p:cNvSpPr txBox="1"/>
          <p:nvPr/>
        </p:nvSpPr>
        <p:spPr>
          <a:xfrm>
            <a:off x="2395728" y="2002536"/>
            <a:ext cx="1280160" cy="182880"/>
          </a:xfrm>
          <a:prstGeom prst="rect">
            <a:avLst/>
          </a:prstGeom>
          <a:noFill/>
          <a:ln/>
        </p:spPr>
        <p:txBody>
          <a:bodyPr wrap="square" lIns="0" tIns="0" rIns="0" bIns="0" rtlCol="0" anchor="t"/>
          <a:lstStyle/>
          <a:p>
            <a:pPr indent="0" marL="0">
              <a:buNone/>
            </a:pPr>
            <a:r>
              <a:rPr lang="en-US" sz="950" b="1" spc="100" kern="0" dirty="0">
                <a:solidFill>
                  <a:schemeClr val="accent4"/>
                </a:solidFill>
              </a:rPr>
              <a:t>MAX DEPTH</a:t>
            </a:r>
            <a:endParaRPr lang="en-US" sz="950" dirty="0"/>
          </a:p>
        </p:txBody>
      </p:sp>
      <p:sp>
        <p:nvSpPr>
          <p:cNvPr id="13" name="Text 10"/>
          <p:cNvSpPr txBox="1"/>
          <p:nvPr/>
        </p:nvSpPr>
        <p:spPr>
          <a:xfrm>
            <a:off x="2395728" y="2185416"/>
            <a:ext cx="1280160" cy="365760"/>
          </a:xfrm>
          <a:prstGeom prst="rect">
            <a:avLst/>
          </a:prstGeom>
          <a:noFill/>
          <a:ln/>
        </p:spPr>
        <p:txBody>
          <a:bodyPr wrap="square" lIns="0" tIns="0" rIns="0" bIns="0" rtlCol="0" anchor="t"/>
          <a:lstStyle/>
          <a:p>
            <a:pPr indent="0" marL="0">
              <a:buNone/>
            </a:pPr>
            <a:r>
              <a:rPr lang="en-US" sz="2200" b="1" dirty="0">
                <a:solidFill>
                  <a:schemeClr val="accent1"/>
                </a:solidFill>
              </a:rPr>
              <a:t>12</a:t>
            </a:r>
            <a:endParaRPr lang="en-US" sz="2200" dirty="0"/>
          </a:p>
        </p:txBody>
      </p:sp>
      <p:sp>
        <p:nvSpPr>
          <p:cNvPr id="14" name="Shape 11"/>
          <p:cNvSpPr/>
          <p:nvPr/>
        </p:nvSpPr>
        <p:spPr>
          <a:xfrm>
            <a:off x="749808" y="2688336"/>
            <a:ext cx="1444752" cy="658368"/>
          </a:xfrm>
          <a:prstGeom prst="rect">
            <a:avLst/>
          </a:prstGeom>
          <a:solidFill>
            <a:schemeClr val="accent1">
              <a:alpha val="10000"/>
            </a:schemeClr>
          </a:solidFill>
          <a:ln w="6350">
            <a:solidFill>
              <a:schemeClr val="accent1">
                <a:alpha val="40000"/>
              </a:schemeClr>
            </a:solidFill>
            <a:prstDash val="solid"/>
          </a:ln>
        </p:spPr>
      </p:sp>
      <p:sp>
        <p:nvSpPr>
          <p:cNvPr id="15" name="Text 12"/>
          <p:cNvSpPr txBox="1"/>
          <p:nvPr/>
        </p:nvSpPr>
        <p:spPr>
          <a:xfrm>
            <a:off x="859536" y="2752344"/>
            <a:ext cx="1280160" cy="182880"/>
          </a:xfrm>
          <a:prstGeom prst="rect">
            <a:avLst/>
          </a:prstGeom>
          <a:noFill/>
          <a:ln/>
        </p:spPr>
        <p:txBody>
          <a:bodyPr wrap="square" lIns="0" tIns="0" rIns="0" bIns="0" rtlCol="0" anchor="t"/>
          <a:lstStyle/>
          <a:p>
            <a:pPr indent="0" marL="0">
              <a:buNone/>
            </a:pPr>
            <a:r>
              <a:rPr lang="en-US" sz="950" b="1" spc="100" kern="0" dirty="0">
                <a:solidFill>
                  <a:schemeClr val="accent4"/>
                </a:solidFill>
              </a:rPr>
              <a:t>MIN LEAF</a:t>
            </a:r>
            <a:endParaRPr lang="en-US" sz="950" dirty="0"/>
          </a:p>
        </p:txBody>
      </p:sp>
      <p:sp>
        <p:nvSpPr>
          <p:cNvPr id="16" name="Text 13"/>
          <p:cNvSpPr txBox="1"/>
          <p:nvPr/>
        </p:nvSpPr>
        <p:spPr>
          <a:xfrm>
            <a:off x="859536" y="2935224"/>
            <a:ext cx="1280160" cy="365760"/>
          </a:xfrm>
          <a:prstGeom prst="rect">
            <a:avLst/>
          </a:prstGeom>
          <a:noFill/>
          <a:ln/>
        </p:spPr>
        <p:txBody>
          <a:bodyPr wrap="square" lIns="0" tIns="0" rIns="0" bIns="0" rtlCol="0" anchor="t"/>
          <a:lstStyle/>
          <a:p>
            <a:pPr indent="0" marL="0">
              <a:buNone/>
            </a:pPr>
            <a:r>
              <a:rPr lang="en-US" sz="2200" b="1" dirty="0">
                <a:solidFill>
                  <a:schemeClr val="accent1"/>
                </a:solidFill>
              </a:rPr>
              <a:t>3</a:t>
            </a:r>
            <a:endParaRPr lang="en-US" sz="2200" dirty="0"/>
          </a:p>
        </p:txBody>
      </p:sp>
      <p:sp>
        <p:nvSpPr>
          <p:cNvPr id="17" name="Shape 14"/>
          <p:cNvSpPr/>
          <p:nvPr/>
        </p:nvSpPr>
        <p:spPr>
          <a:xfrm>
            <a:off x="2286000" y="2688336"/>
            <a:ext cx="1444752" cy="658368"/>
          </a:xfrm>
          <a:prstGeom prst="rect">
            <a:avLst/>
          </a:prstGeom>
          <a:solidFill>
            <a:schemeClr val="accent1">
              <a:alpha val="10000"/>
            </a:schemeClr>
          </a:solidFill>
          <a:ln w="6350">
            <a:solidFill>
              <a:schemeClr val="accent1">
                <a:alpha val="40000"/>
              </a:schemeClr>
            </a:solidFill>
            <a:prstDash val="solid"/>
          </a:ln>
        </p:spPr>
      </p:sp>
      <p:sp>
        <p:nvSpPr>
          <p:cNvPr id="18" name="Text 15"/>
          <p:cNvSpPr txBox="1"/>
          <p:nvPr/>
        </p:nvSpPr>
        <p:spPr>
          <a:xfrm>
            <a:off x="2395728" y="2752344"/>
            <a:ext cx="1280160" cy="182880"/>
          </a:xfrm>
          <a:prstGeom prst="rect">
            <a:avLst/>
          </a:prstGeom>
          <a:noFill/>
          <a:ln/>
        </p:spPr>
        <p:txBody>
          <a:bodyPr wrap="square" lIns="0" tIns="0" rIns="0" bIns="0" rtlCol="0" anchor="t"/>
          <a:lstStyle/>
          <a:p>
            <a:pPr indent="0" marL="0">
              <a:buNone/>
            </a:pPr>
            <a:r>
              <a:rPr lang="en-US" sz="950" b="1" spc="100" kern="0" dirty="0">
                <a:solidFill>
                  <a:schemeClr val="accent4"/>
                </a:solidFill>
              </a:rPr>
              <a:t>MAX FEATURES</a:t>
            </a:r>
            <a:endParaRPr lang="en-US" sz="950" dirty="0"/>
          </a:p>
        </p:txBody>
      </p:sp>
      <p:sp>
        <p:nvSpPr>
          <p:cNvPr id="19" name="Text 16"/>
          <p:cNvSpPr txBox="1"/>
          <p:nvPr/>
        </p:nvSpPr>
        <p:spPr>
          <a:xfrm>
            <a:off x="2395728" y="2935224"/>
            <a:ext cx="1280160" cy="365760"/>
          </a:xfrm>
          <a:prstGeom prst="rect">
            <a:avLst/>
          </a:prstGeom>
          <a:noFill/>
          <a:ln/>
        </p:spPr>
        <p:txBody>
          <a:bodyPr wrap="square" lIns="0" tIns="0" rIns="0" bIns="0" rtlCol="0" anchor="t"/>
          <a:lstStyle/>
          <a:p>
            <a:pPr indent="0" marL="0">
              <a:buNone/>
            </a:pPr>
            <a:r>
              <a:rPr lang="en-US" sz="2200" b="1" dirty="0">
                <a:solidFill>
                  <a:schemeClr val="accent1"/>
                </a:solidFill>
              </a:rPr>
              <a:t>sqrt</a:t>
            </a:r>
            <a:endParaRPr lang="en-US" sz="2200" dirty="0"/>
          </a:p>
        </p:txBody>
      </p:sp>
      <p:sp>
        <p:nvSpPr>
          <p:cNvPr id="20" name="Text 17"/>
          <p:cNvSpPr txBox="1"/>
          <p:nvPr/>
        </p:nvSpPr>
        <p:spPr>
          <a:xfrm>
            <a:off x="749808" y="3493008"/>
            <a:ext cx="3017520" cy="274320"/>
          </a:xfrm>
          <a:prstGeom prst="rect">
            <a:avLst/>
          </a:prstGeom>
          <a:noFill/>
          <a:ln/>
        </p:spPr>
        <p:txBody>
          <a:bodyPr wrap="square" lIns="0" tIns="0" rIns="0" bIns="0" rtlCol="0" anchor="t"/>
          <a:lstStyle/>
          <a:p>
            <a:pPr indent="0" marL="0">
              <a:buNone/>
            </a:pPr>
            <a:r>
              <a:rPr lang="en-US" sz="1500" b="1" dirty="0">
                <a:solidFill>
                  <a:schemeClr val="accent4"/>
                </a:solidFill>
              </a:rPr>
              <a:t>Target  </a:t>
            </a:r>
            <a:pPr indent="0" marL="0">
              <a:buNone/>
            </a:pPr>
            <a:r>
              <a:rPr lang="en-US" sz="1500" b="1" dirty="0">
                <a:solidFill>
                  <a:schemeClr val="tx1"/>
                </a:solidFill>
                <a:latin typeface="Cambria" pitchFamily="34" charset="0"/>
                <a:ea typeface="Cambria" pitchFamily="34" charset="-122"/>
                <a:cs typeface="Cambria" pitchFamily="34" charset="-120"/>
              </a:rPr>
              <a:t>ΔIV</a:t>
            </a:r>
            <a:pPr indent="0" marL="0">
              <a:buNone/>
            </a:pPr>
            <a:r>
              <a:rPr lang="en-US" sz="1500" b="1" baseline="-40000" dirty="0">
                <a:solidFill>
                  <a:schemeClr val="tx1"/>
                </a:solidFill>
                <a:latin typeface="Cambria" pitchFamily="34" charset="0"/>
                <a:ea typeface="Cambria" pitchFamily="34" charset="-122"/>
                <a:cs typeface="Cambria" pitchFamily="34" charset="-120"/>
              </a:rPr>
              <a:t>t+5</a:t>
            </a:r>
            <a:endParaRPr lang="en-US" sz="1500" dirty="0"/>
          </a:p>
        </p:txBody>
      </p:sp>
      <p:sp>
        <p:nvSpPr>
          <p:cNvPr id="21" name="Text 18"/>
          <p:cNvSpPr txBox="1"/>
          <p:nvPr/>
        </p:nvSpPr>
        <p:spPr>
          <a:xfrm>
            <a:off x="749808" y="3767328"/>
            <a:ext cx="3063240" cy="548640"/>
          </a:xfrm>
          <a:prstGeom prst="rect">
            <a:avLst/>
          </a:prstGeom>
          <a:noFill/>
          <a:ln/>
        </p:spPr>
        <p:txBody>
          <a:bodyPr wrap="square" lIns="0" tIns="0" rIns="0" bIns="0" rtlCol="0" anchor="t"/>
          <a:lstStyle/>
          <a:p>
            <a:pPr indent="0" marL="0">
              <a:buNone/>
            </a:pPr>
            <a:r>
              <a:rPr lang="en-US" sz="1150" b="1" dirty="0">
                <a:solidFill>
                  <a:schemeClr val="accent1"/>
                </a:solidFill>
              </a:rPr>
              <a:t>Why RF? </a:t>
            </a:r>
            <a:pPr indent="0" marL="0">
              <a:buNone/>
            </a:pPr>
            <a:r>
              <a:rPr lang="en-US" sz="1150" dirty="0">
                <a:solidFill>
                  <a:schemeClr val="tx1"/>
                </a:solidFill>
              </a:rPr>
              <a:t>Nonlinear tree ensemble suitable for interactions among IV, moneyness, liquidity and recent market movement.</a:t>
            </a:r>
            <a:endParaRPr lang="en-US" sz="1150" dirty="0"/>
          </a:p>
        </p:txBody>
      </p:sp>
      <p:sp>
        <p:nvSpPr>
          <p:cNvPr id="22" name="Shape 19"/>
          <p:cNvSpPr/>
          <p:nvPr/>
        </p:nvSpPr>
        <p:spPr>
          <a:xfrm>
            <a:off x="4114800" y="1508760"/>
            <a:ext cx="3749040" cy="2834640"/>
          </a:xfrm>
          <a:prstGeom prst="roundRect">
            <a:avLst>
              <a:gd name="adj" fmla="val 2581"/>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3" name="Text 20"/>
          <p:cNvSpPr txBox="1"/>
          <p:nvPr/>
        </p:nvSpPr>
        <p:spPr>
          <a:xfrm>
            <a:off x="4315968" y="1664208"/>
            <a:ext cx="32004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FEATURE SET</a:t>
            </a:r>
            <a:endParaRPr lang="en-US" sz="1000" dirty="0"/>
          </a:p>
        </p:txBody>
      </p:sp>
      <p:sp>
        <p:nvSpPr>
          <p:cNvPr id="24" name="Text 21"/>
          <p:cNvSpPr txBox="1"/>
          <p:nvPr/>
        </p:nvSpPr>
        <p:spPr>
          <a:xfrm>
            <a:off x="4315968" y="1901952"/>
            <a:ext cx="3291840" cy="365760"/>
          </a:xfrm>
          <a:prstGeom prst="rect">
            <a:avLst/>
          </a:prstGeom>
          <a:noFill/>
          <a:ln/>
        </p:spPr>
        <p:txBody>
          <a:bodyPr wrap="square" lIns="0" tIns="0" rIns="0" bIns="0" rtlCol="0" anchor="t"/>
          <a:lstStyle/>
          <a:p>
            <a:pPr indent="0" marL="0">
              <a:buNone/>
            </a:pPr>
            <a:r>
              <a:rPr lang="en-US" sz="2200" b="1" dirty="0">
                <a:solidFill>
                  <a:schemeClr val="tx1"/>
                </a:solidFill>
              </a:rPr>
              <a:t>39 features</a:t>
            </a:r>
            <a:endParaRPr lang="en-US" sz="2200" dirty="0"/>
          </a:p>
        </p:txBody>
      </p:sp>
      <p:sp>
        <p:nvSpPr>
          <p:cNvPr id="25" name="Shape 22"/>
          <p:cNvSpPr/>
          <p:nvPr/>
        </p:nvSpPr>
        <p:spPr>
          <a:xfrm>
            <a:off x="4315968" y="2359152"/>
            <a:ext cx="1287194" cy="457200"/>
          </a:xfrm>
          <a:prstGeom prst="rect">
            <a:avLst/>
          </a:prstGeom>
          <a:solidFill>
            <a:schemeClr val="accent1"/>
          </a:solidFill>
          <a:ln/>
        </p:spPr>
      </p:sp>
      <p:sp>
        <p:nvSpPr>
          <p:cNvPr id="26" name="Shape 23"/>
          <p:cNvSpPr/>
          <p:nvPr/>
        </p:nvSpPr>
        <p:spPr>
          <a:xfrm>
            <a:off x="5603162" y="2359152"/>
            <a:ext cx="2059510" cy="457200"/>
          </a:xfrm>
          <a:prstGeom prst="rect">
            <a:avLst/>
          </a:prstGeom>
          <a:solidFill>
            <a:schemeClr val="tx2"/>
          </a:solidFill>
          <a:ln/>
        </p:spPr>
      </p:sp>
      <p:sp>
        <p:nvSpPr>
          <p:cNvPr id="27" name="Text 24"/>
          <p:cNvSpPr txBox="1"/>
          <p:nvPr/>
        </p:nvSpPr>
        <p:spPr>
          <a:xfrm>
            <a:off x="4315968" y="2359152"/>
            <a:ext cx="1287194" cy="457200"/>
          </a:xfrm>
          <a:prstGeom prst="rect">
            <a:avLst/>
          </a:prstGeom>
          <a:noFill/>
          <a:ln/>
        </p:spPr>
        <p:txBody>
          <a:bodyPr wrap="square" lIns="0" tIns="0" rIns="0" bIns="0" rtlCol="0" anchor="ctr"/>
          <a:lstStyle/>
          <a:p>
            <a:pPr algn="ctr" indent="0" marL="0">
              <a:buNone/>
            </a:pPr>
            <a:r>
              <a:rPr lang="en-US" sz="1200" b="1" dirty="0">
                <a:solidFill>
                  <a:schemeClr val="bg1"/>
                </a:solidFill>
              </a:rPr>
              <a:t>15 current</a:t>
            </a:r>
            <a:endParaRPr lang="en-US" sz="1200" dirty="0"/>
          </a:p>
        </p:txBody>
      </p:sp>
      <p:sp>
        <p:nvSpPr>
          <p:cNvPr id="28" name="Text 25"/>
          <p:cNvSpPr txBox="1"/>
          <p:nvPr/>
        </p:nvSpPr>
        <p:spPr>
          <a:xfrm>
            <a:off x="5603162" y="2359152"/>
            <a:ext cx="2059510" cy="457200"/>
          </a:xfrm>
          <a:prstGeom prst="rect">
            <a:avLst/>
          </a:prstGeom>
          <a:noFill/>
          <a:ln/>
        </p:spPr>
        <p:txBody>
          <a:bodyPr wrap="square" lIns="0" tIns="0" rIns="0" bIns="0" rtlCol="0" anchor="ctr"/>
          <a:lstStyle/>
          <a:p>
            <a:pPr algn="ctr" indent="0" marL="0">
              <a:buNone/>
            </a:pPr>
            <a:r>
              <a:rPr lang="en-US" sz="1200" b="1" dirty="0">
                <a:solidFill>
                  <a:schemeClr val="bg1"/>
                </a:solidFill>
              </a:rPr>
              <a:t>24 lag / momentum</a:t>
            </a:r>
            <a:endParaRPr lang="en-US" sz="1200" dirty="0"/>
          </a:p>
        </p:txBody>
      </p:sp>
      <p:sp>
        <p:nvSpPr>
          <p:cNvPr id="29" name="Text 26"/>
          <p:cNvSpPr txBox="1"/>
          <p:nvPr/>
        </p:nvSpPr>
        <p:spPr>
          <a:xfrm>
            <a:off x="4315968" y="2880360"/>
            <a:ext cx="3383280" cy="201168"/>
          </a:xfrm>
          <a:prstGeom prst="rect">
            <a:avLst/>
          </a:prstGeom>
          <a:noFill/>
          <a:ln/>
        </p:spPr>
        <p:txBody>
          <a:bodyPr wrap="square" lIns="0" tIns="0" rIns="0" bIns="0" rtlCol="0" anchor="t"/>
          <a:lstStyle/>
          <a:p>
            <a:pPr indent="0" marL="0">
              <a:buNone/>
            </a:pPr>
            <a:r>
              <a:rPr lang="en-US" sz="1150" b="1" dirty="0">
                <a:solidFill>
                  <a:schemeClr val="accent1"/>
                </a:solidFill>
              </a:rPr>
              <a:t>Current: </a:t>
            </a:r>
            <a:pPr indent="0" marL="0">
              <a:buNone/>
            </a:pPr>
            <a:r>
              <a:rPr lang="en-US" sz="1150" dirty="0">
                <a:solidFill>
                  <a:schemeClr val="tx1"/>
                </a:solidFill>
              </a:rPr>
              <a:t>IV, spot, strike…</a:t>
            </a:r>
            <a:endParaRPr lang="en-US" sz="1150" dirty="0"/>
          </a:p>
        </p:txBody>
      </p:sp>
      <p:sp>
        <p:nvSpPr>
          <p:cNvPr id="30" name="Text 27"/>
          <p:cNvSpPr txBox="1"/>
          <p:nvPr/>
        </p:nvSpPr>
        <p:spPr>
          <a:xfrm>
            <a:off x="4315968" y="3108960"/>
            <a:ext cx="3383280" cy="201168"/>
          </a:xfrm>
          <a:prstGeom prst="rect">
            <a:avLst/>
          </a:prstGeom>
          <a:noFill/>
          <a:ln/>
        </p:spPr>
        <p:txBody>
          <a:bodyPr wrap="square" lIns="0" tIns="0" rIns="0" bIns="0" rtlCol="0" anchor="t"/>
          <a:lstStyle/>
          <a:p>
            <a:pPr indent="0" marL="0">
              <a:buNone/>
            </a:pPr>
            <a:r>
              <a:rPr lang="en-US" sz="1150" b="1" dirty="0">
                <a:solidFill>
                  <a:schemeClr val="tx2"/>
                </a:solidFill>
              </a:rPr>
              <a:t>Lag / momentum: </a:t>
            </a:r>
            <a:pPr indent="0" marL="0">
              <a:buNone/>
            </a:pPr>
            <a:r>
              <a:rPr lang="en-US" sz="1150" dirty="0">
                <a:solidFill>
                  <a:schemeClr val="tx1"/>
                </a:solidFill>
              </a:rPr>
              <a:t>5m &amp; 10m</a:t>
            </a:r>
            <a:endParaRPr lang="en-US" sz="1150" dirty="0"/>
          </a:p>
        </p:txBody>
      </p:sp>
      <p:sp>
        <p:nvSpPr>
          <p:cNvPr id="31" name="Text 28"/>
          <p:cNvSpPr txBox="1"/>
          <p:nvPr/>
        </p:nvSpPr>
        <p:spPr>
          <a:xfrm>
            <a:off x="4315968" y="3383280"/>
            <a:ext cx="3383280" cy="384048"/>
          </a:xfrm>
          <a:prstGeom prst="rect">
            <a:avLst/>
          </a:prstGeom>
          <a:noFill/>
          <a:ln/>
        </p:spPr>
        <p:txBody>
          <a:bodyPr wrap="square" lIns="0" tIns="0" rIns="0" bIns="0" rtlCol="0" anchor="t"/>
          <a:lstStyle/>
          <a:p>
            <a:pPr indent="0" marL="0">
              <a:buNone/>
            </a:pPr>
            <a:r>
              <a:rPr lang="en-US" sz="1150" b="1" dirty="0">
                <a:solidFill>
                  <a:schemeClr val="tx1"/>
                </a:solidFill>
              </a:rPr>
              <a:t>Lagged variables: </a:t>
            </a:r>
            <a:pPr indent="0" marL="0">
              <a:buNone/>
            </a:pPr>
            <a:r>
              <a:rPr lang="en-US" sz="1150" dirty="0">
                <a:solidFill>
                  <a:schemeClr val="tx1"/>
                </a:solidFill>
              </a:rPr>
              <a:t>IV, spot, LTP, volume, OI, bid-ask spread</a:t>
            </a:r>
            <a:endParaRPr lang="en-US" sz="1150" dirty="0"/>
          </a:p>
        </p:txBody>
      </p:sp>
      <p:sp>
        <p:nvSpPr>
          <p:cNvPr id="32" name="Text 29"/>
          <p:cNvSpPr txBox="1"/>
          <p:nvPr/>
        </p:nvSpPr>
        <p:spPr>
          <a:xfrm>
            <a:off x="4315968" y="3840480"/>
            <a:ext cx="3383280" cy="457200"/>
          </a:xfrm>
          <a:prstGeom prst="rect">
            <a:avLst/>
          </a:prstGeom>
          <a:noFill/>
          <a:ln/>
        </p:spPr>
        <p:txBody>
          <a:bodyPr wrap="square" lIns="0" tIns="0" rIns="0" bIns="0" rtlCol="0" anchor="t"/>
          <a:lstStyle/>
          <a:p>
            <a:pPr indent="0" marL="0">
              <a:buNone/>
            </a:pPr>
            <a:r>
              <a:rPr lang="en-US" sz="1150" b="1" dirty="0">
                <a:solidFill>
                  <a:schemeClr val="tx1"/>
                </a:solidFill>
              </a:rPr>
              <a:t>Exact time-to-expiry: </a:t>
            </a:r>
            <a:pPr indent="0" marL="0">
              <a:buNone/>
            </a:pPr>
            <a:r>
              <a:rPr lang="en-US" sz="1150" dirty="0">
                <a:solidFill>
                  <a:schemeClr val="tx1"/>
                </a:solidFill>
              </a:rPr>
              <a:t>engineered later for expiry-day analysis and option-pricing stress tests.</a:t>
            </a:r>
            <a:endParaRPr lang="en-US" sz="1150" dirty="0"/>
          </a:p>
        </p:txBody>
      </p:sp>
      <p:sp>
        <p:nvSpPr>
          <p:cNvPr id="33" name="Shape 30"/>
          <p:cNvSpPr/>
          <p:nvPr/>
        </p:nvSpPr>
        <p:spPr>
          <a:xfrm>
            <a:off x="8046720" y="1508760"/>
            <a:ext cx="3593592" cy="2834640"/>
          </a:xfrm>
          <a:prstGeom prst="roundRect">
            <a:avLst>
              <a:gd name="adj" fmla="val 2581"/>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4" name="Text 31"/>
          <p:cNvSpPr txBox="1"/>
          <p:nvPr/>
        </p:nvSpPr>
        <p:spPr>
          <a:xfrm>
            <a:off x="8247888" y="1664208"/>
            <a:ext cx="32004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ADDITIONAL IMPLEMENTATION</a:t>
            </a:r>
            <a:endParaRPr lang="en-US" sz="1000" dirty="0"/>
          </a:p>
        </p:txBody>
      </p:sp>
      <p:sp>
        <p:nvSpPr>
          <p:cNvPr id="35" name="Text 32"/>
          <p:cNvSpPr txBox="1"/>
          <p:nvPr/>
        </p:nvSpPr>
        <p:spPr>
          <a:xfrm>
            <a:off x="8247888" y="1938528"/>
            <a:ext cx="3246120" cy="2377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XGBoost regression used as a nonlinear benchmark.</a:t>
            </a:r>
            <a:endParaRPr lang="en-US" sz="1200" dirty="0"/>
          </a:p>
          <a:p>
            <a:pPr marL="342900" indent="-342900">
              <a:spcAft>
                <a:spcPts val="500"/>
              </a:spcAft>
              <a:buSzPct val="100000"/>
              <a:buChar char="•"/>
            </a:pPr>
            <a:r>
              <a:rPr lang="en-US" sz="1200" dirty="0">
                <a:solidFill>
                  <a:schemeClr val="tx1"/>
                </a:solidFill>
              </a:rPr>
              <a:t>Experimental 3-class direction classifier tested for probabilities.</a:t>
            </a:r>
            <a:endParaRPr lang="en-US" sz="1200" dirty="0"/>
          </a:p>
          <a:p>
            <a:pPr marL="342900" indent="-342900">
              <a:spcAft>
                <a:spcPts val="500"/>
              </a:spcAft>
              <a:buSzPct val="100000"/>
              <a:buChar char="•"/>
            </a:pPr>
            <a:r>
              <a:rPr lang="en-US" sz="1200" dirty="0">
                <a:solidFill>
                  <a:schemeClr val="tx1"/>
                </a:solidFill>
              </a:rPr>
              <a:t>Black-Scholes stress testing used a 6% annual risk-free-rate assumption.</a:t>
            </a:r>
            <a:endParaRPr lang="en-US" sz="1200" dirty="0"/>
          </a:p>
          <a:p>
            <a:pPr marL="342900" indent="-342900">
              <a:spcAft>
                <a:spcPts val="500"/>
              </a:spcAft>
              <a:buSzPct val="100000"/>
              <a:buChar char="•"/>
            </a:pPr>
            <a:r>
              <a:rPr lang="en-US" sz="1200" dirty="0">
                <a:solidFill>
                  <a:schemeClr val="tx1"/>
                </a:solidFill>
              </a:rPr>
              <a:t>Saved model + feature list + training medians exported with joblib.</a:t>
            </a:r>
            <a:endParaRPr lang="en-US" sz="1200" dirty="0"/>
          </a:p>
          <a:p>
            <a:pPr marL="342900" indent="-342900">
              <a:spcAft>
                <a:spcPts val="500"/>
              </a:spcAft>
              <a:buSzPct val="100000"/>
              <a:buChar char="•"/>
            </a:pPr>
            <a:r>
              <a:rPr lang="en-US" sz="1200" dirty="0">
                <a:solidFill>
                  <a:schemeClr val="tx1"/>
                </a:solidFill>
              </a:rPr>
              <a:t>Upstox API connection and automatic 5-minute collection loop implemented.</a:t>
            </a:r>
            <a:endParaRPr lang="en-US" sz="1200" dirty="0"/>
          </a:p>
        </p:txBody>
      </p:sp>
      <p:sp>
        <p:nvSpPr>
          <p:cNvPr id="36" name="Text 33"/>
          <p:cNvSpPr txBox="1"/>
          <p:nvPr/>
        </p:nvSpPr>
        <p:spPr>
          <a:xfrm>
            <a:off x="548640" y="4526280"/>
            <a:ext cx="73152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SYSTEM ARCHITECTURE: LIVE DATA → MODEL → DASHBOARD</a:t>
            </a:r>
            <a:endParaRPr lang="en-US" sz="1000" dirty="0"/>
          </a:p>
        </p:txBody>
      </p:sp>
      <p:sp>
        <p:nvSpPr>
          <p:cNvPr id="37" name="Shape 34"/>
          <p:cNvSpPr/>
          <p:nvPr/>
        </p:nvSpPr>
        <p:spPr>
          <a:xfrm>
            <a:off x="548640" y="4828032"/>
            <a:ext cx="2011680" cy="1005840"/>
          </a:xfrm>
          <a:prstGeom prst="roundRect">
            <a:avLst>
              <a:gd name="adj" fmla="val 7273"/>
            </a:avLst>
          </a:prstGeom>
          <a:solidFill>
            <a:schemeClr val="tx2"/>
          </a:solidFill>
          <a:ln w="9525">
            <a:solidFill>
              <a:schemeClr val="accent6">
                <a:alpha val="30000"/>
              </a:schemeClr>
            </a:solidFill>
            <a:prstDash val="solid"/>
          </a:ln>
        </p:spPr>
      </p:sp>
      <p:sp>
        <p:nvSpPr>
          <p:cNvPr id="38" name="Text 35"/>
          <p:cNvSpPr txBox="1"/>
          <p:nvPr/>
        </p:nvSpPr>
        <p:spPr>
          <a:xfrm>
            <a:off x="685800" y="4919472"/>
            <a:ext cx="1783080" cy="274320"/>
          </a:xfrm>
          <a:prstGeom prst="rect">
            <a:avLst/>
          </a:prstGeom>
          <a:noFill/>
          <a:ln/>
        </p:spPr>
        <p:txBody>
          <a:bodyPr wrap="square" lIns="0" tIns="0" rIns="0" bIns="0" rtlCol="0" anchor="t"/>
          <a:lstStyle/>
          <a:p>
            <a:pPr indent="0" marL="0">
              <a:buNone/>
            </a:pPr>
            <a:r>
              <a:rPr lang="en-US" sz="1400" b="1" dirty="0">
                <a:solidFill>
                  <a:schemeClr val="bg1"/>
                </a:solidFill>
              </a:rPr>
              <a:t>Data sources</a:t>
            </a:r>
            <a:endParaRPr lang="en-US" sz="1400" dirty="0"/>
          </a:p>
        </p:txBody>
      </p:sp>
      <p:sp>
        <p:nvSpPr>
          <p:cNvPr id="39" name="Text 36"/>
          <p:cNvSpPr txBox="1"/>
          <p:nvPr/>
        </p:nvSpPr>
        <p:spPr>
          <a:xfrm>
            <a:off x="685800" y="5212080"/>
            <a:ext cx="1783080" cy="566928"/>
          </a:xfrm>
          <a:prstGeom prst="rect">
            <a:avLst/>
          </a:prstGeom>
          <a:noFill/>
          <a:ln/>
        </p:spPr>
        <p:txBody>
          <a:bodyPr wrap="square" lIns="0" tIns="0" rIns="0" bIns="0" rtlCol="0" anchor="t"/>
          <a:lstStyle/>
          <a:p>
            <a:pPr indent="0" marL="0">
              <a:buNone/>
            </a:pPr>
            <a:r>
              <a:rPr lang="en-US" sz="1100" dirty="0">
                <a:solidFill>
                  <a:schemeClr val="accent6"/>
                </a:solidFill>
              </a:rPr>
              <a:t>NSE CSV snapshots · Upstox option-chain API</a:t>
            </a:r>
            <a:endParaRPr lang="en-US" sz="1100" dirty="0"/>
          </a:p>
        </p:txBody>
      </p:sp>
      <p:sp>
        <p:nvSpPr>
          <p:cNvPr id="40" name="Shape 37"/>
          <p:cNvSpPr/>
          <p:nvPr/>
        </p:nvSpPr>
        <p:spPr>
          <a:xfrm>
            <a:off x="2615184" y="5193792"/>
            <a:ext cx="155448" cy="274320"/>
          </a:xfrm>
          <a:prstGeom prst="chevron">
            <a:avLst/>
          </a:prstGeom>
          <a:solidFill>
            <a:schemeClr val="accent1"/>
          </a:solidFill>
          <a:ln/>
        </p:spPr>
      </p:sp>
      <p:sp>
        <p:nvSpPr>
          <p:cNvPr id="41" name="Shape 38"/>
          <p:cNvSpPr/>
          <p:nvPr/>
        </p:nvSpPr>
        <p:spPr>
          <a:xfrm>
            <a:off x="2816352" y="4828032"/>
            <a:ext cx="2011680" cy="1005840"/>
          </a:xfrm>
          <a:prstGeom prst="roundRect">
            <a:avLst>
              <a:gd name="adj" fmla="val 7273"/>
            </a:avLst>
          </a:prstGeom>
          <a:solidFill>
            <a:schemeClr val="tx2"/>
          </a:solidFill>
          <a:ln w="9525">
            <a:solidFill>
              <a:schemeClr val="accent6">
                <a:alpha val="30000"/>
              </a:schemeClr>
            </a:solidFill>
            <a:prstDash val="solid"/>
          </a:ln>
        </p:spPr>
      </p:sp>
      <p:sp>
        <p:nvSpPr>
          <p:cNvPr id="42" name="Text 39"/>
          <p:cNvSpPr txBox="1"/>
          <p:nvPr/>
        </p:nvSpPr>
        <p:spPr>
          <a:xfrm>
            <a:off x="2953512" y="4919472"/>
            <a:ext cx="1783080" cy="274320"/>
          </a:xfrm>
          <a:prstGeom prst="rect">
            <a:avLst/>
          </a:prstGeom>
          <a:noFill/>
          <a:ln/>
        </p:spPr>
        <p:txBody>
          <a:bodyPr wrap="square" lIns="0" tIns="0" rIns="0" bIns="0" rtlCol="0" anchor="t"/>
          <a:lstStyle/>
          <a:p>
            <a:pPr indent="0" marL="0">
              <a:buNone/>
            </a:pPr>
            <a:r>
              <a:rPr lang="en-US" sz="1400" b="1" dirty="0">
                <a:solidFill>
                  <a:schemeClr val="bg1"/>
                </a:solidFill>
              </a:rPr>
              <a:t>Feature engineering</a:t>
            </a:r>
            <a:endParaRPr lang="en-US" sz="1400" dirty="0"/>
          </a:p>
        </p:txBody>
      </p:sp>
      <p:sp>
        <p:nvSpPr>
          <p:cNvPr id="43" name="Text 40"/>
          <p:cNvSpPr txBox="1"/>
          <p:nvPr/>
        </p:nvSpPr>
        <p:spPr>
          <a:xfrm>
            <a:off x="2953512" y="5212080"/>
            <a:ext cx="1783080" cy="566928"/>
          </a:xfrm>
          <a:prstGeom prst="rect">
            <a:avLst/>
          </a:prstGeom>
          <a:noFill/>
          <a:ln/>
        </p:spPr>
        <p:txBody>
          <a:bodyPr wrap="square" lIns="0" tIns="0" rIns="0" bIns="0" rtlCol="0" anchor="t"/>
          <a:lstStyle/>
          <a:p>
            <a:pPr indent="0" marL="0">
              <a:buNone/>
            </a:pPr>
            <a:r>
              <a:rPr lang="en-US" sz="1100" dirty="0">
                <a:solidFill>
                  <a:schemeClr val="accent6"/>
                </a:solidFill>
              </a:rPr>
              <a:t>39 current + lag features, exact time alignment</a:t>
            </a:r>
            <a:endParaRPr lang="en-US" sz="1100" dirty="0"/>
          </a:p>
        </p:txBody>
      </p:sp>
      <p:sp>
        <p:nvSpPr>
          <p:cNvPr id="44" name="Shape 41"/>
          <p:cNvSpPr/>
          <p:nvPr/>
        </p:nvSpPr>
        <p:spPr>
          <a:xfrm>
            <a:off x="4882896" y="5193792"/>
            <a:ext cx="155448" cy="274320"/>
          </a:xfrm>
          <a:prstGeom prst="chevron">
            <a:avLst/>
          </a:prstGeom>
          <a:solidFill>
            <a:schemeClr val="accent1"/>
          </a:solidFill>
          <a:ln/>
        </p:spPr>
      </p:sp>
      <p:sp>
        <p:nvSpPr>
          <p:cNvPr id="45" name="Shape 42"/>
          <p:cNvSpPr/>
          <p:nvPr/>
        </p:nvSpPr>
        <p:spPr>
          <a:xfrm>
            <a:off x="5084064" y="4828032"/>
            <a:ext cx="2011680" cy="1005840"/>
          </a:xfrm>
          <a:prstGeom prst="roundRect">
            <a:avLst>
              <a:gd name="adj" fmla="val 7273"/>
            </a:avLst>
          </a:prstGeom>
          <a:solidFill>
            <a:schemeClr val="accent1"/>
          </a:solidFill>
          <a:ln w="9525">
            <a:solidFill>
              <a:schemeClr val="accent6">
                <a:alpha val="70000"/>
              </a:schemeClr>
            </a:solidFill>
            <a:prstDash val="solid"/>
          </a:ln>
        </p:spPr>
      </p:sp>
      <p:sp>
        <p:nvSpPr>
          <p:cNvPr id="46" name="Text 43"/>
          <p:cNvSpPr txBox="1"/>
          <p:nvPr/>
        </p:nvSpPr>
        <p:spPr>
          <a:xfrm>
            <a:off x="5221224" y="4919472"/>
            <a:ext cx="1783080" cy="274320"/>
          </a:xfrm>
          <a:prstGeom prst="rect">
            <a:avLst/>
          </a:prstGeom>
          <a:noFill/>
          <a:ln/>
        </p:spPr>
        <p:txBody>
          <a:bodyPr wrap="square" lIns="0" tIns="0" rIns="0" bIns="0" rtlCol="0" anchor="t"/>
          <a:lstStyle/>
          <a:p>
            <a:pPr indent="0" marL="0">
              <a:buNone/>
            </a:pPr>
            <a:r>
              <a:rPr lang="en-US" sz="1400" b="1" dirty="0">
                <a:solidFill>
                  <a:schemeClr val="bg1"/>
                </a:solidFill>
              </a:rPr>
              <a:t>Saved Random Forest</a:t>
            </a:r>
            <a:endParaRPr lang="en-US" sz="1400" dirty="0"/>
          </a:p>
        </p:txBody>
      </p:sp>
      <p:sp>
        <p:nvSpPr>
          <p:cNvPr id="47" name="Text 44"/>
          <p:cNvSpPr txBox="1"/>
          <p:nvPr/>
        </p:nvSpPr>
        <p:spPr>
          <a:xfrm>
            <a:off x="5221224" y="5212080"/>
            <a:ext cx="1783080" cy="566928"/>
          </a:xfrm>
          <a:prstGeom prst="rect">
            <a:avLst/>
          </a:prstGeom>
          <a:noFill/>
          <a:ln/>
        </p:spPr>
        <p:txBody>
          <a:bodyPr wrap="square" lIns="0" tIns="0" rIns="0" bIns="0" rtlCol="0" anchor="t"/>
          <a:lstStyle/>
          <a:p>
            <a:pPr indent="0" marL="0">
              <a:buNone/>
            </a:pPr>
            <a:r>
              <a:rPr lang="en-US" sz="1100" dirty="0">
                <a:solidFill>
                  <a:schemeClr val="bg1"/>
                </a:solidFill>
              </a:rPr>
              <a:t>joblib: model, feature list, training medians</a:t>
            </a:r>
            <a:endParaRPr lang="en-US" sz="1100" dirty="0"/>
          </a:p>
        </p:txBody>
      </p:sp>
      <p:sp>
        <p:nvSpPr>
          <p:cNvPr id="48" name="Shape 45"/>
          <p:cNvSpPr/>
          <p:nvPr/>
        </p:nvSpPr>
        <p:spPr>
          <a:xfrm>
            <a:off x="7150608" y="5193792"/>
            <a:ext cx="155448" cy="274320"/>
          </a:xfrm>
          <a:prstGeom prst="chevron">
            <a:avLst/>
          </a:prstGeom>
          <a:solidFill>
            <a:schemeClr val="accent1"/>
          </a:solidFill>
          <a:ln/>
        </p:spPr>
      </p:sp>
      <p:sp>
        <p:nvSpPr>
          <p:cNvPr id="49" name="Shape 46"/>
          <p:cNvSpPr/>
          <p:nvPr/>
        </p:nvSpPr>
        <p:spPr>
          <a:xfrm>
            <a:off x="7351776" y="4828032"/>
            <a:ext cx="2011680" cy="1005840"/>
          </a:xfrm>
          <a:prstGeom prst="roundRect">
            <a:avLst>
              <a:gd name="adj" fmla="val 7273"/>
            </a:avLst>
          </a:prstGeom>
          <a:solidFill>
            <a:schemeClr val="tx2"/>
          </a:solidFill>
          <a:ln w="9525">
            <a:solidFill>
              <a:schemeClr val="accent6">
                <a:alpha val="30000"/>
              </a:schemeClr>
            </a:solidFill>
            <a:prstDash val="solid"/>
          </a:ln>
        </p:spPr>
      </p:sp>
      <p:sp>
        <p:nvSpPr>
          <p:cNvPr id="50" name="Text 47"/>
          <p:cNvSpPr txBox="1"/>
          <p:nvPr/>
        </p:nvSpPr>
        <p:spPr>
          <a:xfrm>
            <a:off x="7488936" y="4919472"/>
            <a:ext cx="1783080" cy="274320"/>
          </a:xfrm>
          <a:prstGeom prst="rect">
            <a:avLst/>
          </a:prstGeom>
          <a:noFill/>
          <a:ln/>
        </p:spPr>
        <p:txBody>
          <a:bodyPr wrap="square" lIns="0" tIns="0" rIns="0" bIns="0" rtlCol="0" anchor="t"/>
          <a:lstStyle/>
          <a:p>
            <a:pPr indent="0" marL="0">
              <a:buNone/>
            </a:pPr>
            <a:r>
              <a:rPr lang="en-US" sz="1400" b="1" dirty="0">
                <a:solidFill>
                  <a:schemeClr val="bg1"/>
                </a:solidFill>
              </a:rPr>
              <a:t>Interpretation + risk</a:t>
            </a:r>
            <a:endParaRPr lang="en-US" sz="1400" dirty="0"/>
          </a:p>
        </p:txBody>
      </p:sp>
      <p:sp>
        <p:nvSpPr>
          <p:cNvPr id="51" name="Text 48"/>
          <p:cNvSpPr txBox="1"/>
          <p:nvPr/>
        </p:nvSpPr>
        <p:spPr>
          <a:xfrm>
            <a:off x="7488936" y="5212080"/>
            <a:ext cx="1783080" cy="566928"/>
          </a:xfrm>
          <a:prstGeom prst="rect">
            <a:avLst/>
          </a:prstGeom>
          <a:noFill/>
          <a:ln/>
        </p:spPr>
        <p:txBody>
          <a:bodyPr wrap="square" lIns="0" tIns="0" rIns="0" bIns="0" rtlCol="0" anchor="t"/>
          <a:lstStyle/>
          <a:p>
            <a:pPr indent="0" marL="0">
              <a:buNone/>
            </a:pPr>
            <a:r>
              <a:rPr lang="en-US" sz="1100" dirty="0">
                <a:solidFill>
                  <a:schemeClr val="accent6"/>
                </a:solidFill>
              </a:rPr>
              <a:t>Relative IV · Black–Scholes stress test (6% r)</a:t>
            </a:r>
            <a:endParaRPr lang="en-US" sz="1100" dirty="0"/>
          </a:p>
        </p:txBody>
      </p:sp>
      <p:sp>
        <p:nvSpPr>
          <p:cNvPr id="52" name="Shape 49"/>
          <p:cNvSpPr/>
          <p:nvPr/>
        </p:nvSpPr>
        <p:spPr>
          <a:xfrm>
            <a:off x="9418320" y="5193792"/>
            <a:ext cx="155448" cy="274320"/>
          </a:xfrm>
          <a:prstGeom prst="chevron">
            <a:avLst/>
          </a:prstGeom>
          <a:solidFill>
            <a:schemeClr val="accent1"/>
          </a:solidFill>
          <a:ln/>
        </p:spPr>
      </p:sp>
      <p:sp>
        <p:nvSpPr>
          <p:cNvPr id="53" name="Shape 50"/>
          <p:cNvSpPr/>
          <p:nvPr/>
        </p:nvSpPr>
        <p:spPr>
          <a:xfrm>
            <a:off x="9619488" y="4828032"/>
            <a:ext cx="2011680" cy="1005840"/>
          </a:xfrm>
          <a:prstGeom prst="roundRect">
            <a:avLst>
              <a:gd name="adj" fmla="val 7273"/>
            </a:avLst>
          </a:prstGeom>
          <a:solidFill>
            <a:schemeClr val="tx2"/>
          </a:solidFill>
          <a:ln w="9525">
            <a:solidFill>
              <a:schemeClr val="accent6">
                <a:alpha val="30000"/>
              </a:schemeClr>
            </a:solidFill>
            <a:prstDash val="solid"/>
          </a:ln>
        </p:spPr>
      </p:sp>
      <p:sp>
        <p:nvSpPr>
          <p:cNvPr id="54" name="Text 51"/>
          <p:cNvSpPr txBox="1"/>
          <p:nvPr/>
        </p:nvSpPr>
        <p:spPr>
          <a:xfrm>
            <a:off x="9756648" y="4919472"/>
            <a:ext cx="1783080" cy="274320"/>
          </a:xfrm>
          <a:prstGeom prst="rect">
            <a:avLst/>
          </a:prstGeom>
          <a:noFill/>
          <a:ln/>
        </p:spPr>
        <p:txBody>
          <a:bodyPr wrap="square" lIns="0" tIns="0" rIns="0" bIns="0" rtlCol="0" anchor="t"/>
          <a:lstStyle/>
          <a:p>
            <a:pPr indent="0" marL="0">
              <a:buNone/>
            </a:pPr>
            <a:r>
              <a:rPr lang="en-US" sz="1400" b="1" dirty="0">
                <a:solidFill>
                  <a:schemeClr val="bg1"/>
                </a:solidFill>
              </a:rPr>
              <a:t>Streamlit dashboard</a:t>
            </a:r>
            <a:endParaRPr lang="en-US" sz="1400" dirty="0"/>
          </a:p>
        </p:txBody>
      </p:sp>
      <p:sp>
        <p:nvSpPr>
          <p:cNvPr id="55" name="Text 52"/>
          <p:cNvSpPr txBox="1"/>
          <p:nvPr/>
        </p:nvSpPr>
        <p:spPr>
          <a:xfrm>
            <a:off x="9756648" y="5212080"/>
            <a:ext cx="1783080" cy="566928"/>
          </a:xfrm>
          <a:prstGeom prst="rect">
            <a:avLst/>
          </a:prstGeom>
          <a:noFill/>
          <a:ln/>
        </p:spPr>
        <p:txBody>
          <a:bodyPr wrap="square" lIns="0" tIns="0" rIns="0" bIns="0" rtlCol="0" anchor="t"/>
          <a:lstStyle/>
          <a:p>
            <a:pPr indent="0" marL="0">
              <a:buNone/>
            </a:pPr>
            <a:r>
              <a:rPr lang="en-US" sz="1100" dirty="0">
                <a:solidFill>
                  <a:schemeClr val="accent6"/>
                </a:solidFill>
              </a:rPr>
              <a:t>Live-market dashboard prototype</a:t>
            </a:r>
            <a:endParaRPr lang="en-US" sz="1100" dirty="0"/>
          </a:p>
        </p:txBody>
      </p:sp>
      <p:sp>
        <p:nvSpPr>
          <p:cNvPr id="56" name="Shape 53"/>
          <p:cNvSpPr/>
          <p:nvPr/>
        </p:nvSpPr>
        <p:spPr>
          <a:xfrm>
            <a:off x="1554480" y="5989320"/>
            <a:ext cx="3749040" cy="0"/>
          </a:xfrm>
          <a:prstGeom prst="line">
            <a:avLst/>
          </a:prstGeom>
          <a:noFill/>
          <a:ln w="19050">
            <a:solidFill>
              <a:schemeClr val="accent1"/>
            </a:solidFill>
            <a:prstDash val="solid"/>
            <a:headEnd type="triangle"/>
            <a:tailEnd type="triangle"/>
          </a:ln>
        </p:spPr>
      </p:sp>
      <p:sp>
        <p:nvSpPr>
          <p:cNvPr id="57" name="Text 54"/>
          <p:cNvSpPr txBox="1"/>
          <p:nvPr/>
        </p:nvSpPr>
        <p:spPr>
          <a:xfrm>
            <a:off x="1554480" y="6053328"/>
            <a:ext cx="3749040" cy="228600"/>
          </a:xfrm>
          <a:prstGeom prst="rect">
            <a:avLst/>
          </a:prstGeom>
          <a:noFill/>
          <a:ln/>
        </p:spPr>
        <p:txBody>
          <a:bodyPr wrap="square" lIns="0" tIns="0" rIns="0" bIns="0" rtlCol="0" anchor="t"/>
          <a:lstStyle/>
          <a:p>
            <a:pPr algn="ctr" indent="0" marL="0">
              <a:buNone/>
            </a:pPr>
            <a:r>
              <a:rPr lang="en-US" sz="1100" b="1" dirty="0">
                <a:solidFill>
                  <a:schemeClr val="accent1"/>
                </a:solidFill>
              </a:rPr>
              <a:t>Automatic 5-minute collection loop</a:t>
            </a:r>
            <a:endParaRPr lang="en-US" sz="1100" dirty="0"/>
          </a:p>
        </p:txBody>
      </p:sp>
      <p:sp>
        <p:nvSpPr>
          <p:cNvPr id="58" name="Text 55"/>
          <p:cNvSpPr txBox="1"/>
          <p:nvPr/>
        </p:nvSpPr>
        <p:spPr>
          <a:xfrm>
            <a:off x="5943600" y="6053328"/>
            <a:ext cx="5669280" cy="228600"/>
          </a:xfrm>
          <a:prstGeom prst="rect">
            <a:avLst/>
          </a:prstGeom>
          <a:noFill/>
          <a:ln/>
        </p:spPr>
        <p:txBody>
          <a:bodyPr wrap="square" lIns="0" tIns="0" rIns="0" bIns="0" rtlCol="0" anchor="t"/>
          <a:lstStyle/>
          <a:p>
            <a:pPr algn="r" indent="0" marL="0">
              <a:buNone/>
            </a:pPr>
            <a:r>
              <a:rPr lang="en-US" sz="1100" b="1" dirty="0">
                <a:solidFill>
                  <a:schemeClr val="accent4"/>
                </a:solidFill>
              </a:rPr>
              <a:t>Benchmarks / extras: </a:t>
            </a:r>
            <a:pPr algn="r" indent="0" marL="0">
              <a:buNone/>
            </a:pPr>
            <a:r>
              <a:rPr lang="en-US" sz="1100" dirty="0">
                <a:solidFill>
                  <a:schemeClr val="tx1"/>
                </a:solidFill>
              </a:rPr>
              <a:t>persistence · XGBoost · experimental direction classifier</a:t>
            </a:r>
            <a:endParaRPr lang="en-US" sz="110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10  ·  RESULTS AND MODEL COMPARISON</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Results: Random Forest edged persistence on the holdout</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Comparable out-of-sample results on the final chronological development holdout</a:t>
            </a:r>
            <a:endParaRPr lang="en-US" sz="1400" dirty="0"/>
          </a:p>
        </p:txBody>
      </p:sp>
      <p:sp>
        <p:nvSpPr>
          <p:cNvPr id="6" name="Shape 3"/>
          <p:cNvSpPr/>
          <p:nvPr/>
        </p:nvSpPr>
        <p:spPr>
          <a:xfrm>
            <a:off x="548640" y="1508760"/>
            <a:ext cx="6903720" cy="3520440"/>
          </a:xfrm>
          <a:prstGeom prst="roundRect">
            <a:avLst>
              <a:gd name="adj" fmla="val 2078"/>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7" name="Text 4"/>
          <p:cNvSpPr txBox="1"/>
          <p:nvPr/>
        </p:nvSpPr>
        <p:spPr>
          <a:xfrm>
            <a:off x="749808" y="1645920"/>
            <a:ext cx="658368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ERROR ON CHRONOLOGICAL DEVELOPMENT HOLDOUT  ·  LOWER IS BETTER</a:t>
            </a:r>
            <a:endParaRPr lang="en-US" sz="1000" dirty="0"/>
          </a:p>
        </p:txBody>
      </p:sp>
      <p:graphicFrame>
        <p:nvGraphicFramePr>
          <p:cNvPr id="8" name="Chart 0" descr=""/>
          <p:cNvGraphicFramePr/>
          <p:nvPr/>
        </p:nvGraphicFramePr>
        <p:xfrm>
          <a:off x="658368" y="1920240"/>
          <a:ext cx="329184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4023360" y="1920240"/>
          <a:ext cx="3337560" cy="301752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7635240" y="1508760"/>
            <a:ext cx="4005072" cy="2194560"/>
          </a:xfrm>
          <a:prstGeom prst="roundRect">
            <a:avLst>
              <a:gd name="adj" fmla="val 3333"/>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1" name="Text 6"/>
          <p:cNvSpPr txBox="1"/>
          <p:nvPr/>
        </p:nvSpPr>
        <p:spPr>
          <a:xfrm>
            <a:off x="7836408" y="1645920"/>
            <a:ext cx="32004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FINAL COMPARISON</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836408" y="1938528"/>
          <a:ext cx="3621024" cy="914400"/>
        </p:xfrm>
        <a:graphic>
          <a:graphicData uri="http://schemas.openxmlformats.org/drawingml/2006/table">
            <a:tbl>
              <a:tblPr/>
              <a:tblGrid>
                <a:gridCol w="1371600"/>
                <a:gridCol w="731520"/>
                <a:gridCol w="786384"/>
                <a:gridCol w="731520"/>
              </a:tblGrid>
              <a:tr h="310896">
                <a:tc>
                  <a:txBody>
                    <a:bodyPr/>
                    <a:lstStyle/>
                    <a:p>
                      <a:pPr algn="l" indent="0" marL="0">
                        <a:buNone/>
                      </a:pPr>
                      <a:r>
                        <a:rPr lang="en-US" sz="1150" b="1" dirty="0">
                          <a:solidFill>
                            <a:srgbClr val="FFFFFF"/>
                          </a:solidFill>
                        </a:rPr>
                        <a:t>Model</a:t>
                      </a:r>
                      <a:endParaRPr lang="en-US" sz="11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0264A"/>
                    </a:solidFill>
                  </a:tcPr>
                </a:tc>
                <a:tc>
                  <a:txBody>
                    <a:bodyPr/>
                    <a:lstStyle/>
                    <a:p>
                      <a:pPr algn="r" indent="0" marL="0">
                        <a:buNone/>
                      </a:pPr>
                      <a:r>
                        <a:rPr lang="en-US" sz="1150" b="1" dirty="0">
                          <a:solidFill>
                            <a:srgbClr val="FFFFFF"/>
                          </a:solidFill>
                        </a:rPr>
                        <a:t>MAE</a:t>
                      </a:r>
                      <a:endParaRPr lang="en-US" sz="11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0264A"/>
                    </a:solidFill>
                  </a:tcPr>
                </a:tc>
                <a:tc>
                  <a:txBody>
                    <a:bodyPr/>
                    <a:lstStyle/>
                    <a:p>
                      <a:pPr algn="r" indent="0" marL="0">
                        <a:buNone/>
                      </a:pPr>
                      <a:r>
                        <a:rPr lang="en-US" sz="1150" b="1" dirty="0">
                          <a:solidFill>
                            <a:srgbClr val="FFFFFF"/>
                          </a:solidFill>
                        </a:rPr>
                        <a:t>RMSE</a:t>
                      </a:r>
                      <a:endParaRPr lang="en-US" sz="11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0264A"/>
                    </a:solidFill>
                  </a:tcPr>
                </a:tc>
                <a:tc>
                  <a:txBody>
                    <a:bodyPr/>
                    <a:lstStyle/>
                    <a:p>
                      <a:pPr algn="r" indent="0" marL="0">
                        <a:buNone/>
                      </a:pPr>
                      <a:r>
                        <a:rPr lang="en-US" sz="1150" b="1" dirty="0">
                          <a:solidFill>
                            <a:srgbClr val="FFFFFF"/>
                          </a:solidFill>
                        </a:rPr>
                        <a:t>R²</a:t>
                      </a:r>
                      <a:endParaRPr lang="en-US" sz="11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0264A"/>
                    </a:solidFill>
                  </a:tcPr>
                </a:tc>
              </a:tr>
              <a:tr h="420624">
                <a:tc>
                  <a:txBody>
                    <a:bodyPr/>
                    <a:lstStyle/>
                    <a:p>
                      <a:pPr indent="0" marL="0">
                        <a:buNone/>
                      </a:pPr>
                      <a:r>
                        <a:rPr lang="en-US" sz="1200" b="1" dirty="0">
                          <a:solidFill>
                            <a:srgbClr val="0A1628"/>
                          </a:solidFill>
                        </a:rPr>
                        <a:t>Persistence</a:t>
                      </a:r>
                      <a:endParaRPr lang="en-US" sz="120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50" dirty="0">
                          <a:solidFill>
                            <a:srgbClr val="0A1628"/>
                          </a:solidFill>
                        </a:rPr>
                        <a:t>0.5505</a:t>
                      </a:r>
                      <a:endParaRPr lang="en-US" sz="12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50" dirty="0">
                          <a:solidFill>
                            <a:srgbClr val="0A1628"/>
                          </a:solidFill>
                        </a:rPr>
                        <a:t>1.3207</a:t>
                      </a:r>
                      <a:endParaRPr lang="en-US" sz="12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50" dirty="0">
                          <a:solidFill>
                            <a:srgbClr val="0A1628"/>
                          </a:solidFill>
                        </a:rPr>
                        <a:t>0.9843</a:t>
                      </a:r>
                      <a:endParaRPr lang="en-US" sz="12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0E9AA7"/>
                          </a:solidFill>
                        </a:rPr>
                        <a:t>Random Forest + Lag</a:t>
                      </a:r>
                      <a:endParaRPr lang="en-US" sz="120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DDF3F5"/>
                    </a:solidFill>
                  </a:tcPr>
                </a:tc>
                <a:tc>
                  <a:txBody>
                    <a:bodyPr/>
                    <a:lstStyle/>
                    <a:p>
                      <a:pPr algn="r" indent="0" marL="0">
                        <a:buNone/>
                      </a:pPr>
                      <a:r>
                        <a:rPr lang="en-US" sz="1250" b="1" dirty="0">
                          <a:solidFill>
                            <a:srgbClr val="0E9AA7"/>
                          </a:solidFill>
                        </a:rPr>
                        <a:t>0.5214</a:t>
                      </a:r>
                      <a:endParaRPr lang="en-US" sz="12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DDF3F5"/>
                    </a:solidFill>
                  </a:tcPr>
                </a:tc>
                <a:tc>
                  <a:txBody>
                    <a:bodyPr/>
                    <a:lstStyle/>
                    <a:p>
                      <a:pPr algn="r" indent="0" marL="0">
                        <a:buNone/>
                      </a:pPr>
                      <a:r>
                        <a:rPr lang="en-US" sz="1250" b="1" dirty="0">
                          <a:solidFill>
                            <a:srgbClr val="0E9AA7"/>
                          </a:solidFill>
                        </a:rPr>
                        <a:t>1.2188</a:t>
                      </a:r>
                      <a:endParaRPr lang="en-US" sz="12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DDF3F5"/>
                    </a:solidFill>
                  </a:tcPr>
                </a:tc>
                <a:tc>
                  <a:txBody>
                    <a:bodyPr/>
                    <a:lstStyle/>
                    <a:p>
                      <a:pPr algn="r" indent="0" marL="0">
                        <a:buNone/>
                      </a:pPr>
                      <a:r>
                        <a:rPr lang="en-US" sz="1250" b="1" dirty="0">
                          <a:solidFill>
                            <a:srgbClr val="0E9AA7"/>
                          </a:solidFill>
                        </a:rPr>
                        <a:t>0.9866</a:t>
                      </a:r>
                      <a:endParaRPr lang="en-US" sz="12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DDF3F5"/>
                    </a:solidFill>
                  </a:tcPr>
                </a:tc>
              </a:tr>
              <a:tr h="420624">
                <a:tc>
                  <a:txBody>
                    <a:bodyPr/>
                    <a:lstStyle/>
                    <a:p>
                      <a:pPr indent="0" marL="0">
                        <a:buNone/>
                      </a:pPr>
                      <a:r>
                        <a:rPr lang="en-US" sz="1200" b="1" dirty="0">
                          <a:solidFill>
                            <a:srgbClr val="0A1628"/>
                          </a:solidFill>
                        </a:rPr>
                        <a:t>XGBoost + Lag</a:t>
                      </a:r>
                      <a:endParaRPr lang="en-US" sz="120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50" dirty="0">
                          <a:solidFill>
                            <a:srgbClr val="0A1628"/>
                          </a:solidFill>
                        </a:rPr>
                        <a:t>0.5530</a:t>
                      </a:r>
                      <a:endParaRPr lang="en-US" sz="12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50" dirty="0">
                          <a:solidFill>
                            <a:srgbClr val="0A1628"/>
                          </a:solidFill>
                        </a:rPr>
                        <a:t>1.2964</a:t>
                      </a:r>
                      <a:endParaRPr lang="en-US" sz="12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50" dirty="0">
                          <a:solidFill>
                            <a:srgbClr val="0A1628"/>
                          </a:solidFill>
                        </a:rPr>
                        <a:t>0.9849</a:t>
                      </a:r>
                      <a:endParaRPr lang="en-US" sz="1250" dirty="0"/>
                    </a:p>
                  </a:txBody>
                  <a:tcPr marL="73152" marR="73152" marT="45720" marB="45720"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bl>
          </a:graphicData>
        </a:graphic>
      </p:graphicFrame>
      <p:sp>
        <p:nvSpPr>
          <p:cNvPr id="13" name="Shape 7"/>
          <p:cNvSpPr/>
          <p:nvPr/>
        </p:nvSpPr>
        <p:spPr>
          <a:xfrm>
            <a:off x="7635240" y="3840480"/>
            <a:ext cx="1911096" cy="1188720"/>
          </a:xfrm>
          <a:prstGeom prst="roundRect">
            <a:avLst>
              <a:gd name="adj" fmla="val 6154"/>
            </a:avLst>
          </a:prstGeom>
          <a:solidFill>
            <a:schemeClr val="tx2"/>
          </a:solidFill>
          <a:ln w="9525">
            <a:solidFill>
              <a:schemeClr val="accent6">
                <a:alpha val="30000"/>
              </a:schemeClr>
            </a:solidFill>
            <a:prstDash val="solid"/>
          </a:ln>
        </p:spPr>
      </p:sp>
      <p:sp>
        <p:nvSpPr>
          <p:cNvPr id="14" name="Text 8"/>
          <p:cNvSpPr txBox="1"/>
          <p:nvPr/>
        </p:nvSpPr>
        <p:spPr>
          <a:xfrm>
            <a:off x="7799832" y="3968496"/>
            <a:ext cx="1581912" cy="201168"/>
          </a:xfrm>
          <a:prstGeom prst="rect">
            <a:avLst/>
          </a:prstGeom>
          <a:noFill/>
          <a:ln/>
        </p:spPr>
        <p:txBody>
          <a:bodyPr wrap="square" lIns="0" tIns="0" rIns="0" bIns="0" rtlCol="0" anchor="t"/>
          <a:lstStyle/>
          <a:p>
            <a:pPr indent="0" marL="0">
              <a:buNone/>
            </a:pPr>
            <a:r>
              <a:rPr lang="en-US" sz="1000" b="1" spc="100" kern="0" dirty="0">
                <a:solidFill>
                  <a:schemeClr val="accent6"/>
                </a:solidFill>
              </a:rPr>
              <a:t>MAE IMPROVEMENT</a:t>
            </a:r>
            <a:endParaRPr lang="en-US" sz="1000" dirty="0"/>
          </a:p>
        </p:txBody>
      </p:sp>
      <p:sp>
        <p:nvSpPr>
          <p:cNvPr id="15" name="Text 9"/>
          <p:cNvSpPr txBox="1"/>
          <p:nvPr/>
        </p:nvSpPr>
        <p:spPr>
          <a:xfrm>
            <a:off x="7799832" y="4187952"/>
            <a:ext cx="1581912" cy="365760"/>
          </a:xfrm>
          <a:prstGeom prst="rect">
            <a:avLst/>
          </a:prstGeom>
          <a:noFill/>
          <a:ln/>
        </p:spPr>
        <p:txBody>
          <a:bodyPr wrap="square" lIns="0" tIns="0" rIns="0" bIns="0" rtlCol="0" anchor="ctr"/>
          <a:lstStyle/>
          <a:p>
            <a:pPr indent="0" marL="0">
              <a:buNone/>
            </a:pPr>
            <a:r>
              <a:rPr lang="en-US" sz="3000" b="1" dirty="0">
                <a:solidFill>
                  <a:schemeClr val="accent6"/>
                </a:solidFill>
              </a:rPr>
              <a:t>5.28%</a:t>
            </a:r>
            <a:endParaRPr lang="en-US" sz="3000" dirty="0"/>
          </a:p>
        </p:txBody>
      </p:sp>
      <p:sp>
        <p:nvSpPr>
          <p:cNvPr id="16" name="Text 10"/>
          <p:cNvSpPr txBox="1"/>
          <p:nvPr/>
        </p:nvSpPr>
        <p:spPr>
          <a:xfrm>
            <a:off x="7799832" y="4608576"/>
            <a:ext cx="1581912" cy="310896"/>
          </a:xfrm>
          <a:prstGeom prst="rect">
            <a:avLst/>
          </a:prstGeom>
          <a:noFill/>
          <a:ln/>
        </p:spPr>
        <p:txBody>
          <a:bodyPr wrap="square" lIns="0" tIns="0" rIns="0" bIns="0" rtlCol="0" anchor="b"/>
          <a:lstStyle/>
          <a:p>
            <a:pPr indent="0" marL="0">
              <a:buNone/>
            </a:pPr>
            <a:r>
              <a:rPr lang="en-US" sz="1100" dirty="0">
                <a:solidFill>
                  <a:srgbClr val="AEBBD0"/>
                </a:solidFill>
              </a:rPr>
              <a:t>RF vs persistence</a:t>
            </a:r>
            <a:endParaRPr lang="en-US" sz="1100" dirty="0"/>
          </a:p>
        </p:txBody>
      </p:sp>
      <p:sp>
        <p:nvSpPr>
          <p:cNvPr id="17" name="Shape 11"/>
          <p:cNvSpPr/>
          <p:nvPr/>
        </p:nvSpPr>
        <p:spPr>
          <a:xfrm>
            <a:off x="9729216" y="3840480"/>
            <a:ext cx="1911096" cy="1188720"/>
          </a:xfrm>
          <a:prstGeom prst="roundRect">
            <a:avLst>
              <a:gd name="adj" fmla="val 6154"/>
            </a:avLst>
          </a:prstGeom>
          <a:solidFill>
            <a:schemeClr val="tx2"/>
          </a:solidFill>
          <a:ln w="9525">
            <a:solidFill>
              <a:schemeClr val="accent6">
                <a:alpha val="30000"/>
              </a:schemeClr>
            </a:solidFill>
            <a:prstDash val="solid"/>
          </a:ln>
        </p:spPr>
      </p:sp>
      <p:sp>
        <p:nvSpPr>
          <p:cNvPr id="18" name="Text 12"/>
          <p:cNvSpPr txBox="1"/>
          <p:nvPr/>
        </p:nvSpPr>
        <p:spPr>
          <a:xfrm>
            <a:off x="9893808" y="3968496"/>
            <a:ext cx="1581912" cy="201168"/>
          </a:xfrm>
          <a:prstGeom prst="rect">
            <a:avLst/>
          </a:prstGeom>
          <a:noFill/>
          <a:ln/>
        </p:spPr>
        <p:txBody>
          <a:bodyPr wrap="square" lIns="0" tIns="0" rIns="0" bIns="0" rtlCol="0" anchor="t"/>
          <a:lstStyle/>
          <a:p>
            <a:pPr indent="0" marL="0">
              <a:buNone/>
            </a:pPr>
            <a:r>
              <a:rPr lang="en-US" sz="1000" b="1" spc="100" kern="0" dirty="0">
                <a:solidFill>
                  <a:schemeClr val="accent6"/>
                </a:solidFill>
              </a:rPr>
              <a:t>RMSE IMPROVEMENT</a:t>
            </a:r>
            <a:endParaRPr lang="en-US" sz="1000" dirty="0"/>
          </a:p>
        </p:txBody>
      </p:sp>
      <p:sp>
        <p:nvSpPr>
          <p:cNvPr id="19" name="Text 13"/>
          <p:cNvSpPr txBox="1"/>
          <p:nvPr/>
        </p:nvSpPr>
        <p:spPr>
          <a:xfrm>
            <a:off x="9893808" y="4187952"/>
            <a:ext cx="1581912" cy="365760"/>
          </a:xfrm>
          <a:prstGeom prst="rect">
            <a:avLst/>
          </a:prstGeom>
          <a:noFill/>
          <a:ln/>
        </p:spPr>
        <p:txBody>
          <a:bodyPr wrap="square" lIns="0" tIns="0" rIns="0" bIns="0" rtlCol="0" anchor="ctr"/>
          <a:lstStyle/>
          <a:p>
            <a:pPr indent="0" marL="0">
              <a:buNone/>
            </a:pPr>
            <a:r>
              <a:rPr lang="en-US" sz="3000" b="1" dirty="0">
                <a:solidFill>
                  <a:schemeClr val="accent6"/>
                </a:solidFill>
              </a:rPr>
              <a:t>7.72%</a:t>
            </a:r>
            <a:endParaRPr lang="en-US" sz="3000" dirty="0"/>
          </a:p>
        </p:txBody>
      </p:sp>
      <p:sp>
        <p:nvSpPr>
          <p:cNvPr id="20" name="Text 14"/>
          <p:cNvSpPr txBox="1"/>
          <p:nvPr/>
        </p:nvSpPr>
        <p:spPr>
          <a:xfrm>
            <a:off x="9893808" y="4608576"/>
            <a:ext cx="1581912" cy="310896"/>
          </a:xfrm>
          <a:prstGeom prst="rect">
            <a:avLst/>
          </a:prstGeom>
          <a:noFill/>
          <a:ln/>
        </p:spPr>
        <p:txBody>
          <a:bodyPr wrap="square" lIns="0" tIns="0" rIns="0" bIns="0" rtlCol="0" anchor="b"/>
          <a:lstStyle/>
          <a:p>
            <a:pPr indent="0" marL="0">
              <a:buNone/>
            </a:pPr>
            <a:r>
              <a:rPr lang="en-US" sz="1100" dirty="0">
                <a:solidFill>
                  <a:srgbClr val="AEBBD0"/>
                </a:solidFill>
              </a:rPr>
              <a:t>RF vs persistence</a:t>
            </a:r>
            <a:endParaRPr lang="en-US" sz="1100" dirty="0"/>
          </a:p>
        </p:txBody>
      </p:sp>
      <p:sp>
        <p:nvSpPr>
          <p:cNvPr id="21" name="Shape 15"/>
          <p:cNvSpPr/>
          <p:nvPr/>
        </p:nvSpPr>
        <p:spPr>
          <a:xfrm>
            <a:off x="548640" y="5212080"/>
            <a:ext cx="3566160" cy="1097280"/>
          </a:xfrm>
          <a:prstGeom prst="roundRect">
            <a:avLst>
              <a:gd name="adj" fmla="val 6667"/>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2" name="Text 16"/>
          <p:cNvSpPr txBox="1"/>
          <p:nvPr/>
        </p:nvSpPr>
        <p:spPr>
          <a:xfrm>
            <a:off x="731520" y="5303520"/>
            <a:ext cx="3200400" cy="256032"/>
          </a:xfrm>
          <a:prstGeom prst="rect">
            <a:avLst/>
          </a:prstGeom>
          <a:noFill/>
          <a:ln/>
        </p:spPr>
        <p:txBody>
          <a:bodyPr wrap="square" lIns="0" tIns="0" rIns="0" bIns="0" rtlCol="0" anchor="t"/>
          <a:lstStyle/>
          <a:p>
            <a:pPr indent="0" marL="0">
              <a:buNone/>
            </a:pPr>
            <a:r>
              <a:rPr lang="en-US" sz="1250" b="1" dirty="0">
                <a:solidFill>
                  <a:schemeClr val="accent1"/>
                </a:solidFill>
              </a:rPr>
              <a:t>Linear Regression baseline</a:t>
            </a:r>
            <a:endParaRPr lang="en-US" sz="1250" dirty="0"/>
          </a:p>
        </p:txBody>
      </p:sp>
      <p:sp>
        <p:nvSpPr>
          <p:cNvPr id="23" name="Text 17"/>
          <p:cNvSpPr txBox="1"/>
          <p:nvPr/>
        </p:nvSpPr>
        <p:spPr>
          <a:xfrm>
            <a:off x="731520" y="5577840"/>
            <a:ext cx="3200400" cy="713232"/>
          </a:xfrm>
          <a:prstGeom prst="rect">
            <a:avLst/>
          </a:prstGeom>
          <a:noFill/>
          <a:ln/>
        </p:spPr>
        <p:txBody>
          <a:bodyPr wrap="square" lIns="0" tIns="0" rIns="0" bIns="0" rtlCol="0" anchor="t"/>
          <a:lstStyle/>
          <a:p>
            <a:pPr indent="0" marL="0">
              <a:buNone/>
            </a:pPr>
            <a:r>
              <a:rPr lang="en-US" sz="1150" dirty="0">
                <a:solidFill>
                  <a:schemeClr val="tx1"/>
                </a:solidFill>
              </a:rPr>
              <a:t>Initial direct-level Linear Regression was much weaker (MAE ≈ 6.17), motivating nonlinear tree models.</a:t>
            </a:r>
            <a:endParaRPr lang="en-US" sz="1150" dirty="0"/>
          </a:p>
        </p:txBody>
      </p:sp>
      <p:sp>
        <p:nvSpPr>
          <p:cNvPr id="24" name="Shape 18"/>
          <p:cNvSpPr/>
          <p:nvPr/>
        </p:nvSpPr>
        <p:spPr>
          <a:xfrm>
            <a:off x="4297680" y="5212080"/>
            <a:ext cx="3566160" cy="1097280"/>
          </a:xfrm>
          <a:prstGeom prst="roundRect">
            <a:avLst>
              <a:gd name="adj" fmla="val 6667"/>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5" name="Text 19"/>
          <p:cNvSpPr txBox="1"/>
          <p:nvPr/>
        </p:nvSpPr>
        <p:spPr>
          <a:xfrm>
            <a:off x="4480560" y="5303520"/>
            <a:ext cx="3200400" cy="256032"/>
          </a:xfrm>
          <a:prstGeom prst="rect">
            <a:avLst/>
          </a:prstGeom>
          <a:noFill/>
          <a:ln/>
        </p:spPr>
        <p:txBody>
          <a:bodyPr wrap="square" lIns="0" tIns="0" rIns="0" bIns="0" rtlCol="0" anchor="t"/>
          <a:lstStyle/>
          <a:p>
            <a:pPr indent="0" marL="0">
              <a:buNone/>
            </a:pPr>
            <a:r>
              <a:rPr lang="en-US" sz="1250" b="1" dirty="0">
                <a:solidFill>
                  <a:schemeClr val="accent1"/>
                </a:solidFill>
              </a:rPr>
              <a:t>Reading R² with care</a:t>
            </a:r>
            <a:endParaRPr lang="en-US" sz="1250" dirty="0"/>
          </a:p>
        </p:txBody>
      </p:sp>
      <p:sp>
        <p:nvSpPr>
          <p:cNvPr id="26" name="Text 20"/>
          <p:cNvSpPr txBox="1"/>
          <p:nvPr/>
        </p:nvSpPr>
        <p:spPr>
          <a:xfrm>
            <a:off x="4480560" y="5577840"/>
            <a:ext cx="3200400" cy="713232"/>
          </a:xfrm>
          <a:prstGeom prst="rect">
            <a:avLst/>
          </a:prstGeom>
          <a:noFill/>
          <a:ln/>
        </p:spPr>
        <p:txBody>
          <a:bodyPr wrap="square" lIns="0" tIns="0" rIns="0" bIns="0" rtlCol="0" anchor="t"/>
          <a:lstStyle/>
          <a:p>
            <a:pPr indent="0" marL="0">
              <a:buNone/>
            </a:pPr>
            <a:r>
              <a:rPr lang="en-US" sz="1150" dirty="0">
                <a:solidFill>
                  <a:schemeClr val="tx1"/>
                </a:solidFill>
              </a:rPr>
              <a:t>IV is already very persistent, so R² is high for every model, including persistence. MAE and RMSE versus persistence carry the evidence.</a:t>
            </a:r>
            <a:endParaRPr lang="en-US" sz="1150" dirty="0"/>
          </a:p>
        </p:txBody>
      </p:sp>
      <p:sp>
        <p:nvSpPr>
          <p:cNvPr id="27" name="Shape 21"/>
          <p:cNvSpPr/>
          <p:nvPr/>
        </p:nvSpPr>
        <p:spPr>
          <a:xfrm>
            <a:off x="8046720" y="5212080"/>
            <a:ext cx="3566160" cy="1097280"/>
          </a:xfrm>
          <a:prstGeom prst="roundRect">
            <a:avLst>
              <a:gd name="adj" fmla="val 6667"/>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8" name="Text 22"/>
          <p:cNvSpPr txBox="1"/>
          <p:nvPr/>
        </p:nvSpPr>
        <p:spPr>
          <a:xfrm>
            <a:off x="8229600" y="5303520"/>
            <a:ext cx="3200400" cy="256032"/>
          </a:xfrm>
          <a:prstGeom prst="rect">
            <a:avLst/>
          </a:prstGeom>
          <a:noFill/>
          <a:ln/>
        </p:spPr>
        <p:txBody>
          <a:bodyPr wrap="square" lIns="0" tIns="0" rIns="0" bIns="0" rtlCol="0" anchor="t"/>
          <a:lstStyle/>
          <a:p>
            <a:pPr indent="0" marL="0">
              <a:buNone/>
            </a:pPr>
            <a:r>
              <a:rPr lang="en-US" sz="1250" b="1" dirty="0">
                <a:solidFill>
                  <a:schemeClr val="accent1"/>
                </a:solidFill>
              </a:rPr>
              <a:t>Modest, not dramatic</a:t>
            </a:r>
            <a:endParaRPr lang="en-US" sz="1250" dirty="0"/>
          </a:p>
        </p:txBody>
      </p:sp>
      <p:sp>
        <p:nvSpPr>
          <p:cNvPr id="29" name="Text 23"/>
          <p:cNvSpPr txBox="1"/>
          <p:nvPr/>
        </p:nvSpPr>
        <p:spPr>
          <a:xfrm>
            <a:off x="8229600" y="5577840"/>
            <a:ext cx="3200400" cy="713232"/>
          </a:xfrm>
          <a:prstGeom prst="rect">
            <a:avLst/>
          </a:prstGeom>
          <a:noFill/>
          <a:ln/>
        </p:spPr>
        <p:txBody>
          <a:bodyPr wrap="square" lIns="0" tIns="0" rIns="0" bIns="0" rtlCol="0" anchor="t"/>
          <a:lstStyle/>
          <a:p>
            <a:pPr indent="0" marL="0">
              <a:buNone/>
            </a:pPr>
            <a:r>
              <a:rPr lang="en-US" sz="1150" dirty="0">
                <a:solidFill>
                  <a:schemeClr val="tx1"/>
                </a:solidFill>
              </a:rPr>
              <a:t>Only Random Forest + Lag improved both MAE and RMSE versus persistence; XGBoost + Lag improved RMSE but not MAE.</a:t>
            </a:r>
            <a:endParaRPr lang="en-US" sz="115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11  ·  RESULTS ANALYSIS AND RELATIVE-IV INTERPRETATION</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Interpretation: relative IV, direction and feature drivers</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What drives the forecast, and how it is translated into a relative-IV reading</a:t>
            </a:r>
            <a:endParaRPr lang="en-US" sz="1400" dirty="0"/>
          </a:p>
        </p:txBody>
      </p:sp>
      <p:sp>
        <p:nvSpPr>
          <p:cNvPr id="6" name="Shape 3"/>
          <p:cNvSpPr/>
          <p:nvPr/>
        </p:nvSpPr>
        <p:spPr>
          <a:xfrm>
            <a:off x="548640" y="1508760"/>
            <a:ext cx="5760720" cy="2651760"/>
          </a:xfrm>
          <a:prstGeom prst="roundRect">
            <a:avLst>
              <a:gd name="adj" fmla="val 275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7" name="Text 4"/>
          <p:cNvSpPr txBox="1"/>
          <p:nvPr/>
        </p:nvSpPr>
        <p:spPr>
          <a:xfrm>
            <a:off x="749808" y="1645920"/>
            <a:ext cx="530352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FEATURE IMPORTANCE  ·  TOP SIX (RANDOM FOREST)</a:t>
            </a:r>
            <a:endParaRPr lang="en-US" sz="1000" dirty="0"/>
          </a:p>
        </p:txBody>
      </p:sp>
      <p:graphicFrame>
        <p:nvGraphicFramePr>
          <p:cNvPr id="8" name="Chart 0" descr=""/>
          <p:cNvGraphicFramePr/>
          <p:nvPr/>
        </p:nvGraphicFramePr>
        <p:xfrm>
          <a:off x="640080" y="1874520"/>
          <a:ext cx="5577840" cy="201168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77240" y="3913632"/>
            <a:ext cx="128016" cy="128016"/>
          </a:xfrm>
          <a:prstGeom prst="rect">
            <a:avLst/>
          </a:prstGeom>
          <a:solidFill>
            <a:schemeClr val="accent1"/>
          </a:solidFill>
          <a:ln/>
        </p:spPr>
      </p:sp>
      <p:sp>
        <p:nvSpPr>
          <p:cNvPr id="10" name="Text 6"/>
          <p:cNvSpPr txBox="1"/>
          <p:nvPr/>
        </p:nvSpPr>
        <p:spPr>
          <a:xfrm>
            <a:off x="960120" y="3877056"/>
            <a:ext cx="1645920" cy="201168"/>
          </a:xfrm>
          <a:prstGeom prst="rect">
            <a:avLst/>
          </a:prstGeom>
          <a:noFill/>
          <a:ln/>
        </p:spPr>
        <p:txBody>
          <a:bodyPr wrap="square" lIns="0" tIns="0" rIns="0" bIns="0" rtlCol="0" anchor="t"/>
          <a:lstStyle/>
          <a:p>
            <a:pPr indent="0" marL="0">
              <a:buNone/>
            </a:pPr>
            <a:r>
              <a:rPr lang="en-US" sz="1050" dirty="0">
                <a:solidFill>
                  <a:schemeClr val="accent4"/>
                </a:solidFill>
              </a:rPr>
              <a:t>IV-based features</a:t>
            </a:r>
            <a:endParaRPr lang="en-US" sz="1050" dirty="0"/>
          </a:p>
        </p:txBody>
      </p:sp>
      <p:sp>
        <p:nvSpPr>
          <p:cNvPr id="11" name="Shape 7"/>
          <p:cNvSpPr/>
          <p:nvPr/>
        </p:nvSpPr>
        <p:spPr>
          <a:xfrm>
            <a:off x="2606040" y="3913632"/>
            <a:ext cx="128016" cy="128016"/>
          </a:xfrm>
          <a:prstGeom prst="rect">
            <a:avLst/>
          </a:prstGeom>
          <a:solidFill>
            <a:srgbClr val="94A3B8"/>
          </a:solidFill>
          <a:ln/>
        </p:spPr>
      </p:sp>
      <p:sp>
        <p:nvSpPr>
          <p:cNvPr id="12" name="Text 8"/>
          <p:cNvSpPr txBox="1"/>
          <p:nvPr/>
        </p:nvSpPr>
        <p:spPr>
          <a:xfrm>
            <a:off x="2788920" y="3877056"/>
            <a:ext cx="2011680" cy="201168"/>
          </a:xfrm>
          <a:prstGeom prst="rect">
            <a:avLst/>
          </a:prstGeom>
          <a:noFill/>
          <a:ln/>
        </p:spPr>
        <p:txBody>
          <a:bodyPr wrap="square" lIns="0" tIns="0" rIns="0" bIns="0" rtlCol="0" anchor="t"/>
          <a:lstStyle/>
          <a:p>
            <a:pPr indent="0" marL="0">
              <a:buNone/>
            </a:pPr>
            <a:r>
              <a:rPr lang="en-US" sz="1050" dirty="0">
                <a:solidFill>
                  <a:schemeClr val="accent4"/>
                </a:solidFill>
              </a:rPr>
              <a:t>Liquidity / spot features</a:t>
            </a:r>
            <a:endParaRPr lang="en-US" sz="1050" dirty="0"/>
          </a:p>
        </p:txBody>
      </p:sp>
      <p:sp>
        <p:nvSpPr>
          <p:cNvPr id="13" name="Text 9"/>
          <p:cNvSpPr txBox="1"/>
          <p:nvPr/>
        </p:nvSpPr>
        <p:spPr>
          <a:xfrm>
            <a:off x="4389120" y="3877056"/>
            <a:ext cx="1783080" cy="201168"/>
          </a:xfrm>
          <a:prstGeom prst="rect">
            <a:avLst/>
          </a:prstGeom>
          <a:noFill/>
          <a:ln/>
        </p:spPr>
        <p:txBody>
          <a:bodyPr wrap="square" lIns="0" tIns="0" rIns="0" bIns="0" rtlCol="0" anchor="t"/>
          <a:lstStyle/>
          <a:p>
            <a:pPr algn="r" indent="0" marL="0">
              <a:buNone/>
            </a:pPr>
            <a:r>
              <a:rPr lang="en-US" sz="1050" i="1" dirty="0">
                <a:solidFill>
                  <a:schemeClr val="accent4"/>
                </a:solidFill>
              </a:rPr>
              <a:t>Importance (unitless)</a:t>
            </a:r>
            <a:endParaRPr lang="en-US" sz="1050" dirty="0"/>
          </a:p>
        </p:txBody>
      </p:sp>
      <p:sp>
        <p:nvSpPr>
          <p:cNvPr id="14" name="Shape 10"/>
          <p:cNvSpPr/>
          <p:nvPr/>
        </p:nvSpPr>
        <p:spPr>
          <a:xfrm>
            <a:off x="548640" y="4297680"/>
            <a:ext cx="5760720" cy="2011680"/>
          </a:xfrm>
          <a:prstGeom prst="roundRect">
            <a:avLst>
              <a:gd name="adj" fmla="val 3636"/>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5" name="Text 11"/>
          <p:cNvSpPr txBox="1"/>
          <p:nvPr/>
        </p:nvSpPr>
        <p:spPr>
          <a:xfrm>
            <a:off x="749808" y="4434840"/>
            <a:ext cx="45720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DIRECTIONAL FILTERING</a:t>
            </a:r>
            <a:endParaRPr lang="en-US" sz="1000" dirty="0"/>
          </a:p>
        </p:txBody>
      </p:sp>
      <p:sp>
        <p:nvSpPr>
          <p:cNvPr id="16" name="Shape 12"/>
          <p:cNvSpPr/>
          <p:nvPr/>
        </p:nvSpPr>
        <p:spPr>
          <a:xfrm>
            <a:off x="749808" y="4709160"/>
            <a:ext cx="1737360" cy="1417320"/>
          </a:xfrm>
          <a:prstGeom prst="roundRect">
            <a:avLst>
              <a:gd name="adj" fmla="val 5161"/>
            </a:avLst>
          </a:prstGeom>
          <a:solidFill>
            <a:schemeClr val="bg2"/>
          </a:solidFill>
          <a:ln w="9525">
            <a:solidFill>
              <a:schemeClr val="accent4">
                <a:alpha val="0"/>
              </a:schemeClr>
            </a:solidFill>
            <a:prstDash val="solid"/>
          </a:ln>
        </p:spPr>
      </p:sp>
      <p:sp>
        <p:nvSpPr>
          <p:cNvPr id="17" name="Text 13"/>
          <p:cNvSpPr txBox="1"/>
          <p:nvPr/>
        </p:nvSpPr>
        <p:spPr>
          <a:xfrm>
            <a:off x="914400" y="4837176"/>
            <a:ext cx="1408176"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RF DIRECTION</a:t>
            </a:r>
            <a:endParaRPr lang="en-US" sz="1000" dirty="0"/>
          </a:p>
        </p:txBody>
      </p:sp>
      <p:sp>
        <p:nvSpPr>
          <p:cNvPr id="18" name="Text 14"/>
          <p:cNvSpPr txBox="1"/>
          <p:nvPr/>
        </p:nvSpPr>
        <p:spPr>
          <a:xfrm>
            <a:off x="914400" y="5056632"/>
            <a:ext cx="1408176" cy="594360"/>
          </a:xfrm>
          <a:prstGeom prst="rect">
            <a:avLst/>
          </a:prstGeom>
          <a:noFill/>
          <a:ln/>
        </p:spPr>
        <p:txBody>
          <a:bodyPr wrap="square" lIns="0" tIns="0" rIns="0" bIns="0" rtlCol="0" anchor="ctr"/>
          <a:lstStyle/>
          <a:p>
            <a:pPr indent="0" marL="0">
              <a:buNone/>
            </a:pPr>
            <a:r>
              <a:rPr lang="en-US" sz="2600" b="1" dirty="0">
                <a:solidFill>
                  <a:schemeClr val="tx1"/>
                </a:solidFill>
              </a:rPr>
              <a:t>53.20%</a:t>
            </a:r>
            <a:endParaRPr lang="en-US" sz="2600" dirty="0"/>
          </a:p>
        </p:txBody>
      </p:sp>
      <p:sp>
        <p:nvSpPr>
          <p:cNvPr id="19" name="Text 15"/>
          <p:cNvSpPr txBox="1"/>
          <p:nvPr/>
        </p:nvSpPr>
        <p:spPr>
          <a:xfrm>
            <a:off x="914400" y="5705856"/>
            <a:ext cx="1408176" cy="310896"/>
          </a:xfrm>
          <a:prstGeom prst="rect">
            <a:avLst/>
          </a:prstGeom>
          <a:noFill/>
          <a:ln/>
        </p:spPr>
        <p:txBody>
          <a:bodyPr wrap="square" lIns="0" tIns="0" rIns="0" bIns="0" rtlCol="0" anchor="b"/>
          <a:lstStyle/>
          <a:p>
            <a:pPr indent="0" marL="0">
              <a:buNone/>
            </a:pPr>
            <a:r>
              <a:rPr lang="en-US" sz="1100" dirty="0">
                <a:solidFill>
                  <a:schemeClr val="accent4"/>
                </a:solidFill>
              </a:rPr>
              <a:t>overall accuracy</a:t>
            </a:r>
            <a:endParaRPr lang="en-US" sz="1100" dirty="0"/>
          </a:p>
        </p:txBody>
      </p:sp>
      <p:sp>
        <p:nvSpPr>
          <p:cNvPr id="20" name="Shape 16"/>
          <p:cNvSpPr/>
          <p:nvPr/>
        </p:nvSpPr>
        <p:spPr>
          <a:xfrm>
            <a:off x="2596896" y="4709160"/>
            <a:ext cx="1737360" cy="1417320"/>
          </a:xfrm>
          <a:prstGeom prst="roundRect">
            <a:avLst>
              <a:gd name="adj" fmla="val 5161"/>
            </a:avLst>
          </a:prstGeom>
          <a:solidFill>
            <a:schemeClr val="bg2"/>
          </a:solidFill>
          <a:ln w="9525">
            <a:solidFill>
              <a:schemeClr val="accent4">
                <a:alpha val="0"/>
              </a:schemeClr>
            </a:solidFill>
            <a:prstDash val="solid"/>
          </a:ln>
        </p:spPr>
      </p:sp>
      <p:sp>
        <p:nvSpPr>
          <p:cNvPr id="21" name="Text 17"/>
          <p:cNvSpPr txBox="1"/>
          <p:nvPr/>
        </p:nvSpPr>
        <p:spPr>
          <a:xfrm>
            <a:off x="2761488" y="4837176"/>
            <a:ext cx="1408176"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THRESHOLD 0.05–0.25</a:t>
            </a:r>
            <a:endParaRPr lang="en-US" sz="1000" dirty="0"/>
          </a:p>
        </p:txBody>
      </p:sp>
      <p:sp>
        <p:nvSpPr>
          <p:cNvPr id="22" name="Text 18"/>
          <p:cNvSpPr txBox="1"/>
          <p:nvPr/>
        </p:nvSpPr>
        <p:spPr>
          <a:xfrm>
            <a:off x="2761488" y="5056632"/>
            <a:ext cx="1408176" cy="594360"/>
          </a:xfrm>
          <a:prstGeom prst="rect">
            <a:avLst/>
          </a:prstGeom>
          <a:noFill/>
          <a:ln/>
        </p:spPr>
        <p:txBody>
          <a:bodyPr wrap="square" lIns="0" tIns="0" rIns="0" bIns="0" rtlCol="0" anchor="ctr"/>
          <a:lstStyle/>
          <a:p>
            <a:pPr indent="0" marL="0">
              <a:buNone/>
            </a:pPr>
            <a:r>
              <a:rPr lang="en-US" sz="2200" b="1" dirty="0">
                <a:solidFill>
                  <a:schemeClr val="accent1"/>
                </a:solidFill>
              </a:rPr>
              <a:t>≈63–64%</a:t>
            </a:r>
            <a:endParaRPr lang="en-US" sz="2200" dirty="0"/>
          </a:p>
        </p:txBody>
      </p:sp>
      <p:sp>
        <p:nvSpPr>
          <p:cNvPr id="23" name="Text 19"/>
          <p:cNvSpPr txBox="1"/>
          <p:nvPr/>
        </p:nvSpPr>
        <p:spPr>
          <a:xfrm>
            <a:off x="2761488" y="5705856"/>
            <a:ext cx="1408176" cy="310896"/>
          </a:xfrm>
          <a:prstGeom prst="rect">
            <a:avLst/>
          </a:prstGeom>
          <a:noFill/>
          <a:ln/>
        </p:spPr>
        <p:txBody>
          <a:bodyPr wrap="square" lIns="0" tIns="0" rIns="0" bIns="0" rtlCol="0" anchor="b"/>
          <a:lstStyle/>
          <a:p>
            <a:pPr indent="0" marL="0">
              <a:buNone/>
            </a:pPr>
            <a:r>
              <a:rPr lang="en-US" sz="1100" dirty="0">
                <a:solidFill>
                  <a:schemeClr val="accent4"/>
                </a:solidFill>
              </a:rPr>
              <a:t>accuracy, filtered</a:t>
            </a:r>
            <a:endParaRPr lang="en-US" sz="1100" dirty="0"/>
          </a:p>
        </p:txBody>
      </p:sp>
      <p:sp>
        <p:nvSpPr>
          <p:cNvPr id="24" name="Shape 20"/>
          <p:cNvSpPr/>
          <p:nvPr/>
        </p:nvSpPr>
        <p:spPr>
          <a:xfrm>
            <a:off x="4443984" y="4709160"/>
            <a:ext cx="1719072" cy="1417320"/>
          </a:xfrm>
          <a:prstGeom prst="roundRect">
            <a:avLst>
              <a:gd name="adj" fmla="val 5161"/>
            </a:avLst>
          </a:prstGeom>
          <a:solidFill>
            <a:schemeClr val="bg2"/>
          </a:solidFill>
          <a:ln w="9525">
            <a:solidFill>
              <a:schemeClr val="accent4">
                <a:alpha val="0"/>
              </a:schemeClr>
            </a:solidFill>
            <a:prstDash val="solid"/>
          </a:ln>
        </p:spPr>
      </p:sp>
      <p:sp>
        <p:nvSpPr>
          <p:cNvPr id="25" name="Text 21"/>
          <p:cNvSpPr txBox="1"/>
          <p:nvPr/>
        </p:nvSpPr>
        <p:spPr>
          <a:xfrm>
            <a:off x="4608576" y="4837176"/>
            <a:ext cx="1389888" cy="201168"/>
          </a:xfrm>
          <a:prstGeom prst="rect">
            <a:avLst/>
          </a:prstGeom>
          <a:noFill/>
          <a:ln/>
        </p:spPr>
        <p:txBody>
          <a:bodyPr wrap="square" lIns="0" tIns="0" rIns="0" bIns="0" rtlCol="0" anchor="t"/>
          <a:lstStyle/>
          <a:p>
            <a:pPr indent="0" marL="0">
              <a:buNone/>
            </a:pPr>
            <a:r>
              <a:rPr lang="en-US" sz="1000" b="1" spc="100" kern="0" dirty="0">
                <a:solidFill>
                  <a:schemeClr val="accent4"/>
                </a:solidFill>
              </a:rPr>
              <a:t>COVERAGE</a:t>
            </a:r>
            <a:endParaRPr lang="en-US" sz="1000" dirty="0"/>
          </a:p>
        </p:txBody>
      </p:sp>
      <p:sp>
        <p:nvSpPr>
          <p:cNvPr id="26" name="Text 22"/>
          <p:cNvSpPr txBox="1"/>
          <p:nvPr/>
        </p:nvSpPr>
        <p:spPr>
          <a:xfrm>
            <a:off x="4608576" y="5056632"/>
            <a:ext cx="1389888" cy="594360"/>
          </a:xfrm>
          <a:prstGeom prst="rect">
            <a:avLst/>
          </a:prstGeom>
          <a:noFill/>
          <a:ln/>
        </p:spPr>
        <p:txBody>
          <a:bodyPr wrap="square" lIns="0" tIns="0" rIns="0" bIns="0" rtlCol="0" anchor="ctr"/>
          <a:lstStyle/>
          <a:p>
            <a:pPr indent="0" marL="0">
              <a:buNone/>
            </a:pPr>
            <a:r>
              <a:rPr lang="en-US" sz="2200" b="1" dirty="0">
                <a:solidFill>
                  <a:schemeClr val="tx1"/>
                </a:solidFill>
              </a:rPr>
              <a:t>≈16–28%</a:t>
            </a:r>
            <a:endParaRPr lang="en-US" sz="2200" dirty="0"/>
          </a:p>
        </p:txBody>
      </p:sp>
      <p:sp>
        <p:nvSpPr>
          <p:cNvPr id="27" name="Text 23"/>
          <p:cNvSpPr txBox="1"/>
          <p:nvPr/>
        </p:nvSpPr>
        <p:spPr>
          <a:xfrm>
            <a:off x="4608576" y="5705856"/>
            <a:ext cx="1389888" cy="310896"/>
          </a:xfrm>
          <a:prstGeom prst="rect">
            <a:avLst/>
          </a:prstGeom>
          <a:noFill/>
          <a:ln/>
        </p:spPr>
        <p:txBody>
          <a:bodyPr wrap="square" lIns="0" tIns="0" rIns="0" bIns="0" rtlCol="0" anchor="b"/>
          <a:lstStyle/>
          <a:p>
            <a:pPr indent="0" marL="0">
              <a:buNone/>
            </a:pPr>
            <a:r>
              <a:rPr lang="en-US" sz="1100" dirty="0">
                <a:solidFill>
                  <a:schemeClr val="accent4"/>
                </a:solidFill>
              </a:rPr>
              <a:t>falls as threshold rises</a:t>
            </a:r>
            <a:endParaRPr lang="en-US" sz="1100" dirty="0"/>
          </a:p>
        </p:txBody>
      </p:sp>
      <p:sp>
        <p:nvSpPr>
          <p:cNvPr id="28" name="Shape 24"/>
          <p:cNvSpPr/>
          <p:nvPr/>
        </p:nvSpPr>
        <p:spPr>
          <a:xfrm>
            <a:off x="6537960" y="1508760"/>
            <a:ext cx="5102352" cy="2651760"/>
          </a:xfrm>
          <a:prstGeom prst="roundRect">
            <a:avLst>
              <a:gd name="adj" fmla="val 275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9" name="Text 25"/>
          <p:cNvSpPr txBox="1"/>
          <p:nvPr/>
        </p:nvSpPr>
        <p:spPr>
          <a:xfrm>
            <a:off x="6739128" y="1645920"/>
            <a:ext cx="475488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RELATIVE-IV CLASSIFICATION  ·  983 OBSERVATIONS</a:t>
            </a:r>
            <a:endParaRPr lang="en-US" sz="1000" dirty="0"/>
          </a:p>
        </p:txBody>
      </p:sp>
      <p:graphicFrame>
        <p:nvGraphicFramePr>
          <p:cNvPr id="30" name="Chart 1" descr=""/>
          <p:cNvGraphicFramePr/>
          <p:nvPr/>
        </p:nvGraphicFramePr>
        <p:xfrm>
          <a:off x="6629400" y="1920240"/>
          <a:ext cx="2240280" cy="2103120"/>
        </p:xfrm>
        <a:graphic xmlns:a="http://schemas.openxmlformats.org/drawingml/2006/main">
          <a:graphicData uri="http://schemas.openxmlformats.org/drawingml/2006/chart">
            <c:chart xmlns:c="http://schemas.openxmlformats.org/drawingml/2006/chart" r:id="rId2"/>
          </a:graphicData>
        </a:graphic>
      </p:graphicFrame>
      <p:sp>
        <p:nvSpPr>
          <p:cNvPr id="31" name="Shape 26"/>
          <p:cNvSpPr/>
          <p:nvPr/>
        </p:nvSpPr>
        <p:spPr>
          <a:xfrm>
            <a:off x="9006840" y="2167128"/>
            <a:ext cx="146304" cy="146304"/>
          </a:xfrm>
          <a:prstGeom prst="rect">
            <a:avLst/>
          </a:prstGeom>
          <a:solidFill>
            <a:srgbClr val="B6C2D2"/>
          </a:solidFill>
          <a:ln/>
        </p:spPr>
      </p:sp>
      <p:sp>
        <p:nvSpPr>
          <p:cNvPr id="32" name="Text 27"/>
          <p:cNvSpPr txBox="1"/>
          <p:nvPr/>
        </p:nvSpPr>
        <p:spPr>
          <a:xfrm>
            <a:off x="9235440" y="2103120"/>
            <a:ext cx="1463040" cy="274320"/>
          </a:xfrm>
          <a:prstGeom prst="rect">
            <a:avLst/>
          </a:prstGeom>
          <a:noFill/>
          <a:ln/>
        </p:spPr>
        <p:txBody>
          <a:bodyPr wrap="square" lIns="0" tIns="0" rIns="0" bIns="0" rtlCol="0" anchor="t"/>
          <a:lstStyle/>
          <a:p>
            <a:pPr indent="0" marL="0">
              <a:buNone/>
            </a:pPr>
            <a:r>
              <a:rPr lang="en-US" sz="1200" b="1" dirty="0">
                <a:solidFill>
                  <a:schemeClr val="tx1"/>
                </a:solidFill>
              </a:rPr>
              <a:t>Fair / Neutral</a:t>
            </a:r>
            <a:endParaRPr lang="en-US" sz="1200" dirty="0"/>
          </a:p>
        </p:txBody>
      </p:sp>
      <p:sp>
        <p:nvSpPr>
          <p:cNvPr id="33" name="Text 28"/>
          <p:cNvSpPr txBox="1"/>
          <p:nvPr/>
        </p:nvSpPr>
        <p:spPr>
          <a:xfrm>
            <a:off x="9235440" y="2350008"/>
            <a:ext cx="914400" cy="274320"/>
          </a:xfrm>
          <a:prstGeom prst="rect">
            <a:avLst/>
          </a:prstGeom>
          <a:noFill/>
          <a:ln/>
        </p:spPr>
        <p:txBody>
          <a:bodyPr wrap="square" lIns="0" tIns="0" rIns="0" bIns="0" rtlCol="0" anchor="t"/>
          <a:lstStyle/>
          <a:p>
            <a:pPr indent="0" marL="0">
              <a:buNone/>
            </a:pPr>
            <a:r>
              <a:rPr lang="en-US" sz="1600" b="1" dirty="0">
                <a:solidFill>
                  <a:schemeClr val="accent1"/>
                </a:solidFill>
              </a:rPr>
              <a:t>766</a:t>
            </a:r>
            <a:endParaRPr lang="en-US" sz="1600" dirty="0"/>
          </a:p>
        </p:txBody>
      </p:sp>
      <p:sp>
        <p:nvSpPr>
          <p:cNvPr id="34" name="Text 29"/>
          <p:cNvSpPr txBox="1"/>
          <p:nvPr/>
        </p:nvSpPr>
        <p:spPr>
          <a:xfrm>
            <a:off x="10149840" y="2350008"/>
            <a:ext cx="1371600" cy="274320"/>
          </a:xfrm>
          <a:prstGeom prst="rect">
            <a:avLst/>
          </a:prstGeom>
          <a:noFill/>
          <a:ln/>
        </p:spPr>
        <p:txBody>
          <a:bodyPr wrap="square" lIns="0" tIns="0" rIns="0" bIns="0" rtlCol="0" anchor="t"/>
          <a:lstStyle/>
          <a:p>
            <a:pPr algn="r" indent="0" marL="0">
              <a:buNone/>
            </a:pPr>
            <a:r>
              <a:rPr lang="en-US" sz="1600" b="1" dirty="0">
                <a:solidFill>
                  <a:schemeClr val="tx1"/>
                </a:solidFill>
              </a:rPr>
              <a:t>77.92%</a:t>
            </a:r>
            <a:endParaRPr lang="en-US" sz="1600" dirty="0"/>
          </a:p>
        </p:txBody>
      </p:sp>
      <p:sp>
        <p:nvSpPr>
          <p:cNvPr id="35" name="Shape 30"/>
          <p:cNvSpPr/>
          <p:nvPr/>
        </p:nvSpPr>
        <p:spPr>
          <a:xfrm>
            <a:off x="9006840" y="2734056"/>
            <a:ext cx="146304" cy="146304"/>
          </a:xfrm>
          <a:prstGeom prst="rect">
            <a:avLst/>
          </a:prstGeom>
          <a:solidFill>
            <a:srgbClr val="0E9AA7"/>
          </a:solidFill>
          <a:ln/>
        </p:spPr>
      </p:sp>
      <p:sp>
        <p:nvSpPr>
          <p:cNvPr id="36" name="Text 31"/>
          <p:cNvSpPr txBox="1"/>
          <p:nvPr/>
        </p:nvSpPr>
        <p:spPr>
          <a:xfrm>
            <a:off x="9235440" y="2670048"/>
            <a:ext cx="1463040" cy="274320"/>
          </a:xfrm>
          <a:prstGeom prst="rect">
            <a:avLst/>
          </a:prstGeom>
          <a:noFill/>
          <a:ln/>
        </p:spPr>
        <p:txBody>
          <a:bodyPr wrap="square" lIns="0" tIns="0" rIns="0" bIns="0" rtlCol="0" anchor="t"/>
          <a:lstStyle/>
          <a:p>
            <a:pPr indent="0" marL="0">
              <a:buNone/>
            </a:pPr>
            <a:r>
              <a:rPr lang="en-US" sz="1200" b="1" dirty="0">
                <a:solidFill>
                  <a:schemeClr val="tx1"/>
                </a:solidFill>
              </a:rPr>
              <a:t>High IV vs forecast</a:t>
            </a:r>
            <a:endParaRPr lang="en-US" sz="1200" dirty="0"/>
          </a:p>
        </p:txBody>
      </p:sp>
      <p:sp>
        <p:nvSpPr>
          <p:cNvPr id="37" name="Text 32"/>
          <p:cNvSpPr txBox="1"/>
          <p:nvPr/>
        </p:nvSpPr>
        <p:spPr>
          <a:xfrm>
            <a:off x="9235440" y="2916936"/>
            <a:ext cx="914400" cy="274320"/>
          </a:xfrm>
          <a:prstGeom prst="rect">
            <a:avLst/>
          </a:prstGeom>
          <a:noFill/>
          <a:ln/>
        </p:spPr>
        <p:txBody>
          <a:bodyPr wrap="square" lIns="0" tIns="0" rIns="0" bIns="0" rtlCol="0" anchor="t"/>
          <a:lstStyle/>
          <a:p>
            <a:pPr indent="0" marL="0">
              <a:buNone/>
            </a:pPr>
            <a:r>
              <a:rPr lang="en-US" sz="1600" b="1" dirty="0">
                <a:solidFill>
                  <a:schemeClr val="accent1"/>
                </a:solidFill>
              </a:rPr>
              <a:t>152</a:t>
            </a:r>
            <a:endParaRPr lang="en-US" sz="1600" dirty="0"/>
          </a:p>
        </p:txBody>
      </p:sp>
      <p:sp>
        <p:nvSpPr>
          <p:cNvPr id="38" name="Text 33"/>
          <p:cNvSpPr txBox="1"/>
          <p:nvPr/>
        </p:nvSpPr>
        <p:spPr>
          <a:xfrm>
            <a:off x="10149840" y="2916936"/>
            <a:ext cx="1371600" cy="274320"/>
          </a:xfrm>
          <a:prstGeom prst="rect">
            <a:avLst/>
          </a:prstGeom>
          <a:noFill/>
          <a:ln/>
        </p:spPr>
        <p:txBody>
          <a:bodyPr wrap="square" lIns="0" tIns="0" rIns="0" bIns="0" rtlCol="0" anchor="t"/>
          <a:lstStyle/>
          <a:p>
            <a:pPr algn="r" indent="0" marL="0">
              <a:buNone/>
            </a:pPr>
            <a:r>
              <a:rPr lang="en-US" sz="1600" b="1" dirty="0">
                <a:solidFill>
                  <a:schemeClr val="tx1"/>
                </a:solidFill>
              </a:rPr>
              <a:t>15.46%</a:t>
            </a:r>
            <a:endParaRPr lang="en-US" sz="1600" dirty="0"/>
          </a:p>
        </p:txBody>
      </p:sp>
      <p:sp>
        <p:nvSpPr>
          <p:cNvPr id="39" name="Shape 34"/>
          <p:cNvSpPr/>
          <p:nvPr/>
        </p:nvSpPr>
        <p:spPr>
          <a:xfrm>
            <a:off x="9006840" y="3300984"/>
            <a:ext cx="146304" cy="146304"/>
          </a:xfrm>
          <a:prstGeom prst="rect">
            <a:avLst/>
          </a:prstGeom>
          <a:solidFill>
            <a:srgbClr val="10264A"/>
          </a:solidFill>
          <a:ln/>
        </p:spPr>
      </p:sp>
      <p:sp>
        <p:nvSpPr>
          <p:cNvPr id="40" name="Text 35"/>
          <p:cNvSpPr txBox="1"/>
          <p:nvPr/>
        </p:nvSpPr>
        <p:spPr>
          <a:xfrm>
            <a:off x="9235440" y="3236976"/>
            <a:ext cx="1463040" cy="274320"/>
          </a:xfrm>
          <a:prstGeom prst="rect">
            <a:avLst/>
          </a:prstGeom>
          <a:noFill/>
          <a:ln/>
        </p:spPr>
        <p:txBody>
          <a:bodyPr wrap="square" lIns="0" tIns="0" rIns="0" bIns="0" rtlCol="0" anchor="t"/>
          <a:lstStyle/>
          <a:p>
            <a:pPr indent="0" marL="0">
              <a:buNone/>
            </a:pPr>
            <a:r>
              <a:rPr lang="en-US" sz="1200" b="1" dirty="0">
                <a:solidFill>
                  <a:schemeClr val="tx1"/>
                </a:solidFill>
              </a:rPr>
              <a:t>Low IV vs forecast</a:t>
            </a:r>
            <a:endParaRPr lang="en-US" sz="1200" dirty="0"/>
          </a:p>
        </p:txBody>
      </p:sp>
      <p:sp>
        <p:nvSpPr>
          <p:cNvPr id="41" name="Text 36"/>
          <p:cNvSpPr txBox="1"/>
          <p:nvPr/>
        </p:nvSpPr>
        <p:spPr>
          <a:xfrm>
            <a:off x="9235440" y="3483864"/>
            <a:ext cx="914400" cy="274320"/>
          </a:xfrm>
          <a:prstGeom prst="rect">
            <a:avLst/>
          </a:prstGeom>
          <a:noFill/>
          <a:ln/>
        </p:spPr>
        <p:txBody>
          <a:bodyPr wrap="square" lIns="0" tIns="0" rIns="0" bIns="0" rtlCol="0" anchor="t"/>
          <a:lstStyle/>
          <a:p>
            <a:pPr indent="0" marL="0">
              <a:buNone/>
            </a:pPr>
            <a:r>
              <a:rPr lang="en-US" sz="1600" b="1" dirty="0">
                <a:solidFill>
                  <a:schemeClr val="accent1"/>
                </a:solidFill>
              </a:rPr>
              <a:t>65</a:t>
            </a:r>
            <a:endParaRPr lang="en-US" sz="1600" dirty="0"/>
          </a:p>
        </p:txBody>
      </p:sp>
      <p:sp>
        <p:nvSpPr>
          <p:cNvPr id="42" name="Text 37"/>
          <p:cNvSpPr txBox="1"/>
          <p:nvPr/>
        </p:nvSpPr>
        <p:spPr>
          <a:xfrm>
            <a:off x="10149840" y="3483864"/>
            <a:ext cx="1371600" cy="274320"/>
          </a:xfrm>
          <a:prstGeom prst="rect">
            <a:avLst/>
          </a:prstGeom>
          <a:noFill/>
          <a:ln/>
        </p:spPr>
        <p:txBody>
          <a:bodyPr wrap="square" lIns="0" tIns="0" rIns="0" bIns="0" rtlCol="0" anchor="t"/>
          <a:lstStyle/>
          <a:p>
            <a:pPr algn="r" indent="0" marL="0">
              <a:buNone/>
            </a:pPr>
            <a:r>
              <a:rPr lang="en-US" sz="1600" b="1" dirty="0">
                <a:solidFill>
                  <a:schemeClr val="tx1"/>
                </a:solidFill>
              </a:rPr>
              <a:t>6.61%</a:t>
            </a:r>
            <a:endParaRPr lang="en-US" sz="1600" dirty="0"/>
          </a:p>
        </p:txBody>
      </p:sp>
      <p:sp>
        <p:nvSpPr>
          <p:cNvPr id="43" name="Text 38"/>
          <p:cNvSpPr txBox="1"/>
          <p:nvPr/>
        </p:nvSpPr>
        <p:spPr>
          <a:xfrm>
            <a:off x="9006840" y="3776472"/>
            <a:ext cx="2560320" cy="365760"/>
          </a:xfrm>
          <a:prstGeom prst="rect">
            <a:avLst/>
          </a:prstGeom>
          <a:noFill/>
          <a:ln/>
        </p:spPr>
        <p:txBody>
          <a:bodyPr wrap="square" lIns="0" tIns="0" rIns="0" bIns="0" rtlCol="0" anchor="t"/>
          <a:lstStyle/>
          <a:p>
            <a:pPr indent="0" marL="0">
              <a:buNone/>
            </a:pPr>
            <a:r>
              <a:rPr lang="en-US" sz="1000" i="1" dirty="0">
                <a:solidFill>
                  <a:schemeClr val="accent4"/>
                </a:solidFill>
              </a:rPr>
              <a:t>Most observations were neutral because the model forecast only a small near-term IV change.</a:t>
            </a:r>
            <a:endParaRPr lang="en-US" sz="1000" dirty="0"/>
          </a:p>
        </p:txBody>
      </p:sp>
      <p:sp>
        <p:nvSpPr>
          <p:cNvPr id="44" name="Shape 39"/>
          <p:cNvSpPr/>
          <p:nvPr/>
        </p:nvSpPr>
        <p:spPr>
          <a:xfrm>
            <a:off x="6537960" y="4297680"/>
            <a:ext cx="5102352" cy="1051560"/>
          </a:xfrm>
          <a:prstGeom prst="roundRect">
            <a:avLst>
              <a:gd name="adj" fmla="val 6957"/>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45" name="Text 40"/>
          <p:cNvSpPr txBox="1"/>
          <p:nvPr/>
        </p:nvSpPr>
        <p:spPr>
          <a:xfrm>
            <a:off x="6739128" y="4407408"/>
            <a:ext cx="45720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PROBABILITY EXPERIMENT</a:t>
            </a:r>
            <a:endParaRPr lang="en-US" sz="1000" dirty="0"/>
          </a:p>
        </p:txBody>
      </p:sp>
      <p:sp>
        <p:nvSpPr>
          <p:cNvPr id="46" name="Text 41"/>
          <p:cNvSpPr txBox="1"/>
          <p:nvPr/>
        </p:nvSpPr>
        <p:spPr>
          <a:xfrm>
            <a:off x="6739128" y="4645152"/>
            <a:ext cx="4754880" cy="640080"/>
          </a:xfrm>
          <a:prstGeom prst="rect">
            <a:avLst/>
          </a:prstGeom>
          <a:noFill/>
          <a:ln/>
        </p:spPr>
        <p:txBody>
          <a:bodyPr wrap="square" lIns="0" tIns="0" rIns="0" bIns="0" rtlCol="0" anchor="t"/>
          <a:lstStyle/>
          <a:p>
            <a:pPr indent="0" marL="0">
              <a:buNone/>
            </a:pPr>
            <a:r>
              <a:rPr lang="en-US" sz="1200" b="1" dirty="0">
                <a:solidFill>
                  <a:schemeClr val="tx1"/>
                </a:solidFill>
              </a:rPr>
              <a:t>Random Forest classifier: </a:t>
            </a:r>
            <a:pPr indent="0" marL="0">
              <a:buNone/>
            </a:pPr>
            <a:r>
              <a:rPr lang="en-US" sz="1200" dirty="0">
                <a:solidFill>
                  <a:schemeClr val="tx1"/>
                </a:solidFill>
              </a:rPr>
              <a:t>50.36% overall accuracy; 51.44% balanced accuracy. Probability scores were therefore not treated as reliable trading confidence.</a:t>
            </a:r>
            <a:endParaRPr lang="en-US" sz="1200" dirty="0"/>
          </a:p>
        </p:txBody>
      </p:sp>
      <p:sp>
        <p:nvSpPr>
          <p:cNvPr id="47" name="Shape 42"/>
          <p:cNvSpPr/>
          <p:nvPr/>
        </p:nvSpPr>
        <p:spPr>
          <a:xfrm>
            <a:off x="6537960" y="5486400"/>
            <a:ext cx="5102352" cy="822960"/>
          </a:xfrm>
          <a:prstGeom prst="roundRect">
            <a:avLst>
              <a:gd name="adj" fmla="val 8889"/>
            </a:avLst>
          </a:prstGeom>
          <a:solidFill>
            <a:schemeClr val="tx2"/>
          </a:solidFill>
          <a:ln w="9525">
            <a:solidFill>
              <a:schemeClr val="accent6">
                <a:alpha val="30000"/>
              </a:schemeClr>
            </a:solidFill>
            <a:prstDash val="solid"/>
          </a:ln>
        </p:spPr>
      </p:sp>
      <p:sp>
        <p:nvSpPr>
          <p:cNvPr id="48" name="Text 43"/>
          <p:cNvSpPr txBox="1"/>
          <p:nvPr/>
        </p:nvSpPr>
        <p:spPr>
          <a:xfrm>
            <a:off x="6739128" y="5532120"/>
            <a:ext cx="4754880" cy="731520"/>
          </a:xfrm>
          <a:prstGeom prst="rect">
            <a:avLst/>
          </a:prstGeom>
          <a:noFill/>
          <a:ln/>
        </p:spPr>
        <p:txBody>
          <a:bodyPr wrap="square" lIns="0" tIns="0" rIns="0" bIns="0" rtlCol="0" anchor="ctr"/>
          <a:lstStyle/>
          <a:p>
            <a:pPr indent="0" marL="0">
              <a:buNone/>
            </a:pPr>
            <a:r>
              <a:rPr lang="en-US" sz="1200" b="1" dirty="0">
                <a:solidFill>
                  <a:schemeClr val="accent6"/>
                </a:solidFill>
              </a:rPr>
              <a:t>How to read “Low IV”: </a:t>
            </a:r>
            <a:pPr indent="0" marL="0">
              <a:buNone/>
            </a:pPr>
            <a:r>
              <a:rPr lang="en-US" sz="1200" dirty="0">
                <a:solidFill>
                  <a:schemeClr val="bg1"/>
                </a:solidFill>
              </a:rPr>
              <a:t>current IV is below the model’s five-minute forecast. It does not automatically mean the option is cheap or should be bought.</a:t>
            </a:r>
            <a:endParaRPr lang="en-US" sz="120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12  ·  PRACTICAL APPLICATIONS AND RISK STRESS TESTING</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Applications: stress-testing a near-ATM 23,150 CE</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Linking forecasts to option valuation, risk and a live-market workflow</a:t>
            </a:r>
            <a:endParaRPr lang="en-US" sz="1400" dirty="0"/>
          </a:p>
        </p:txBody>
      </p:sp>
      <p:sp>
        <p:nvSpPr>
          <p:cNvPr id="6" name="Text 3"/>
          <p:cNvSpPr txBox="1"/>
          <p:nvPr/>
        </p:nvSpPr>
        <p:spPr>
          <a:xfrm>
            <a:off x="548640" y="1463040"/>
            <a:ext cx="6400800" cy="274320"/>
          </a:xfrm>
          <a:prstGeom prst="rect">
            <a:avLst/>
          </a:prstGeom>
          <a:noFill/>
          <a:ln/>
        </p:spPr>
        <p:txBody>
          <a:bodyPr wrap="square" lIns="0" tIns="0" rIns="0" bIns="0" rtlCol="0" anchor="t"/>
          <a:lstStyle/>
          <a:p>
            <a:pPr indent="0" marL="0">
              <a:buNone/>
            </a:pPr>
            <a:r>
              <a:rPr lang="en-US" sz="1600" b="1" dirty="0">
                <a:solidFill>
                  <a:schemeClr val="accent1"/>
                </a:solidFill>
              </a:rPr>
              <a:t>Stress-test case: near-ATM 23,150 CE</a:t>
            </a:r>
            <a:endParaRPr lang="en-US" sz="1600" dirty="0"/>
          </a:p>
        </p:txBody>
      </p:sp>
      <p:sp>
        <p:nvSpPr>
          <p:cNvPr id="7" name="Shape 4"/>
          <p:cNvSpPr/>
          <p:nvPr/>
        </p:nvSpPr>
        <p:spPr>
          <a:xfrm>
            <a:off x="548640" y="1828800"/>
            <a:ext cx="1188720" cy="960120"/>
          </a:xfrm>
          <a:prstGeom prst="roundRect">
            <a:avLst>
              <a:gd name="adj" fmla="val 761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8" name="Text 5"/>
          <p:cNvSpPr txBox="1"/>
          <p:nvPr/>
        </p:nvSpPr>
        <p:spPr>
          <a:xfrm>
            <a:off x="640080" y="1901952"/>
            <a:ext cx="1051560" cy="182880"/>
          </a:xfrm>
          <a:prstGeom prst="rect">
            <a:avLst/>
          </a:prstGeom>
          <a:noFill/>
          <a:ln/>
        </p:spPr>
        <p:txBody>
          <a:bodyPr wrap="square" lIns="0" tIns="0" rIns="0" bIns="0" rtlCol="0" anchor="t"/>
          <a:lstStyle/>
          <a:p>
            <a:pPr indent="0" marL="0">
              <a:buNone/>
            </a:pPr>
            <a:r>
              <a:rPr lang="en-US" sz="900" b="1" spc="50" kern="0" dirty="0">
                <a:solidFill>
                  <a:schemeClr val="accent4"/>
                </a:solidFill>
              </a:rPr>
              <a:t>SPOT</a:t>
            </a:r>
            <a:endParaRPr lang="en-US" sz="900" dirty="0"/>
          </a:p>
        </p:txBody>
      </p:sp>
      <p:sp>
        <p:nvSpPr>
          <p:cNvPr id="9" name="Text 6"/>
          <p:cNvSpPr txBox="1"/>
          <p:nvPr/>
        </p:nvSpPr>
        <p:spPr>
          <a:xfrm>
            <a:off x="640080" y="2121408"/>
            <a:ext cx="1051560" cy="365760"/>
          </a:xfrm>
          <a:prstGeom prst="rect">
            <a:avLst/>
          </a:prstGeom>
          <a:noFill/>
          <a:ln/>
        </p:spPr>
        <p:txBody>
          <a:bodyPr wrap="square" lIns="0" tIns="0" rIns="0" bIns="0" rtlCol="0" anchor="ctr"/>
          <a:lstStyle/>
          <a:p>
            <a:pPr indent="0" marL="0">
              <a:buNone/>
            </a:pPr>
            <a:r>
              <a:rPr lang="en-US" sz="1800" b="1" dirty="0">
                <a:solidFill>
                  <a:schemeClr val="tx1"/>
                </a:solidFill>
              </a:rPr>
              <a:t>23,125.65</a:t>
            </a:r>
            <a:endParaRPr lang="en-US" sz="1800" dirty="0"/>
          </a:p>
        </p:txBody>
      </p:sp>
      <p:sp>
        <p:nvSpPr>
          <p:cNvPr id="10" name="Text 7"/>
          <p:cNvSpPr txBox="1"/>
          <p:nvPr/>
        </p:nvSpPr>
        <p:spPr>
          <a:xfrm>
            <a:off x="640080" y="2523744"/>
            <a:ext cx="1051560" cy="201168"/>
          </a:xfrm>
          <a:prstGeom prst="rect">
            <a:avLst/>
          </a:prstGeom>
          <a:noFill/>
          <a:ln/>
        </p:spPr>
        <p:txBody>
          <a:bodyPr wrap="square" lIns="0" tIns="0" rIns="0" bIns="0" rtlCol="0" anchor="t"/>
          <a:lstStyle/>
          <a:p>
            <a:pPr indent="0" marL="0">
              <a:buNone/>
            </a:pPr>
            <a:r>
              <a:rPr lang="en-US" sz="1000" dirty="0">
                <a:solidFill>
                  <a:schemeClr val="accent4"/>
                </a:solidFill>
              </a:rPr>
              <a:t>index level</a:t>
            </a:r>
            <a:endParaRPr lang="en-US" sz="1000" dirty="0"/>
          </a:p>
        </p:txBody>
      </p:sp>
      <p:sp>
        <p:nvSpPr>
          <p:cNvPr id="11" name="Shape 8"/>
          <p:cNvSpPr/>
          <p:nvPr/>
        </p:nvSpPr>
        <p:spPr>
          <a:xfrm>
            <a:off x="1851660" y="1828800"/>
            <a:ext cx="1188720" cy="960120"/>
          </a:xfrm>
          <a:prstGeom prst="roundRect">
            <a:avLst>
              <a:gd name="adj" fmla="val 761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2" name="Text 9"/>
          <p:cNvSpPr txBox="1"/>
          <p:nvPr/>
        </p:nvSpPr>
        <p:spPr>
          <a:xfrm>
            <a:off x="1943100" y="1901952"/>
            <a:ext cx="1051560" cy="182880"/>
          </a:xfrm>
          <a:prstGeom prst="rect">
            <a:avLst/>
          </a:prstGeom>
          <a:noFill/>
          <a:ln/>
        </p:spPr>
        <p:txBody>
          <a:bodyPr wrap="square" lIns="0" tIns="0" rIns="0" bIns="0" rtlCol="0" anchor="t"/>
          <a:lstStyle/>
          <a:p>
            <a:pPr indent="0" marL="0">
              <a:buNone/>
            </a:pPr>
            <a:r>
              <a:rPr lang="en-US" sz="900" b="1" spc="50" kern="0" dirty="0">
                <a:solidFill>
                  <a:schemeClr val="accent4"/>
                </a:solidFill>
              </a:rPr>
              <a:t>MARKET LTP</a:t>
            </a:r>
            <a:endParaRPr lang="en-US" sz="900" dirty="0"/>
          </a:p>
        </p:txBody>
      </p:sp>
      <p:sp>
        <p:nvSpPr>
          <p:cNvPr id="13" name="Text 10"/>
          <p:cNvSpPr txBox="1"/>
          <p:nvPr/>
        </p:nvSpPr>
        <p:spPr>
          <a:xfrm>
            <a:off x="1943100" y="2121408"/>
            <a:ext cx="1051560" cy="365760"/>
          </a:xfrm>
          <a:prstGeom prst="rect">
            <a:avLst/>
          </a:prstGeom>
          <a:noFill/>
          <a:ln/>
        </p:spPr>
        <p:txBody>
          <a:bodyPr wrap="square" lIns="0" tIns="0" rIns="0" bIns="0" rtlCol="0" anchor="ctr"/>
          <a:lstStyle/>
          <a:p>
            <a:pPr indent="0" marL="0">
              <a:buNone/>
            </a:pPr>
            <a:r>
              <a:rPr lang="en-US" sz="1800" b="1" dirty="0">
                <a:solidFill>
                  <a:schemeClr val="tx1"/>
                </a:solidFill>
              </a:rPr>
              <a:t>₹81.70</a:t>
            </a:r>
            <a:endParaRPr lang="en-US" sz="1800" dirty="0"/>
          </a:p>
        </p:txBody>
      </p:sp>
      <p:sp>
        <p:nvSpPr>
          <p:cNvPr id="14" name="Text 11"/>
          <p:cNvSpPr txBox="1"/>
          <p:nvPr/>
        </p:nvSpPr>
        <p:spPr>
          <a:xfrm>
            <a:off x="1943100" y="2523744"/>
            <a:ext cx="1051560" cy="201168"/>
          </a:xfrm>
          <a:prstGeom prst="rect">
            <a:avLst/>
          </a:prstGeom>
          <a:noFill/>
          <a:ln/>
        </p:spPr>
        <p:txBody>
          <a:bodyPr wrap="square" lIns="0" tIns="0" rIns="0" bIns="0" rtlCol="0" anchor="t"/>
          <a:lstStyle/>
          <a:p>
            <a:pPr indent="0" marL="0">
              <a:buNone/>
            </a:pPr>
            <a:r>
              <a:rPr lang="en-US" sz="1000" dirty="0">
                <a:solidFill>
                  <a:schemeClr val="accent4"/>
                </a:solidFill>
              </a:rPr>
              <a:t>option price</a:t>
            </a:r>
            <a:endParaRPr lang="en-US" sz="1000" dirty="0"/>
          </a:p>
        </p:txBody>
      </p:sp>
      <p:sp>
        <p:nvSpPr>
          <p:cNvPr id="15" name="Shape 12"/>
          <p:cNvSpPr/>
          <p:nvPr/>
        </p:nvSpPr>
        <p:spPr>
          <a:xfrm>
            <a:off x="3154680" y="1828800"/>
            <a:ext cx="1188720" cy="960120"/>
          </a:xfrm>
          <a:prstGeom prst="roundRect">
            <a:avLst>
              <a:gd name="adj" fmla="val 761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6" name="Text 13"/>
          <p:cNvSpPr txBox="1"/>
          <p:nvPr/>
        </p:nvSpPr>
        <p:spPr>
          <a:xfrm>
            <a:off x="3246120" y="1901952"/>
            <a:ext cx="1051560" cy="182880"/>
          </a:xfrm>
          <a:prstGeom prst="rect">
            <a:avLst/>
          </a:prstGeom>
          <a:noFill/>
          <a:ln/>
        </p:spPr>
        <p:txBody>
          <a:bodyPr wrap="square" lIns="0" tIns="0" rIns="0" bIns="0" rtlCol="0" anchor="t"/>
          <a:lstStyle/>
          <a:p>
            <a:pPr indent="0" marL="0">
              <a:buNone/>
            </a:pPr>
            <a:r>
              <a:rPr lang="en-US" sz="900" b="1" spc="50" kern="0" dirty="0">
                <a:solidFill>
                  <a:schemeClr val="accent4"/>
                </a:solidFill>
              </a:rPr>
              <a:t>IV</a:t>
            </a:r>
            <a:endParaRPr lang="en-US" sz="900" dirty="0"/>
          </a:p>
        </p:txBody>
      </p:sp>
      <p:sp>
        <p:nvSpPr>
          <p:cNvPr id="17" name="Text 14"/>
          <p:cNvSpPr txBox="1"/>
          <p:nvPr/>
        </p:nvSpPr>
        <p:spPr>
          <a:xfrm>
            <a:off x="3246120" y="2121408"/>
            <a:ext cx="1051560" cy="365760"/>
          </a:xfrm>
          <a:prstGeom prst="rect">
            <a:avLst/>
          </a:prstGeom>
          <a:noFill/>
          <a:ln/>
        </p:spPr>
        <p:txBody>
          <a:bodyPr wrap="square" lIns="0" tIns="0" rIns="0" bIns="0" rtlCol="0" anchor="ctr"/>
          <a:lstStyle/>
          <a:p>
            <a:pPr indent="0" marL="0">
              <a:buNone/>
            </a:pPr>
            <a:r>
              <a:rPr lang="en-US" sz="1800" b="1" dirty="0">
                <a:solidFill>
                  <a:schemeClr val="tx1"/>
                </a:solidFill>
              </a:rPr>
              <a:t>10.71%</a:t>
            </a:r>
            <a:endParaRPr lang="en-US" sz="1800" dirty="0"/>
          </a:p>
        </p:txBody>
      </p:sp>
      <p:sp>
        <p:nvSpPr>
          <p:cNvPr id="18" name="Text 15"/>
          <p:cNvSpPr txBox="1"/>
          <p:nvPr/>
        </p:nvSpPr>
        <p:spPr>
          <a:xfrm>
            <a:off x="3246120" y="2523744"/>
            <a:ext cx="1051560" cy="201168"/>
          </a:xfrm>
          <a:prstGeom prst="rect">
            <a:avLst/>
          </a:prstGeom>
          <a:noFill/>
          <a:ln/>
        </p:spPr>
        <p:txBody>
          <a:bodyPr wrap="square" lIns="0" tIns="0" rIns="0" bIns="0" rtlCol="0" anchor="t"/>
          <a:lstStyle/>
          <a:p>
            <a:pPr indent="0" marL="0">
              <a:buNone/>
            </a:pPr>
            <a:r>
              <a:rPr lang="en-US" sz="1000" dirty="0">
                <a:solidFill>
                  <a:schemeClr val="accent4"/>
                </a:solidFill>
              </a:rPr>
              <a:t>implied vol.</a:t>
            </a:r>
            <a:endParaRPr lang="en-US" sz="1000" dirty="0"/>
          </a:p>
        </p:txBody>
      </p:sp>
      <p:sp>
        <p:nvSpPr>
          <p:cNvPr id="19" name="Shape 16"/>
          <p:cNvSpPr/>
          <p:nvPr/>
        </p:nvSpPr>
        <p:spPr>
          <a:xfrm>
            <a:off x="4457700" y="1828800"/>
            <a:ext cx="1188720" cy="960120"/>
          </a:xfrm>
          <a:prstGeom prst="roundRect">
            <a:avLst>
              <a:gd name="adj" fmla="val 761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0" name="Text 17"/>
          <p:cNvSpPr txBox="1"/>
          <p:nvPr/>
        </p:nvSpPr>
        <p:spPr>
          <a:xfrm>
            <a:off x="4549140" y="1901952"/>
            <a:ext cx="1051560" cy="182880"/>
          </a:xfrm>
          <a:prstGeom prst="rect">
            <a:avLst/>
          </a:prstGeom>
          <a:noFill/>
          <a:ln/>
        </p:spPr>
        <p:txBody>
          <a:bodyPr wrap="square" lIns="0" tIns="0" rIns="0" bIns="0" rtlCol="0" anchor="t"/>
          <a:lstStyle/>
          <a:p>
            <a:pPr indent="0" marL="0">
              <a:buNone/>
            </a:pPr>
            <a:r>
              <a:rPr lang="en-US" sz="900" b="1" spc="50" kern="0" dirty="0">
                <a:solidFill>
                  <a:schemeClr val="accent4"/>
                </a:solidFill>
              </a:rPr>
              <a:t>TIME TO EXPIRY</a:t>
            </a:r>
            <a:endParaRPr lang="en-US" sz="900" dirty="0"/>
          </a:p>
        </p:txBody>
      </p:sp>
      <p:sp>
        <p:nvSpPr>
          <p:cNvPr id="21" name="Text 18"/>
          <p:cNvSpPr txBox="1"/>
          <p:nvPr/>
        </p:nvSpPr>
        <p:spPr>
          <a:xfrm>
            <a:off x="4549140" y="2121408"/>
            <a:ext cx="1051560" cy="365760"/>
          </a:xfrm>
          <a:prstGeom prst="rect">
            <a:avLst/>
          </a:prstGeom>
          <a:noFill/>
          <a:ln/>
        </p:spPr>
        <p:txBody>
          <a:bodyPr wrap="square" lIns="0" tIns="0" rIns="0" bIns="0" rtlCol="0" anchor="ctr"/>
          <a:lstStyle/>
          <a:p>
            <a:pPr indent="0" marL="0">
              <a:buNone/>
            </a:pPr>
            <a:r>
              <a:rPr lang="en-US" sz="1800" b="1" dirty="0">
                <a:solidFill>
                  <a:schemeClr val="tx1"/>
                </a:solidFill>
              </a:rPr>
              <a:t>74.58</a:t>
            </a:r>
            <a:endParaRPr lang="en-US" sz="1800" dirty="0"/>
          </a:p>
        </p:txBody>
      </p:sp>
      <p:sp>
        <p:nvSpPr>
          <p:cNvPr id="22" name="Text 19"/>
          <p:cNvSpPr txBox="1"/>
          <p:nvPr/>
        </p:nvSpPr>
        <p:spPr>
          <a:xfrm>
            <a:off x="4549140" y="2523744"/>
            <a:ext cx="1051560" cy="201168"/>
          </a:xfrm>
          <a:prstGeom prst="rect">
            <a:avLst/>
          </a:prstGeom>
          <a:noFill/>
          <a:ln/>
        </p:spPr>
        <p:txBody>
          <a:bodyPr wrap="square" lIns="0" tIns="0" rIns="0" bIns="0" rtlCol="0" anchor="t"/>
          <a:lstStyle/>
          <a:p>
            <a:pPr indent="0" marL="0">
              <a:buNone/>
            </a:pPr>
            <a:r>
              <a:rPr lang="en-US" sz="1000" dirty="0">
                <a:solidFill>
                  <a:schemeClr val="accent4"/>
                </a:solidFill>
              </a:rPr>
              <a:t>hours</a:t>
            </a:r>
            <a:endParaRPr lang="en-US" sz="1000" dirty="0"/>
          </a:p>
        </p:txBody>
      </p:sp>
      <p:sp>
        <p:nvSpPr>
          <p:cNvPr id="23" name="Shape 20"/>
          <p:cNvSpPr/>
          <p:nvPr/>
        </p:nvSpPr>
        <p:spPr>
          <a:xfrm>
            <a:off x="5760720" y="1828800"/>
            <a:ext cx="1188720" cy="960120"/>
          </a:xfrm>
          <a:prstGeom prst="roundRect">
            <a:avLst>
              <a:gd name="adj" fmla="val 761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4" name="Text 21"/>
          <p:cNvSpPr txBox="1"/>
          <p:nvPr/>
        </p:nvSpPr>
        <p:spPr>
          <a:xfrm>
            <a:off x="5852160" y="1901952"/>
            <a:ext cx="1051560" cy="182880"/>
          </a:xfrm>
          <a:prstGeom prst="rect">
            <a:avLst/>
          </a:prstGeom>
          <a:noFill/>
          <a:ln/>
        </p:spPr>
        <p:txBody>
          <a:bodyPr wrap="square" lIns="0" tIns="0" rIns="0" bIns="0" rtlCol="0" anchor="t"/>
          <a:lstStyle/>
          <a:p>
            <a:pPr indent="0" marL="0">
              <a:buNone/>
            </a:pPr>
            <a:r>
              <a:rPr lang="en-US" sz="900" b="1" spc="50" kern="0" dirty="0">
                <a:solidFill>
                  <a:schemeClr val="accent4"/>
                </a:solidFill>
              </a:rPr>
              <a:t>BLACK–SCHOLES</a:t>
            </a:r>
            <a:endParaRPr lang="en-US" sz="900" dirty="0"/>
          </a:p>
        </p:txBody>
      </p:sp>
      <p:sp>
        <p:nvSpPr>
          <p:cNvPr id="25" name="Text 22"/>
          <p:cNvSpPr txBox="1"/>
          <p:nvPr/>
        </p:nvSpPr>
        <p:spPr>
          <a:xfrm>
            <a:off x="5852160" y="2121408"/>
            <a:ext cx="1051560" cy="365760"/>
          </a:xfrm>
          <a:prstGeom prst="rect">
            <a:avLst/>
          </a:prstGeom>
          <a:noFill/>
          <a:ln/>
        </p:spPr>
        <p:txBody>
          <a:bodyPr wrap="square" lIns="0" tIns="0" rIns="0" bIns="0" rtlCol="0" anchor="ctr"/>
          <a:lstStyle/>
          <a:p>
            <a:pPr indent="0" marL="0">
              <a:buNone/>
            </a:pPr>
            <a:r>
              <a:rPr lang="en-US" sz="1800" b="1" dirty="0">
                <a:solidFill>
                  <a:schemeClr val="accent1"/>
                </a:solidFill>
              </a:rPr>
              <a:t>₹85.07</a:t>
            </a:r>
            <a:endParaRPr lang="en-US" sz="1800" dirty="0"/>
          </a:p>
        </p:txBody>
      </p:sp>
      <p:sp>
        <p:nvSpPr>
          <p:cNvPr id="26" name="Text 23"/>
          <p:cNvSpPr txBox="1"/>
          <p:nvPr/>
        </p:nvSpPr>
        <p:spPr>
          <a:xfrm>
            <a:off x="5852160" y="2523744"/>
            <a:ext cx="1051560" cy="201168"/>
          </a:xfrm>
          <a:prstGeom prst="rect">
            <a:avLst/>
          </a:prstGeom>
          <a:noFill/>
          <a:ln/>
        </p:spPr>
        <p:txBody>
          <a:bodyPr wrap="square" lIns="0" tIns="0" rIns="0" bIns="0" rtlCol="0" anchor="t"/>
          <a:lstStyle/>
          <a:p>
            <a:pPr indent="0" marL="0">
              <a:buNone/>
            </a:pPr>
            <a:r>
              <a:rPr lang="en-US" sz="1000" dirty="0">
                <a:solidFill>
                  <a:schemeClr val="accent4"/>
                </a:solidFill>
              </a:rPr>
              <a:t>model value</a:t>
            </a:r>
            <a:endParaRPr lang="en-US" sz="1000" dirty="0"/>
          </a:p>
        </p:txBody>
      </p:sp>
      <p:sp>
        <p:nvSpPr>
          <p:cNvPr id="27" name="Shape 24"/>
          <p:cNvSpPr/>
          <p:nvPr/>
        </p:nvSpPr>
        <p:spPr>
          <a:xfrm>
            <a:off x="548640" y="2926080"/>
            <a:ext cx="6400800" cy="2423160"/>
          </a:xfrm>
          <a:prstGeom prst="roundRect">
            <a:avLst>
              <a:gd name="adj" fmla="val 301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8" name="Text 25"/>
          <p:cNvSpPr txBox="1"/>
          <p:nvPr/>
        </p:nvSpPr>
        <p:spPr>
          <a:xfrm>
            <a:off x="731520" y="3044952"/>
            <a:ext cx="612648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OPTION VALUE BY SCENARIO  ·  BLACK–SCHOLES, 6% RISK-FREE RATE</a:t>
            </a:r>
            <a:endParaRPr lang="en-US" sz="1000" dirty="0"/>
          </a:p>
        </p:txBody>
      </p:sp>
      <p:graphicFrame>
        <p:nvGraphicFramePr>
          <p:cNvPr id="29" name="Chart 0" descr=""/>
          <p:cNvGraphicFramePr/>
          <p:nvPr/>
        </p:nvGraphicFramePr>
        <p:xfrm>
          <a:off x="640080" y="3246120"/>
          <a:ext cx="6217920" cy="2057400"/>
        </p:xfrm>
        <a:graphic xmlns:a="http://schemas.openxmlformats.org/drawingml/2006/main">
          <a:graphicData uri="http://schemas.openxmlformats.org/drawingml/2006/chart">
            <c:chart xmlns:c="http://schemas.openxmlformats.org/drawingml/2006/chart" r:id="rId1"/>
          </a:graphicData>
        </a:graphic>
      </p:graphicFrame>
      <p:sp>
        <p:nvSpPr>
          <p:cNvPr id="30" name="Shape 26"/>
          <p:cNvSpPr/>
          <p:nvPr/>
        </p:nvSpPr>
        <p:spPr>
          <a:xfrm>
            <a:off x="548640" y="5486400"/>
            <a:ext cx="6400800" cy="822960"/>
          </a:xfrm>
          <a:prstGeom prst="roundRect">
            <a:avLst>
              <a:gd name="adj" fmla="val 8889"/>
            </a:avLst>
          </a:prstGeom>
          <a:solidFill>
            <a:schemeClr val="tx2"/>
          </a:solidFill>
          <a:ln w="9525">
            <a:solidFill>
              <a:schemeClr val="accent6">
                <a:alpha val="30000"/>
              </a:schemeClr>
            </a:solidFill>
            <a:prstDash val="solid"/>
          </a:ln>
        </p:spPr>
      </p:sp>
      <p:sp>
        <p:nvSpPr>
          <p:cNvPr id="31" name="Text 27"/>
          <p:cNvSpPr txBox="1"/>
          <p:nvPr/>
        </p:nvSpPr>
        <p:spPr>
          <a:xfrm>
            <a:off x="731520" y="5532120"/>
            <a:ext cx="6035040" cy="731520"/>
          </a:xfrm>
          <a:prstGeom prst="rect">
            <a:avLst/>
          </a:prstGeom>
          <a:noFill/>
          <a:ln/>
        </p:spPr>
        <p:txBody>
          <a:bodyPr wrap="square" lIns="0" tIns="0" rIns="0" bIns="0" rtlCol="0" anchor="ctr"/>
          <a:lstStyle/>
          <a:p>
            <a:pPr indent="0" marL="0">
              <a:buNone/>
            </a:pPr>
            <a:r>
              <a:rPr lang="en-US" sz="1200" b="1" dirty="0">
                <a:solidFill>
                  <a:schemeClr val="accent6"/>
                </a:solidFill>
              </a:rPr>
              <a:t>Interpretation: </a:t>
            </a:r>
            <a:pPr indent="0" marL="0">
              <a:buNone/>
            </a:pPr>
            <a:r>
              <a:rPr lang="en-US" sz="1200" dirty="0">
                <a:solidFill>
                  <a:schemeClr val="bg1"/>
                </a:solidFill>
              </a:rPr>
              <a:t>for the selected call, spot-price exposure dominated moderate IV and short-horizon time-decay effects. An “IV up” forecast is not automatically a buy signal; scenarios illustrate risk and are not guaranteed trading signals.</a:t>
            </a:r>
            <a:endParaRPr lang="en-US" sz="1200" dirty="0"/>
          </a:p>
        </p:txBody>
      </p:sp>
      <p:sp>
        <p:nvSpPr>
          <p:cNvPr id="32" name="Shape 28"/>
          <p:cNvSpPr/>
          <p:nvPr/>
        </p:nvSpPr>
        <p:spPr>
          <a:xfrm>
            <a:off x="7178040" y="1508760"/>
            <a:ext cx="4462272" cy="2240280"/>
          </a:xfrm>
          <a:prstGeom prst="roundRect">
            <a:avLst>
              <a:gd name="adj" fmla="val 3265"/>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3" name="Text 29"/>
          <p:cNvSpPr txBox="1"/>
          <p:nvPr/>
        </p:nvSpPr>
        <p:spPr>
          <a:xfrm>
            <a:off x="7360920" y="1645920"/>
            <a:ext cx="402336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SELECTED SCENARIO RESULTS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60920" y="1920240"/>
          <a:ext cx="4114800" cy="914400"/>
        </p:xfrm>
        <a:graphic>
          <a:graphicData uri="http://schemas.openxmlformats.org/drawingml/2006/table">
            <a:tbl>
              <a:tblPr/>
              <a:tblGrid>
                <a:gridCol w="1920240"/>
                <a:gridCol w="1097280"/>
                <a:gridCol w="1097280"/>
              </a:tblGrid>
              <a:tr h="274320">
                <a:tc>
                  <a:txBody>
                    <a:bodyPr/>
                    <a:lstStyle/>
                    <a:p>
                      <a:pPr algn="l" indent="0" marL="0">
                        <a:buNone/>
                      </a:pPr>
                      <a:r>
                        <a:rPr lang="en-US" sz="1100" b="1" dirty="0">
                          <a:solidFill>
                            <a:srgbClr val="FFFFFF"/>
                          </a:solidFill>
                        </a:rPr>
                        <a:t>Scenario</a:t>
                      </a:r>
                      <a:endParaRPr lang="en-US" sz="11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0264A"/>
                    </a:solidFill>
                  </a:tcPr>
                </a:tc>
                <a:tc>
                  <a:txBody>
                    <a:bodyPr/>
                    <a:lstStyle/>
                    <a:p>
                      <a:pPr algn="r" indent="0" marL="0">
                        <a:buNone/>
                      </a:pPr>
                      <a:r>
                        <a:rPr lang="en-US" sz="1100" b="1" dirty="0">
                          <a:solidFill>
                            <a:srgbClr val="FFFFFF"/>
                          </a:solidFill>
                        </a:rPr>
                        <a:t>Option value</a:t>
                      </a:r>
                      <a:endParaRPr lang="en-US" sz="11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0264A"/>
                    </a:solidFill>
                  </a:tcPr>
                </a:tc>
                <a:tc>
                  <a:txBody>
                    <a:bodyPr/>
                    <a:lstStyle/>
                    <a:p>
                      <a:pPr algn="r" indent="0" marL="0">
                        <a:buNone/>
                      </a:pPr>
                      <a:r>
                        <a:rPr lang="en-US" sz="1100" b="1" dirty="0">
                          <a:solidFill>
                            <a:srgbClr val="FFFFFF"/>
                          </a:solidFill>
                        </a:rPr>
                        <a:t>Change</a:t>
                      </a:r>
                      <a:endParaRPr lang="en-US" sz="11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10264A"/>
                    </a:solidFill>
                  </a:tcPr>
                </a:tc>
              </a:tr>
              <a:tr h="347472">
                <a:tc>
                  <a:txBody>
                    <a:bodyPr/>
                    <a:lstStyle/>
                    <a:p>
                      <a:pPr indent="0" marL="0">
                        <a:buNone/>
                      </a:pPr>
                      <a:r>
                        <a:rPr lang="en-US" sz="1150" dirty="0">
                          <a:solidFill>
                            <a:srgbClr val="0A1628"/>
                          </a:solidFill>
                        </a:rPr>
                        <a:t>Spot −2%</a:t>
                      </a:r>
                      <a:endParaRPr lang="en-US" sz="115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A1628"/>
                          </a:solidFill>
                        </a:rPr>
                        <a:t>₹1.47</a:t>
                      </a:r>
                      <a:endParaRPr lang="en-US" sz="12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6455A"/>
                          </a:solidFill>
                        </a:rPr>
                        <a:t>−98.28%</a:t>
                      </a:r>
                      <a:endParaRPr lang="en-US" sz="12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347472">
                <a:tc>
                  <a:txBody>
                    <a:bodyPr/>
                    <a:lstStyle/>
                    <a:p>
                      <a:pPr indent="0" marL="0">
                        <a:buNone/>
                      </a:pPr>
                      <a:r>
                        <a:rPr lang="en-US" sz="1150" dirty="0">
                          <a:solidFill>
                            <a:srgbClr val="0A1628"/>
                          </a:solidFill>
                        </a:rPr>
                        <a:t>IV +20%</a:t>
                      </a:r>
                      <a:endParaRPr lang="en-US" sz="115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A1628"/>
                          </a:solidFill>
                        </a:rPr>
                        <a:t>₹103.29</a:t>
                      </a:r>
                      <a:endParaRPr lang="en-US" sz="12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FA971"/>
                          </a:solidFill>
                        </a:rPr>
                        <a:t>+21.41%</a:t>
                      </a:r>
                      <a:endParaRPr lang="en-US" sz="12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0A1628"/>
                          </a:solidFill>
                        </a:rPr>
                        <a:t>Severe spot fall + IV spike</a:t>
                      </a:r>
                      <a:endParaRPr lang="en-US" sz="115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A1628"/>
                          </a:solidFill>
                        </a:rPr>
                        <a:t>₹4.39</a:t>
                      </a:r>
                      <a:endParaRPr lang="en-US" sz="12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6455A"/>
                          </a:solidFill>
                        </a:rPr>
                        <a:t>−94.84%</a:t>
                      </a:r>
                      <a:endParaRPr lang="en-US" sz="12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347472">
                <a:tc>
                  <a:txBody>
                    <a:bodyPr/>
                    <a:lstStyle/>
                    <a:p>
                      <a:pPr indent="0" marL="0">
                        <a:buNone/>
                      </a:pPr>
                      <a:r>
                        <a:rPr lang="en-US" sz="1150" dirty="0">
                          <a:solidFill>
                            <a:srgbClr val="0A1628"/>
                          </a:solidFill>
                        </a:rPr>
                        <a:t>Spot rise + IV crush</a:t>
                      </a:r>
                      <a:endParaRPr lang="en-US" sz="115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A1628"/>
                          </a:solidFill>
                        </a:rPr>
                        <a:t>₹450.42</a:t>
                      </a:r>
                      <a:endParaRPr lang="en-US" sz="12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FA971"/>
                          </a:solidFill>
                        </a:rPr>
                        <a:t>+429.47%</a:t>
                      </a:r>
                      <a:endParaRPr lang="en-US" sz="1200" dirty="0"/>
                    </a:p>
                  </a:txBody>
                  <a:tcPr marL="73152" marR="73152" marT="36576" marB="36576"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bl>
          </a:graphicData>
        </a:graphic>
      </p:graphicFrame>
      <p:sp>
        <p:nvSpPr>
          <p:cNvPr id="35" name="Shape 30"/>
          <p:cNvSpPr/>
          <p:nvPr/>
        </p:nvSpPr>
        <p:spPr>
          <a:xfrm>
            <a:off x="7178040" y="3886200"/>
            <a:ext cx="4462272" cy="1783080"/>
          </a:xfrm>
          <a:prstGeom prst="roundRect">
            <a:avLst>
              <a:gd name="adj" fmla="val 4103"/>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6" name="Text 31"/>
          <p:cNvSpPr txBox="1"/>
          <p:nvPr/>
        </p:nvSpPr>
        <p:spPr>
          <a:xfrm>
            <a:off x="7360920" y="4005072"/>
            <a:ext cx="402336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PRACTICAL APPLICATION</a:t>
            </a:r>
            <a:endParaRPr lang="en-US" sz="1000" dirty="0"/>
          </a:p>
        </p:txBody>
      </p:sp>
      <p:sp>
        <p:nvSpPr>
          <p:cNvPr id="37" name="Text 32"/>
          <p:cNvSpPr txBox="1"/>
          <p:nvPr/>
        </p:nvSpPr>
        <p:spPr>
          <a:xfrm>
            <a:off x="7360920" y="4242816"/>
            <a:ext cx="4114800" cy="137160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1"/>
                </a:solidFill>
              </a:rPr>
              <a:t>Screen current IV against the model’s expected 5-minute IV.</a:t>
            </a:r>
            <a:endParaRPr lang="en-US" sz="1100" dirty="0"/>
          </a:p>
          <a:p>
            <a:pPr marL="342900" indent="-342900">
              <a:spcAft>
                <a:spcPts val="300"/>
              </a:spcAft>
              <a:buSzPct val="100000"/>
              <a:buChar char="•"/>
            </a:pPr>
            <a:r>
              <a:rPr lang="en-US" sz="1100" dirty="0">
                <a:solidFill>
                  <a:schemeClr val="tx1"/>
                </a:solidFill>
              </a:rPr>
              <a:t>Monitor volatility smile, moneyness, liquidity and model output together.</a:t>
            </a:r>
            <a:endParaRPr lang="en-US" sz="1100" dirty="0"/>
          </a:p>
          <a:p>
            <a:pPr marL="342900" indent="-342900">
              <a:spcAft>
                <a:spcPts val="300"/>
              </a:spcAft>
              <a:buSzPct val="100000"/>
              <a:buChar char="•"/>
            </a:pPr>
            <a:r>
              <a:rPr lang="en-US" sz="1100" dirty="0">
                <a:solidFill>
                  <a:schemeClr val="tx1"/>
                </a:solidFill>
              </a:rPr>
              <a:t>Stress-test how spot and IV shocks change theoretical option value.</a:t>
            </a:r>
            <a:endParaRPr lang="en-US" sz="1100" dirty="0"/>
          </a:p>
          <a:p>
            <a:pPr marL="342900" indent="-342900">
              <a:spcAft>
                <a:spcPts val="300"/>
              </a:spcAft>
              <a:buSzPct val="100000"/>
              <a:buChar char="•"/>
            </a:pPr>
            <a:r>
              <a:rPr lang="en-US" sz="1100" dirty="0">
                <a:solidFill>
                  <a:schemeClr val="tx1"/>
                </a:solidFill>
              </a:rPr>
              <a:t>Run an automated Upstox → features → saved RF → Streamlit workflow.</a:t>
            </a:r>
            <a:endParaRPr lang="en-US" sz="1100" dirty="0"/>
          </a:p>
        </p:txBody>
      </p:sp>
      <p:sp>
        <p:nvSpPr>
          <p:cNvPr id="38" name="Shape 33"/>
          <p:cNvSpPr/>
          <p:nvPr/>
        </p:nvSpPr>
        <p:spPr>
          <a:xfrm>
            <a:off x="7178040" y="5806440"/>
            <a:ext cx="4462272" cy="502920"/>
          </a:xfrm>
          <a:prstGeom prst="roundRect">
            <a:avLst>
              <a:gd name="adj" fmla="val 14545"/>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9" name="Text 34"/>
          <p:cNvSpPr txBox="1"/>
          <p:nvPr/>
        </p:nvSpPr>
        <p:spPr>
          <a:xfrm>
            <a:off x="7360920" y="5833872"/>
            <a:ext cx="4114800" cy="457200"/>
          </a:xfrm>
          <a:prstGeom prst="rect">
            <a:avLst/>
          </a:prstGeom>
          <a:noFill/>
          <a:ln/>
        </p:spPr>
        <p:txBody>
          <a:bodyPr wrap="square" lIns="0" tIns="0" rIns="0" bIns="0" rtlCol="0" anchor="ctr"/>
          <a:lstStyle/>
          <a:p>
            <a:pPr indent="0" marL="0">
              <a:buNone/>
            </a:pPr>
            <a:r>
              <a:rPr lang="en-US" sz="1050" b="1" dirty="0">
                <a:solidFill>
                  <a:schemeClr val="accent1"/>
                </a:solidFill>
              </a:rPr>
              <a:t>Skills developed: </a:t>
            </a:r>
            <a:pPr indent="0" marL="0">
              <a:buNone/>
            </a:pPr>
            <a:r>
              <a:rPr lang="en-US" sz="1050" dirty="0">
                <a:solidFill>
                  <a:schemeClr val="tx1"/>
                </a:solidFill>
              </a:rPr>
              <a:t>options analytics · Python/pandas · API integration · ML validation · risk modelling · Streamlit dashboarding</a:t>
            </a:r>
            <a:endParaRPr lang="en-US" sz="105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1"/>
                </a:solidFill>
              </a:rPr>
              <a:t>13  ·  LIMITATIONS AND SCOPE FOR FUTURE RESEARCH</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tx1"/>
                </a:solidFill>
              </a:rPr>
              <a:t>Limitations: expiry day exposed a regime shift</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chemeClr val="accent4"/>
                </a:solidFill>
              </a:rPr>
              <a:t>The expiry-day test exposed a clear regime-shift problem</a:t>
            </a:r>
            <a:endParaRPr lang="en-US" sz="1400" dirty="0"/>
          </a:p>
        </p:txBody>
      </p:sp>
      <p:sp>
        <p:nvSpPr>
          <p:cNvPr id="6" name="Shape 3"/>
          <p:cNvSpPr/>
          <p:nvPr/>
        </p:nvSpPr>
        <p:spPr>
          <a:xfrm>
            <a:off x="548640" y="1508760"/>
            <a:ext cx="5852160" cy="2560320"/>
          </a:xfrm>
          <a:prstGeom prst="roundRect">
            <a:avLst>
              <a:gd name="adj" fmla="val 2857"/>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7" name="Text 4"/>
          <p:cNvSpPr txBox="1"/>
          <p:nvPr/>
        </p:nvSpPr>
        <p:spPr>
          <a:xfrm>
            <a:off x="749808" y="1645920"/>
            <a:ext cx="54864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19 OCT EXPIRY-DAY DETERIORATION  ·  SEPARATE ROBUSTNESS SAMPLE</a:t>
            </a:r>
            <a:endParaRPr lang="en-US" sz="1000" dirty="0"/>
          </a:p>
        </p:txBody>
      </p:sp>
      <p:graphicFrame>
        <p:nvGraphicFramePr>
          <p:cNvPr id="8" name="Chart 0" descr=""/>
          <p:cNvGraphicFramePr/>
          <p:nvPr/>
        </p:nvGraphicFramePr>
        <p:xfrm>
          <a:off x="640080" y="1874520"/>
          <a:ext cx="5669280" cy="214884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548640" y="4206240"/>
            <a:ext cx="1828800" cy="914400"/>
          </a:xfrm>
          <a:prstGeom prst="roundRect">
            <a:avLst>
              <a:gd name="adj" fmla="val 8000"/>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0" name="Text 6"/>
          <p:cNvSpPr txBox="1"/>
          <p:nvPr/>
        </p:nvSpPr>
        <p:spPr>
          <a:xfrm>
            <a:off x="676656" y="4279392"/>
            <a:ext cx="1645920" cy="182880"/>
          </a:xfrm>
          <a:prstGeom prst="rect">
            <a:avLst/>
          </a:prstGeom>
          <a:noFill/>
          <a:ln/>
        </p:spPr>
        <p:txBody>
          <a:bodyPr wrap="square" lIns="0" tIns="0" rIns="0" bIns="0" rtlCol="0" anchor="t"/>
          <a:lstStyle/>
          <a:p>
            <a:pPr indent="0" marL="0">
              <a:buNone/>
            </a:pPr>
            <a:r>
              <a:rPr lang="en-US" sz="950" b="1" spc="50" kern="0" dirty="0">
                <a:solidFill>
                  <a:schemeClr val="accent4"/>
                </a:solidFill>
              </a:rPr>
              <a:t>RF MAE</a:t>
            </a:r>
            <a:endParaRPr lang="en-US" sz="950" dirty="0"/>
          </a:p>
        </p:txBody>
      </p:sp>
      <p:sp>
        <p:nvSpPr>
          <p:cNvPr id="11" name="Text 7"/>
          <p:cNvSpPr txBox="1"/>
          <p:nvPr/>
        </p:nvSpPr>
        <p:spPr>
          <a:xfrm>
            <a:off x="676656" y="4480560"/>
            <a:ext cx="1645920" cy="365760"/>
          </a:xfrm>
          <a:prstGeom prst="rect">
            <a:avLst/>
          </a:prstGeom>
          <a:noFill/>
          <a:ln/>
        </p:spPr>
        <p:txBody>
          <a:bodyPr wrap="square" lIns="0" tIns="0" rIns="0" bIns="0" rtlCol="0" anchor="ctr"/>
          <a:lstStyle/>
          <a:p>
            <a:pPr indent="0" marL="0">
              <a:buNone/>
            </a:pPr>
            <a:r>
              <a:rPr lang="en-US" sz="2400" b="1" dirty="0">
                <a:solidFill>
                  <a:srgbClr val="D6455A"/>
                </a:solidFill>
              </a:rPr>
              <a:t>17.42</a:t>
            </a:r>
            <a:endParaRPr lang="en-US" sz="2400" dirty="0"/>
          </a:p>
        </p:txBody>
      </p:sp>
      <p:sp>
        <p:nvSpPr>
          <p:cNvPr id="12" name="Text 8"/>
          <p:cNvSpPr txBox="1"/>
          <p:nvPr/>
        </p:nvSpPr>
        <p:spPr>
          <a:xfrm>
            <a:off x="676656" y="4864608"/>
            <a:ext cx="1645920" cy="201168"/>
          </a:xfrm>
          <a:prstGeom prst="rect">
            <a:avLst/>
          </a:prstGeom>
          <a:noFill/>
          <a:ln/>
        </p:spPr>
        <p:txBody>
          <a:bodyPr wrap="square" lIns="0" tIns="0" rIns="0" bIns="0" rtlCol="0" anchor="t"/>
          <a:lstStyle/>
          <a:p>
            <a:pPr indent="0" marL="0">
              <a:buNone/>
            </a:pPr>
            <a:r>
              <a:rPr lang="en-US" sz="1050" dirty="0">
                <a:solidFill>
                  <a:schemeClr val="accent4"/>
                </a:solidFill>
              </a:rPr>
              <a:t>expiry day</a:t>
            </a:r>
            <a:endParaRPr lang="en-US" sz="1050" dirty="0"/>
          </a:p>
        </p:txBody>
      </p:sp>
      <p:sp>
        <p:nvSpPr>
          <p:cNvPr id="13" name="Shape 9"/>
          <p:cNvSpPr/>
          <p:nvPr/>
        </p:nvSpPr>
        <p:spPr>
          <a:xfrm>
            <a:off x="2560320" y="4206240"/>
            <a:ext cx="1828800" cy="914400"/>
          </a:xfrm>
          <a:prstGeom prst="roundRect">
            <a:avLst>
              <a:gd name="adj" fmla="val 8000"/>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4" name="Text 10"/>
          <p:cNvSpPr txBox="1"/>
          <p:nvPr/>
        </p:nvSpPr>
        <p:spPr>
          <a:xfrm>
            <a:off x="2688336" y="4279392"/>
            <a:ext cx="1645920" cy="182880"/>
          </a:xfrm>
          <a:prstGeom prst="rect">
            <a:avLst/>
          </a:prstGeom>
          <a:noFill/>
          <a:ln/>
        </p:spPr>
        <p:txBody>
          <a:bodyPr wrap="square" lIns="0" tIns="0" rIns="0" bIns="0" rtlCol="0" anchor="t"/>
          <a:lstStyle/>
          <a:p>
            <a:pPr indent="0" marL="0">
              <a:buNone/>
            </a:pPr>
            <a:r>
              <a:rPr lang="en-US" sz="950" b="1" spc="50" kern="0" dirty="0">
                <a:solidFill>
                  <a:schemeClr val="accent4"/>
                </a:solidFill>
              </a:rPr>
              <a:t>PERSISTENCE</a:t>
            </a:r>
            <a:endParaRPr lang="en-US" sz="950" dirty="0"/>
          </a:p>
        </p:txBody>
      </p:sp>
      <p:sp>
        <p:nvSpPr>
          <p:cNvPr id="15" name="Text 11"/>
          <p:cNvSpPr txBox="1"/>
          <p:nvPr/>
        </p:nvSpPr>
        <p:spPr>
          <a:xfrm>
            <a:off x="2688336" y="4480560"/>
            <a:ext cx="1645920" cy="365760"/>
          </a:xfrm>
          <a:prstGeom prst="rect">
            <a:avLst/>
          </a:prstGeom>
          <a:noFill/>
          <a:ln/>
        </p:spPr>
        <p:txBody>
          <a:bodyPr wrap="square" lIns="0" tIns="0" rIns="0" bIns="0" rtlCol="0" anchor="ctr"/>
          <a:lstStyle/>
          <a:p>
            <a:pPr indent="0" marL="0">
              <a:buNone/>
            </a:pPr>
            <a:r>
              <a:rPr lang="en-US" sz="2400" b="1" dirty="0">
                <a:solidFill>
                  <a:srgbClr val="0A1628"/>
                </a:solidFill>
              </a:rPr>
              <a:t>14.47</a:t>
            </a:r>
            <a:endParaRPr lang="en-US" sz="2400" dirty="0"/>
          </a:p>
        </p:txBody>
      </p:sp>
      <p:sp>
        <p:nvSpPr>
          <p:cNvPr id="16" name="Text 12"/>
          <p:cNvSpPr txBox="1"/>
          <p:nvPr/>
        </p:nvSpPr>
        <p:spPr>
          <a:xfrm>
            <a:off x="2688336" y="4864608"/>
            <a:ext cx="1645920" cy="201168"/>
          </a:xfrm>
          <a:prstGeom prst="rect">
            <a:avLst/>
          </a:prstGeom>
          <a:noFill/>
          <a:ln/>
        </p:spPr>
        <p:txBody>
          <a:bodyPr wrap="square" lIns="0" tIns="0" rIns="0" bIns="0" rtlCol="0" anchor="t"/>
          <a:lstStyle/>
          <a:p>
            <a:pPr indent="0" marL="0">
              <a:buNone/>
            </a:pPr>
            <a:r>
              <a:rPr lang="en-US" sz="1050" dirty="0">
                <a:solidFill>
                  <a:schemeClr val="accent4"/>
                </a:solidFill>
              </a:rPr>
              <a:t>better baseline</a:t>
            </a:r>
            <a:endParaRPr lang="en-US" sz="1050" dirty="0"/>
          </a:p>
        </p:txBody>
      </p:sp>
      <p:sp>
        <p:nvSpPr>
          <p:cNvPr id="17" name="Shape 13"/>
          <p:cNvSpPr/>
          <p:nvPr/>
        </p:nvSpPr>
        <p:spPr>
          <a:xfrm>
            <a:off x="4572000" y="4206240"/>
            <a:ext cx="1828800" cy="914400"/>
          </a:xfrm>
          <a:prstGeom prst="roundRect">
            <a:avLst>
              <a:gd name="adj" fmla="val 8000"/>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18" name="Text 14"/>
          <p:cNvSpPr txBox="1"/>
          <p:nvPr/>
        </p:nvSpPr>
        <p:spPr>
          <a:xfrm>
            <a:off x="4700016" y="4279392"/>
            <a:ext cx="1645920" cy="182880"/>
          </a:xfrm>
          <a:prstGeom prst="rect">
            <a:avLst/>
          </a:prstGeom>
          <a:noFill/>
          <a:ln/>
        </p:spPr>
        <p:txBody>
          <a:bodyPr wrap="square" lIns="0" tIns="0" rIns="0" bIns="0" rtlCol="0" anchor="t"/>
          <a:lstStyle/>
          <a:p>
            <a:pPr indent="0" marL="0">
              <a:buNone/>
            </a:pPr>
            <a:r>
              <a:rPr lang="en-US" sz="950" b="1" spc="50" kern="0" dirty="0">
                <a:solidFill>
                  <a:schemeClr val="accent4"/>
                </a:solidFill>
              </a:rPr>
              <a:t>DIRECTION ACCURACY</a:t>
            </a:r>
            <a:endParaRPr lang="en-US" sz="950" dirty="0"/>
          </a:p>
        </p:txBody>
      </p:sp>
      <p:sp>
        <p:nvSpPr>
          <p:cNvPr id="19" name="Text 15"/>
          <p:cNvSpPr txBox="1"/>
          <p:nvPr/>
        </p:nvSpPr>
        <p:spPr>
          <a:xfrm>
            <a:off x="4700016" y="4480560"/>
            <a:ext cx="1645920" cy="365760"/>
          </a:xfrm>
          <a:prstGeom prst="rect">
            <a:avLst/>
          </a:prstGeom>
          <a:noFill/>
          <a:ln/>
        </p:spPr>
        <p:txBody>
          <a:bodyPr wrap="square" lIns="0" tIns="0" rIns="0" bIns="0" rtlCol="0" anchor="ctr"/>
          <a:lstStyle/>
          <a:p>
            <a:pPr indent="0" marL="0">
              <a:buNone/>
            </a:pPr>
            <a:r>
              <a:rPr lang="en-US" sz="2400" b="1" dirty="0">
                <a:solidFill>
                  <a:srgbClr val="D6455A"/>
                </a:solidFill>
              </a:rPr>
              <a:t>19.09%</a:t>
            </a:r>
            <a:endParaRPr lang="en-US" sz="2400" dirty="0"/>
          </a:p>
        </p:txBody>
      </p:sp>
      <p:sp>
        <p:nvSpPr>
          <p:cNvPr id="20" name="Text 16"/>
          <p:cNvSpPr txBox="1"/>
          <p:nvPr/>
        </p:nvSpPr>
        <p:spPr>
          <a:xfrm>
            <a:off x="4700016" y="4864608"/>
            <a:ext cx="1645920" cy="201168"/>
          </a:xfrm>
          <a:prstGeom prst="rect">
            <a:avLst/>
          </a:prstGeom>
          <a:noFill/>
          <a:ln/>
        </p:spPr>
        <p:txBody>
          <a:bodyPr wrap="square" lIns="0" tIns="0" rIns="0" bIns="0" rtlCol="0" anchor="t"/>
          <a:lstStyle/>
          <a:p>
            <a:pPr indent="0" marL="0">
              <a:buNone/>
            </a:pPr>
            <a:r>
              <a:rPr lang="en-US" sz="1050" dirty="0">
                <a:solidFill>
                  <a:schemeClr val="accent4"/>
                </a:solidFill>
              </a:rPr>
              <a:t>collapsed</a:t>
            </a:r>
            <a:endParaRPr lang="en-US" sz="1050" dirty="0"/>
          </a:p>
        </p:txBody>
      </p:sp>
      <p:sp>
        <p:nvSpPr>
          <p:cNvPr id="21" name="Shape 17"/>
          <p:cNvSpPr/>
          <p:nvPr/>
        </p:nvSpPr>
        <p:spPr>
          <a:xfrm>
            <a:off x="548640" y="5257800"/>
            <a:ext cx="5852160" cy="1051560"/>
          </a:xfrm>
          <a:prstGeom prst="roundRect">
            <a:avLst>
              <a:gd name="adj" fmla="val 6957"/>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22" name="Text 18"/>
          <p:cNvSpPr txBox="1"/>
          <p:nvPr/>
        </p:nvSpPr>
        <p:spPr>
          <a:xfrm>
            <a:off x="749808" y="5340096"/>
            <a:ext cx="50292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REGIME SHIFT  ·  TIME TO EXPIRY (HOURS)</a:t>
            </a:r>
            <a:endParaRPr lang="en-US" sz="1000" dirty="0"/>
          </a:p>
        </p:txBody>
      </p:sp>
      <p:sp>
        <p:nvSpPr>
          <p:cNvPr id="23" name="Shape 19"/>
          <p:cNvSpPr/>
          <p:nvPr/>
        </p:nvSpPr>
        <p:spPr>
          <a:xfrm>
            <a:off x="4403418" y="5815584"/>
            <a:ext cx="1231946" cy="146304"/>
          </a:xfrm>
          <a:prstGeom prst="rect">
            <a:avLst/>
          </a:prstGeom>
          <a:solidFill>
            <a:schemeClr val="accent1"/>
          </a:solidFill>
          <a:ln/>
        </p:spPr>
      </p:sp>
      <p:sp>
        <p:nvSpPr>
          <p:cNvPr id="24" name="Shape 20"/>
          <p:cNvSpPr/>
          <p:nvPr/>
        </p:nvSpPr>
        <p:spPr>
          <a:xfrm>
            <a:off x="876735" y="5815584"/>
            <a:ext cx="103385" cy="146304"/>
          </a:xfrm>
          <a:prstGeom prst="rect">
            <a:avLst/>
          </a:prstGeom>
          <a:solidFill>
            <a:schemeClr val="accent3"/>
          </a:solidFill>
          <a:ln/>
        </p:spPr>
      </p:sp>
      <p:sp>
        <p:nvSpPr>
          <p:cNvPr id="25" name="Text 21"/>
          <p:cNvSpPr txBox="1"/>
          <p:nvPr/>
        </p:nvSpPr>
        <p:spPr>
          <a:xfrm>
            <a:off x="868680" y="5559552"/>
            <a:ext cx="2560320" cy="219456"/>
          </a:xfrm>
          <a:prstGeom prst="rect">
            <a:avLst/>
          </a:prstGeom>
          <a:noFill/>
          <a:ln/>
        </p:spPr>
        <p:txBody>
          <a:bodyPr wrap="square" lIns="0" tIns="0" rIns="0" bIns="0" rtlCol="0" anchor="t"/>
          <a:lstStyle/>
          <a:p>
            <a:pPr indent="0" marL="0">
              <a:buNone/>
            </a:pPr>
            <a:r>
              <a:rPr lang="en-US" sz="1100" b="1" dirty="0">
                <a:solidFill>
                  <a:schemeClr val="accent3"/>
                </a:solidFill>
              </a:rPr>
              <a:t>19 Oct expiry day: 0.17–1.58 h</a:t>
            </a:r>
            <a:endParaRPr lang="en-US" sz="1100" dirty="0"/>
          </a:p>
        </p:txBody>
      </p:sp>
      <p:sp>
        <p:nvSpPr>
          <p:cNvPr id="26" name="Text 22"/>
          <p:cNvSpPr txBox="1"/>
          <p:nvPr/>
        </p:nvSpPr>
        <p:spPr>
          <a:xfrm>
            <a:off x="3440804" y="5559552"/>
            <a:ext cx="2194560" cy="219456"/>
          </a:xfrm>
          <a:prstGeom prst="rect">
            <a:avLst/>
          </a:prstGeom>
          <a:noFill/>
          <a:ln/>
        </p:spPr>
        <p:txBody>
          <a:bodyPr wrap="square" lIns="0" tIns="0" rIns="0" bIns="0" rtlCol="0" anchor="t"/>
          <a:lstStyle/>
          <a:p>
            <a:pPr algn="r" indent="0" marL="0">
              <a:buNone/>
            </a:pPr>
            <a:r>
              <a:rPr lang="en-US" sz="1100" b="1" dirty="0">
                <a:solidFill>
                  <a:schemeClr val="accent1"/>
                </a:solidFill>
              </a:rPr>
              <a:t>Development: 74.6–100.6 h</a:t>
            </a:r>
            <a:endParaRPr lang="en-US" sz="1100" dirty="0"/>
          </a:p>
        </p:txBody>
      </p:sp>
      <p:sp>
        <p:nvSpPr>
          <p:cNvPr id="27" name="Shape 23"/>
          <p:cNvSpPr/>
          <p:nvPr/>
        </p:nvSpPr>
        <p:spPr>
          <a:xfrm>
            <a:off x="868680" y="5998464"/>
            <a:ext cx="5212080" cy="0"/>
          </a:xfrm>
          <a:prstGeom prst="line">
            <a:avLst/>
          </a:prstGeom>
          <a:noFill/>
          <a:ln w="12700">
            <a:solidFill>
              <a:schemeClr val="accent4"/>
            </a:solidFill>
            <a:prstDash val="solid"/>
          </a:ln>
        </p:spPr>
      </p:sp>
      <p:sp>
        <p:nvSpPr>
          <p:cNvPr id="28" name="Text 24"/>
          <p:cNvSpPr txBox="1"/>
          <p:nvPr/>
        </p:nvSpPr>
        <p:spPr>
          <a:xfrm>
            <a:off x="594360" y="6035040"/>
            <a:ext cx="548640" cy="182880"/>
          </a:xfrm>
          <a:prstGeom prst="rect">
            <a:avLst/>
          </a:prstGeom>
          <a:noFill/>
          <a:ln/>
        </p:spPr>
        <p:txBody>
          <a:bodyPr wrap="square" lIns="0" tIns="0" rIns="0" bIns="0" rtlCol="0" anchor="t"/>
          <a:lstStyle/>
          <a:p>
            <a:pPr algn="ctr" indent="0" marL="0">
              <a:buNone/>
            </a:pPr>
            <a:r>
              <a:rPr lang="en-US" sz="1000" dirty="0">
                <a:solidFill>
                  <a:schemeClr val="accent4"/>
                </a:solidFill>
              </a:rPr>
              <a:t>0</a:t>
            </a:r>
            <a:endParaRPr lang="en-US" sz="1000" dirty="0"/>
          </a:p>
        </p:txBody>
      </p:sp>
      <p:sp>
        <p:nvSpPr>
          <p:cNvPr id="29" name="Text 25"/>
          <p:cNvSpPr txBox="1"/>
          <p:nvPr/>
        </p:nvSpPr>
        <p:spPr>
          <a:xfrm>
            <a:off x="1778924" y="6035040"/>
            <a:ext cx="548640" cy="182880"/>
          </a:xfrm>
          <a:prstGeom prst="rect">
            <a:avLst/>
          </a:prstGeom>
          <a:noFill/>
          <a:ln/>
        </p:spPr>
        <p:txBody>
          <a:bodyPr wrap="square" lIns="0" tIns="0" rIns="0" bIns="0" rtlCol="0" anchor="t"/>
          <a:lstStyle/>
          <a:p>
            <a:pPr algn="ctr" indent="0" marL="0">
              <a:buNone/>
            </a:pPr>
            <a:r>
              <a:rPr lang="en-US" sz="1000" dirty="0">
                <a:solidFill>
                  <a:schemeClr val="accent4"/>
                </a:solidFill>
              </a:rPr>
              <a:t>25</a:t>
            </a:r>
            <a:endParaRPr lang="en-US" sz="1000" dirty="0"/>
          </a:p>
        </p:txBody>
      </p:sp>
      <p:sp>
        <p:nvSpPr>
          <p:cNvPr id="30" name="Text 26"/>
          <p:cNvSpPr txBox="1"/>
          <p:nvPr/>
        </p:nvSpPr>
        <p:spPr>
          <a:xfrm>
            <a:off x="2963487" y="6035040"/>
            <a:ext cx="548640" cy="182880"/>
          </a:xfrm>
          <a:prstGeom prst="rect">
            <a:avLst/>
          </a:prstGeom>
          <a:noFill/>
          <a:ln/>
        </p:spPr>
        <p:txBody>
          <a:bodyPr wrap="square" lIns="0" tIns="0" rIns="0" bIns="0" rtlCol="0" anchor="t"/>
          <a:lstStyle/>
          <a:p>
            <a:pPr algn="ctr" indent="0" marL="0">
              <a:buNone/>
            </a:pPr>
            <a:r>
              <a:rPr lang="en-US" sz="1000" dirty="0">
                <a:solidFill>
                  <a:schemeClr val="accent4"/>
                </a:solidFill>
              </a:rPr>
              <a:t>50</a:t>
            </a:r>
            <a:endParaRPr lang="en-US" sz="1000" dirty="0"/>
          </a:p>
        </p:txBody>
      </p:sp>
      <p:sp>
        <p:nvSpPr>
          <p:cNvPr id="31" name="Text 27"/>
          <p:cNvSpPr txBox="1"/>
          <p:nvPr/>
        </p:nvSpPr>
        <p:spPr>
          <a:xfrm>
            <a:off x="4148051" y="6035040"/>
            <a:ext cx="548640" cy="182880"/>
          </a:xfrm>
          <a:prstGeom prst="rect">
            <a:avLst/>
          </a:prstGeom>
          <a:noFill/>
          <a:ln/>
        </p:spPr>
        <p:txBody>
          <a:bodyPr wrap="square" lIns="0" tIns="0" rIns="0" bIns="0" rtlCol="0" anchor="t"/>
          <a:lstStyle/>
          <a:p>
            <a:pPr algn="ctr" indent="0" marL="0">
              <a:buNone/>
            </a:pPr>
            <a:r>
              <a:rPr lang="en-US" sz="1000" dirty="0">
                <a:solidFill>
                  <a:schemeClr val="accent4"/>
                </a:solidFill>
              </a:rPr>
              <a:t>75</a:t>
            </a:r>
            <a:endParaRPr lang="en-US" sz="1000" dirty="0"/>
          </a:p>
        </p:txBody>
      </p:sp>
      <p:sp>
        <p:nvSpPr>
          <p:cNvPr id="32" name="Text 28"/>
          <p:cNvSpPr txBox="1"/>
          <p:nvPr/>
        </p:nvSpPr>
        <p:spPr>
          <a:xfrm>
            <a:off x="5332615" y="6035040"/>
            <a:ext cx="548640" cy="182880"/>
          </a:xfrm>
          <a:prstGeom prst="rect">
            <a:avLst/>
          </a:prstGeom>
          <a:noFill/>
          <a:ln/>
        </p:spPr>
        <p:txBody>
          <a:bodyPr wrap="square" lIns="0" tIns="0" rIns="0" bIns="0" rtlCol="0" anchor="t"/>
          <a:lstStyle/>
          <a:p>
            <a:pPr algn="ctr" indent="0" marL="0">
              <a:buNone/>
            </a:pPr>
            <a:r>
              <a:rPr lang="en-US" sz="1000" dirty="0">
                <a:solidFill>
                  <a:schemeClr val="accent4"/>
                </a:solidFill>
              </a:rPr>
              <a:t>100</a:t>
            </a:r>
            <a:endParaRPr lang="en-US" sz="1000" dirty="0"/>
          </a:p>
        </p:txBody>
      </p:sp>
      <p:sp>
        <p:nvSpPr>
          <p:cNvPr id="33" name="Shape 29"/>
          <p:cNvSpPr/>
          <p:nvPr/>
        </p:nvSpPr>
        <p:spPr>
          <a:xfrm>
            <a:off x="6629400" y="1508760"/>
            <a:ext cx="5010912" cy="2423160"/>
          </a:xfrm>
          <a:prstGeom prst="roundRect">
            <a:avLst>
              <a:gd name="adj" fmla="val 3019"/>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4" name="Text 30"/>
          <p:cNvSpPr txBox="1"/>
          <p:nvPr/>
        </p:nvSpPr>
        <p:spPr>
          <a:xfrm>
            <a:off x="6830568" y="1645920"/>
            <a:ext cx="45720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CURRENT LIMITATIONS</a:t>
            </a:r>
            <a:endParaRPr lang="en-US" sz="1000" dirty="0"/>
          </a:p>
        </p:txBody>
      </p:sp>
      <p:sp>
        <p:nvSpPr>
          <p:cNvPr id="35" name="Text 31"/>
          <p:cNvSpPr txBox="1"/>
          <p:nvPr/>
        </p:nvSpPr>
        <p:spPr>
          <a:xfrm>
            <a:off x="6830568" y="1920240"/>
            <a:ext cx="4617720" cy="19659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rPr>
              <a:t>Only 64 development timestamps over two days.</a:t>
            </a:r>
            <a:endParaRPr lang="en-US" sz="1250" dirty="0"/>
          </a:p>
          <a:p>
            <a:pPr marL="342900" indent="-342900">
              <a:spcAft>
                <a:spcPts val="500"/>
              </a:spcAft>
              <a:buSzPct val="100000"/>
              <a:buChar char="•"/>
            </a:pPr>
            <a:r>
              <a:rPr lang="en-US" sz="1250" dirty="0">
                <a:solidFill>
                  <a:schemeClr val="tx1"/>
                </a:solidFill>
              </a:rPr>
              <a:t>Cross-sectional rows are not independent periods.</a:t>
            </a:r>
            <a:endParaRPr lang="en-US" sz="1250" dirty="0"/>
          </a:p>
          <a:p>
            <a:pPr marL="342900" indent="-342900">
              <a:spcAft>
                <a:spcPts val="500"/>
              </a:spcAft>
              <a:buSzPct val="100000"/>
              <a:buChar char="•"/>
            </a:pPr>
            <a:r>
              <a:rPr lang="en-US" sz="1250" dirty="0">
                <a:solidFill>
                  <a:schemeClr val="tx1"/>
                </a:solidFill>
              </a:rPr>
              <a:t>Transaction costs, slippage and execution latency are not modelled.</a:t>
            </a:r>
            <a:endParaRPr lang="en-US" sz="1250" dirty="0"/>
          </a:p>
          <a:p>
            <a:pPr marL="342900" indent="-342900">
              <a:spcAft>
                <a:spcPts val="500"/>
              </a:spcAft>
              <a:buSzPct val="100000"/>
              <a:buChar char="•"/>
            </a:pPr>
            <a:r>
              <a:rPr lang="en-US" sz="1250" dirty="0">
                <a:solidFill>
                  <a:schemeClr val="tx1"/>
                </a:solidFill>
              </a:rPr>
              <a:t>The model had never seen true expiry-day conditions during training.</a:t>
            </a:r>
            <a:endParaRPr lang="en-US" sz="1250" dirty="0"/>
          </a:p>
        </p:txBody>
      </p:sp>
      <p:sp>
        <p:nvSpPr>
          <p:cNvPr id="36" name="Shape 32"/>
          <p:cNvSpPr/>
          <p:nvPr/>
        </p:nvSpPr>
        <p:spPr>
          <a:xfrm>
            <a:off x="6629400" y="4069080"/>
            <a:ext cx="5010912" cy="2240280"/>
          </a:xfrm>
          <a:prstGeom prst="roundRect">
            <a:avLst>
              <a:gd name="adj" fmla="val 3265"/>
            </a:avLst>
          </a:prstGeom>
          <a:solidFill>
            <a:schemeClr val="bg1"/>
          </a:solidFill>
          <a:ln w="9525">
            <a:solidFill>
              <a:schemeClr val="accent4">
                <a:alpha val="22000"/>
              </a:schemeClr>
            </a:solidFill>
            <a:prstDash val="solid"/>
          </a:ln>
          <a:effectLst>
            <a:outerShdw sx="100000" sy="100000" kx="0" ky="0" algn="bl" rotWithShape="0" blurRad="76200" dist="25400" dir="5400000">
              <a:srgbClr val="0A1628">
                <a:alpha val="10000"/>
              </a:srgbClr>
            </a:outerShdw>
          </a:effectLst>
        </p:spPr>
      </p:sp>
      <p:sp>
        <p:nvSpPr>
          <p:cNvPr id="37" name="Text 33"/>
          <p:cNvSpPr txBox="1"/>
          <p:nvPr/>
        </p:nvSpPr>
        <p:spPr>
          <a:xfrm>
            <a:off x="6830568" y="4187952"/>
            <a:ext cx="45720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FUTURE RESEARCH PRIORITIES</a:t>
            </a:r>
            <a:endParaRPr lang="en-US" sz="1000" dirty="0"/>
          </a:p>
        </p:txBody>
      </p:sp>
      <p:sp>
        <p:nvSpPr>
          <p:cNvPr id="38" name="Text 34"/>
          <p:cNvSpPr txBox="1"/>
          <p:nvPr/>
        </p:nvSpPr>
        <p:spPr>
          <a:xfrm>
            <a:off x="6830568" y="4407408"/>
            <a:ext cx="4572000" cy="201168"/>
          </a:xfrm>
          <a:prstGeom prst="rect">
            <a:avLst/>
          </a:prstGeom>
          <a:noFill/>
          <a:ln/>
        </p:spPr>
        <p:txBody>
          <a:bodyPr wrap="square" lIns="0" tIns="0" rIns="0" bIns="0" rtlCol="0" anchor="t"/>
          <a:lstStyle/>
          <a:p>
            <a:pPr indent="0" marL="0">
              <a:buNone/>
            </a:pPr>
            <a:r>
              <a:rPr lang="en-US" sz="1050" i="1" dirty="0">
                <a:solidFill>
                  <a:schemeClr val="accent4"/>
                </a:solidFill>
              </a:rPr>
              <a:t>Highest priority: more historical days, especially expiry days</a:t>
            </a:r>
            <a:endParaRPr lang="en-US" sz="1050" dirty="0"/>
          </a:p>
        </p:txBody>
      </p:sp>
      <p:sp>
        <p:nvSpPr>
          <p:cNvPr id="39" name="Shape 35"/>
          <p:cNvSpPr/>
          <p:nvPr/>
        </p:nvSpPr>
        <p:spPr>
          <a:xfrm>
            <a:off x="6830568" y="4690872"/>
            <a:ext cx="182880" cy="182880"/>
          </a:xfrm>
          <a:prstGeom prst="ellipse">
            <a:avLst/>
          </a:prstGeom>
          <a:solidFill>
            <a:schemeClr val="accent1"/>
          </a:solidFill>
          <a:ln/>
        </p:spPr>
      </p:sp>
      <p:sp>
        <p:nvSpPr>
          <p:cNvPr id="40" name="Text 36"/>
          <p:cNvSpPr txBox="1"/>
          <p:nvPr/>
        </p:nvSpPr>
        <p:spPr>
          <a:xfrm>
            <a:off x="6830568" y="4690872"/>
            <a:ext cx="182880" cy="182880"/>
          </a:xfrm>
          <a:prstGeom prst="rect">
            <a:avLst/>
          </a:prstGeom>
          <a:noFill/>
          <a:ln/>
        </p:spPr>
        <p:txBody>
          <a:bodyPr wrap="square" lIns="0" tIns="0" rIns="0" bIns="0" rtlCol="0" anchor="ctr"/>
          <a:lstStyle/>
          <a:p>
            <a:pPr algn="ctr" indent="0" marL="0">
              <a:buNone/>
            </a:pPr>
            <a:r>
              <a:rPr lang="en-US" sz="900" b="1" dirty="0">
                <a:solidFill>
                  <a:schemeClr val="bg1"/>
                </a:solidFill>
              </a:rPr>
              <a:t>1</a:t>
            </a:r>
            <a:endParaRPr lang="en-US" sz="900" dirty="0"/>
          </a:p>
        </p:txBody>
      </p:sp>
      <p:sp>
        <p:nvSpPr>
          <p:cNvPr id="41" name="Text 37"/>
          <p:cNvSpPr txBox="1"/>
          <p:nvPr/>
        </p:nvSpPr>
        <p:spPr>
          <a:xfrm>
            <a:off x="7114032" y="4681728"/>
            <a:ext cx="4389120" cy="201168"/>
          </a:xfrm>
          <a:prstGeom prst="rect">
            <a:avLst/>
          </a:prstGeom>
          <a:noFill/>
          <a:ln/>
        </p:spPr>
        <p:txBody>
          <a:bodyPr wrap="square" lIns="0" tIns="0" rIns="0" bIns="0" rtlCol="0" anchor="ctr"/>
          <a:lstStyle/>
          <a:p>
            <a:pPr indent="0" marL="0">
              <a:buNone/>
            </a:pPr>
            <a:r>
              <a:rPr lang="en-US" sz="1200" dirty="0">
                <a:solidFill>
                  <a:schemeClr val="tx1"/>
                </a:solidFill>
              </a:rPr>
              <a:t>Months of 5-minute data</a:t>
            </a:r>
            <a:endParaRPr lang="en-US" sz="1200" dirty="0"/>
          </a:p>
        </p:txBody>
      </p:sp>
      <p:sp>
        <p:nvSpPr>
          <p:cNvPr id="42" name="Shape 38"/>
          <p:cNvSpPr/>
          <p:nvPr/>
        </p:nvSpPr>
        <p:spPr>
          <a:xfrm>
            <a:off x="6830568" y="4919472"/>
            <a:ext cx="182880" cy="182880"/>
          </a:xfrm>
          <a:prstGeom prst="ellipse">
            <a:avLst/>
          </a:prstGeom>
          <a:solidFill>
            <a:schemeClr val="accent1"/>
          </a:solidFill>
          <a:ln/>
        </p:spPr>
      </p:sp>
      <p:sp>
        <p:nvSpPr>
          <p:cNvPr id="43" name="Text 39"/>
          <p:cNvSpPr txBox="1"/>
          <p:nvPr/>
        </p:nvSpPr>
        <p:spPr>
          <a:xfrm>
            <a:off x="6830568" y="4919472"/>
            <a:ext cx="182880" cy="182880"/>
          </a:xfrm>
          <a:prstGeom prst="rect">
            <a:avLst/>
          </a:prstGeom>
          <a:noFill/>
          <a:ln/>
        </p:spPr>
        <p:txBody>
          <a:bodyPr wrap="square" lIns="0" tIns="0" rIns="0" bIns="0" rtlCol="0" anchor="ctr"/>
          <a:lstStyle/>
          <a:p>
            <a:pPr algn="ctr" indent="0" marL="0">
              <a:buNone/>
            </a:pPr>
            <a:r>
              <a:rPr lang="en-US" sz="900" b="1" dirty="0">
                <a:solidFill>
                  <a:schemeClr val="bg1"/>
                </a:solidFill>
              </a:rPr>
              <a:t>2</a:t>
            </a:r>
            <a:endParaRPr lang="en-US" sz="900" dirty="0"/>
          </a:p>
        </p:txBody>
      </p:sp>
      <p:sp>
        <p:nvSpPr>
          <p:cNvPr id="44" name="Text 40"/>
          <p:cNvSpPr txBox="1"/>
          <p:nvPr/>
        </p:nvSpPr>
        <p:spPr>
          <a:xfrm>
            <a:off x="7114032" y="4910328"/>
            <a:ext cx="4389120" cy="201168"/>
          </a:xfrm>
          <a:prstGeom prst="rect">
            <a:avLst/>
          </a:prstGeom>
          <a:noFill/>
          <a:ln/>
        </p:spPr>
        <p:txBody>
          <a:bodyPr wrap="square" lIns="0" tIns="0" rIns="0" bIns="0" rtlCol="0" anchor="ctr"/>
          <a:lstStyle/>
          <a:p>
            <a:pPr indent="0" marL="0">
              <a:buNone/>
            </a:pPr>
            <a:r>
              <a:rPr lang="en-US" sz="1200" dirty="0">
                <a:solidFill>
                  <a:schemeClr val="tx1"/>
                </a:solidFill>
              </a:rPr>
              <a:t>Multiple expiry-day observations</a:t>
            </a:r>
            <a:endParaRPr lang="en-US" sz="1200" dirty="0"/>
          </a:p>
        </p:txBody>
      </p:sp>
      <p:sp>
        <p:nvSpPr>
          <p:cNvPr id="45" name="Shape 41"/>
          <p:cNvSpPr/>
          <p:nvPr/>
        </p:nvSpPr>
        <p:spPr>
          <a:xfrm>
            <a:off x="6830568" y="5148072"/>
            <a:ext cx="182880" cy="182880"/>
          </a:xfrm>
          <a:prstGeom prst="ellipse">
            <a:avLst/>
          </a:prstGeom>
          <a:solidFill>
            <a:schemeClr val="accent1"/>
          </a:solidFill>
          <a:ln/>
        </p:spPr>
      </p:sp>
      <p:sp>
        <p:nvSpPr>
          <p:cNvPr id="46" name="Text 42"/>
          <p:cNvSpPr txBox="1"/>
          <p:nvPr/>
        </p:nvSpPr>
        <p:spPr>
          <a:xfrm>
            <a:off x="6830568" y="5148072"/>
            <a:ext cx="182880" cy="182880"/>
          </a:xfrm>
          <a:prstGeom prst="rect">
            <a:avLst/>
          </a:prstGeom>
          <a:noFill/>
          <a:ln/>
        </p:spPr>
        <p:txBody>
          <a:bodyPr wrap="square" lIns="0" tIns="0" rIns="0" bIns="0" rtlCol="0" anchor="ctr"/>
          <a:lstStyle/>
          <a:p>
            <a:pPr algn="ctr" indent="0" marL="0">
              <a:buNone/>
            </a:pPr>
            <a:r>
              <a:rPr lang="en-US" sz="900" b="1" dirty="0">
                <a:solidFill>
                  <a:schemeClr val="bg1"/>
                </a:solidFill>
              </a:rPr>
              <a:t>3</a:t>
            </a:r>
            <a:endParaRPr lang="en-US" sz="900" dirty="0"/>
          </a:p>
        </p:txBody>
      </p:sp>
      <p:sp>
        <p:nvSpPr>
          <p:cNvPr id="47" name="Text 43"/>
          <p:cNvSpPr txBox="1"/>
          <p:nvPr/>
        </p:nvSpPr>
        <p:spPr>
          <a:xfrm>
            <a:off x="7114032" y="5138928"/>
            <a:ext cx="4389120" cy="201168"/>
          </a:xfrm>
          <a:prstGeom prst="rect">
            <a:avLst/>
          </a:prstGeom>
          <a:noFill/>
          <a:ln/>
        </p:spPr>
        <p:txBody>
          <a:bodyPr wrap="square" lIns="0" tIns="0" rIns="0" bIns="0" rtlCol="0" anchor="ctr"/>
          <a:lstStyle/>
          <a:p>
            <a:pPr indent="0" marL="0">
              <a:buNone/>
            </a:pPr>
            <a:r>
              <a:rPr lang="en-US" sz="1200" dirty="0">
                <a:solidFill>
                  <a:schemeClr val="tx1"/>
                </a:solidFill>
              </a:rPr>
              <a:t>Exact time-to-expiry and Greeks</a:t>
            </a:r>
            <a:endParaRPr lang="en-US" sz="1200" dirty="0"/>
          </a:p>
        </p:txBody>
      </p:sp>
      <p:sp>
        <p:nvSpPr>
          <p:cNvPr id="48" name="Shape 44"/>
          <p:cNvSpPr/>
          <p:nvPr/>
        </p:nvSpPr>
        <p:spPr>
          <a:xfrm>
            <a:off x="6830568" y="5376672"/>
            <a:ext cx="182880" cy="182880"/>
          </a:xfrm>
          <a:prstGeom prst="ellipse">
            <a:avLst/>
          </a:prstGeom>
          <a:solidFill>
            <a:schemeClr val="accent1"/>
          </a:solidFill>
          <a:ln/>
        </p:spPr>
      </p:sp>
      <p:sp>
        <p:nvSpPr>
          <p:cNvPr id="49" name="Text 45"/>
          <p:cNvSpPr txBox="1"/>
          <p:nvPr/>
        </p:nvSpPr>
        <p:spPr>
          <a:xfrm>
            <a:off x="6830568" y="5376672"/>
            <a:ext cx="182880" cy="182880"/>
          </a:xfrm>
          <a:prstGeom prst="rect">
            <a:avLst/>
          </a:prstGeom>
          <a:noFill/>
          <a:ln/>
        </p:spPr>
        <p:txBody>
          <a:bodyPr wrap="square" lIns="0" tIns="0" rIns="0" bIns="0" rtlCol="0" anchor="ctr"/>
          <a:lstStyle/>
          <a:p>
            <a:pPr algn="ctr" indent="0" marL="0">
              <a:buNone/>
            </a:pPr>
            <a:r>
              <a:rPr lang="en-US" sz="900" b="1" dirty="0">
                <a:solidFill>
                  <a:schemeClr val="bg1"/>
                </a:solidFill>
              </a:rPr>
              <a:t>4</a:t>
            </a:r>
            <a:endParaRPr lang="en-US" sz="900" dirty="0"/>
          </a:p>
        </p:txBody>
      </p:sp>
      <p:sp>
        <p:nvSpPr>
          <p:cNvPr id="50" name="Text 46"/>
          <p:cNvSpPr txBox="1"/>
          <p:nvPr/>
        </p:nvSpPr>
        <p:spPr>
          <a:xfrm>
            <a:off x="7114032" y="5367528"/>
            <a:ext cx="4389120" cy="201168"/>
          </a:xfrm>
          <a:prstGeom prst="rect">
            <a:avLst/>
          </a:prstGeom>
          <a:noFill/>
          <a:ln/>
        </p:spPr>
        <p:txBody>
          <a:bodyPr wrap="square" lIns="0" tIns="0" rIns="0" bIns="0" rtlCol="0" anchor="ctr"/>
          <a:lstStyle/>
          <a:p>
            <a:pPr indent="0" marL="0">
              <a:buNone/>
            </a:pPr>
            <a:r>
              <a:rPr lang="en-US" sz="1200" dirty="0">
                <a:solidFill>
                  <a:schemeClr val="tx1"/>
                </a:solidFill>
              </a:rPr>
              <a:t>Calibrated probabilities</a:t>
            </a:r>
            <a:endParaRPr lang="en-US" sz="1200" dirty="0"/>
          </a:p>
        </p:txBody>
      </p:sp>
      <p:sp>
        <p:nvSpPr>
          <p:cNvPr id="51" name="Shape 47"/>
          <p:cNvSpPr/>
          <p:nvPr/>
        </p:nvSpPr>
        <p:spPr>
          <a:xfrm>
            <a:off x="6830568" y="5605272"/>
            <a:ext cx="182880" cy="182880"/>
          </a:xfrm>
          <a:prstGeom prst="ellipse">
            <a:avLst/>
          </a:prstGeom>
          <a:solidFill>
            <a:schemeClr val="accent1"/>
          </a:solidFill>
          <a:ln/>
        </p:spPr>
      </p:sp>
      <p:sp>
        <p:nvSpPr>
          <p:cNvPr id="52" name="Text 48"/>
          <p:cNvSpPr txBox="1"/>
          <p:nvPr/>
        </p:nvSpPr>
        <p:spPr>
          <a:xfrm>
            <a:off x="6830568" y="5605272"/>
            <a:ext cx="182880" cy="182880"/>
          </a:xfrm>
          <a:prstGeom prst="rect">
            <a:avLst/>
          </a:prstGeom>
          <a:noFill/>
          <a:ln/>
        </p:spPr>
        <p:txBody>
          <a:bodyPr wrap="square" lIns="0" tIns="0" rIns="0" bIns="0" rtlCol="0" anchor="ctr"/>
          <a:lstStyle/>
          <a:p>
            <a:pPr algn="ctr" indent="0" marL="0">
              <a:buNone/>
            </a:pPr>
            <a:r>
              <a:rPr lang="en-US" sz="900" b="1" dirty="0">
                <a:solidFill>
                  <a:schemeClr val="bg1"/>
                </a:solidFill>
              </a:rPr>
              <a:t>5</a:t>
            </a:r>
            <a:endParaRPr lang="en-US" sz="900" dirty="0"/>
          </a:p>
        </p:txBody>
      </p:sp>
      <p:sp>
        <p:nvSpPr>
          <p:cNvPr id="53" name="Text 49"/>
          <p:cNvSpPr txBox="1"/>
          <p:nvPr/>
        </p:nvSpPr>
        <p:spPr>
          <a:xfrm>
            <a:off x="7114032" y="5596128"/>
            <a:ext cx="4389120" cy="201168"/>
          </a:xfrm>
          <a:prstGeom prst="rect">
            <a:avLst/>
          </a:prstGeom>
          <a:noFill/>
          <a:ln/>
        </p:spPr>
        <p:txBody>
          <a:bodyPr wrap="square" lIns="0" tIns="0" rIns="0" bIns="0" rtlCol="0" anchor="ctr"/>
          <a:lstStyle/>
          <a:p>
            <a:pPr indent="0" marL="0">
              <a:buNone/>
            </a:pPr>
            <a:r>
              <a:rPr lang="en-US" sz="1200" dirty="0">
                <a:solidFill>
                  <a:schemeClr val="tx1"/>
                </a:solidFill>
              </a:rPr>
              <a:t>Cost-aware backtesting</a:t>
            </a:r>
            <a:endParaRPr lang="en-US" sz="1200" dirty="0"/>
          </a:p>
        </p:txBody>
      </p:sp>
      <p:sp>
        <p:nvSpPr>
          <p:cNvPr id="54" name="Shape 50"/>
          <p:cNvSpPr/>
          <p:nvPr/>
        </p:nvSpPr>
        <p:spPr>
          <a:xfrm>
            <a:off x="6830568" y="5833872"/>
            <a:ext cx="182880" cy="182880"/>
          </a:xfrm>
          <a:prstGeom prst="ellipse">
            <a:avLst/>
          </a:prstGeom>
          <a:solidFill>
            <a:schemeClr val="accent1"/>
          </a:solidFill>
          <a:ln/>
        </p:spPr>
      </p:sp>
      <p:sp>
        <p:nvSpPr>
          <p:cNvPr id="55" name="Text 51"/>
          <p:cNvSpPr txBox="1"/>
          <p:nvPr/>
        </p:nvSpPr>
        <p:spPr>
          <a:xfrm>
            <a:off x="6830568" y="5833872"/>
            <a:ext cx="182880" cy="182880"/>
          </a:xfrm>
          <a:prstGeom prst="rect">
            <a:avLst/>
          </a:prstGeom>
          <a:noFill/>
          <a:ln/>
        </p:spPr>
        <p:txBody>
          <a:bodyPr wrap="square" lIns="0" tIns="0" rIns="0" bIns="0" rtlCol="0" anchor="ctr"/>
          <a:lstStyle/>
          <a:p>
            <a:pPr algn="ctr" indent="0" marL="0">
              <a:buNone/>
            </a:pPr>
            <a:r>
              <a:rPr lang="en-US" sz="900" b="1" dirty="0">
                <a:solidFill>
                  <a:schemeClr val="bg1"/>
                </a:solidFill>
              </a:rPr>
              <a:t>6</a:t>
            </a:r>
            <a:endParaRPr lang="en-US" sz="900" dirty="0"/>
          </a:p>
        </p:txBody>
      </p:sp>
      <p:sp>
        <p:nvSpPr>
          <p:cNvPr id="56" name="Text 52"/>
          <p:cNvSpPr txBox="1"/>
          <p:nvPr/>
        </p:nvSpPr>
        <p:spPr>
          <a:xfrm>
            <a:off x="7114032" y="5824728"/>
            <a:ext cx="4389120" cy="201168"/>
          </a:xfrm>
          <a:prstGeom prst="rect">
            <a:avLst/>
          </a:prstGeom>
          <a:noFill/>
          <a:ln/>
        </p:spPr>
        <p:txBody>
          <a:bodyPr wrap="square" lIns="0" tIns="0" rIns="0" bIns="0" rtlCol="0" anchor="ctr"/>
          <a:lstStyle/>
          <a:p>
            <a:pPr indent="0" marL="0">
              <a:buNone/>
            </a:pPr>
            <a:r>
              <a:rPr lang="en-US" sz="1200" dirty="0">
                <a:solidFill>
                  <a:schemeClr val="tx1"/>
                </a:solidFill>
              </a:rPr>
              <a:t>Time-series cross-validation</a:t>
            </a:r>
            <a:endParaRPr lang="en-US" sz="1200" dirty="0"/>
          </a:p>
        </p:txBody>
      </p:sp>
      <p:sp>
        <p:nvSpPr>
          <p:cNvPr id="57" name="Shape 53"/>
          <p:cNvSpPr/>
          <p:nvPr/>
        </p:nvSpPr>
        <p:spPr>
          <a:xfrm>
            <a:off x="6830568" y="6062472"/>
            <a:ext cx="182880" cy="182880"/>
          </a:xfrm>
          <a:prstGeom prst="ellipse">
            <a:avLst/>
          </a:prstGeom>
          <a:solidFill>
            <a:schemeClr val="accent1"/>
          </a:solidFill>
          <a:ln/>
        </p:spPr>
      </p:sp>
      <p:sp>
        <p:nvSpPr>
          <p:cNvPr id="58" name="Text 54"/>
          <p:cNvSpPr txBox="1"/>
          <p:nvPr/>
        </p:nvSpPr>
        <p:spPr>
          <a:xfrm>
            <a:off x="6830568" y="6062472"/>
            <a:ext cx="182880" cy="182880"/>
          </a:xfrm>
          <a:prstGeom prst="rect">
            <a:avLst/>
          </a:prstGeom>
          <a:noFill/>
          <a:ln/>
        </p:spPr>
        <p:txBody>
          <a:bodyPr wrap="square" lIns="0" tIns="0" rIns="0" bIns="0" rtlCol="0" anchor="ctr"/>
          <a:lstStyle/>
          <a:p>
            <a:pPr algn="ctr" indent="0" marL="0">
              <a:buNone/>
            </a:pPr>
            <a:r>
              <a:rPr lang="en-US" sz="900" b="1" dirty="0">
                <a:solidFill>
                  <a:schemeClr val="bg1"/>
                </a:solidFill>
              </a:rPr>
              <a:t>7</a:t>
            </a:r>
            <a:endParaRPr lang="en-US" sz="900" dirty="0"/>
          </a:p>
        </p:txBody>
      </p:sp>
      <p:sp>
        <p:nvSpPr>
          <p:cNvPr id="59" name="Text 55"/>
          <p:cNvSpPr txBox="1"/>
          <p:nvPr/>
        </p:nvSpPr>
        <p:spPr>
          <a:xfrm>
            <a:off x="7114032" y="6053328"/>
            <a:ext cx="4389120" cy="201168"/>
          </a:xfrm>
          <a:prstGeom prst="rect">
            <a:avLst/>
          </a:prstGeom>
          <a:noFill/>
          <a:ln/>
        </p:spPr>
        <p:txBody>
          <a:bodyPr wrap="square" lIns="0" tIns="0" rIns="0" bIns="0" rtlCol="0" anchor="ctr"/>
          <a:lstStyle/>
          <a:p>
            <a:pPr indent="0" marL="0">
              <a:buNone/>
            </a:pPr>
            <a:r>
              <a:rPr lang="en-US" sz="1200" dirty="0">
                <a:solidFill>
                  <a:schemeClr val="tx1"/>
                </a:solidFill>
              </a:rPr>
              <a:t>Regime-aware models</a:t>
            </a:r>
            <a:endParaRPr lang="en-US" sz="120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6"/>
                </a:solidFill>
              </a:rPr>
              <a:t>14  ·  CONCLUSION</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bg1"/>
                </a:solidFill>
              </a:rPr>
              <a:t>Conclusion: modest, regime-dependent predictive value</a:t>
            </a:r>
            <a:endParaRPr lang="en-US" sz="2800" dirty="0"/>
          </a:p>
        </p:txBody>
      </p:sp>
      <p:sp>
        <p:nvSpPr>
          <p:cNvPr id="4" name="Text 2"/>
          <p:cNvSpPr txBox="1"/>
          <p:nvPr/>
        </p:nvSpPr>
        <p:spPr>
          <a:xfrm>
            <a:off x="548640" y="1042416"/>
            <a:ext cx="11064240" cy="274320"/>
          </a:xfrm>
          <a:prstGeom prst="rect">
            <a:avLst/>
          </a:prstGeom>
          <a:noFill/>
          <a:ln/>
        </p:spPr>
        <p:txBody>
          <a:bodyPr wrap="square" lIns="0" tIns="0" rIns="0" bIns="0" rtlCol="0" anchor="t"/>
          <a:lstStyle/>
          <a:p>
            <a:pPr indent="0" marL="0">
              <a:buNone/>
            </a:pPr>
            <a:r>
              <a:rPr lang="en-US" sz="1400" dirty="0">
                <a:solidFill>
                  <a:srgbClr val="AEBBD0"/>
                </a:solidFill>
              </a:rPr>
              <a:t>Executive summary of what the evidence supports</a:t>
            </a:r>
            <a:endParaRPr lang="en-US" sz="1400" dirty="0"/>
          </a:p>
        </p:txBody>
      </p:sp>
      <p:sp>
        <p:nvSpPr>
          <p:cNvPr id="6" name="Shape 3"/>
          <p:cNvSpPr/>
          <p:nvPr/>
        </p:nvSpPr>
        <p:spPr>
          <a:xfrm>
            <a:off x="548640" y="1508760"/>
            <a:ext cx="4206240" cy="3840480"/>
          </a:xfrm>
          <a:prstGeom prst="roundRect">
            <a:avLst>
              <a:gd name="adj" fmla="val 1905"/>
            </a:avLst>
          </a:prstGeom>
          <a:solidFill>
            <a:schemeClr val="tx2"/>
          </a:solidFill>
          <a:ln w="9525">
            <a:solidFill>
              <a:schemeClr val="accent6">
                <a:alpha val="30000"/>
              </a:schemeClr>
            </a:solidFill>
            <a:prstDash val="solid"/>
          </a:ln>
        </p:spPr>
      </p:sp>
      <p:sp>
        <p:nvSpPr>
          <p:cNvPr id="7" name="Text 4"/>
          <p:cNvSpPr txBox="1"/>
          <p:nvPr/>
        </p:nvSpPr>
        <p:spPr>
          <a:xfrm>
            <a:off x="777240" y="1691640"/>
            <a:ext cx="365760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MAIN CONCLUSION</a:t>
            </a:r>
            <a:endParaRPr lang="en-US" sz="1000" dirty="0"/>
          </a:p>
        </p:txBody>
      </p:sp>
      <p:sp>
        <p:nvSpPr>
          <p:cNvPr id="8" name="Text 5"/>
          <p:cNvSpPr txBox="1"/>
          <p:nvPr/>
        </p:nvSpPr>
        <p:spPr>
          <a:xfrm>
            <a:off x="777240" y="1993392"/>
            <a:ext cx="3749040" cy="1645920"/>
          </a:xfrm>
          <a:prstGeom prst="rect">
            <a:avLst/>
          </a:prstGeom>
          <a:noFill/>
          <a:ln/>
        </p:spPr>
        <p:txBody>
          <a:bodyPr wrap="square" lIns="0" tIns="0" rIns="0" bIns="0" rtlCol="0" anchor="t"/>
          <a:lstStyle/>
          <a:p>
            <a:pPr indent="0" marL="0">
              <a:buNone/>
            </a:pPr>
            <a:r>
              <a:rPr lang="en-US" sz="1700" b="1" dirty="0">
                <a:solidFill>
                  <a:schemeClr val="bg1"/>
                </a:solidFill>
              </a:rPr>
              <a:t>A nonlinear Random Forest with exact lag features produced a modest but measurable improvement over persistence in the normal development regime.</a:t>
            </a:r>
            <a:endParaRPr lang="en-US" sz="1700" dirty="0"/>
          </a:p>
        </p:txBody>
      </p:sp>
      <p:sp>
        <p:nvSpPr>
          <p:cNvPr id="9" name="Text 6"/>
          <p:cNvSpPr txBox="1"/>
          <p:nvPr/>
        </p:nvSpPr>
        <p:spPr>
          <a:xfrm>
            <a:off x="777240" y="3794760"/>
            <a:ext cx="1645920" cy="201168"/>
          </a:xfrm>
          <a:prstGeom prst="rect">
            <a:avLst/>
          </a:prstGeom>
          <a:noFill/>
          <a:ln/>
        </p:spPr>
        <p:txBody>
          <a:bodyPr wrap="square" lIns="0" tIns="0" rIns="0" bIns="0" rtlCol="0" anchor="t"/>
          <a:lstStyle/>
          <a:p>
            <a:pPr indent="0" marL="0">
              <a:buNone/>
            </a:pPr>
            <a:r>
              <a:rPr lang="en-US" sz="1000" b="1" spc="100" kern="0" dirty="0">
                <a:solidFill>
                  <a:schemeClr val="accent6"/>
                </a:solidFill>
              </a:rPr>
              <a:t>RF MAE</a:t>
            </a:r>
            <a:endParaRPr lang="en-US" sz="1000" dirty="0"/>
          </a:p>
        </p:txBody>
      </p:sp>
      <p:sp>
        <p:nvSpPr>
          <p:cNvPr id="10" name="Text 7"/>
          <p:cNvSpPr txBox="1"/>
          <p:nvPr/>
        </p:nvSpPr>
        <p:spPr>
          <a:xfrm>
            <a:off x="777240" y="4023360"/>
            <a:ext cx="1737360" cy="548640"/>
          </a:xfrm>
          <a:prstGeom prst="rect">
            <a:avLst/>
          </a:prstGeom>
          <a:noFill/>
          <a:ln/>
        </p:spPr>
        <p:txBody>
          <a:bodyPr wrap="square" lIns="0" tIns="0" rIns="0" bIns="0" rtlCol="0" anchor="t"/>
          <a:lstStyle/>
          <a:p>
            <a:pPr indent="0" marL="0">
              <a:buNone/>
            </a:pPr>
            <a:r>
              <a:rPr lang="en-US" sz="3400" b="1" dirty="0">
                <a:solidFill>
                  <a:schemeClr val="accent6"/>
                </a:solidFill>
              </a:rPr>
              <a:t>0.5214</a:t>
            </a:r>
            <a:endParaRPr lang="en-US" sz="3400" dirty="0"/>
          </a:p>
        </p:txBody>
      </p:sp>
      <p:sp>
        <p:nvSpPr>
          <p:cNvPr id="11" name="Text 8"/>
          <p:cNvSpPr txBox="1"/>
          <p:nvPr/>
        </p:nvSpPr>
        <p:spPr>
          <a:xfrm>
            <a:off x="2697480" y="3794760"/>
            <a:ext cx="1828800" cy="201168"/>
          </a:xfrm>
          <a:prstGeom prst="rect">
            <a:avLst/>
          </a:prstGeom>
          <a:noFill/>
          <a:ln/>
        </p:spPr>
        <p:txBody>
          <a:bodyPr wrap="square" lIns="0" tIns="0" rIns="0" bIns="0" rtlCol="0" anchor="t"/>
          <a:lstStyle/>
          <a:p>
            <a:pPr indent="0" marL="0">
              <a:buNone/>
            </a:pPr>
            <a:r>
              <a:rPr lang="en-US" sz="1000" b="1" spc="100" kern="0" dirty="0">
                <a:solidFill>
                  <a:srgbClr val="AEBBD0"/>
                </a:solidFill>
              </a:rPr>
              <a:t>PERSISTENCE MAE</a:t>
            </a:r>
            <a:endParaRPr lang="en-US" sz="1000" dirty="0"/>
          </a:p>
        </p:txBody>
      </p:sp>
      <p:sp>
        <p:nvSpPr>
          <p:cNvPr id="12" name="Text 9"/>
          <p:cNvSpPr txBox="1"/>
          <p:nvPr/>
        </p:nvSpPr>
        <p:spPr>
          <a:xfrm>
            <a:off x="2697480" y="4023360"/>
            <a:ext cx="1828800" cy="548640"/>
          </a:xfrm>
          <a:prstGeom prst="rect">
            <a:avLst/>
          </a:prstGeom>
          <a:noFill/>
          <a:ln/>
        </p:spPr>
        <p:txBody>
          <a:bodyPr wrap="square" lIns="0" tIns="0" rIns="0" bIns="0" rtlCol="0" anchor="t"/>
          <a:lstStyle/>
          <a:p>
            <a:pPr indent="0" marL="0">
              <a:buNone/>
            </a:pPr>
            <a:r>
              <a:rPr lang="en-US" sz="3400" b="1" dirty="0">
                <a:solidFill>
                  <a:schemeClr val="bg1"/>
                </a:solidFill>
              </a:rPr>
              <a:t>0.5505</a:t>
            </a:r>
            <a:endParaRPr lang="en-US" sz="3400" dirty="0"/>
          </a:p>
        </p:txBody>
      </p:sp>
      <p:sp>
        <p:nvSpPr>
          <p:cNvPr id="13" name="Shape 10"/>
          <p:cNvSpPr/>
          <p:nvPr/>
        </p:nvSpPr>
        <p:spPr>
          <a:xfrm>
            <a:off x="777240" y="4754880"/>
            <a:ext cx="3566160" cy="329184"/>
          </a:xfrm>
          <a:prstGeom prst="roundRect">
            <a:avLst>
              <a:gd name="adj" fmla="val 50000"/>
            </a:avLst>
          </a:prstGeom>
          <a:solidFill>
            <a:schemeClr val="accent5">
              <a:alpha val="12000"/>
            </a:schemeClr>
          </a:solidFill>
          <a:ln w="9525">
            <a:solidFill>
              <a:schemeClr val="accent5">
                <a:alpha val="60000"/>
              </a:schemeClr>
            </a:solidFill>
            <a:prstDash val="solid"/>
          </a:ln>
        </p:spPr>
      </p:sp>
      <p:sp>
        <p:nvSpPr>
          <p:cNvPr id="14" name="Text 11"/>
          <p:cNvSpPr txBox="1"/>
          <p:nvPr/>
        </p:nvSpPr>
        <p:spPr>
          <a:xfrm>
            <a:off x="777240" y="4754880"/>
            <a:ext cx="3566160" cy="329184"/>
          </a:xfrm>
          <a:prstGeom prst="rect">
            <a:avLst/>
          </a:prstGeom>
          <a:noFill/>
          <a:ln/>
        </p:spPr>
        <p:txBody>
          <a:bodyPr wrap="square" lIns="0" tIns="0" rIns="0" bIns="0" rtlCol="0" anchor="ctr"/>
          <a:lstStyle/>
          <a:p>
            <a:pPr algn="ctr" indent="0" marL="0">
              <a:buNone/>
            </a:pPr>
            <a:r>
              <a:rPr lang="en-US" sz="1150" b="1" dirty="0">
                <a:solidFill>
                  <a:schemeClr val="accent5"/>
                </a:solidFill>
              </a:rPr>
              <a:t>Regime-dependent, especially near expiry</a:t>
            </a:r>
            <a:endParaRPr lang="en-US" sz="1150" dirty="0"/>
          </a:p>
        </p:txBody>
      </p:sp>
      <p:sp>
        <p:nvSpPr>
          <p:cNvPr id="15" name="Shape 12"/>
          <p:cNvSpPr/>
          <p:nvPr/>
        </p:nvSpPr>
        <p:spPr>
          <a:xfrm>
            <a:off x="4937760" y="1508760"/>
            <a:ext cx="6702552" cy="868680"/>
          </a:xfrm>
          <a:prstGeom prst="roundRect">
            <a:avLst>
              <a:gd name="adj" fmla="val 8421"/>
            </a:avLst>
          </a:prstGeom>
          <a:solidFill>
            <a:schemeClr val="tx2"/>
          </a:solidFill>
          <a:ln w="9525">
            <a:solidFill>
              <a:schemeClr val="accent6">
                <a:alpha val="30000"/>
              </a:schemeClr>
            </a:solidFill>
            <a:prstDash val="solid"/>
          </a:ln>
        </p:spPr>
      </p:sp>
      <p:sp>
        <p:nvSpPr>
          <p:cNvPr id="16" name="Text 13"/>
          <p:cNvSpPr txBox="1"/>
          <p:nvPr/>
        </p:nvSpPr>
        <p:spPr>
          <a:xfrm>
            <a:off x="5166360" y="1618488"/>
            <a:ext cx="3291840" cy="274320"/>
          </a:xfrm>
          <a:prstGeom prst="rect">
            <a:avLst/>
          </a:prstGeom>
          <a:noFill/>
          <a:ln/>
        </p:spPr>
        <p:txBody>
          <a:bodyPr wrap="square" lIns="0" tIns="0" rIns="0" bIns="0" rtlCol="0" anchor="t"/>
          <a:lstStyle/>
          <a:p>
            <a:pPr indent="0" marL="0">
              <a:buNone/>
            </a:pPr>
            <a:r>
              <a:rPr lang="en-US" sz="1500" b="1" dirty="0">
                <a:solidFill>
                  <a:schemeClr val="bg1"/>
                </a:solidFill>
              </a:rPr>
              <a:t>Forecasting objective</a:t>
            </a:r>
            <a:endParaRPr lang="en-US" sz="1500" dirty="0"/>
          </a:p>
        </p:txBody>
      </p:sp>
      <p:sp>
        <p:nvSpPr>
          <p:cNvPr id="17" name="Text 14"/>
          <p:cNvSpPr txBox="1"/>
          <p:nvPr/>
        </p:nvSpPr>
        <p:spPr>
          <a:xfrm>
            <a:off x="5166360" y="1920240"/>
            <a:ext cx="4206240" cy="411480"/>
          </a:xfrm>
          <a:prstGeom prst="rect">
            <a:avLst/>
          </a:prstGeom>
          <a:noFill/>
          <a:ln/>
        </p:spPr>
        <p:txBody>
          <a:bodyPr wrap="square" lIns="0" tIns="0" rIns="0" bIns="0" rtlCol="0" anchor="t"/>
          <a:lstStyle/>
          <a:p>
            <a:pPr indent="0" marL="0">
              <a:buNone/>
            </a:pPr>
            <a:r>
              <a:rPr lang="en-US" sz="1200" dirty="0">
                <a:solidFill>
                  <a:srgbClr val="C9D3E2"/>
                </a:solidFill>
              </a:rPr>
              <a:t>RF MAE 0.5214 vs persistence 0.5505</a:t>
            </a:r>
            <a:endParaRPr lang="en-US" sz="1200" dirty="0"/>
          </a:p>
        </p:txBody>
      </p:sp>
      <p:sp>
        <p:nvSpPr>
          <p:cNvPr id="18" name="Shape 15"/>
          <p:cNvSpPr/>
          <p:nvPr/>
        </p:nvSpPr>
        <p:spPr>
          <a:xfrm>
            <a:off x="9326880" y="1764792"/>
            <a:ext cx="2103120" cy="347472"/>
          </a:xfrm>
          <a:prstGeom prst="roundRect">
            <a:avLst>
              <a:gd name="adj" fmla="val 50000"/>
            </a:avLst>
          </a:prstGeom>
          <a:solidFill>
            <a:schemeClr val="accent2">
              <a:alpha val="75000"/>
            </a:schemeClr>
          </a:solidFill>
          <a:ln w="9525">
            <a:solidFill>
              <a:schemeClr val="accent2"/>
            </a:solidFill>
            <a:prstDash val="solid"/>
          </a:ln>
        </p:spPr>
      </p:sp>
      <p:sp>
        <p:nvSpPr>
          <p:cNvPr id="19" name="Text 16"/>
          <p:cNvSpPr txBox="1"/>
          <p:nvPr/>
        </p:nvSpPr>
        <p:spPr>
          <a:xfrm>
            <a:off x="9326880" y="1764792"/>
            <a:ext cx="2103120" cy="347472"/>
          </a:xfrm>
          <a:prstGeom prst="rect">
            <a:avLst/>
          </a:prstGeom>
          <a:noFill/>
          <a:ln/>
        </p:spPr>
        <p:txBody>
          <a:bodyPr wrap="square" lIns="0" tIns="0" rIns="0" bIns="0" rtlCol="0" anchor="ctr"/>
          <a:lstStyle/>
          <a:p>
            <a:pPr algn="ctr" indent="0" marL="0">
              <a:buNone/>
            </a:pPr>
            <a:r>
              <a:rPr lang="en-US" sz="1200" b="1" dirty="0">
                <a:solidFill>
                  <a:srgbClr val="FFFFFF"/>
                </a:solidFill>
              </a:rPr>
              <a:t>Achieved as a prototype</a:t>
            </a:r>
            <a:endParaRPr lang="en-US" sz="1200" dirty="0"/>
          </a:p>
        </p:txBody>
      </p:sp>
      <p:sp>
        <p:nvSpPr>
          <p:cNvPr id="20" name="Shape 17"/>
          <p:cNvSpPr/>
          <p:nvPr/>
        </p:nvSpPr>
        <p:spPr>
          <a:xfrm>
            <a:off x="4937760" y="2487168"/>
            <a:ext cx="6702552" cy="868680"/>
          </a:xfrm>
          <a:prstGeom prst="roundRect">
            <a:avLst>
              <a:gd name="adj" fmla="val 8421"/>
            </a:avLst>
          </a:prstGeom>
          <a:solidFill>
            <a:schemeClr val="tx2"/>
          </a:solidFill>
          <a:ln w="9525">
            <a:solidFill>
              <a:schemeClr val="accent6">
                <a:alpha val="30000"/>
              </a:schemeClr>
            </a:solidFill>
            <a:prstDash val="solid"/>
          </a:ln>
        </p:spPr>
      </p:sp>
      <p:sp>
        <p:nvSpPr>
          <p:cNvPr id="21" name="Text 18"/>
          <p:cNvSpPr txBox="1"/>
          <p:nvPr/>
        </p:nvSpPr>
        <p:spPr>
          <a:xfrm>
            <a:off x="5166360" y="2596896"/>
            <a:ext cx="3291840" cy="274320"/>
          </a:xfrm>
          <a:prstGeom prst="rect">
            <a:avLst/>
          </a:prstGeom>
          <a:noFill/>
          <a:ln/>
        </p:spPr>
        <p:txBody>
          <a:bodyPr wrap="square" lIns="0" tIns="0" rIns="0" bIns="0" rtlCol="0" anchor="t"/>
          <a:lstStyle/>
          <a:p>
            <a:pPr indent="0" marL="0">
              <a:buNone/>
            </a:pPr>
            <a:r>
              <a:rPr lang="en-US" sz="1500" b="1" dirty="0">
                <a:solidFill>
                  <a:schemeClr val="bg1"/>
                </a:solidFill>
              </a:rPr>
              <a:t>Interpretation objective</a:t>
            </a:r>
            <a:endParaRPr lang="en-US" sz="1500" dirty="0"/>
          </a:p>
        </p:txBody>
      </p:sp>
      <p:sp>
        <p:nvSpPr>
          <p:cNvPr id="22" name="Text 19"/>
          <p:cNvSpPr txBox="1"/>
          <p:nvPr/>
        </p:nvSpPr>
        <p:spPr>
          <a:xfrm>
            <a:off x="5166360" y="2898648"/>
            <a:ext cx="4206240" cy="411480"/>
          </a:xfrm>
          <a:prstGeom prst="rect">
            <a:avLst/>
          </a:prstGeom>
          <a:noFill/>
          <a:ln/>
        </p:spPr>
        <p:txBody>
          <a:bodyPr wrap="square" lIns="0" tIns="0" rIns="0" bIns="0" rtlCol="0" anchor="t"/>
          <a:lstStyle/>
          <a:p>
            <a:pPr indent="0" marL="0">
              <a:buNone/>
            </a:pPr>
            <a:r>
              <a:rPr lang="en-US" sz="1200" dirty="0">
                <a:solidFill>
                  <a:srgbClr val="C9D3E2"/>
                </a:solidFill>
              </a:rPr>
              <a:t>Relative low / neutral / high IV layer created</a:t>
            </a:r>
            <a:endParaRPr lang="en-US" sz="1200" dirty="0"/>
          </a:p>
        </p:txBody>
      </p:sp>
      <p:sp>
        <p:nvSpPr>
          <p:cNvPr id="23" name="Shape 20"/>
          <p:cNvSpPr/>
          <p:nvPr/>
        </p:nvSpPr>
        <p:spPr>
          <a:xfrm>
            <a:off x="9326880" y="2743200"/>
            <a:ext cx="2103120" cy="347472"/>
          </a:xfrm>
          <a:prstGeom prst="roundRect">
            <a:avLst>
              <a:gd name="adj" fmla="val 50000"/>
            </a:avLst>
          </a:prstGeom>
          <a:solidFill>
            <a:schemeClr val="accent2">
              <a:alpha val="75000"/>
            </a:schemeClr>
          </a:solidFill>
          <a:ln w="9525">
            <a:solidFill>
              <a:schemeClr val="accent2"/>
            </a:solidFill>
            <a:prstDash val="solid"/>
          </a:ln>
        </p:spPr>
      </p:sp>
      <p:sp>
        <p:nvSpPr>
          <p:cNvPr id="24" name="Text 21"/>
          <p:cNvSpPr txBox="1"/>
          <p:nvPr/>
        </p:nvSpPr>
        <p:spPr>
          <a:xfrm>
            <a:off x="9326880" y="2743200"/>
            <a:ext cx="2103120" cy="347472"/>
          </a:xfrm>
          <a:prstGeom prst="rect">
            <a:avLst/>
          </a:prstGeom>
          <a:noFill/>
          <a:ln/>
        </p:spPr>
        <p:txBody>
          <a:bodyPr wrap="square" lIns="0" tIns="0" rIns="0" bIns="0" rtlCol="0" anchor="ctr"/>
          <a:lstStyle/>
          <a:p>
            <a:pPr algn="ctr" indent="0" marL="0">
              <a:buNone/>
            </a:pPr>
            <a:r>
              <a:rPr lang="en-US" sz="1200" b="1" dirty="0">
                <a:solidFill>
                  <a:srgbClr val="FFFFFF"/>
                </a:solidFill>
              </a:rPr>
              <a:t>Achieved</a:t>
            </a:r>
            <a:endParaRPr lang="en-US" sz="1200" dirty="0"/>
          </a:p>
        </p:txBody>
      </p:sp>
      <p:sp>
        <p:nvSpPr>
          <p:cNvPr id="25" name="Shape 22"/>
          <p:cNvSpPr/>
          <p:nvPr/>
        </p:nvSpPr>
        <p:spPr>
          <a:xfrm>
            <a:off x="4937760" y="3465576"/>
            <a:ext cx="6702552" cy="868680"/>
          </a:xfrm>
          <a:prstGeom prst="roundRect">
            <a:avLst>
              <a:gd name="adj" fmla="val 8421"/>
            </a:avLst>
          </a:prstGeom>
          <a:solidFill>
            <a:schemeClr val="tx2"/>
          </a:solidFill>
          <a:ln w="9525">
            <a:solidFill>
              <a:schemeClr val="accent6">
                <a:alpha val="30000"/>
              </a:schemeClr>
            </a:solidFill>
            <a:prstDash val="solid"/>
          </a:ln>
        </p:spPr>
      </p:sp>
      <p:sp>
        <p:nvSpPr>
          <p:cNvPr id="26" name="Text 23"/>
          <p:cNvSpPr txBox="1"/>
          <p:nvPr/>
        </p:nvSpPr>
        <p:spPr>
          <a:xfrm>
            <a:off x="5166360" y="3575304"/>
            <a:ext cx="3291840" cy="274320"/>
          </a:xfrm>
          <a:prstGeom prst="rect">
            <a:avLst/>
          </a:prstGeom>
          <a:noFill/>
          <a:ln/>
        </p:spPr>
        <p:txBody>
          <a:bodyPr wrap="square" lIns="0" tIns="0" rIns="0" bIns="0" rtlCol="0" anchor="t"/>
          <a:lstStyle/>
          <a:p>
            <a:pPr indent="0" marL="0">
              <a:buNone/>
            </a:pPr>
            <a:r>
              <a:rPr lang="en-US" sz="1500" b="1" dirty="0">
                <a:solidFill>
                  <a:schemeClr val="bg1"/>
                </a:solidFill>
              </a:rPr>
              <a:t>Risk objective</a:t>
            </a:r>
            <a:endParaRPr lang="en-US" sz="1500" dirty="0"/>
          </a:p>
        </p:txBody>
      </p:sp>
      <p:sp>
        <p:nvSpPr>
          <p:cNvPr id="27" name="Text 24"/>
          <p:cNvSpPr txBox="1"/>
          <p:nvPr/>
        </p:nvSpPr>
        <p:spPr>
          <a:xfrm>
            <a:off x="5166360" y="3877056"/>
            <a:ext cx="4206240" cy="411480"/>
          </a:xfrm>
          <a:prstGeom prst="rect">
            <a:avLst/>
          </a:prstGeom>
          <a:noFill/>
          <a:ln/>
        </p:spPr>
        <p:txBody>
          <a:bodyPr wrap="square" lIns="0" tIns="0" rIns="0" bIns="0" rtlCol="0" anchor="t"/>
          <a:lstStyle/>
          <a:p>
            <a:pPr indent="0" marL="0">
              <a:buNone/>
            </a:pPr>
            <a:r>
              <a:rPr lang="en-US" sz="1200" dirty="0">
                <a:solidFill>
                  <a:srgbClr val="C9D3E2"/>
                </a:solidFill>
              </a:rPr>
              <a:t>Black-Scholes stress scenarios quantified spot and IV exposure</a:t>
            </a:r>
            <a:endParaRPr lang="en-US" sz="1200" dirty="0"/>
          </a:p>
        </p:txBody>
      </p:sp>
      <p:sp>
        <p:nvSpPr>
          <p:cNvPr id="28" name="Shape 25"/>
          <p:cNvSpPr/>
          <p:nvPr/>
        </p:nvSpPr>
        <p:spPr>
          <a:xfrm>
            <a:off x="9326880" y="3721608"/>
            <a:ext cx="2103120" cy="347472"/>
          </a:xfrm>
          <a:prstGeom prst="roundRect">
            <a:avLst>
              <a:gd name="adj" fmla="val 50000"/>
            </a:avLst>
          </a:prstGeom>
          <a:solidFill>
            <a:schemeClr val="accent2">
              <a:alpha val="75000"/>
            </a:schemeClr>
          </a:solidFill>
          <a:ln w="9525">
            <a:solidFill>
              <a:schemeClr val="accent2"/>
            </a:solidFill>
            <a:prstDash val="solid"/>
          </a:ln>
        </p:spPr>
      </p:sp>
      <p:sp>
        <p:nvSpPr>
          <p:cNvPr id="29" name="Text 26"/>
          <p:cNvSpPr txBox="1"/>
          <p:nvPr/>
        </p:nvSpPr>
        <p:spPr>
          <a:xfrm>
            <a:off x="9326880" y="3721608"/>
            <a:ext cx="2103120" cy="347472"/>
          </a:xfrm>
          <a:prstGeom prst="rect">
            <a:avLst/>
          </a:prstGeom>
          <a:noFill/>
          <a:ln/>
        </p:spPr>
        <p:txBody>
          <a:bodyPr wrap="square" lIns="0" tIns="0" rIns="0" bIns="0" rtlCol="0" anchor="ctr"/>
          <a:lstStyle/>
          <a:p>
            <a:pPr algn="ctr" indent="0" marL="0">
              <a:buNone/>
            </a:pPr>
            <a:r>
              <a:rPr lang="en-US" sz="1200" b="1" dirty="0">
                <a:solidFill>
                  <a:srgbClr val="FFFFFF"/>
                </a:solidFill>
              </a:rPr>
              <a:t>Achieved</a:t>
            </a:r>
            <a:endParaRPr lang="en-US" sz="1200" dirty="0"/>
          </a:p>
        </p:txBody>
      </p:sp>
      <p:sp>
        <p:nvSpPr>
          <p:cNvPr id="30" name="Shape 27"/>
          <p:cNvSpPr/>
          <p:nvPr/>
        </p:nvSpPr>
        <p:spPr>
          <a:xfrm>
            <a:off x="4937760" y="4443984"/>
            <a:ext cx="6702552" cy="868680"/>
          </a:xfrm>
          <a:prstGeom prst="roundRect">
            <a:avLst>
              <a:gd name="adj" fmla="val 8421"/>
            </a:avLst>
          </a:prstGeom>
          <a:solidFill>
            <a:schemeClr val="tx2"/>
          </a:solidFill>
          <a:ln w="9525">
            <a:solidFill>
              <a:schemeClr val="accent6">
                <a:alpha val="30000"/>
              </a:schemeClr>
            </a:solidFill>
            <a:prstDash val="solid"/>
          </a:ln>
        </p:spPr>
      </p:sp>
      <p:sp>
        <p:nvSpPr>
          <p:cNvPr id="31" name="Text 28"/>
          <p:cNvSpPr txBox="1"/>
          <p:nvPr/>
        </p:nvSpPr>
        <p:spPr>
          <a:xfrm>
            <a:off x="5166360" y="4553712"/>
            <a:ext cx="3291840" cy="274320"/>
          </a:xfrm>
          <a:prstGeom prst="rect">
            <a:avLst/>
          </a:prstGeom>
          <a:noFill/>
          <a:ln/>
        </p:spPr>
        <p:txBody>
          <a:bodyPr wrap="square" lIns="0" tIns="0" rIns="0" bIns="0" rtlCol="0" anchor="t"/>
          <a:lstStyle/>
          <a:p>
            <a:pPr indent="0" marL="0">
              <a:buNone/>
            </a:pPr>
            <a:r>
              <a:rPr lang="en-US" sz="1500" b="1" dirty="0">
                <a:solidFill>
                  <a:schemeClr val="bg1"/>
                </a:solidFill>
              </a:rPr>
              <a:t>Deployment objective</a:t>
            </a:r>
            <a:endParaRPr lang="en-US" sz="1500" dirty="0"/>
          </a:p>
        </p:txBody>
      </p:sp>
      <p:sp>
        <p:nvSpPr>
          <p:cNvPr id="32" name="Text 29"/>
          <p:cNvSpPr txBox="1"/>
          <p:nvPr/>
        </p:nvSpPr>
        <p:spPr>
          <a:xfrm>
            <a:off x="5166360" y="4855464"/>
            <a:ext cx="4206240" cy="411480"/>
          </a:xfrm>
          <a:prstGeom prst="rect">
            <a:avLst/>
          </a:prstGeom>
          <a:noFill/>
          <a:ln/>
        </p:spPr>
        <p:txBody>
          <a:bodyPr wrap="square" lIns="0" tIns="0" rIns="0" bIns="0" rtlCol="0" anchor="t"/>
          <a:lstStyle/>
          <a:p>
            <a:pPr indent="0" marL="0">
              <a:buNone/>
            </a:pPr>
            <a:r>
              <a:rPr lang="en-US" sz="1200" dirty="0">
                <a:solidFill>
                  <a:srgbClr val="C9D3E2"/>
                </a:solidFill>
              </a:rPr>
              <a:t>API connection and 5-minute loop work; full market-hours live validation remains</a:t>
            </a:r>
            <a:endParaRPr lang="en-US" sz="1200" dirty="0"/>
          </a:p>
        </p:txBody>
      </p:sp>
      <p:sp>
        <p:nvSpPr>
          <p:cNvPr id="33" name="Shape 30"/>
          <p:cNvSpPr/>
          <p:nvPr/>
        </p:nvSpPr>
        <p:spPr>
          <a:xfrm>
            <a:off x="9326880" y="4700016"/>
            <a:ext cx="2103120" cy="347472"/>
          </a:xfrm>
          <a:prstGeom prst="roundRect">
            <a:avLst>
              <a:gd name="adj" fmla="val 50000"/>
            </a:avLst>
          </a:prstGeom>
          <a:solidFill>
            <a:schemeClr val="accent5">
              <a:alpha val="75000"/>
            </a:schemeClr>
          </a:solidFill>
          <a:ln w="9525">
            <a:solidFill>
              <a:schemeClr val="accent5"/>
            </a:solidFill>
            <a:prstDash val="solid"/>
          </a:ln>
        </p:spPr>
      </p:sp>
      <p:sp>
        <p:nvSpPr>
          <p:cNvPr id="34" name="Text 31"/>
          <p:cNvSpPr txBox="1"/>
          <p:nvPr/>
        </p:nvSpPr>
        <p:spPr>
          <a:xfrm>
            <a:off x="9326880" y="4700016"/>
            <a:ext cx="2103120" cy="347472"/>
          </a:xfrm>
          <a:prstGeom prst="rect">
            <a:avLst/>
          </a:prstGeom>
          <a:noFill/>
          <a:ln/>
        </p:spPr>
        <p:txBody>
          <a:bodyPr wrap="square" lIns="0" tIns="0" rIns="0" bIns="0" rtlCol="0" anchor="ctr"/>
          <a:lstStyle/>
          <a:p>
            <a:pPr algn="ctr" indent="0" marL="0">
              <a:buNone/>
            </a:pPr>
            <a:r>
              <a:rPr lang="en-US" sz="1200" b="1" dirty="0">
                <a:solidFill>
                  <a:srgbClr val="FFFFFF"/>
                </a:solidFill>
              </a:rPr>
              <a:t>Partially validated</a:t>
            </a:r>
            <a:endParaRPr lang="en-US" sz="1200" dirty="0"/>
          </a:p>
        </p:txBody>
      </p:sp>
      <p:sp>
        <p:nvSpPr>
          <p:cNvPr id="35" name="Shape 32"/>
          <p:cNvSpPr/>
          <p:nvPr/>
        </p:nvSpPr>
        <p:spPr>
          <a:xfrm>
            <a:off x="548640" y="5486400"/>
            <a:ext cx="11091672" cy="822960"/>
          </a:xfrm>
          <a:prstGeom prst="roundRect">
            <a:avLst>
              <a:gd name="adj" fmla="val 8889"/>
            </a:avLst>
          </a:prstGeom>
          <a:solidFill>
            <a:schemeClr val="tx2"/>
          </a:solidFill>
          <a:ln w="9525">
            <a:solidFill>
              <a:schemeClr val="accent6">
                <a:alpha val="30000"/>
              </a:schemeClr>
            </a:solidFill>
            <a:prstDash val="solid"/>
          </a:ln>
        </p:spPr>
      </p:sp>
      <p:sp>
        <p:nvSpPr>
          <p:cNvPr id="36" name="Text 33"/>
          <p:cNvSpPr txBox="1"/>
          <p:nvPr/>
        </p:nvSpPr>
        <p:spPr>
          <a:xfrm>
            <a:off x="777240" y="5532120"/>
            <a:ext cx="10652760" cy="731520"/>
          </a:xfrm>
          <a:prstGeom prst="rect">
            <a:avLst/>
          </a:prstGeom>
          <a:noFill/>
          <a:ln/>
        </p:spPr>
        <p:txBody>
          <a:bodyPr wrap="square" lIns="0" tIns="0" rIns="0" bIns="0" rtlCol="0" anchor="ctr"/>
          <a:lstStyle/>
          <a:p>
            <a:pPr indent="0" marL="0">
              <a:buNone/>
            </a:pPr>
            <a:r>
              <a:rPr lang="en-US" sz="1350" b="1" dirty="0">
                <a:solidFill>
                  <a:schemeClr val="bg1"/>
                </a:solidFill>
              </a:rPr>
              <a:t>Overall, the project demonstrates both the usefulness and the limitations of short-horizon IV forecasting: predictive value exists, but it is regime-dependent and should be combined with risk analysis rather than treated as a stand-alone trading rule.</a:t>
            </a:r>
            <a:endParaRPr lang="en-US" sz="135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37744"/>
            <a:ext cx="8229600" cy="201168"/>
          </a:xfrm>
          <a:prstGeom prst="rect">
            <a:avLst/>
          </a:prstGeom>
          <a:noFill/>
          <a:ln/>
        </p:spPr>
        <p:txBody>
          <a:bodyPr wrap="square" lIns="0" tIns="0" rIns="0" bIns="0" rtlCol="0" anchor="t"/>
          <a:lstStyle/>
          <a:p>
            <a:pPr indent="0" marL="0">
              <a:buNone/>
            </a:pPr>
            <a:r>
              <a:rPr lang="en-US" sz="1100" b="1" spc="200" kern="0" dirty="0">
                <a:solidFill>
                  <a:schemeClr val="accent6"/>
                </a:solidFill>
              </a:rPr>
              <a:t>15  ·  REFERENCES, ACKNOWLEDGEMENT AND THANK YOU</a:t>
            </a:r>
            <a:endParaRPr lang="en-US" sz="1100" dirty="0"/>
          </a:p>
        </p:txBody>
      </p:sp>
      <p:sp>
        <p:nvSpPr>
          <p:cNvPr id="3" name="Text 0"/>
          <p:cNvSpPr/>
          <p:nvPr>
            <p:ph idx="100" type="title" hasCustomPrompt="1"/>
          </p:nvPr>
        </p:nvSpPr>
        <p:spPr>
          <a:xfrm>
            <a:off x="548640" y="457200"/>
            <a:ext cx="11064240" cy="594360"/>
          </a:xfrm>
          <a:prstGeom prst="rect">
            <a:avLst/>
          </a:prstGeom>
          <a:noFill/>
          <a:ln/>
        </p:spPr>
        <p:txBody>
          <a:bodyPr wrap="square" lIns="0" tIns="0" rIns="0" bIns="0" rtlCol="0" anchor="t"/>
          <a:lstStyle/>
          <a:p>
            <a:pPr algn="l" indent="0" marL="0">
              <a:buNone/>
            </a:pPr>
            <a:r>
              <a:rPr lang="en-US" sz="2800" b="1" dirty="0">
                <a:solidFill>
                  <a:schemeClr val="bg1"/>
                </a:solidFill>
              </a:rPr>
              <a:t>References, acknowledgement and thank you</a:t>
            </a:r>
            <a:endParaRPr lang="en-US" sz="2800" dirty="0"/>
          </a:p>
        </p:txBody>
      </p:sp>
      <p:sp>
        <p:nvSpPr>
          <p:cNvPr id="5" name="Shape 2"/>
          <p:cNvSpPr/>
          <p:nvPr/>
        </p:nvSpPr>
        <p:spPr>
          <a:xfrm>
            <a:off x="548640" y="1280160"/>
            <a:ext cx="7040880" cy="5029200"/>
          </a:xfrm>
          <a:prstGeom prst="roundRect">
            <a:avLst>
              <a:gd name="adj" fmla="val 1455"/>
            </a:avLst>
          </a:prstGeom>
          <a:solidFill>
            <a:schemeClr val="tx2"/>
          </a:solidFill>
          <a:ln w="9525">
            <a:solidFill>
              <a:schemeClr val="accent6">
                <a:alpha val="30000"/>
              </a:schemeClr>
            </a:solidFill>
            <a:prstDash val="solid"/>
          </a:ln>
        </p:spPr>
      </p:sp>
      <p:sp>
        <p:nvSpPr>
          <p:cNvPr id="6" name="Text 3"/>
          <p:cNvSpPr txBox="1"/>
          <p:nvPr/>
        </p:nvSpPr>
        <p:spPr>
          <a:xfrm>
            <a:off x="777240" y="1444752"/>
            <a:ext cx="457200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SELECTED REFERENCES</a:t>
            </a:r>
            <a:endParaRPr lang="en-US" sz="1000" dirty="0"/>
          </a:p>
        </p:txBody>
      </p:sp>
      <p:sp>
        <p:nvSpPr>
          <p:cNvPr id="7" name="Shape 4"/>
          <p:cNvSpPr/>
          <p:nvPr/>
        </p:nvSpPr>
        <p:spPr>
          <a:xfrm>
            <a:off x="777240" y="1810512"/>
            <a:ext cx="274320" cy="274320"/>
          </a:xfrm>
          <a:prstGeom prst="ellipse">
            <a:avLst/>
          </a:prstGeom>
          <a:solidFill>
            <a:schemeClr val="accent1"/>
          </a:solidFill>
          <a:ln/>
        </p:spPr>
      </p:sp>
      <p:sp>
        <p:nvSpPr>
          <p:cNvPr id="8" name="Text 5"/>
          <p:cNvSpPr txBox="1"/>
          <p:nvPr/>
        </p:nvSpPr>
        <p:spPr>
          <a:xfrm>
            <a:off x="777240" y="181051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9" name="Text 6"/>
          <p:cNvSpPr txBox="1"/>
          <p:nvPr/>
        </p:nvSpPr>
        <p:spPr>
          <a:xfrm>
            <a:off x="1188720" y="1783080"/>
            <a:ext cx="6217920" cy="566928"/>
          </a:xfrm>
          <a:prstGeom prst="rect">
            <a:avLst/>
          </a:prstGeom>
          <a:noFill/>
          <a:ln/>
        </p:spPr>
        <p:txBody>
          <a:bodyPr wrap="square" lIns="0" tIns="0" rIns="0" bIns="0" rtlCol="0" anchor="t"/>
          <a:lstStyle/>
          <a:p>
            <a:pPr indent="0" marL="0">
              <a:buNone/>
            </a:pPr>
            <a:r>
              <a:rPr lang="en-US" sz="1150" dirty="0">
                <a:solidFill>
                  <a:schemeClr val="bg1"/>
                </a:solidFill>
              </a:rPr>
              <a:t>Black, F., &amp; Scholes, M. (1973). The Pricing of Options and Corporate Liabilities. Journal of Political Economy, 81(3), 637-654. DOI: 10.1086/260062.</a:t>
            </a:r>
            <a:endParaRPr lang="en-US" sz="1150" dirty="0"/>
          </a:p>
        </p:txBody>
      </p:sp>
      <p:sp>
        <p:nvSpPr>
          <p:cNvPr id="10" name="Shape 7"/>
          <p:cNvSpPr/>
          <p:nvPr/>
        </p:nvSpPr>
        <p:spPr>
          <a:xfrm>
            <a:off x="777240" y="2441448"/>
            <a:ext cx="274320" cy="274320"/>
          </a:xfrm>
          <a:prstGeom prst="ellipse">
            <a:avLst/>
          </a:prstGeom>
          <a:solidFill>
            <a:schemeClr val="accent1"/>
          </a:solidFill>
          <a:ln/>
        </p:spPr>
      </p:sp>
      <p:sp>
        <p:nvSpPr>
          <p:cNvPr id="11" name="Text 8"/>
          <p:cNvSpPr txBox="1"/>
          <p:nvPr/>
        </p:nvSpPr>
        <p:spPr>
          <a:xfrm>
            <a:off x="777240" y="2441448"/>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2" name="Text 9"/>
          <p:cNvSpPr txBox="1"/>
          <p:nvPr/>
        </p:nvSpPr>
        <p:spPr>
          <a:xfrm>
            <a:off x="1188720" y="2414016"/>
            <a:ext cx="6217920" cy="566928"/>
          </a:xfrm>
          <a:prstGeom prst="rect">
            <a:avLst/>
          </a:prstGeom>
          <a:noFill/>
          <a:ln/>
        </p:spPr>
        <p:txBody>
          <a:bodyPr wrap="square" lIns="0" tIns="0" rIns="0" bIns="0" rtlCol="0" anchor="t"/>
          <a:lstStyle/>
          <a:p>
            <a:pPr indent="0" marL="0">
              <a:buNone/>
            </a:pPr>
            <a:r>
              <a:rPr lang="en-US" sz="1150" dirty="0">
                <a:solidFill>
                  <a:schemeClr val="bg1"/>
                </a:solidFill>
              </a:rPr>
              <a:t>National Stock Exchange of India. NIFTY Option Chain (Equity Derivatives): https://www.nseindia.com/option-chain</a:t>
            </a:r>
            <a:endParaRPr lang="en-US" sz="1150" dirty="0"/>
          </a:p>
        </p:txBody>
      </p:sp>
      <p:sp>
        <p:nvSpPr>
          <p:cNvPr id="13" name="Shape 10"/>
          <p:cNvSpPr/>
          <p:nvPr/>
        </p:nvSpPr>
        <p:spPr>
          <a:xfrm>
            <a:off x="777240" y="3072384"/>
            <a:ext cx="274320" cy="274320"/>
          </a:xfrm>
          <a:prstGeom prst="ellipse">
            <a:avLst/>
          </a:prstGeom>
          <a:solidFill>
            <a:schemeClr val="accent1"/>
          </a:solidFill>
          <a:ln/>
        </p:spPr>
      </p:sp>
      <p:sp>
        <p:nvSpPr>
          <p:cNvPr id="14" name="Text 11"/>
          <p:cNvSpPr txBox="1"/>
          <p:nvPr/>
        </p:nvSpPr>
        <p:spPr>
          <a:xfrm>
            <a:off x="777240" y="3072384"/>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5" name="Text 12"/>
          <p:cNvSpPr txBox="1"/>
          <p:nvPr/>
        </p:nvSpPr>
        <p:spPr>
          <a:xfrm>
            <a:off x="1188720" y="3044952"/>
            <a:ext cx="6217920" cy="566928"/>
          </a:xfrm>
          <a:prstGeom prst="rect">
            <a:avLst/>
          </a:prstGeom>
          <a:noFill/>
          <a:ln/>
        </p:spPr>
        <p:txBody>
          <a:bodyPr wrap="square" lIns="0" tIns="0" rIns="0" bIns="0" rtlCol="0" anchor="t"/>
          <a:lstStyle/>
          <a:p>
            <a:pPr indent="0" marL="0">
              <a:buNone/>
            </a:pPr>
            <a:r>
              <a:rPr lang="en-US" sz="1150" dirty="0">
                <a:solidFill>
                  <a:schemeClr val="bg1"/>
                </a:solidFill>
              </a:rPr>
              <a:t>Upstox Developer API. Put/Call Option Chain: https://upstox.com/developer/api-documentation/get-pc-option-chain/</a:t>
            </a:r>
            <a:endParaRPr lang="en-US" sz="1150" dirty="0"/>
          </a:p>
        </p:txBody>
      </p:sp>
      <p:sp>
        <p:nvSpPr>
          <p:cNvPr id="16" name="Shape 13"/>
          <p:cNvSpPr/>
          <p:nvPr/>
        </p:nvSpPr>
        <p:spPr>
          <a:xfrm>
            <a:off x="777240" y="3703320"/>
            <a:ext cx="274320" cy="274320"/>
          </a:xfrm>
          <a:prstGeom prst="ellipse">
            <a:avLst/>
          </a:prstGeom>
          <a:solidFill>
            <a:schemeClr val="accent1"/>
          </a:solidFill>
          <a:ln/>
        </p:spPr>
      </p:sp>
      <p:sp>
        <p:nvSpPr>
          <p:cNvPr id="17" name="Text 14"/>
          <p:cNvSpPr txBox="1"/>
          <p:nvPr/>
        </p:nvSpPr>
        <p:spPr>
          <a:xfrm>
            <a:off x="777240" y="37033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18" name="Text 15"/>
          <p:cNvSpPr txBox="1"/>
          <p:nvPr/>
        </p:nvSpPr>
        <p:spPr>
          <a:xfrm>
            <a:off x="1188720" y="3675888"/>
            <a:ext cx="6217920" cy="566928"/>
          </a:xfrm>
          <a:prstGeom prst="rect">
            <a:avLst/>
          </a:prstGeom>
          <a:noFill/>
          <a:ln/>
        </p:spPr>
        <p:txBody>
          <a:bodyPr wrap="square" lIns="0" tIns="0" rIns="0" bIns="0" rtlCol="0" anchor="t"/>
          <a:lstStyle/>
          <a:p>
            <a:pPr indent="0" marL="0">
              <a:buNone/>
            </a:pPr>
            <a:r>
              <a:rPr lang="en-US" sz="1150" dirty="0">
                <a:solidFill>
                  <a:schemeClr val="bg1"/>
                </a:solidFill>
              </a:rPr>
              <a:t>Upstox Developer API. Option Contracts: https://upstox.com/developer/api-documentation/get-option-contracts/</a:t>
            </a:r>
            <a:endParaRPr lang="en-US" sz="1150" dirty="0"/>
          </a:p>
        </p:txBody>
      </p:sp>
      <p:sp>
        <p:nvSpPr>
          <p:cNvPr id="19" name="Shape 16"/>
          <p:cNvSpPr/>
          <p:nvPr/>
        </p:nvSpPr>
        <p:spPr>
          <a:xfrm>
            <a:off x="777240" y="4334256"/>
            <a:ext cx="274320" cy="274320"/>
          </a:xfrm>
          <a:prstGeom prst="ellipse">
            <a:avLst/>
          </a:prstGeom>
          <a:solidFill>
            <a:schemeClr val="accent1"/>
          </a:solidFill>
          <a:ln/>
        </p:spPr>
      </p:sp>
      <p:sp>
        <p:nvSpPr>
          <p:cNvPr id="20" name="Text 17"/>
          <p:cNvSpPr txBox="1"/>
          <p:nvPr/>
        </p:nvSpPr>
        <p:spPr>
          <a:xfrm>
            <a:off x="777240" y="4334256"/>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21" name="Text 18"/>
          <p:cNvSpPr txBox="1"/>
          <p:nvPr/>
        </p:nvSpPr>
        <p:spPr>
          <a:xfrm>
            <a:off x="1188720" y="4306824"/>
            <a:ext cx="6217920" cy="566928"/>
          </a:xfrm>
          <a:prstGeom prst="rect">
            <a:avLst/>
          </a:prstGeom>
          <a:noFill/>
          <a:ln/>
        </p:spPr>
        <p:txBody>
          <a:bodyPr wrap="square" lIns="0" tIns="0" rIns="0" bIns="0" rtlCol="0" anchor="t"/>
          <a:lstStyle/>
          <a:p>
            <a:pPr indent="0" marL="0">
              <a:buNone/>
            </a:pPr>
            <a:r>
              <a:rPr lang="en-US" sz="1150" dirty="0">
                <a:solidFill>
                  <a:schemeClr val="bg1"/>
                </a:solidFill>
              </a:rPr>
              <a:t>scikit-learn documentation. RandomForestRegressor: https://scikit-learn.org/stable/modules/generated/sklearn.ensemble.RandomForestRegressor.html</a:t>
            </a:r>
            <a:endParaRPr lang="en-US" sz="1150" dirty="0"/>
          </a:p>
        </p:txBody>
      </p:sp>
      <p:sp>
        <p:nvSpPr>
          <p:cNvPr id="22" name="Shape 19"/>
          <p:cNvSpPr/>
          <p:nvPr/>
        </p:nvSpPr>
        <p:spPr>
          <a:xfrm>
            <a:off x="777240" y="4965192"/>
            <a:ext cx="274320" cy="274320"/>
          </a:xfrm>
          <a:prstGeom prst="ellipse">
            <a:avLst/>
          </a:prstGeom>
          <a:solidFill>
            <a:schemeClr val="accent1"/>
          </a:solidFill>
          <a:ln/>
        </p:spPr>
      </p:sp>
      <p:sp>
        <p:nvSpPr>
          <p:cNvPr id="23" name="Text 20"/>
          <p:cNvSpPr txBox="1"/>
          <p:nvPr/>
        </p:nvSpPr>
        <p:spPr>
          <a:xfrm>
            <a:off x="777240" y="496519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24" name="Text 21"/>
          <p:cNvSpPr txBox="1"/>
          <p:nvPr/>
        </p:nvSpPr>
        <p:spPr>
          <a:xfrm>
            <a:off x="1188720" y="4937760"/>
            <a:ext cx="6217920" cy="566928"/>
          </a:xfrm>
          <a:prstGeom prst="rect">
            <a:avLst/>
          </a:prstGeom>
          <a:noFill/>
          <a:ln/>
        </p:spPr>
        <p:txBody>
          <a:bodyPr wrap="square" lIns="0" tIns="0" rIns="0" bIns="0" rtlCol="0" anchor="t"/>
          <a:lstStyle/>
          <a:p>
            <a:pPr indent="0" marL="0">
              <a:buNone/>
            </a:pPr>
            <a:r>
              <a:rPr lang="en-US" sz="1150" dirty="0">
                <a:solidFill>
                  <a:schemeClr val="bg1"/>
                </a:solidFill>
              </a:rPr>
              <a:t>XGBoost documentation. Python / XGBRegressor API: https://xgboost.readthedocs.io/en/latest/python/python_api.html</a:t>
            </a:r>
            <a:endParaRPr lang="en-US" sz="1150" dirty="0"/>
          </a:p>
        </p:txBody>
      </p:sp>
      <p:sp>
        <p:nvSpPr>
          <p:cNvPr id="25" name="Shape 22"/>
          <p:cNvSpPr/>
          <p:nvPr/>
        </p:nvSpPr>
        <p:spPr>
          <a:xfrm>
            <a:off x="777240" y="5596128"/>
            <a:ext cx="274320" cy="274320"/>
          </a:xfrm>
          <a:prstGeom prst="ellipse">
            <a:avLst/>
          </a:prstGeom>
          <a:solidFill>
            <a:schemeClr val="accent1"/>
          </a:solidFill>
          <a:ln/>
        </p:spPr>
      </p:sp>
      <p:sp>
        <p:nvSpPr>
          <p:cNvPr id="26" name="Text 23"/>
          <p:cNvSpPr txBox="1"/>
          <p:nvPr/>
        </p:nvSpPr>
        <p:spPr>
          <a:xfrm>
            <a:off x="777240" y="5596128"/>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27" name="Text 24"/>
          <p:cNvSpPr txBox="1"/>
          <p:nvPr/>
        </p:nvSpPr>
        <p:spPr>
          <a:xfrm>
            <a:off x="1188720" y="5568696"/>
            <a:ext cx="6217920" cy="566928"/>
          </a:xfrm>
          <a:prstGeom prst="rect">
            <a:avLst/>
          </a:prstGeom>
          <a:noFill/>
          <a:ln/>
        </p:spPr>
        <p:txBody>
          <a:bodyPr wrap="square" lIns="0" tIns="0" rIns="0" bIns="0" rtlCol="0" anchor="t"/>
          <a:lstStyle/>
          <a:p>
            <a:pPr indent="0" marL="0">
              <a:buNone/>
            </a:pPr>
            <a:r>
              <a:rPr lang="en-US" sz="1150" dirty="0">
                <a:solidFill>
                  <a:schemeClr val="bg1"/>
                </a:solidFill>
              </a:rPr>
              <a:t>Streamlit documentation: https://docs.streamlit.io/</a:t>
            </a:r>
            <a:endParaRPr lang="en-US" sz="1150" dirty="0"/>
          </a:p>
        </p:txBody>
      </p:sp>
      <p:sp>
        <p:nvSpPr>
          <p:cNvPr id="28" name="Shape 25"/>
          <p:cNvSpPr/>
          <p:nvPr/>
        </p:nvSpPr>
        <p:spPr>
          <a:xfrm>
            <a:off x="7818120" y="1280160"/>
            <a:ext cx="3822192" cy="1965960"/>
          </a:xfrm>
          <a:prstGeom prst="roundRect">
            <a:avLst>
              <a:gd name="adj" fmla="val 3721"/>
            </a:avLst>
          </a:prstGeom>
          <a:solidFill>
            <a:schemeClr val="tx2"/>
          </a:solidFill>
          <a:ln w="9525">
            <a:solidFill>
              <a:schemeClr val="accent6">
                <a:alpha val="30000"/>
              </a:schemeClr>
            </a:solidFill>
            <a:prstDash val="solid"/>
          </a:ln>
        </p:spPr>
      </p:sp>
      <p:sp>
        <p:nvSpPr>
          <p:cNvPr id="29" name="Text 26"/>
          <p:cNvSpPr txBox="1"/>
          <p:nvPr/>
        </p:nvSpPr>
        <p:spPr>
          <a:xfrm>
            <a:off x="8046720" y="1444752"/>
            <a:ext cx="338328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ACKNOWLEDGEMENT</a:t>
            </a:r>
            <a:endParaRPr lang="en-US" sz="1000" dirty="0"/>
          </a:p>
        </p:txBody>
      </p:sp>
      <p:sp>
        <p:nvSpPr>
          <p:cNvPr id="30" name="Text 27"/>
          <p:cNvSpPr txBox="1"/>
          <p:nvPr/>
        </p:nvSpPr>
        <p:spPr>
          <a:xfrm>
            <a:off x="8046720" y="1737360"/>
            <a:ext cx="3383280" cy="1417320"/>
          </a:xfrm>
          <a:prstGeom prst="rect">
            <a:avLst/>
          </a:prstGeom>
          <a:noFill/>
          <a:ln/>
        </p:spPr>
        <p:txBody>
          <a:bodyPr wrap="square" lIns="0" tIns="0" rIns="0" bIns="0" rtlCol="0" anchor="t"/>
          <a:lstStyle/>
          <a:p>
            <a:pPr indent="0" marL="0">
              <a:buNone/>
            </a:pPr>
            <a:r>
              <a:rPr lang="en-US" sz="1300" dirty="0">
                <a:solidFill>
                  <a:schemeClr val="bg1"/>
                </a:solidFill>
              </a:rPr>
              <a:t>I acknowledge Surabhi Investment Services Pvt. Ltd. for the internship exposure in options trading and Pondicherry University for academic guidance and support.</a:t>
            </a:r>
            <a:endParaRPr lang="en-US" sz="1300" dirty="0"/>
          </a:p>
        </p:txBody>
      </p:sp>
      <p:sp>
        <p:nvSpPr>
          <p:cNvPr id="31" name="Shape 28"/>
          <p:cNvSpPr/>
          <p:nvPr/>
        </p:nvSpPr>
        <p:spPr>
          <a:xfrm>
            <a:off x="7818120" y="3383280"/>
            <a:ext cx="3822192" cy="1097280"/>
          </a:xfrm>
          <a:prstGeom prst="roundRect">
            <a:avLst>
              <a:gd name="adj" fmla="val 6667"/>
            </a:avLst>
          </a:prstGeom>
          <a:solidFill>
            <a:schemeClr val="tx2"/>
          </a:solidFill>
          <a:ln w="9525">
            <a:solidFill>
              <a:schemeClr val="accent6">
                <a:alpha val="30000"/>
              </a:schemeClr>
            </a:solidFill>
            <a:prstDash val="solid"/>
          </a:ln>
        </p:spPr>
      </p:sp>
      <p:sp>
        <p:nvSpPr>
          <p:cNvPr id="32" name="Text 29"/>
          <p:cNvSpPr txBox="1"/>
          <p:nvPr/>
        </p:nvSpPr>
        <p:spPr>
          <a:xfrm>
            <a:off x="8046720" y="3520440"/>
            <a:ext cx="3383280" cy="201168"/>
          </a:xfrm>
          <a:prstGeom prst="rect">
            <a:avLst/>
          </a:prstGeom>
          <a:noFill/>
          <a:ln/>
        </p:spPr>
        <p:txBody>
          <a:bodyPr wrap="square" lIns="0" tIns="0" rIns="0" bIns="0" rtlCol="0" anchor="t"/>
          <a:lstStyle/>
          <a:p>
            <a:pPr indent="0" marL="0">
              <a:buNone/>
            </a:pPr>
            <a:r>
              <a:rPr lang="en-US" sz="1000" b="1" spc="200" kern="0" dirty="0">
                <a:solidFill>
                  <a:schemeClr val="accent6"/>
                </a:solidFill>
              </a:rPr>
              <a:t>SOFTWARE USED</a:t>
            </a:r>
            <a:endParaRPr lang="en-US" sz="1000" dirty="0"/>
          </a:p>
        </p:txBody>
      </p:sp>
      <p:sp>
        <p:nvSpPr>
          <p:cNvPr id="33" name="Text 30"/>
          <p:cNvSpPr txBox="1"/>
          <p:nvPr/>
        </p:nvSpPr>
        <p:spPr>
          <a:xfrm>
            <a:off x="8046720" y="3794760"/>
            <a:ext cx="3383280" cy="640080"/>
          </a:xfrm>
          <a:prstGeom prst="rect">
            <a:avLst/>
          </a:prstGeom>
          <a:noFill/>
          <a:ln/>
        </p:spPr>
        <p:txBody>
          <a:bodyPr wrap="square" lIns="0" tIns="0" rIns="0" bIns="0" rtlCol="0" anchor="t"/>
          <a:lstStyle/>
          <a:p>
            <a:pPr indent="0" marL="0">
              <a:buNone/>
            </a:pPr>
            <a:r>
              <a:rPr lang="en-US" sz="1250" dirty="0">
                <a:solidFill>
                  <a:schemeClr val="bg1"/>
                </a:solidFill>
              </a:rPr>
              <a:t>Python · pandas · NumPy · SciPy · scikit-learn · XGBoost · Matplotlib · Streamlit</a:t>
            </a:r>
            <a:endParaRPr lang="en-US" sz="1250" dirty="0"/>
          </a:p>
        </p:txBody>
      </p:sp>
      <p:sp>
        <p:nvSpPr>
          <p:cNvPr id="34" name="Shape 31"/>
          <p:cNvSpPr/>
          <p:nvPr/>
        </p:nvSpPr>
        <p:spPr>
          <a:xfrm>
            <a:off x="7818120" y="4617720"/>
            <a:ext cx="3822192" cy="1691640"/>
          </a:xfrm>
          <a:prstGeom prst="roundRect">
            <a:avLst>
              <a:gd name="adj" fmla="val 4324"/>
            </a:avLst>
          </a:prstGeom>
          <a:solidFill>
            <a:schemeClr val="accent1"/>
          </a:solidFill>
          <a:ln w="9525">
            <a:solidFill>
              <a:schemeClr val="accent6">
                <a:alpha val="60000"/>
              </a:schemeClr>
            </a:solidFill>
            <a:prstDash val="solid"/>
          </a:ln>
        </p:spPr>
      </p:sp>
      <p:sp>
        <p:nvSpPr>
          <p:cNvPr id="35" name="Text 32"/>
          <p:cNvSpPr txBox="1"/>
          <p:nvPr/>
        </p:nvSpPr>
        <p:spPr>
          <a:xfrm>
            <a:off x="8046720" y="4800600"/>
            <a:ext cx="3383280" cy="640080"/>
          </a:xfrm>
          <a:prstGeom prst="rect">
            <a:avLst/>
          </a:prstGeom>
          <a:noFill/>
          <a:ln/>
        </p:spPr>
        <p:txBody>
          <a:bodyPr wrap="square" lIns="0" tIns="0" rIns="0" bIns="0" rtlCol="0" anchor="t"/>
          <a:lstStyle/>
          <a:p>
            <a:pPr indent="0" marL="0">
              <a:buNone/>
            </a:pPr>
            <a:r>
              <a:rPr lang="en-US" sz="3600" b="1" dirty="0">
                <a:solidFill>
                  <a:schemeClr val="bg1"/>
                </a:solidFill>
              </a:rPr>
              <a:t>Thank you</a:t>
            </a:r>
            <a:endParaRPr lang="en-US" sz="3600" dirty="0"/>
          </a:p>
        </p:txBody>
      </p:sp>
      <p:sp>
        <p:nvSpPr>
          <p:cNvPr id="36" name="Text 33"/>
          <p:cNvSpPr txBox="1"/>
          <p:nvPr/>
        </p:nvSpPr>
        <p:spPr>
          <a:xfrm>
            <a:off x="8046720" y="5468112"/>
            <a:ext cx="3383280" cy="274320"/>
          </a:xfrm>
          <a:prstGeom prst="rect">
            <a:avLst/>
          </a:prstGeom>
          <a:noFill/>
          <a:ln/>
        </p:spPr>
        <p:txBody>
          <a:bodyPr wrap="square" lIns="0" tIns="0" rIns="0" bIns="0" rtlCol="0" anchor="t"/>
          <a:lstStyle/>
          <a:p>
            <a:pPr indent="0" marL="0">
              <a:buNone/>
            </a:pPr>
            <a:r>
              <a:rPr lang="en-US" sz="1300" dirty="0">
                <a:solidFill>
                  <a:schemeClr val="bg1"/>
                </a:solidFill>
              </a:rPr>
              <a:t>Questions and discussion are welcome.</a:t>
            </a:r>
            <a:endParaRPr lang="en-US" sz="1300" dirty="0"/>
          </a:p>
        </p:txBody>
      </p:sp>
      <p:sp>
        <p:nvSpPr>
          <p:cNvPr id="37" name="Text 34"/>
          <p:cNvSpPr txBox="1"/>
          <p:nvPr/>
        </p:nvSpPr>
        <p:spPr>
          <a:xfrm>
            <a:off x="8046720" y="5852160"/>
            <a:ext cx="3383280" cy="274320"/>
          </a:xfrm>
          <a:prstGeom prst="rect">
            <a:avLst/>
          </a:prstGeom>
          <a:noFill/>
          <a:ln/>
        </p:spPr>
        <p:txBody>
          <a:bodyPr wrap="square" lIns="0" tIns="0" rIns="0" bIns="0" rtlCol="0" anchor="t"/>
          <a:lstStyle/>
          <a:p>
            <a:pPr indent="0" marL="0">
              <a:buNone/>
            </a:pPr>
            <a:r>
              <a:rPr lang="en-US" sz="1200" b="1" dirty="0">
                <a:solidFill>
                  <a:schemeClr val="bg1"/>
                </a:solidFill>
              </a:rPr>
              <a:t>Diviya C.  ·  Pondicherry University</a:t>
            </a:r>
            <a:endParaRPr lang="en-US" sz="1200" dirty="0"/>
          </a:p>
        </p:txBody>
      </p:sp>
      <p:sp>
        <p:nvSpPr>
          <p:cNvPr id="25" name="Slide Number Placeholder 0"/>
          <p:cNvSpPr>
            <a:spLocks noGrp="1"/>
          </p:cNvSpPr>
          <p:nvPr>
            <p:ph type="sldNum" sz="quarter" idx="4294967295"/>
          </p:nvPr>
        </p:nvSpPr>
        <p:spPr>
          <a:xfrm>
            <a:off x="10972800" y="6473952"/>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Quant Options Terminal">
  <a:themeElements>
    <a:clrScheme name="Quant Options Terminal">
      <a:dk1>
        <a:srgbClr val="0A1628"/>
      </a:dk1>
      <a:lt1>
        <a:srgbClr val="FFFFFF"/>
      </a:lt1>
      <a:dk2>
        <a:srgbClr val="10264A"/>
      </a:dk2>
      <a:lt2>
        <a:srgbClr val="F2F5F9"/>
      </a:lt2>
      <a:accent1>
        <a:srgbClr val="0E9AA7"/>
      </a:accent1>
      <a:accent2>
        <a:srgbClr val="1FA971"/>
      </a:accent2>
      <a:accent3>
        <a:srgbClr val="D6455A"/>
      </a:accent3>
      <a:accent4>
        <a:srgbClr val="64748B"/>
      </a:accent4>
      <a:accent5>
        <a:srgbClr val="E3A21A"/>
      </a:accent5>
      <a:accent6>
        <a:srgbClr val="2FD0DE"/>
      </a:accent6>
      <a:hlink>
        <a:srgbClr val="0E9AA7"/>
      </a:hlink>
      <a:folHlink>
        <a:srgbClr val="64748B"/>
      </a:folHlink>
    </a:clrScheme>
    <a:fontScheme name="Quant Options Termi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Implied Volatility Forecasting and Relative Valuation of NIFTY 50 Options Using Machine Learning</dc:title>
  <dc:subject>Academic Internship Project - M.Sc. Quantitative Finance, Pondicherry University</dc:subject>
  <dc:creator>Diviya C.</dc:creator>
  <cp:lastModifiedBy>Diviya C.</cp:lastModifiedBy>
  <cp:revision>1</cp:revision>
  <dcterms:created xsi:type="dcterms:W3CDTF">2026-10-25T18:56:21Z</dcterms:created>
  <dcterms:modified xsi:type="dcterms:W3CDTF">2026-10-25T18:56:21Z</dcterms:modified>
</cp:coreProperties>
</file>