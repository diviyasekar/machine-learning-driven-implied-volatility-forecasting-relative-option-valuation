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MAE</c:v>
                </c:pt>
              </c:strCache>
            </c:strRef>
          </c:tx>
          <c:spPr>
            <a:solidFill>
              <a:srgbClr val="2C6EB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Persistence</c:v>
                  </c:pt>
                  <c:pt idx="1">
                    <c:v>RF + Lag</c:v>
                  </c:pt>
                  <c:pt idx="2">
                    <c:v>XGB + Lag</c:v>
                  </c:pt>
                </c:lvl>
              </c:multiLvlStrCache>
            </c:multiLvlStrRef>
          </c:cat>
          <c:val>
            <c:numRef>
              <c:f>Sheet1!$B$2:$B$4</c:f>
              <c:numCache>
                <c:formatCode>General</c:formatCode>
                <c:ptCount val="3"/>
                <c:pt idx="0">
                  <c:v>0.550478</c:v>
                </c:pt>
                <c:pt idx="1">
                  <c:v>0.521398</c:v>
                </c:pt>
                <c:pt idx="2">
                  <c:v>0.552956</c:v>
                </c:pt>
              </c:numCache>
            </c:numRef>
          </c:val>
        </c:ser>
        <c:ser>
          <c:idx val="1"/>
          <c:order val="1"/>
          <c:tx>
            <c:strRef>
              <c:f>Sheet1!$C$1</c:f>
              <c:strCache>
                <c:ptCount val="1"/>
                <c:pt idx="0">
                  <c:v>RMSE</c:v>
                </c:pt>
              </c:strCache>
            </c:strRef>
          </c:tx>
          <c:spPr>
            <a:solidFill>
              <a:srgbClr val="0F8B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Persistence</c:v>
                  </c:pt>
                  <c:pt idx="1">
                    <c:v>RF + Lag</c:v>
                  </c:pt>
                  <c:pt idx="2">
                    <c:v>XGB + Lag</c:v>
                  </c:pt>
                </c:lvl>
              </c:multiLvlStrCache>
            </c:multiLvlStrRef>
          </c:cat>
          <c:val>
            <c:numRef>
              <c:f>Sheet1!$C$2:$C$4</c:f>
              <c:numCache>
                <c:formatCode>General</c:formatCode>
                <c:ptCount val="3"/>
                <c:pt idx="0">
                  <c:v>1.320669</c:v>
                </c:pt>
                <c:pt idx="1">
                  <c:v>1.218771</c:v>
                </c:pt>
                <c:pt idx="2">
                  <c:v>1.296449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AAB7C4"/>
            </a:solidFill>
            <a:prstDash val="solid"/>
            <a:round/>
          </a:ln>
        </c:spPr>
        <c:txPr>
          <a:bodyPr/>
          <a:lstStyle/>
          <a:p>
            <a:pPr>
              <a:defRPr sz="9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AAB7C4"/>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0.3"/>
      </c:valAx>
      <c:spPr>
        <a:noFill/>
        <a:ln>
          <a:noFill/>
        </a:ln>
        <a:effectLst/>
      </c:spPr>
    </c:plotArea>
    <c:legend>
      <c:legendPos val="b"/>
      <c:overlay val="0"/>
      <c:txPr>
        <a:bodyPr/>
        <a:lstStyle/>
        <a:p>
          <a:pPr>
            <a:defRPr sz="900">
              <a:latin typeface="Aptos"/>
              <a:cs typeface="Aptos"/>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Importance</c:v>
                </c:pt>
              </c:strCache>
            </c:strRef>
          </c:tx>
          <c:spPr>
            <a:solidFill>
              <a:srgbClr val="2C6EB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2C6EBA"/>
              </a:solidFill>
              <a:effectLst/>
            </c:spPr>
          </c:dPt>
          <c:dPt>
            <c:idx val="1"/>
            <c:invertIfNegative val="0"/>
            <c:bubble3D val="0"/>
            <c:spPr>
              <a:solidFill>
                <a:srgbClr val="0F8B8D"/>
              </a:solidFill>
              <a:effectLst/>
            </c:spPr>
          </c:dPt>
          <c:dPt>
            <c:idx val="2"/>
            <c:invertIfNegative val="0"/>
            <c:bubble3D val="0"/>
            <c:spPr>
              <a:solidFill>
                <a:srgbClr val="D97706"/>
              </a:solidFill>
              <a:effectLst/>
            </c:spPr>
          </c:dPt>
          <c:dPt>
            <c:idx val="3"/>
            <c:invertIfNegative val="0"/>
            <c:bubble3D val="0"/>
            <c:spPr>
              <a:solidFill>
                <a:srgbClr val="5F6B78"/>
              </a:solidFill>
              <a:effectLst/>
            </c:spPr>
          </c:dPt>
          <c:dPt>
            <c:idx val="4"/>
            <c:invertIfNegative val="0"/>
            <c:bubble3D val="0"/>
            <c:spPr>
              <a:solidFill>
                <a:srgbClr val="2C6EBA"/>
              </a:solidFill>
              <a:effectLst/>
            </c:spPr>
          </c:dPt>
          <c:dPt>
            <c:idx val="5"/>
            <c:invertIfNegative val="0"/>
            <c:bubble3D val="0"/>
            <c:spPr>
              <a:solidFill>
                <a:srgbClr val="0F8B8D"/>
              </a:solidFill>
              <a:effectLst/>
            </c:spPr>
          </c:dPt>
          <c:cat>
            <c:multiLvlStrRef>
              <c:f>Sheet1!$A$2:$A$7</c:f>
              <c:multiLvlStrCache>
                <c:ptCount val="6"/>
                <c:lvl>
                  <c:pt idx="0">
                    <c:v>IV change 5m</c:v>
                  </c:pt>
                  <c:pt idx="1">
                    <c:v>IV change 10m</c:v>
                  </c:pt>
                  <c:pt idx="2">
                    <c:v>Current IV</c:v>
                  </c:pt>
                  <c:pt idx="3">
                    <c:v>IV lag 5m</c:v>
                  </c:pt>
                  <c:pt idx="4">
                    <c:v>Bid-ask spread</c:v>
                  </c:pt>
                  <c:pt idx="5">
                    <c:v>Spot lag 5m</c:v>
                  </c:pt>
                </c:lvl>
              </c:multiLvlStrCache>
            </c:multiLvlStrRef>
          </c:cat>
          <c:val>
            <c:numRef>
              <c:f>Sheet1!$B$2:$B$7</c:f>
              <c:numCache>
                <c:formatCode>General</c:formatCode>
                <c:ptCount val="6"/>
                <c:pt idx="0">
                  <c:v>0.072086</c:v>
                </c:pt>
                <c:pt idx="1">
                  <c:v>0.067392</c:v>
                </c:pt>
                <c:pt idx="2">
                  <c:v>0.065294</c:v>
                </c:pt>
                <c:pt idx="3">
                  <c:v>0.042729</c:v>
                </c:pt>
                <c:pt idx="4">
                  <c:v>0.03515</c:v>
                </c:pt>
                <c:pt idx="5">
                  <c:v>0.034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AAB7C4"/>
            </a:solidFill>
            <a:prstDash val="solid"/>
            <a:round/>
          </a:ln>
        </c:spPr>
        <c:txPr>
          <a:bodyPr/>
          <a:lstStyle/>
          <a:p>
            <a:pPr>
              <a:defRPr sz="9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0.08"/>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AAB7C4"/>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0.02"/>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 mean |ΔIV|</c:v>
                </c:pt>
              </c:strCache>
            </c:strRef>
          </c:tx>
          <c:spPr>
            <a:solidFill>
              <a:srgbClr val="2C6EBA"/>
            </a:solidFill>
            <a:ln w="25400" cap="flat">
              <a:solidFill>
                <a:srgbClr val="2C6EB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C6EBA"/>
              </a:solidFill>
              <a:ln w="9525" cap="flat">
                <a:solidFill>
                  <a:srgbClr val="2C6EBA"/>
                </a:solidFill>
                <a:prstDash val="solid"/>
                <a:round/>
              </a:ln>
              <a:effectLst/>
            </c:spPr>
          </c:marker>
          <c:cat>
            <c:multiLvlStrRef>
              <c:f>Sheet1!$A$2:$A$7</c:f>
              <c:multiLvlStrCache>
                <c:ptCount val="6"/>
                <c:lvl>
                  <c:pt idx="0">
                    <c:v>13:55</c:v>
                  </c:pt>
                  <c:pt idx="1">
                    <c:v>14:20</c:v>
                  </c:pt>
                  <c:pt idx="2">
                    <c:v>14:45</c:v>
                  </c:pt>
                  <c:pt idx="3">
                    <c:v>15:00</c:v>
                  </c:pt>
                  <c:pt idx="4">
                    <c:v>15:10</c:v>
                  </c:pt>
                  <c:pt idx="5">
                    <c:v>15:20</c:v>
                  </c:pt>
                </c:lvl>
              </c:multiLvlStrCache>
            </c:multiLvlStrRef>
          </c:cat>
          <c:val>
            <c:numRef>
              <c:f>Sheet1!$B$2:$B$7</c:f>
              <c:numCache>
                <c:formatCode>General</c:formatCode>
                <c:ptCount val="6"/>
                <c:pt idx="0">
                  <c:v>5.406</c:v>
                </c:pt>
                <c:pt idx="1">
                  <c:v>8.351</c:v>
                </c:pt>
                <c:pt idx="2">
                  <c:v>12.958</c:v>
                </c:pt>
                <c:pt idx="3">
                  <c:v>21.487</c:v>
                </c:pt>
                <c:pt idx="4">
                  <c:v>32.832</c:v>
                </c:pt>
                <c:pt idx="5">
                  <c:v>53.232</c:v>
                </c:pt>
              </c:numCache>
            </c:numRef>
          </c:val>
          <c:smooth val="0"/>
        </c:ser>
        <c:ser>
          <c:idx val="1"/>
          <c:order val="1"/>
          <c:tx>
            <c:strRef>
              <c:f>Sheet1!$C$1</c:f>
              <c:strCache>
                <c:ptCount val="1"/>
                <c:pt idx="0">
                  <c:v>RF MAE</c:v>
                </c:pt>
              </c:strCache>
            </c:strRef>
          </c:tx>
          <c:spPr>
            <a:solidFill>
              <a:srgbClr val="0F8B8D"/>
            </a:solidFill>
            <a:ln w="25400" cap="flat">
              <a:solidFill>
                <a:srgbClr val="0F8B8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8B8D"/>
              </a:solidFill>
              <a:ln w="9525" cap="flat">
                <a:solidFill>
                  <a:srgbClr val="0F8B8D"/>
                </a:solidFill>
                <a:prstDash val="solid"/>
                <a:round/>
              </a:ln>
              <a:effectLst/>
            </c:spPr>
          </c:marker>
          <c:cat>
            <c:multiLvlStrRef>
              <c:f>Sheet1!$A$2:$A$7</c:f>
              <c:multiLvlStrCache>
                <c:ptCount val="6"/>
                <c:lvl>
                  <c:pt idx="0">
                    <c:v>13:55</c:v>
                  </c:pt>
                  <c:pt idx="1">
                    <c:v>14:20</c:v>
                  </c:pt>
                  <c:pt idx="2">
                    <c:v>14:45</c:v>
                  </c:pt>
                  <c:pt idx="3">
                    <c:v>15:00</c:v>
                  </c:pt>
                  <c:pt idx="4">
                    <c:v>15:10</c:v>
                  </c:pt>
                  <c:pt idx="5">
                    <c:v>15:20</c:v>
                  </c:pt>
                </c:lvl>
              </c:multiLvlStrCache>
            </c:multiLvlStrRef>
          </c:cat>
          <c:val>
            <c:numRef>
              <c:f>Sheet1!$C$2:$C$7</c:f>
              <c:numCache>
                <c:formatCode>General</c:formatCode>
                <c:ptCount val="6"/>
                <c:pt idx="0">
                  <c:v>7.079</c:v>
                </c:pt>
                <c:pt idx="1">
                  <c:v>11.707</c:v>
                </c:pt>
                <c:pt idx="2">
                  <c:v>15.856</c:v>
                </c:pt>
                <c:pt idx="3">
                  <c:v>25.509</c:v>
                </c:pt>
                <c:pt idx="4">
                  <c:v>35.395</c:v>
                </c:pt>
                <c:pt idx="5">
                  <c:v>56.922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AAB7C4"/>
            </a:solidFill>
            <a:prstDash val="solid"/>
            <a:round/>
          </a:ln>
        </c:spPr>
        <c:txPr>
          <a:bodyPr/>
          <a:lstStyle/>
          <a:p>
            <a:pPr>
              <a:defRPr sz="9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AAB7C4"/>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10"/>
      </c:valAx>
      <c:spPr>
        <a:noFill/>
        <a:ln>
          <a:noFill/>
        </a:ln>
        <a:effectLst/>
      </c:spPr>
    </c:plotArea>
    <c:legend>
      <c:legendPos val="b"/>
      <c:overlay val="0"/>
      <c:txPr>
        <a:bodyPr/>
        <a:lstStyle/>
        <a:p>
          <a:pPr>
            <a:defRPr sz="900">
              <a:latin typeface="Aptos"/>
              <a:cs typeface="Apto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exact project title. Explain that this is an academic internship project in quantitative finance focused on NIFTY 50 options. Mention that the project combines 5-minute implied-volatility forecasting, relative valuation, stress testing and a Streamlit-based live-market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internship organisation, location, period and area exactly. The duration is 59 calendar days inclusive. Emphasise that the internship was relevant because it gave an options-trading setting for studying implied volatility, forecasting and risk; do not claim duties that are not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IV in simple terms: it is the volatility implied by the market price of the option. Then explain the smile/skew idea and why IV varies across strikes. Position the project as a quantitative-finance application combining derivatives theory, machine learning and risk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central research question around beating persistence. Explain why persistence is a strong benchmark over only five minutes. Stress that the project is not just prediction; it also interprets forecasts and tests how option value reacts under adverse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objectives as a sequence: collect data, engineer features, forecast IV, interpret relative value, and finally stress-test/deploy. This makes clear that the project was an end-to-end research and implementation exercise rather than only a model-fitting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three core concepts. First, Black-Scholes links option price to volatility; IV is the volatility consistent with the market price. Second, moneyness standardises strike relative to spot. Third, the actual ML target is the five-minute change in IV, while persistence assumes no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data funnel rather than only quoting the final sample. The raw development master had 8,424 rows from 81 snapshots. After restructuring, exact target matching, the near-ATM filter and exact lag construction, 4,853 rows remained. Keep 19 October separate as the expiry-day robustness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methodology sequentially. Emphasise exact five-minute matching and chronological validation. The most important methodological safeguard is that strikes observed at the same timestamp are cross-sectional observations, so the split was done by time, not by randomly splitting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actual Random Forest settings and explain that regression does not imply a linear relationship; Random Forest is nonlinear. Mention the 39-feature design. Also note that XGBoost, a probability classifier, Black-Scholes stress testing, saved model files, and the live Upstox pipeline were implemented as supporting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on the comparable final holdout. Random Forest with lag features was the only model that clearly improved both MAE and RMSE versus persistence. The improvement is modest but real: about 5.3% in MAE and 7.7% in RMSE. Do not overstate R-squared because IV is already very persistent.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 the feature importance: recent IV movement and current IV dominate, with liquidity and spot information also contributing. Explain the relative-IV labels carefully: “low IV” means current IV is below the model’s five-minute forecast, not that the option is definitely cheap. Mention that thresholding improved directional accuracy on a smaller subset, while the probability classifier was too weak to use as a confidence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stress-test case to show why an “IV up” forecast is not automatically a buy signal. For the selected near-ATM call, a 2% spot fall overwhelmed the benefit of higher IV. Then explain the practical application: the dashboard combines forecast, relative valuation and risk rather than relying on a single model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important. Do not hide the poor expiry-day result. Explain that it is evidence of regime shift, not a reason to delete difficult observations. The training set had roughly three to four days remaining, while the robustness sample had minutes remaining. More historical days, especially expiry days, are the highest-priority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project without introducing new results. The core objective was achieved as a prototype: RF improved on persistence in the development holdout, the forecast was translated into a relative-IV layer, and stress testing/dashboard deployment were implemented. The strongest caution is that performance is regime-dependent, especially near expiry.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acknowledging the internship organisation and university. The references shown are the main traceable theoretical, market-data, API and software sources used in the project.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F8B8D"/>
          </a:solidFill>
          <a:ln w="12700">
            <a:solidFill>
              <a:srgbClr val="0F8B8D"/>
            </a:solidFill>
            <a:prstDash val="solid"/>
          </a:ln>
        </p:spPr>
      </p:sp>
      <p:sp>
        <p:nvSpPr>
          <p:cNvPr id="3" name="Shape 1"/>
          <p:cNvSpPr/>
          <p:nvPr/>
        </p:nvSpPr>
        <p:spPr>
          <a:xfrm>
            <a:off x="594360" y="6446520"/>
            <a:ext cx="10972800" cy="0"/>
          </a:xfrm>
          <a:prstGeom prst="line">
            <a:avLst/>
          </a:prstGeom>
          <a:noFill/>
          <a:ln w="8890">
            <a:solidFill>
              <a:srgbClr val="D8E0E8"/>
            </a:solidFill>
            <a:prstDash val="solid"/>
          </a:ln>
        </p:spPr>
      </p:sp>
      <p:sp>
        <p:nvSpPr>
          <p:cNvPr id="4" name="Text 2"/>
          <p:cNvSpPr/>
          <p:nvPr/>
        </p:nvSpPr>
        <p:spPr>
          <a:xfrm>
            <a:off x="640080" y="6473952"/>
            <a:ext cx="6949440" cy="182880"/>
          </a:xfrm>
          <a:prstGeom prst="rect">
            <a:avLst/>
          </a:prstGeom>
          <a:noFill/>
          <a:ln/>
        </p:spPr>
        <p:txBody>
          <a:bodyPr wrap="square" lIns="0" tIns="0" rIns="0" bIns="0" rtlCol="0" anchor="ctr"/>
          <a:lstStyle/>
          <a:p>
            <a:pPr indent="0" marL="0">
              <a:buNone/>
            </a:pPr>
            <a:r>
              <a:rPr lang="en-US" sz="750" dirty="0">
                <a:solidFill>
                  <a:srgbClr val="7A8795"/>
                </a:solidFill>
                <a:latin typeface="Aptos" pitchFamily="34" charset="0"/>
                <a:ea typeface="Aptos" pitchFamily="34" charset="-122"/>
                <a:cs typeface="Aptos" pitchFamily="34" charset="-120"/>
              </a:rPr>
              <a:t>M.Sc. Quantitative Finance | Academic Internship Project</a:t>
            </a:r>
            <a:endParaRPr lang="en-US" sz="75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7635240" y="91440"/>
            <a:ext cx="4553712" cy="6355080"/>
          </a:xfrm>
          <a:prstGeom prst="rect">
            <a:avLst/>
          </a:prstGeom>
          <a:solidFill>
            <a:srgbClr val="0B1F33"/>
          </a:solidFill>
          <a:ln w="12700">
            <a:solidFill>
              <a:srgbClr val="0B1F33"/>
            </a:solidFill>
            <a:prstDash val="solid"/>
          </a:ln>
        </p:spPr>
      </p:sp>
      <p:sp>
        <p:nvSpPr>
          <p:cNvPr id="3" name="Shape 1"/>
          <p:cNvSpPr/>
          <p:nvPr/>
        </p:nvSpPr>
        <p:spPr>
          <a:xfrm>
            <a:off x="7635240" y="91440"/>
            <a:ext cx="82296" cy="6355080"/>
          </a:xfrm>
          <a:prstGeom prst="rect">
            <a:avLst/>
          </a:prstGeom>
          <a:solidFill>
            <a:srgbClr val="0F8B8D"/>
          </a:solidFill>
          <a:ln w="12700">
            <a:solidFill>
              <a:srgbClr val="0F8B8D"/>
            </a:solidFill>
            <a:prstDash val="solid"/>
          </a:ln>
        </p:spPr>
      </p:sp>
      <p:sp>
        <p:nvSpPr>
          <p:cNvPr id="4" name="Text 2"/>
          <p:cNvSpPr/>
          <p:nvPr/>
        </p:nvSpPr>
        <p:spPr>
          <a:xfrm>
            <a:off x="749808" y="658368"/>
            <a:ext cx="4206240" cy="292608"/>
          </a:xfrm>
          <a:prstGeom prst="rect">
            <a:avLst/>
          </a:prstGeom>
          <a:noFill/>
          <a:ln/>
        </p:spPr>
        <p:txBody>
          <a:bodyPr wrap="square" lIns="635" tIns="635" rIns="635" bIns="635" rtlCol="0" anchor="ctr">
            <a:normAutofit/>
          </a:bodyPr>
          <a:lstStyle/>
          <a:p>
            <a:pPr algn="l" indent="0" marL="0">
              <a:buNone/>
            </a:pPr>
            <a:r>
              <a:rPr lang="en-US" sz="1100" b="1" dirty="0">
                <a:solidFill>
                  <a:srgbClr val="0F8B8D"/>
                </a:solidFill>
                <a:latin typeface="Aptos" pitchFamily="34" charset="0"/>
                <a:ea typeface="Aptos" pitchFamily="34" charset="-122"/>
                <a:cs typeface="Aptos" pitchFamily="34" charset="-120"/>
              </a:rPr>
              <a:t>ACADEMIC INTERNSHIP PROJECT</a:t>
            </a:r>
            <a:endParaRPr lang="en-US" sz="1100" dirty="0"/>
          </a:p>
        </p:txBody>
      </p:sp>
      <p:sp>
        <p:nvSpPr>
          <p:cNvPr id="5" name="Text 3"/>
          <p:cNvSpPr/>
          <p:nvPr/>
        </p:nvSpPr>
        <p:spPr>
          <a:xfrm>
            <a:off x="749808" y="1188720"/>
            <a:ext cx="6309360" cy="1417320"/>
          </a:xfrm>
          <a:prstGeom prst="rect">
            <a:avLst/>
          </a:prstGeom>
          <a:noFill/>
          <a:ln/>
        </p:spPr>
        <p:txBody>
          <a:bodyPr wrap="square" lIns="635" tIns="635" rIns="635" bIns="635" rtlCol="0" anchor="t">
            <a:normAutofit/>
          </a:bodyPr>
          <a:lstStyle/>
          <a:p>
            <a:pPr algn="l" indent="0" marL="0">
              <a:buNone/>
            </a:pPr>
            <a:r>
              <a:rPr lang="en-US" sz="2550" b="1" dirty="0">
                <a:solidFill>
                  <a:srgbClr val="0B1F33"/>
                </a:solidFill>
                <a:latin typeface="Aptos Display" pitchFamily="34" charset="0"/>
                <a:ea typeface="Aptos Display" pitchFamily="34" charset="-122"/>
                <a:cs typeface="Aptos Display" pitchFamily="34" charset="-120"/>
              </a:rPr>
              <a:t>Real-Time Implied Volatility Forecasting and Relative Valuation of NIFTY 50 Options Using Machine Learning</a:t>
            </a:r>
            <a:endParaRPr lang="en-US" sz="2550" dirty="0"/>
          </a:p>
        </p:txBody>
      </p:sp>
      <p:sp>
        <p:nvSpPr>
          <p:cNvPr id="6" name="Text 4"/>
          <p:cNvSpPr/>
          <p:nvPr/>
        </p:nvSpPr>
        <p:spPr>
          <a:xfrm>
            <a:off x="768096" y="2852928"/>
            <a:ext cx="6172200" cy="841248"/>
          </a:xfrm>
          <a:prstGeom prst="rect">
            <a:avLst/>
          </a:prstGeom>
          <a:noFill/>
          <a:ln/>
        </p:spPr>
        <p:txBody>
          <a:bodyPr wrap="square" lIns="635" tIns="635" rIns="635" bIns="635" rtlCol="0" anchor="t">
            <a:normAutofit/>
          </a:bodyPr>
          <a:lstStyle/>
          <a:p>
            <a:pPr algn="l" indent="0" marL="0">
              <a:buNone/>
            </a:pPr>
            <a:r>
              <a:rPr lang="en-US" sz="1220" dirty="0">
                <a:solidFill>
                  <a:srgbClr val="5F6B78"/>
                </a:solidFill>
                <a:latin typeface="Aptos" pitchFamily="34" charset="0"/>
                <a:ea typeface="Aptos" pitchFamily="34" charset="-122"/>
                <a:cs typeface="Aptos" pitchFamily="34" charset="-120"/>
              </a:rPr>
              <a:t>A 5-minute forecasting prototype integrating option-chain analytics, machine learning, relative-IV interpretation, stress testing and a live dashboard.</a:t>
            </a:r>
            <a:endParaRPr lang="en-US" sz="1220" dirty="0"/>
          </a:p>
        </p:txBody>
      </p:sp>
      <p:sp>
        <p:nvSpPr>
          <p:cNvPr id="7" name="Shape 5"/>
          <p:cNvSpPr/>
          <p:nvPr/>
        </p:nvSpPr>
        <p:spPr>
          <a:xfrm>
            <a:off x="768096" y="4069080"/>
            <a:ext cx="1417320" cy="292608"/>
          </a:xfrm>
          <a:prstGeom prst="roundRect">
            <a:avLst>
              <a:gd name="adj" fmla="val 25000"/>
            </a:avLst>
          </a:prstGeom>
          <a:solidFill>
            <a:srgbClr val="EDF4FB"/>
          </a:solidFill>
          <a:ln w="12700">
            <a:solidFill>
              <a:srgbClr val="EDF4FB"/>
            </a:solidFill>
            <a:prstDash val="solid"/>
          </a:ln>
        </p:spPr>
      </p:sp>
      <p:sp>
        <p:nvSpPr>
          <p:cNvPr id="8" name="Text 6"/>
          <p:cNvSpPr/>
          <p:nvPr/>
        </p:nvSpPr>
        <p:spPr>
          <a:xfrm>
            <a:off x="768096" y="4078224"/>
            <a:ext cx="1417320" cy="237744"/>
          </a:xfrm>
          <a:prstGeom prst="rect">
            <a:avLst/>
          </a:prstGeom>
          <a:noFill/>
          <a:ln/>
        </p:spPr>
        <p:txBody>
          <a:bodyPr wrap="square" lIns="635" tIns="635" rIns="635" bIns="635" rtlCol="0" anchor="ctr">
            <a:normAutofit/>
          </a:bodyPr>
          <a:lstStyle/>
          <a:p>
            <a:pPr algn="ctr" indent="0" marL="0">
              <a:buNone/>
            </a:pPr>
            <a:r>
              <a:rPr lang="en-US" sz="920" b="1" dirty="0">
                <a:solidFill>
                  <a:srgbClr val="2C6EBA"/>
                </a:solidFill>
                <a:latin typeface="Aptos" pitchFamily="34" charset="0"/>
                <a:ea typeface="Aptos" pitchFamily="34" charset="-122"/>
                <a:cs typeface="Aptos" pitchFamily="34" charset="-120"/>
              </a:rPr>
              <a:t>NIFTY 50</a:t>
            </a:r>
            <a:endParaRPr lang="en-US" sz="920" dirty="0"/>
          </a:p>
        </p:txBody>
      </p:sp>
      <p:sp>
        <p:nvSpPr>
          <p:cNvPr id="9" name="Shape 7"/>
          <p:cNvSpPr/>
          <p:nvPr/>
        </p:nvSpPr>
        <p:spPr>
          <a:xfrm>
            <a:off x="2304288" y="4069080"/>
            <a:ext cx="1920240" cy="292608"/>
          </a:xfrm>
          <a:prstGeom prst="roundRect">
            <a:avLst>
              <a:gd name="adj" fmla="val 25000"/>
            </a:avLst>
          </a:prstGeom>
          <a:solidFill>
            <a:srgbClr val="E9F6F5"/>
          </a:solidFill>
          <a:ln w="12700">
            <a:solidFill>
              <a:srgbClr val="E9F6F5"/>
            </a:solidFill>
            <a:prstDash val="solid"/>
          </a:ln>
        </p:spPr>
      </p:sp>
      <p:sp>
        <p:nvSpPr>
          <p:cNvPr id="10" name="Text 8"/>
          <p:cNvSpPr/>
          <p:nvPr/>
        </p:nvSpPr>
        <p:spPr>
          <a:xfrm>
            <a:off x="2304288" y="4078224"/>
            <a:ext cx="1920240" cy="237744"/>
          </a:xfrm>
          <a:prstGeom prst="rect">
            <a:avLst/>
          </a:prstGeom>
          <a:noFill/>
          <a:ln/>
        </p:spPr>
        <p:txBody>
          <a:bodyPr wrap="square" lIns="635" tIns="635" rIns="635" bIns="635" rtlCol="0" anchor="ctr">
            <a:normAutofit/>
          </a:bodyPr>
          <a:lstStyle/>
          <a:p>
            <a:pPr algn="ctr" indent="0" marL="0">
              <a:buNone/>
            </a:pPr>
            <a:r>
              <a:rPr lang="en-US" sz="920" b="1" dirty="0">
                <a:solidFill>
                  <a:srgbClr val="0F8B8D"/>
                </a:solidFill>
                <a:latin typeface="Aptos" pitchFamily="34" charset="0"/>
                <a:ea typeface="Aptos" pitchFamily="34" charset="-122"/>
                <a:cs typeface="Aptos" pitchFamily="34" charset="-120"/>
              </a:rPr>
              <a:t>5-minute horizon</a:t>
            </a:r>
            <a:endParaRPr lang="en-US" sz="920" dirty="0"/>
          </a:p>
        </p:txBody>
      </p:sp>
      <p:sp>
        <p:nvSpPr>
          <p:cNvPr id="11" name="Shape 9"/>
          <p:cNvSpPr/>
          <p:nvPr/>
        </p:nvSpPr>
        <p:spPr>
          <a:xfrm>
            <a:off x="4352544" y="4069080"/>
            <a:ext cx="1965960" cy="292608"/>
          </a:xfrm>
          <a:prstGeom prst="roundRect">
            <a:avLst>
              <a:gd name="adj" fmla="val 25000"/>
            </a:avLst>
          </a:prstGeom>
          <a:solidFill>
            <a:srgbClr val="FFF3E5"/>
          </a:solidFill>
          <a:ln w="12700">
            <a:solidFill>
              <a:srgbClr val="FFF3E5"/>
            </a:solidFill>
            <a:prstDash val="solid"/>
          </a:ln>
        </p:spPr>
      </p:sp>
      <p:sp>
        <p:nvSpPr>
          <p:cNvPr id="12" name="Text 10"/>
          <p:cNvSpPr/>
          <p:nvPr/>
        </p:nvSpPr>
        <p:spPr>
          <a:xfrm>
            <a:off x="4352544" y="4078224"/>
            <a:ext cx="1965960" cy="237744"/>
          </a:xfrm>
          <a:prstGeom prst="rect">
            <a:avLst/>
          </a:prstGeom>
          <a:noFill/>
          <a:ln/>
        </p:spPr>
        <p:txBody>
          <a:bodyPr wrap="square" lIns="635" tIns="635" rIns="635" bIns="635" rtlCol="0" anchor="ctr">
            <a:normAutofit/>
          </a:bodyPr>
          <a:lstStyle/>
          <a:p>
            <a:pPr algn="ctr" indent="0" marL="0">
              <a:buNone/>
            </a:pPr>
            <a:r>
              <a:rPr lang="en-US" sz="920" b="1" dirty="0">
                <a:solidFill>
                  <a:srgbClr val="D97706"/>
                </a:solidFill>
                <a:latin typeface="Aptos" pitchFamily="34" charset="0"/>
                <a:ea typeface="Aptos" pitchFamily="34" charset="-122"/>
                <a:cs typeface="Aptos" pitchFamily="34" charset="-120"/>
              </a:rPr>
              <a:t>Random Forest</a:t>
            </a:r>
            <a:endParaRPr lang="en-US" sz="920" dirty="0"/>
          </a:p>
        </p:txBody>
      </p:sp>
      <p:sp>
        <p:nvSpPr>
          <p:cNvPr id="13" name="Text 11"/>
          <p:cNvSpPr/>
          <p:nvPr/>
        </p:nvSpPr>
        <p:spPr>
          <a:xfrm>
            <a:off x="8065008" y="1097280"/>
            <a:ext cx="3611880" cy="384048"/>
          </a:xfrm>
          <a:prstGeom prst="rect">
            <a:avLst/>
          </a:prstGeom>
          <a:noFill/>
          <a:ln/>
        </p:spPr>
        <p:txBody>
          <a:bodyPr wrap="square" lIns="635" tIns="635" rIns="635" bIns="635" rtlCol="0" anchor="ctr">
            <a:normAutofit/>
          </a:bodyPr>
          <a:lstStyle/>
          <a:p>
            <a:pPr algn="l" indent="0" marL="0">
              <a:buNone/>
            </a:pPr>
            <a:r>
              <a:rPr lang="en-US" sz="2200" b="1" dirty="0">
                <a:solidFill>
                  <a:srgbClr val="FFFFFF"/>
                </a:solidFill>
                <a:latin typeface="Aptos" pitchFamily="34" charset="0"/>
                <a:ea typeface="Aptos" pitchFamily="34" charset="-122"/>
                <a:cs typeface="Aptos" pitchFamily="34" charset="-120"/>
              </a:rPr>
              <a:t>Diviya C.</a:t>
            </a:r>
            <a:endParaRPr lang="en-US" sz="2200" dirty="0"/>
          </a:p>
        </p:txBody>
      </p:sp>
      <p:sp>
        <p:nvSpPr>
          <p:cNvPr id="14" name="Text 12"/>
          <p:cNvSpPr/>
          <p:nvPr/>
        </p:nvSpPr>
        <p:spPr>
          <a:xfrm>
            <a:off x="8083296" y="1627632"/>
            <a:ext cx="3474720" cy="310896"/>
          </a:xfrm>
          <a:prstGeom prst="rect">
            <a:avLst/>
          </a:prstGeom>
          <a:noFill/>
          <a:ln/>
        </p:spPr>
        <p:txBody>
          <a:bodyPr wrap="square" lIns="635" tIns="635" rIns="635" bIns="635" rtlCol="0" anchor="ctr">
            <a:normAutofit/>
          </a:bodyPr>
          <a:lstStyle/>
          <a:p>
            <a:pPr algn="l" indent="0" marL="0">
              <a:buNone/>
            </a:pPr>
            <a:r>
              <a:rPr lang="en-US" sz="1150" dirty="0">
                <a:solidFill>
                  <a:srgbClr val="D4E0EB"/>
                </a:solidFill>
                <a:latin typeface="Aptos" pitchFamily="34" charset="0"/>
                <a:ea typeface="Aptos" pitchFamily="34" charset="-122"/>
                <a:cs typeface="Aptos" pitchFamily="34" charset="-120"/>
              </a:rPr>
              <a:t>Second Year M.Sc. Quantitative Finance</a:t>
            </a:r>
            <a:endParaRPr lang="en-US" sz="1150" dirty="0"/>
          </a:p>
        </p:txBody>
      </p:sp>
      <p:sp>
        <p:nvSpPr>
          <p:cNvPr id="15" name="Text 13"/>
          <p:cNvSpPr/>
          <p:nvPr/>
        </p:nvSpPr>
        <p:spPr>
          <a:xfrm>
            <a:off x="8083296" y="1993392"/>
            <a:ext cx="3474720" cy="310896"/>
          </a:xfrm>
          <a:prstGeom prst="rect">
            <a:avLst/>
          </a:prstGeom>
          <a:noFill/>
          <a:ln/>
        </p:spPr>
        <p:txBody>
          <a:bodyPr wrap="square" lIns="635" tIns="635" rIns="635" bIns="635" rtlCol="0" anchor="ctr">
            <a:normAutofit/>
          </a:bodyPr>
          <a:lstStyle/>
          <a:p>
            <a:pPr algn="l" indent="0" marL="0">
              <a:buNone/>
            </a:pPr>
            <a:r>
              <a:rPr lang="en-US" sz="1150" dirty="0">
                <a:solidFill>
                  <a:srgbClr val="D4E0EB"/>
                </a:solidFill>
                <a:latin typeface="Aptos" pitchFamily="34" charset="0"/>
                <a:ea typeface="Aptos" pitchFamily="34" charset="-122"/>
                <a:cs typeface="Aptos" pitchFamily="34" charset="-120"/>
              </a:rPr>
              <a:t>Registration No. 25MSQUFPY0018</a:t>
            </a:r>
            <a:endParaRPr lang="en-US" sz="1150" dirty="0"/>
          </a:p>
        </p:txBody>
      </p:sp>
      <p:sp>
        <p:nvSpPr>
          <p:cNvPr id="16" name="Text 14"/>
          <p:cNvSpPr/>
          <p:nvPr/>
        </p:nvSpPr>
        <p:spPr>
          <a:xfrm>
            <a:off x="8083296" y="2359152"/>
            <a:ext cx="3474720" cy="310896"/>
          </a:xfrm>
          <a:prstGeom prst="rect">
            <a:avLst/>
          </a:prstGeom>
          <a:noFill/>
          <a:ln/>
        </p:spPr>
        <p:txBody>
          <a:bodyPr wrap="square" lIns="635" tIns="635" rIns="635" bIns="635" rtlCol="0" anchor="ctr">
            <a:normAutofit/>
          </a:bodyPr>
          <a:lstStyle/>
          <a:p>
            <a:pPr algn="l" indent="0" marL="0">
              <a:buNone/>
            </a:pPr>
            <a:r>
              <a:rPr lang="en-US" sz="1150" dirty="0">
                <a:solidFill>
                  <a:srgbClr val="D4E0EB"/>
                </a:solidFill>
                <a:latin typeface="Aptos" pitchFamily="34" charset="0"/>
                <a:ea typeface="Aptos" pitchFamily="34" charset="-122"/>
                <a:cs typeface="Aptos" pitchFamily="34" charset="-120"/>
              </a:rPr>
              <a:t>Pondicherry University</a:t>
            </a:r>
            <a:endParaRPr lang="en-US" sz="1150" dirty="0"/>
          </a:p>
        </p:txBody>
      </p:sp>
      <p:sp>
        <p:nvSpPr>
          <p:cNvPr id="17" name="Text 15"/>
          <p:cNvSpPr/>
          <p:nvPr/>
        </p:nvSpPr>
        <p:spPr>
          <a:xfrm>
            <a:off x="8083296" y="2724912"/>
            <a:ext cx="3474720" cy="310896"/>
          </a:xfrm>
          <a:prstGeom prst="rect">
            <a:avLst/>
          </a:prstGeom>
          <a:noFill/>
          <a:ln/>
        </p:spPr>
        <p:txBody>
          <a:bodyPr wrap="square" lIns="635" tIns="635" rIns="635" bIns="635" rtlCol="0" anchor="ctr">
            <a:normAutofit/>
          </a:bodyPr>
          <a:lstStyle/>
          <a:p>
            <a:pPr algn="l" indent="0" marL="0">
              <a:buNone/>
            </a:pPr>
            <a:r>
              <a:rPr lang="en-US" sz="1150" dirty="0">
                <a:solidFill>
                  <a:srgbClr val="D4E0EB"/>
                </a:solidFill>
                <a:latin typeface="Aptos" pitchFamily="34" charset="0"/>
                <a:ea typeface="Aptos" pitchFamily="34" charset="-122"/>
                <a:cs typeface="Aptos" pitchFamily="34" charset="-120"/>
              </a:rPr>
              <a:t>Academic Year 2026-27</a:t>
            </a:r>
            <a:endParaRPr lang="en-US" sz="1150" dirty="0"/>
          </a:p>
        </p:txBody>
      </p:sp>
      <p:sp>
        <p:nvSpPr>
          <p:cNvPr id="18" name="Shape 16"/>
          <p:cNvSpPr/>
          <p:nvPr/>
        </p:nvSpPr>
        <p:spPr>
          <a:xfrm>
            <a:off x="8083296" y="3246120"/>
            <a:ext cx="3337560" cy="0"/>
          </a:xfrm>
          <a:prstGeom prst="line">
            <a:avLst/>
          </a:prstGeom>
          <a:noFill/>
          <a:ln w="12700">
            <a:solidFill>
              <a:srgbClr val="31506C"/>
            </a:solidFill>
            <a:prstDash val="solid"/>
          </a:ln>
        </p:spPr>
      </p:sp>
      <p:sp>
        <p:nvSpPr>
          <p:cNvPr id="19" name="Text 17"/>
          <p:cNvSpPr/>
          <p:nvPr/>
        </p:nvSpPr>
        <p:spPr>
          <a:xfrm>
            <a:off x="8083296" y="3456432"/>
            <a:ext cx="3291840" cy="219456"/>
          </a:xfrm>
          <a:prstGeom prst="rect">
            <a:avLst/>
          </a:prstGeom>
          <a:noFill/>
          <a:ln/>
        </p:spPr>
        <p:txBody>
          <a:bodyPr wrap="square" lIns="635" tIns="635" rIns="635" bIns="635" rtlCol="0" anchor="ctr">
            <a:normAutofit/>
          </a:bodyPr>
          <a:lstStyle/>
          <a:p>
            <a:pPr algn="l" indent="0" marL="0">
              <a:buNone/>
            </a:pPr>
            <a:r>
              <a:rPr lang="en-US" sz="900" b="1" dirty="0">
                <a:solidFill>
                  <a:srgbClr val="8FB7B8"/>
                </a:solidFill>
                <a:latin typeface="Aptos" pitchFamily="34" charset="0"/>
                <a:ea typeface="Aptos" pitchFamily="34" charset="-122"/>
                <a:cs typeface="Aptos" pitchFamily="34" charset="-120"/>
              </a:rPr>
              <a:t>Internship Organisation</a:t>
            </a:r>
            <a:endParaRPr lang="en-US" sz="900" dirty="0"/>
          </a:p>
        </p:txBody>
      </p:sp>
      <p:sp>
        <p:nvSpPr>
          <p:cNvPr id="20" name="Text 18"/>
          <p:cNvSpPr/>
          <p:nvPr/>
        </p:nvSpPr>
        <p:spPr>
          <a:xfrm>
            <a:off x="8083296" y="3730752"/>
            <a:ext cx="3566160" cy="475488"/>
          </a:xfrm>
          <a:prstGeom prst="rect">
            <a:avLst/>
          </a:prstGeom>
          <a:noFill/>
          <a:ln/>
        </p:spPr>
        <p:txBody>
          <a:bodyPr wrap="square" lIns="635" tIns="635" rIns="635" bIns="635"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Surabhi Investment Services Pvt. Ltd.</a:t>
            </a:r>
            <a:endParaRPr lang="en-US" sz="1400" dirty="0"/>
          </a:p>
        </p:txBody>
      </p:sp>
      <p:sp>
        <p:nvSpPr>
          <p:cNvPr id="21" name="Text 19"/>
          <p:cNvSpPr/>
          <p:nvPr/>
        </p:nvSpPr>
        <p:spPr>
          <a:xfrm>
            <a:off x="8083296" y="4242816"/>
            <a:ext cx="3474720" cy="256032"/>
          </a:xfrm>
          <a:prstGeom prst="rect">
            <a:avLst/>
          </a:prstGeom>
          <a:noFill/>
          <a:ln/>
        </p:spPr>
        <p:txBody>
          <a:bodyPr wrap="square" lIns="635" tIns="635" rIns="635" bIns="635" rtlCol="0" anchor="ctr">
            <a:normAutofit/>
          </a:bodyPr>
          <a:lstStyle/>
          <a:p>
            <a:pPr algn="l" indent="0" marL="0">
              <a:buNone/>
            </a:pPr>
            <a:r>
              <a:rPr lang="en-US" sz="1050" dirty="0">
                <a:solidFill>
                  <a:srgbClr val="D4E0EB"/>
                </a:solidFill>
                <a:latin typeface="Aptos" pitchFamily="34" charset="0"/>
                <a:ea typeface="Aptos" pitchFamily="34" charset="-122"/>
                <a:cs typeface="Aptos" pitchFamily="34" charset="-120"/>
              </a:rPr>
              <a:t>Tiruchirappalli, Tamil Nadu</a:t>
            </a:r>
            <a:endParaRPr lang="en-US" sz="1050" dirty="0"/>
          </a:p>
        </p:txBody>
      </p:sp>
      <p:sp>
        <p:nvSpPr>
          <p:cNvPr id="22" name="Text 20"/>
          <p:cNvSpPr/>
          <p:nvPr/>
        </p:nvSpPr>
        <p:spPr>
          <a:xfrm>
            <a:off x="8083296" y="4590288"/>
            <a:ext cx="3474720" cy="256032"/>
          </a:xfrm>
          <a:prstGeom prst="rect">
            <a:avLst/>
          </a:prstGeom>
          <a:noFill/>
          <a:ln/>
        </p:spPr>
        <p:txBody>
          <a:bodyPr wrap="square" lIns="635" tIns="635" rIns="635" bIns="635" rtlCol="0" anchor="ctr">
            <a:normAutofit/>
          </a:bodyPr>
          <a:lstStyle/>
          <a:p>
            <a:pPr algn="l" indent="0" marL="0">
              <a:buNone/>
            </a:pPr>
            <a:r>
              <a:rPr lang="en-US" sz="1050" dirty="0">
                <a:solidFill>
                  <a:srgbClr val="D4E0EB"/>
                </a:solidFill>
                <a:latin typeface="Aptos" pitchFamily="34" charset="0"/>
                <a:ea typeface="Aptos" pitchFamily="34" charset="-122"/>
                <a:cs typeface="Aptos" pitchFamily="34" charset="-120"/>
              </a:rPr>
              <a:t>18 June 2026 - 15 August 2026</a:t>
            </a:r>
            <a:endParaRPr lang="en-US" sz="105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Internship details</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indent="0" marL="0">
              <a:buNone/>
            </a:pPr>
            <a:r>
              <a:rPr lang="en-US" sz="1050" dirty="0">
                <a:solidFill>
                  <a:srgbClr val="5F6B78"/>
                </a:solidFill>
              </a:rPr>
              <a:t>Context in which the project was developed</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sp>
        <p:nvSpPr>
          <p:cNvPr id="5" name="Shape 3"/>
          <p:cNvSpPr/>
          <p:nvPr/>
        </p:nvSpPr>
        <p:spPr>
          <a:xfrm>
            <a:off x="685800" y="1417320"/>
            <a:ext cx="4892040" cy="4526280"/>
          </a:xfrm>
          <a:prstGeom prst="roundRect">
            <a:avLst>
              <a:gd name="adj" fmla="val 2424"/>
            </a:avLst>
          </a:prstGeom>
          <a:solidFill>
            <a:srgbClr val="FFFFFF"/>
          </a:solidFill>
          <a:ln w="11430">
            <a:solidFill>
              <a:srgbClr val="D8E0E8"/>
            </a:solidFill>
            <a:prstDash val="solid"/>
          </a:ln>
        </p:spPr>
      </p:sp>
      <p:sp>
        <p:nvSpPr>
          <p:cNvPr id="6" name="Text 4"/>
          <p:cNvSpPr/>
          <p:nvPr/>
        </p:nvSpPr>
        <p:spPr>
          <a:xfrm>
            <a:off x="941832" y="1700784"/>
            <a:ext cx="4389120" cy="365760"/>
          </a:xfrm>
          <a:prstGeom prst="rect">
            <a:avLst/>
          </a:prstGeom>
          <a:noFill/>
          <a:ln/>
        </p:spPr>
        <p:txBody>
          <a:bodyPr wrap="square" lIns="635" tIns="635" rIns="635" bIns="635" rtlCol="0" anchor="ctr">
            <a:normAutofit/>
          </a:bodyPr>
          <a:lstStyle/>
          <a:p>
            <a:pPr algn="l" indent="0" marL="0">
              <a:buNone/>
            </a:pPr>
            <a:r>
              <a:rPr lang="en-US" sz="1800" b="1" dirty="0">
                <a:solidFill>
                  <a:srgbClr val="0B1F33"/>
                </a:solidFill>
                <a:latin typeface="Aptos" pitchFamily="34" charset="0"/>
                <a:ea typeface="Aptos" pitchFamily="34" charset="-122"/>
                <a:cs typeface="Aptos" pitchFamily="34" charset="-120"/>
              </a:rPr>
              <a:t>Surabhi Investment Services Pvt. Ltd.</a:t>
            </a:r>
            <a:endParaRPr lang="en-US" sz="1800" dirty="0"/>
          </a:p>
        </p:txBody>
      </p:sp>
      <p:sp>
        <p:nvSpPr>
          <p:cNvPr id="7" name="Text 5"/>
          <p:cNvSpPr/>
          <p:nvPr/>
        </p:nvSpPr>
        <p:spPr>
          <a:xfrm>
            <a:off x="941832" y="2139696"/>
            <a:ext cx="4389120" cy="274320"/>
          </a:xfrm>
          <a:prstGeom prst="rect">
            <a:avLst/>
          </a:prstGeom>
          <a:noFill/>
          <a:ln/>
        </p:spPr>
        <p:txBody>
          <a:bodyPr wrap="square" lIns="635" tIns="635" rIns="635" bIns="635" rtlCol="0" anchor="ctr">
            <a:normAutofit/>
          </a:bodyPr>
          <a:lstStyle/>
          <a:p>
            <a:pPr algn="l" indent="0" marL="0">
              <a:buNone/>
            </a:pPr>
            <a:r>
              <a:rPr lang="en-US" sz="1150" dirty="0">
                <a:solidFill>
                  <a:srgbClr val="5F6B78"/>
                </a:solidFill>
                <a:latin typeface="Aptos" pitchFamily="34" charset="0"/>
                <a:ea typeface="Aptos" pitchFamily="34" charset="-122"/>
                <a:cs typeface="Aptos" pitchFamily="34" charset="-120"/>
              </a:rPr>
              <a:t>Tiruchirappalli (Trichy), Tamil Nadu</a:t>
            </a:r>
            <a:endParaRPr lang="en-US" sz="1150" dirty="0"/>
          </a:p>
        </p:txBody>
      </p:sp>
      <p:sp>
        <p:nvSpPr>
          <p:cNvPr id="8" name="Shape 6"/>
          <p:cNvSpPr/>
          <p:nvPr/>
        </p:nvSpPr>
        <p:spPr>
          <a:xfrm>
            <a:off x="941832" y="2651760"/>
            <a:ext cx="1965960" cy="941832"/>
          </a:xfrm>
          <a:prstGeom prst="roundRect">
            <a:avLst>
              <a:gd name="adj" fmla="val 11650"/>
            </a:avLst>
          </a:prstGeom>
          <a:solidFill>
            <a:srgbClr val="E9F6F5"/>
          </a:solidFill>
          <a:ln w="11430">
            <a:solidFill>
              <a:srgbClr val="D8E0E8"/>
            </a:solidFill>
            <a:prstDash val="solid"/>
          </a:ln>
        </p:spPr>
      </p:sp>
      <p:sp>
        <p:nvSpPr>
          <p:cNvPr id="9" name="Shape 7"/>
          <p:cNvSpPr/>
          <p:nvPr/>
        </p:nvSpPr>
        <p:spPr>
          <a:xfrm>
            <a:off x="941832" y="2651760"/>
            <a:ext cx="64008" cy="941832"/>
          </a:xfrm>
          <a:prstGeom prst="rect">
            <a:avLst/>
          </a:prstGeom>
          <a:solidFill>
            <a:srgbClr val="0F8B8D"/>
          </a:solidFill>
          <a:ln w="12700">
            <a:solidFill>
              <a:srgbClr val="0F8B8D"/>
            </a:solidFill>
            <a:prstDash val="solid"/>
          </a:ln>
        </p:spPr>
      </p:sp>
      <p:sp>
        <p:nvSpPr>
          <p:cNvPr id="10" name="Text 8"/>
          <p:cNvSpPr/>
          <p:nvPr/>
        </p:nvSpPr>
        <p:spPr>
          <a:xfrm>
            <a:off x="1106424" y="2761488"/>
            <a:ext cx="1709928" cy="201168"/>
          </a:xfrm>
          <a:prstGeom prst="rect">
            <a:avLst/>
          </a:prstGeom>
          <a:noFill/>
          <a:ln/>
        </p:spPr>
        <p:txBody>
          <a:bodyPr wrap="square" lIns="635" tIns="635" rIns="635" bIns="635" rtlCol="0" anchor="ctr">
            <a:normAutofit/>
          </a:bodyPr>
          <a:lstStyle/>
          <a:p>
            <a:pPr algn="l" indent="0" marL="0">
              <a:buNone/>
            </a:pPr>
            <a:r>
              <a:rPr lang="en-US" sz="950" b="1" dirty="0">
                <a:solidFill>
                  <a:srgbClr val="5F6B78"/>
                </a:solidFill>
                <a:latin typeface="Aptos" pitchFamily="34" charset="0"/>
                <a:ea typeface="Aptos" pitchFamily="34" charset="-122"/>
                <a:cs typeface="Aptos" pitchFamily="34" charset="-120"/>
              </a:rPr>
              <a:t>INTERNSHIP AREA</a:t>
            </a:r>
            <a:endParaRPr lang="en-US" sz="950" dirty="0"/>
          </a:p>
        </p:txBody>
      </p:sp>
      <p:sp>
        <p:nvSpPr>
          <p:cNvPr id="11" name="Text 9"/>
          <p:cNvSpPr/>
          <p:nvPr/>
        </p:nvSpPr>
        <p:spPr>
          <a:xfrm>
            <a:off x="1106424" y="2990088"/>
            <a:ext cx="1691640" cy="310896"/>
          </a:xfrm>
          <a:prstGeom prst="rect">
            <a:avLst/>
          </a:prstGeom>
          <a:noFill/>
          <a:ln/>
        </p:spPr>
        <p:txBody>
          <a:bodyPr wrap="square" lIns="635" tIns="635" rIns="635" bIns="635"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Options Trading</a:t>
            </a:r>
            <a:endParaRPr lang="en-US" sz="2000" dirty="0"/>
          </a:p>
        </p:txBody>
      </p:sp>
      <p:sp>
        <p:nvSpPr>
          <p:cNvPr id="12" name="Text 10"/>
          <p:cNvSpPr/>
          <p:nvPr/>
        </p:nvSpPr>
        <p:spPr>
          <a:xfrm>
            <a:off x="1106424" y="3346704"/>
            <a:ext cx="1691640" cy="164592"/>
          </a:xfrm>
          <a:prstGeom prst="rect">
            <a:avLst/>
          </a:prstGeom>
          <a:noFill/>
          <a:ln/>
        </p:spPr>
        <p:txBody>
          <a:bodyPr wrap="square" lIns="635" tIns="635" rIns="635" bIns="635" rtlCol="0" anchor="ctr">
            <a:normAutofit/>
          </a:bodyPr>
          <a:lstStyle/>
          <a:p>
            <a:pPr algn="l" indent="0" marL="0">
              <a:buNone/>
            </a:pPr>
            <a:r>
              <a:rPr lang="en-US" sz="780" dirty="0">
                <a:solidFill>
                  <a:srgbClr val="0F8B8D"/>
                </a:solidFill>
                <a:latin typeface="Aptos" pitchFamily="34" charset="0"/>
                <a:ea typeface="Aptos" pitchFamily="34" charset="-122"/>
                <a:cs typeface="Aptos" pitchFamily="34" charset="-120"/>
              </a:rPr>
              <a:t>derivatives-market focus</a:t>
            </a:r>
            <a:endParaRPr lang="en-US" sz="780" dirty="0"/>
          </a:p>
        </p:txBody>
      </p:sp>
      <p:sp>
        <p:nvSpPr>
          <p:cNvPr id="13" name="Shape 11"/>
          <p:cNvSpPr/>
          <p:nvPr/>
        </p:nvSpPr>
        <p:spPr>
          <a:xfrm>
            <a:off x="3136392" y="2651760"/>
            <a:ext cx="1965960" cy="941832"/>
          </a:xfrm>
          <a:prstGeom prst="roundRect">
            <a:avLst>
              <a:gd name="adj" fmla="val 11650"/>
            </a:avLst>
          </a:prstGeom>
          <a:solidFill>
            <a:srgbClr val="EDF4FB"/>
          </a:solidFill>
          <a:ln w="11430">
            <a:solidFill>
              <a:srgbClr val="D8E0E8"/>
            </a:solidFill>
            <a:prstDash val="solid"/>
          </a:ln>
        </p:spPr>
      </p:sp>
      <p:sp>
        <p:nvSpPr>
          <p:cNvPr id="14" name="Shape 12"/>
          <p:cNvSpPr/>
          <p:nvPr/>
        </p:nvSpPr>
        <p:spPr>
          <a:xfrm>
            <a:off x="3136392" y="2651760"/>
            <a:ext cx="64008" cy="941832"/>
          </a:xfrm>
          <a:prstGeom prst="rect">
            <a:avLst/>
          </a:prstGeom>
          <a:solidFill>
            <a:srgbClr val="2C6EBA"/>
          </a:solidFill>
          <a:ln w="12700">
            <a:solidFill>
              <a:srgbClr val="2C6EBA"/>
            </a:solidFill>
            <a:prstDash val="solid"/>
          </a:ln>
        </p:spPr>
      </p:sp>
      <p:sp>
        <p:nvSpPr>
          <p:cNvPr id="15" name="Text 13"/>
          <p:cNvSpPr/>
          <p:nvPr/>
        </p:nvSpPr>
        <p:spPr>
          <a:xfrm>
            <a:off x="3300984" y="2761488"/>
            <a:ext cx="1709928" cy="201168"/>
          </a:xfrm>
          <a:prstGeom prst="rect">
            <a:avLst/>
          </a:prstGeom>
          <a:noFill/>
          <a:ln/>
        </p:spPr>
        <p:txBody>
          <a:bodyPr wrap="square" lIns="635" tIns="635" rIns="635" bIns="635" rtlCol="0" anchor="ctr">
            <a:normAutofit/>
          </a:bodyPr>
          <a:lstStyle/>
          <a:p>
            <a:pPr algn="l" indent="0" marL="0">
              <a:buNone/>
            </a:pPr>
            <a:r>
              <a:rPr lang="en-US" sz="950" b="1" dirty="0">
                <a:solidFill>
                  <a:srgbClr val="5F6B78"/>
                </a:solidFill>
                <a:latin typeface="Aptos" pitchFamily="34" charset="0"/>
                <a:ea typeface="Aptos" pitchFamily="34" charset="-122"/>
                <a:cs typeface="Aptos" pitchFamily="34" charset="-120"/>
              </a:rPr>
              <a:t>DURATION</a:t>
            </a:r>
            <a:endParaRPr lang="en-US" sz="950" dirty="0"/>
          </a:p>
        </p:txBody>
      </p:sp>
      <p:sp>
        <p:nvSpPr>
          <p:cNvPr id="16" name="Text 14"/>
          <p:cNvSpPr/>
          <p:nvPr/>
        </p:nvSpPr>
        <p:spPr>
          <a:xfrm>
            <a:off x="3300984" y="2990088"/>
            <a:ext cx="1691640" cy="310896"/>
          </a:xfrm>
          <a:prstGeom prst="rect">
            <a:avLst/>
          </a:prstGeom>
          <a:noFill/>
          <a:ln/>
        </p:spPr>
        <p:txBody>
          <a:bodyPr wrap="square" lIns="635" tIns="635" rIns="635" bIns="635"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59 days</a:t>
            </a:r>
            <a:endParaRPr lang="en-US" sz="2000" dirty="0"/>
          </a:p>
        </p:txBody>
      </p:sp>
      <p:sp>
        <p:nvSpPr>
          <p:cNvPr id="17" name="Text 15"/>
          <p:cNvSpPr/>
          <p:nvPr/>
        </p:nvSpPr>
        <p:spPr>
          <a:xfrm>
            <a:off x="3300984" y="3346704"/>
            <a:ext cx="1691640" cy="164592"/>
          </a:xfrm>
          <a:prstGeom prst="rect">
            <a:avLst/>
          </a:prstGeom>
          <a:noFill/>
          <a:ln/>
        </p:spPr>
        <p:txBody>
          <a:bodyPr wrap="square" lIns="635" tIns="635" rIns="635" bIns="635" rtlCol="0" anchor="ctr">
            <a:normAutofit/>
          </a:bodyPr>
          <a:lstStyle/>
          <a:p>
            <a:pPr algn="l" indent="0" marL="0">
              <a:buNone/>
            </a:pPr>
            <a:r>
              <a:rPr lang="en-US" sz="780" dirty="0">
                <a:solidFill>
                  <a:srgbClr val="2C6EBA"/>
                </a:solidFill>
                <a:latin typeface="Aptos" pitchFamily="34" charset="0"/>
                <a:ea typeface="Aptos" pitchFamily="34" charset="-122"/>
                <a:cs typeface="Aptos" pitchFamily="34" charset="-120"/>
              </a:rPr>
              <a:t>18 Jun - 15 Aug 2026</a:t>
            </a:r>
            <a:endParaRPr lang="en-US" sz="780" dirty="0"/>
          </a:p>
        </p:txBody>
      </p:sp>
      <p:sp>
        <p:nvSpPr>
          <p:cNvPr id="18" name="Text 16"/>
          <p:cNvSpPr/>
          <p:nvPr/>
        </p:nvSpPr>
        <p:spPr>
          <a:xfrm>
            <a:off x="941832" y="3886200"/>
            <a:ext cx="1920240" cy="219456"/>
          </a:xfrm>
          <a:prstGeom prst="rect">
            <a:avLst/>
          </a:prstGeom>
          <a:noFill/>
          <a:ln/>
        </p:spPr>
        <p:txBody>
          <a:bodyPr wrap="square" lIns="635" tIns="635" rIns="635" bIns="635" rtlCol="0" anchor="ctr">
            <a:normAutofit/>
          </a:bodyPr>
          <a:lstStyle/>
          <a:p>
            <a:pPr algn="l" indent="0" marL="0">
              <a:buNone/>
            </a:pPr>
            <a:r>
              <a:rPr lang="en-US" sz="950" b="1" dirty="0">
                <a:solidFill>
                  <a:srgbClr val="5F6B78"/>
                </a:solidFill>
                <a:latin typeface="Aptos" pitchFamily="34" charset="0"/>
                <a:ea typeface="Aptos" pitchFamily="34" charset="-122"/>
                <a:cs typeface="Aptos" pitchFamily="34" charset="-120"/>
              </a:rPr>
              <a:t>Nature of organisation</a:t>
            </a:r>
            <a:endParaRPr lang="en-US" sz="950" dirty="0"/>
          </a:p>
        </p:txBody>
      </p:sp>
      <p:sp>
        <p:nvSpPr>
          <p:cNvPr id="19" name="Text 17"/>
          <p:cNvSpPr/>
          <p:nvPr/>
        </p:nvSpPr>
        <p:spPr>
          <a:xfrm>
            <a:off x="941832" y="4151376"/>
            <a:ext cx="3474720" cy="292608"/>
          </a:xfrm>
          <a:prstGeom prst="rect">
            <a:avLst/>
          </a:prstGeom>
          <a:noFill/>
          <a:ln/>
        </p:spPr>
        <p:txBody>
          <a:bodyPr wrap="square" lIns="635" tIns="635" rIns="635" bIns="635" rtlCol="0" anchor="ctr">
            <a:normAutofit/>
          </a:bodyPr>
          <a:lstStyle/>
          <a:p>
            <a:pPr algn="l" indent="0" marL="0">
              <a:buNone/>
            </a:pPr>
            <a:r>
              <a:rPr lang="en-US" sz="1400" b="1" dirty="0">
                <a:solidFill>
                  <a:srgbClr val="0B1F33"/>
                </a:solidFill>
                <a:latin typeface="Aptos" pitchFamily="34" charset="0"/>
                <a:ea typeface="Aptos" pitchFamily="34" charset="-122"/>
                <a:cs typeface="Aptos" pitchFamily="34" charset="-120"/>
              </a:rPr>
              <a:t>Investment company</a:t>
            </a:r>
            <a:endParaRPr lang="en-US" sz="1400" dirty="0"/>
          </a:p>
        </p:txBody>
      </p:sp>
      <p:sp>
        <p:nvSpPr>
          <p:cNvPr id="20" name="Text 18"/>
          <p:cNvSpPr/>
          <p:nvPr/>
        </p:nvSpPr>
        <p:spPr>
          <a:xfrm>
            <a:off x="941832" y="4690872"/>
            <a:ext cx="3474720" cy="219456"/>
          </a:xfrm>
          <a:prstGeom prst="rect">
            <a:avLst/>
          </a:prstGeom>
          <a:noFill/>
          <a:ln/>
        </p:spPr>
        <p:txBody>
          <a:bodyPr wrap="square" lIns="635" tIns="635" rIns="635" bIns="635" rtlCol="0" anchor="ctr">
            <a:normAutofit/>
          </a:bodyPr>
          <a:lstStyle/>
          <a:p>
            <a:pPr algn="l" indent="0" marL="0">
              <a:buNone/>
            </a:pPr>
            <a:r>
              <a:rPr lang="en-US" sz="950" b="1" dirty="0">
                <a:solidFill>
                  <a:srgbClr val="5F6B78"/>
                </a:solidFill>
                <a:latin typeface="Aptos" pitchFamily="34" charset="0"/>
                <a:ea typeface="Aptos" pitchFamily="34" charset="-122"/>
                <a:cs typeface="Aptos" pitchFamily="34" charset="-120"/>
              </a:rPr>
              <a:t>Relevance to quantitative finance</a:t>
            </a:r>
            <a:endParaRPr lang="en-US" sz="950" dirty="0"/>
          </a:p>
        </p:txBody>
      </p:sp>
      <p:sp>
        <p:nvSpPr>
          <p:cNvPr id="21" name="Text 19"/>
          <p:cNvSpPr/>
          <p:nvPr/>
        </p:nvSpPr>
        <p:spPr>
          <a:xfrm>
            <a:off x="941832" y="4956048"/>
            <a:ext cx="4206240" cy="676656"/>
          </a:xfrm>
          <a:prstGeom prst="rect">
            <a:avLst/>
          </a:prstGeom>
          <a:noFill/>
          <a:ln/>
        </p:spPr>
        <p:txBody>
          <a:bodyPr wrap="square" lIns="635" tIns="635" rIns="635" bIns="635" rtlCol="0" anchor="t">
            <a:normAutofit/>
          </a:bodyPr>
          <a:lstStyle/>
          <a:p>
            <a:pPr algn="l" indent="0" marL="0">
              <a:buNone/>
            </a:pPr>
            <a:r>
              <a:rPr lang="en-US" sz="1150" dirty="0">
                <a:solidFill>
                  <a:srgbClr val="0B1F33"/>
                </a:solidFill>
                <a:latin typeface="Aptos" pitchFamily="34" charset="0"/>
                <a:ea typeface="Aptos" pitchFamily="34" charset="-122"/>
                <a:cs typeface="Aptos" pitchFamily="34" charset="-120"/>
              </a:rPr>
              <a:t>The internship provided a practical options-market context for translating volatility, pricing and risk concepts into a data-driven research project.</a:t>
            </a:r>
            <a:endParaRPr lang="en-US" sz="1150" dirty="0"/>
          </a:p>
        </p:txBody>
      </p:sp>
      <p:sp>
        <p:nvSpPr>
          <p:cNvPr id="22" name="Shape 20"/>
          <p:cNvSpPr/>
          <p:nvPr/>
        </p:nvSpPr>
        <p:spPr>
          <a:xfrm>
            <a:off x="5897880" y="1417320"/>
            <a:ext cx="5577840" cy="4526280"/>
          </a:xfrm>
          <a:prstGeom prst="roundRect">
            <a:avLst>
              <a:gd name="adj" fmla="val 2424"/>
            </a:avLst>
          </a:prstGeom>
          <a:solidFill>
            <a:srgbClr val="EDF4FB"/>
          </a:solidFill>
          <a:ln w="11430">
            <a:solidFill>
              <a:srgbClr val="C8D9EB"/>
            </a:solidFill>
            <a:prstDash val="solid"/>
          </a:ln>
        </p:spPr>
      </p:sp>
      <p:sp>
        <p:nvSpPr>
          <p:cNvPr id="23" name="Text 21"/>
          <p:cNvSpPr/>
          <p:nvPr/>
        </p:nvSpPr>
        <p:spPr>
          <a:xfrm>
            <a:off x="6199632" y="1737360"/>
            <a:ext cx="4937760" cy="320040"/>
          </a:xfrm>
          <a:prstGeom prst="rect">
            <a:avLst/>
          </a:prstGeom>
          <a:noFill/>
          <a:ln/>
        </p:spPr>
        <p:txBody>
          <a:bodyPr wrap="square" lIns="635" tIns="635" rIns="635" bIns="635" rtlCol="0" anchor="ctr">
            <a:normAutofit/>
          </a:bodyPr>
          <a:lstStyle/>
          <a:p>
            <a:pPr algn="l" indent="0" marL="0">
              <a:buNone/>
            </a:pPr>
            <a:r>
              <a:rPr lang="en-US" sz="1700" b="1" dirty="0">
                <a:solidFill>
                  <a:srgbClr val="0B1F33"/>
                </a:solidFill>
                <a:latin typeface="Aptos" pitchFamily="34" charset="0"/>
                <a:ea typeface="Aptos" pitchFamily="34" charset="-122"/>
                <a:cs typeface="Aptos" pitchFamily="34" charset="-120"/>
              </a:rPr>
              <a:t>Why this internship context mattered</a:t>
            </a:r>
            <a:endParaRPr lang="en-US" sz="1700" dirty="0"/>
          </a:p>
        </p:txBody>
      </p:sp>
      <p:sp>
        <p:nvSpPr>
          <p:cNvPr id="24" name="Text 22"/>
          <p:cNvSpPr/>
          <p:nvPr/>
        </p:nvSpPr>
        <p:spPr>
          <a:xfrm>
            <a:off x="6217920" y="2212848"/>
            <a:ext cx="4754880" cy="2423160"/>
          </a:xfrm>
          <a:prstGeom prst="rect">
            <a:avLst/>
          </a:prstGeom>
          <a:noFill/>
          <a:ln/>
        </p:spPr>
        <p:txBody>
          <a:bodyPr wrap="square" lIns="508" tIns="508" rIns="508" bIns="508" rtlCol="0" anchor="t">
            <a:normAutofit/>
          </a:bodyPr>
          <a:lstStyle/>
          <a:p>
            <a:pPr marL="190500" indent="-190500">
              <a:buSzPct val="100000"/>
              <a:buChar char="•"/>
            </a:pPr>
            <a:r>
              <a:rPr lang="en-US" sz="1330" dirty="0">
                <a:solidFill>
                  <a:srgbClr val="0B1F33"/>
                </a:solidFill>
                <a:latin typeface="Aptos" pitchFamily="34" charset="0"/>
                <a:ea typeface="Aptos" pitchFamily="34" charset="-122"/>
                <a:cs typeface="Aptos" pitchFamily="34" charset="-120"/>
              </a:rPr>
              <a:t>Options trading makes implied volatility a directly observable and economically important market variable.</a:t>
            </a:r>
            <a:endParaRPr lang="en-US" sz="1330" dirty="0"/>
          </a:p>
          <a:p>
            <a:pPr marL="190500" indent="-190500">
              <a:buSzPct val="100000"/>
              <a:buChar char="•"/>
            </a:pPr>
            <a:r>
              <a:rPr lang="en-US" sz="1330" dirty="0">
                <a:solidFill>
                  <a:srgbClr val="0B1F33"/>
                </a:solidFill>
                <a:latin typeface="Aptos" pitchFamily="34" charset="0"/>
                <a:ea typeface="Aptos" pitchFamily="34" charset="-122"/>
                <a:cs typeface="Aptos" pitchFamily="34" charset="-120"/>
              </a:rPr>
              <a:t>Short-horizon volatility changes affect option premiums, relative value and risk management decisions.</a:t>
            </a:r>
            <a:endParaRPr lang="en-US" sz="1330" dirty="0"/>
          </a:p>
          <a:p>
            <a:pPr marL="190500" indent="-190500">
              <a:buSzPct val="100000"/>
              <a:buChar char="•"/>
            </a:pPr>
            <a:r>
              <a:rPr lang="en-US" sz="1330" dirty="0">
                <a:solidFill>
                  <a:srgbClr val="0B1F33"/>
                </a:solidFill>
                <a:latin typeface="Aptos" pitchFamily="34" charset="0"/>
                <a:ea typeface="Aptos" pitchFamily="34" charset="-122"/>
                <a:cs typeface="Aptos" pitchFamily="34" charset="-120"/>
              </a:rPr>
              <a:t>The project therefore focused on a practical question: can near-term IV movement be forecast and interpreted in a usable way?</a:t>
            </a:r>
            <a:endParaRPr lang="en-US" sz="1330" dirty="0"/>
          </a:p>
        </p:txBody>
      </p:sp>
      <p:sp>
        <p:nvSpPr>
          <p:cNvPr id="25" name="Text 23"/>
          <p:cNvSpPr/>
          <p:nvPr/>
        </p:nvSpPr>
        <p:spPr>
          <a:xfrm>
            <a:off x="6217920" y="5138928"/>
            <a:ext cx="4663440" cy="475488"/>
          </a:xfrm>
          <a:prstGeom prst="rect">
            <a:avLst/>
          </a:prstGeom>
          <a:noFill/>
          <a:ln/>
        </p:spPr>
        <p:txBody>
          <a:bodyPr wrap="square" lIns="635" tIns="635" rIns="635" bIns="635" rtlCol="0" anchor="t">
            <a:normAutofit/>
          </a:bodyPr>
          <a:lstStyle/>
          <a:p>
            <a:pPr algn="l" indent="0" marL="0">
              <a:buNone/>
            </a:pPr>
            <a:r>
              <a:rPr lang="en-US" sz="950" i="1" dirty="0">
                <a:solidFill>
                  <a:srgbClr val="5F6B78"/>
                </a:solidFill>
                <a:latin typeface="Aptos" pitchFamily="34" charset="0"/>
                <a:ea typeface="Aptos" pitchFamily="34" charset="-122"/>
                <a:cs typeface="Aptos" pitchFamily="34" charset="-120"/>
              </a:rPr>
              <a:t>No additional company responsibilities are claimed beyond the project/internship details documented in this work.</a:t>
            </a:r>
            <a:endParaRPr lang="en-US" sz="95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Introduction and project background</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indent="0" marL="0">
              <a:buNone/>
            </a:pPr>
            <a:r>
              <a:rPr lang="en-US" sz="1050" dirty="0">
                <a:solidFill>
                  <a:srgbClr val="5F6B78"/>
                </a:solidFill>
              </a:rPr>
              <a:t>Implied volatility as a forward-looking market signal</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sp>
        <p:nvSpPr>
          <p:cNvPr id="5" name="Shape 3"/>
          <p:cNvSpPr/>
          <p:nvPr/>
        </p:nvSpPr>
        <p:spPr>
          <a:xfrm>
            <a:off x="685800" y="1417320"/>
            <a:ext cx="3520440" cy="4434840"/>
          </a:xfrm>
          <a:prstGeom prst="roundRect">
            <a:avLst>
              <a:gd name="adj" fmla="val 3117"/>
            </a:avLst>
          </a:prstGeom>
          <a:solidFill>
            <a:srgbClr val="EDF4FB"/>
          </a:solidFill>
          <a:ln w="11430">
            <a:solidFill>
              <a:srgbClr val="C8D9EB"/>
            </a:solidFill>
            <a:prstDash val="solid"/>
          </a:ln>
        </p:spPr>
      </p:sp>
      <p:sp>
        <p:nvSpPr>
          <p:cNvPr id="6" name="Text 4"/>
          <p:cNvSpPr/>
          <p:nvPr/>
        </p:nvSpPr>
        <p:spPr>
          <a:xfrm>
            <a:off x="960120" y="1737360"/>
            <a:ext cx="2926080" cy="310896"/>
          </a:xfrm>
          <a:prstGeom prst="rect">
            <a:avLst/>
          </a:prstGeom>
          <a:noFill/>
          <a:ln/>
        </p:spPr>
        <p:txBody>
          <a:bodyPr wrap="square" lIns="635" tIns="635" rIns="635" bIns="635" rtlCol="0" anchor="ctr">
            <a:normAutofit/>
          </a:bodyPr>
          <a:lstStyle/>
          <a:p>
            <a:pPr algn="l" indent="0" marL="0">
              <a:buNone/>
            </a:pPr>
            <a:r>
              <a:rPr lang="en-US" sz="1700" b="1" dirty="0">
                <a:solidFill>
                  <a:srgbClr val="2C6EBA"/>
                </a:solidFill>
                <a:latin typeface="Aptos" pitchFamily="34" charset="0"/>
                <a:ea typeface="Aptos" pitchFamily="34" charset="-122"/>
                <a:cs typeface="Aptos" pitchFamily="34" charset="-120"/>
              </a:rPr>
              <a:t>1 | Implied volatility</a:t>
            </a:r>
            <a:endParaRPr lang="en-US" sz="1700" dirty="0"/>
          </a:p>
        </p:txBody>
      </p:sp>
      <p:sp>
        <p:nvSpPr>
          <p:cNvPr id="7" name="Text 5"/>
          <p:cNvSpPr/>
          <p:nvPr/>
        </p:nvSpPr>
        <p:spPr>
          <a:xfrm>
            <a:off x="960120" y="2176272"/>
            <a:ext cx="2788920" cy="1298448"/>
          </a:xfrm>
          <a:prstGeom prst="rect">
            <a:avLst/>
          </a:prstGeom>
          <a:noFill/>
          <a:ln/>
        </p:spPr>
        <p:txBody>
          <a:bodyPr wrap="square" lIns="635" tIns="635" rIns="635" bIns="635" rtlCol="0" anchor="t">
            <a:normAutofit/>
          </a:bodyPr>
          <a:lstStyle/>
          <a:p>
            <a:pPr algn="l" indent="0" marL="0">
              <a:buNone/>
            </a:pPr>
            <a:r>
              <a:rPr lang="en-US" sz="1240" dirty="0">
                <a:solidFill>
                  <a:srgbClr val="0B1F33"/>
                </a:solidFill>
                <a:latin typeface="Aptos" pitchFamily="34" charset="0"/>
                <a:ea typeface="Aptos" pitchFamily="34" charset="-122"/>
                <a:cs typeface="Aptos" pitchFamily="34" charset="-120"/>
              </a:rPr>
              <a:t>The volatility level embedded in an option’s market price. It reflects market expectations and changes with strike, moneyness and time to expiry.</a:t>
            </a:r>
            <a:endParaRPr lang="en-US" sz="1240" dirty="0"/>
          </a:p>
        </p:txBody>
      </p:sp>
      <p:sp>
        <p:nvSpPr>
          <p:cNvPr id="8" name="Text 6"/>
          <p:cNvSpPr/>
          <p:nvPr/>
        </p:nvSpPr>
        <p:spPr>
          <a:xfrm>
            <a:off x="960120" y="3685032"/>
            <a:ext cx="2743200" cy="237744"/>
          </a:xfrm>
          <a:prstGeom prst="rect">
            <a:avLst/>
          </a:prstGeom>
          <a:noFill/>
          <a:ln/>
        </p:spPr>
        <p:txBody>
          <a:bodyPr wrap="square" lIns="635" tIns="635" rIns="635" bIns="635" rtlCol="0" anchor="ctr">
            <a:normAutofit/>
          </a:bodyPr>
          <a:lstStyle/>
          <a:p>
            <a:pPr algn="l" indent="0" marL="0">
              <a:buNone/>
            </a:pPr>
            <a:r>
              <a:rPr lang="en-US" sz="1000" b="1" dirty="0">
                <a:solidFill>
                  <a:srgbClr val="5F6B78"/>
                </a:solidFill>
                <a:latin typeface="Aptos" pitchFamily="34" charset="0"/>
                <a:ea typeface="Aptos" pitchFamily="34" charset="-122"/>
                <a:cs typeface="Aptos" pitchFamily="34" charset="-120"/>
              </a:rPr>
              <a:t>Why it matters</a:t>
            </a:r>
            <a:endParaRPr lang="en-US" sz="1000" dirty="0"/>
          </a:p>
        </p:txBody>
      </p:sp>
      <p:sp>
        <p:nvSpPr>
          <p:cNvPr id="9" name="Text 7"/>
          <p:cNvSpPr/>
          <p:nvPr/>
        </p:nvSpPr>
        <p:spPr>
          <a:xfrm>
            <a:off x="960120" y="3986784"/>
            <a:ext cx="2834640" cy="749808"/>
          </a:xfrm>
          <a:prstGeom prst="rect">
            <a:avLst/>
          </a:prstGeom>
          <a:noFill/>
          <a:ln/>
        </p:spPr>
        <p:txBody>
          <a:bodyPr wrap="square" lIns="635" tIns="635" rIns="635" bIns="635" rtlCol="0" anchor="t">
            <a:normAutofit/>
          </a:bodyPr>
          <a:lstStyle/>
          <a:p>
            <a:pPr algn="l" indent="0" marL="0">
              <a:buNone/>
            </a:pPr>
            <a:r>
              <a:rPr lang="en-US" sz="1310" b="1" dirty="0">
                <a:solidFill>
                  <a:srgbClr val="17324D"/>
                </a:solidFill>
                <a:latin typeface="Aptos" pitchFamily="34" charset="0"/>
                <a:ea typeface="Aptos" pitchFamily="34" charset="-122"/>
                <a:cs typeface="Aptos" pitchFamily="34" charset="-120"/>
              </a:rPr>
              <a:t>IV is central to option pricing, relative value, risk and trading decisions.</a:t>
            </a:r>
            <a:endParaRPr lang="en-US" sz="1310" dirty="0"/>
          </a:p>
        </p:txBody>
      </p:sp>
      <p:sp>
        <p:nvSpPr>
          <p:cNvPr id="10" name="Shape 8"/>
          <p:cNvSpPr/>
          <p:nvPr/>
        </p:nvSpPr>
        <p:spPr>
          <a:xfrm>
            <a:off x="4407408" y="1417320"/>
            <a:ext cx="3520440" cy="4434840"/>
          </a:xfrm>
          <a:prstGeom prst="roundRect">
            <a:avLst>
              <a:gd name="adj" fmla="val 3117"/>
            </a:avLst>
          </a:prstGeom>
          <a:solidFill>
            <a:srgbClr val="E9F6F5"/>
          </a:solidFill>
          <a:ln w="11430">
            <a:solidFill>
              <a:srgbClr val="C3E2DF"/>
            </a:solidFill>
            <a:prstDash val="solid"/>
          </a:ln>
        </p:spPr>
      </p:sp>
      <p:sp>
        <p:nvSpPr>
          <p:cNvPr id="11" name="Text 9"/>
          <p:cNvSpPr/>
          <p:nvPr/>
        </p:nvSpPr>
        <p:spPr>
          <a:xfrm>
            <a:off x="4681728" y="1737360"/>
            <a:ext cx="2926080" cy="310896"/>
          </a:xfrm>
          <a:prstGeom prst="rect">
            <a:avLst/>
          </a:prstGeom>
          <a:noFill/>
          <a:ln/>
        </p:spPr>
        <p:txBody>
          <a:bodyPr wrap="square" lIns="635" tIns="635" rIns="635" bIns="635" rtlCol="0" anchor="ctr">
            <a:normAutofit/>
          </a:bodyPr>
          <a:lstStyle/>
          <a:p>
            <a:pPr algn="l" indent="0" marL="0">
              <a:buNone/>
            </a:pPr>
            <a:r>
              <a:rPr lang="en-US" sz="1700" b="1" dirty="0">
                <a:solidFill>
                  <a:srgbClr val="0F8B8D"/>
                </a:solidFill>
                <a:latin typeface="Aptos" pitchFamily="34" charset="0"/>
                <a:ea typeface="Aptos" pitchFamily="34" charset="-122"/>
                <a:cs typeface="Aptos" pitchFamily="34" charset="-120"/>
              </a:rPr>
              <a:t>2 | Volatility smile</a:t>
            </a:r>
            <a:endParaRPr lang="en-US" sz="1700" dirty="0"/>
          </a:p>
        </p:txBody>
      </p:sp>
      <p:sp>
        <p:nvSpPr>
          <p:cNvPr id="12" name="Text 10"/>
          <p:cNvSpPr/>
          <p:nvPr/>
        </p:nvSpPr>
        <p:spPr>
          <a:xfrm>
            <a:off x="4681728" y="2176272"/>
            <a:ext cx="2788920" cy="1298448"/>
          </a:xfrm>
          <a:prstGeom prst="rect">
            <a:avLst/>
          </a:prstGeom>
          <a:noFill/>
          <a:ln/>
        </p:spPr>
        <p:txBody>
          <a:bodyPr wrap="square" lIns="635" tIns="635" rIns="635" bIns="635" rtlCol="0" anchor="t">
            <a:normAutofit/>
          </a:bodyPr>
          <a:lstStyle/>
          <a:p>
            <a:pPr algn="l" indent="0" marL="0">
              <a:buNone/>
            </a:pPr>
            <a:r>
              <a:rPr lang="en-US" sz="1240" dirty="0">
                <a:solidFill>
                  <a:srgbClr val="0B1F33"/>
                </a:solidFill>
                <a:latin typeface="Aptos" pitchFamily="34" charset="0"/>
                <a:ea typeface="Aptos" pitchFamily="34" charset="-122"/>
                <a:cs typeface="Aptos" pitchFamily="34" charset="-120"/>
              </a:rPr>
              <a:t>IV is not constant across strikes. The cross-section can form a smile or skew, so strike and moneyness are important dimensions in option analysis.</a:t>
            </a:r>
            <a:endParaRPr lang="en-US" sz="1240" dirty="0"/>
          </a:p>
        </p:txBody>
      </p:sp>
      <p:sp>
        <p:nvSpPr>
          <p:cNvPr id="13" name="Text 11"/>
          <p:cNvSpPr/>
          <p:nvPr/>
        </p:nvSpPr>
        <p:spPr>
          <a:xfrm>
            <a:off x="4681728" y="3685032"/>
            <a:ext cx="2743200" cy="237744"/>
          </a:xfrm>
          <a:prstGeom prst="rect">
            <a:avLst/>
          </a:prstGeom>
          <a:noFill/>
          <a:ln/>
        </p:spPr>
        <p:txBody>
          <a:bodyPr wrap="square" lIns="635" tIns="635" rIns="635" bIns="635" rtlCol="0" anchor="ctr">
            <a:normAutofit/>
          </a:bodyPr>
          <a:lstStyle/>
          <a:p>
            <a:pPr algn="l" indent="0" marL="0">
              <a:buNone/>
            </a:pPr>
            <a:r>
              <a:rPr lang="en-US" sz="1000" b="1" dirty="0">
                <a:solidFill>
                  <a:srgbClr val="5F6B78"/>
                </a:solidFill>
                <a:latin typeface="Aptos" pitchFamily="34" charset="0"/>
                <a:ea typeface="Aptos" pitchFamily="34" charset="-122"/>
                <a:cs typeface="Aptos" pitchFamily="34" charset="-120"/>
              </a:rPr>
              <a:t>Project focus</a:t>
            </a:r>
            <a:endParaRPr lang="en-US" sz="1000" dirty="0"/>
          </a:p>
        </p:txBody>
      </p:sp>
      <p:sp>
        <p:nvSpPr>
          <p:cNvPr id="14" name="Text 12"/>
          <p:cNvSpPr/>
          <p:nvPr/>
        </p:nvSpPr>
        <p:spPr>
          <a:xfrm>
            <a:off x="4681728" y="3986784"/>
            <a:ext cx="2743200" cy="749808"/>
          </a:xfrm>
          <a:prstGeom prst="rect">
            <a:avLst/>
          </a:prstGeom>
          <a:noFill/>
          <a:ln/>
        </p:spPr>
        <p:txBody>
          <a:bodyPr wrap="square" lIns="635" tIns="635" rIns="635" bIns="635" rtlCol="0" anchor="t">
            <a:normAutofit/>
          </a:bodyPr>
          <a:lstStyle/>
          <a:p>
            <a:pPr algn="l" indent="0" marL="0">
              <a:buNone/>
            </a:pPr>
            <a:r>
              <a:rPr lang="en-US" sz="1310" b="1" dirty="0">
                <a:solidFill>
                  <a:srgbClr val="17324D"/>
                </a:solidFill>
                <a:latin typeface="Aptos" pitchFamily="34" charset="0"/>
                <a:ea typeface="Aptos" pitchFamily="34" charset="-122"/>
                <a:cs typeface="Aptos" pitchFamily="34" charset="-120"/>
              </a:rPr>
              <a:t>Map current IV structure and forecast how IV may change over the next five minutes.</a:t>
            </a:r>
            <a:endParaRPr lang="en-US" sz="1310" dirty="0"/>
          </a:p>
        </p:txBody>
      </p:sp>
      <p:sp>
        <p:nvSpPr>
          <p:cNvPr id="15" name="Shape 13"/>
          <p:cNvSpPr/>
          <p:nvPr/>
        </p:nvSpPr>
        <p:spPr>
          <a:xfrm>
            <a:off x="8129016" y="1417320"/>
            <a:ext cx="3383280" cy="4434840"/>
          </a:xfrm>
          <a:prstGeom prst="roundRect">
            <a:avLst>
              <a:gd name="adj" fmla="val 3243"/>
            </a:avLst>
          </a:prstGeom>
          <a:solidFill>
            <a:srgbClr val="FFF3E5"/>
          </a:solidFill>
          <a:ln w="11430">
            <a:solidFill>
              <a:srgbClr val="F1D5AC"/>
            </a:solidFill>
            <a:prstDash val="solid"/>
          </a:ln>
        </p:spPr>
      </p:sp>
      <p:sp>
        <p:nvSpPr>
          <p:cNvPr id="16" name="Text 14"/>
          <p:cNvSpPr/>
          <p:nvPr/>
        </p:nvSpPr>
        <p:spPr>
          <a:xfrm>
            <a:off x="8394192" y="1737360"/>
            <a:ext cx="2788920" cy="310896"/>
          </a:xfrm>
          <a:prstGeom prst="rect">
            <a:avLst/>
          </a:prstGeom>
          <a:noFill/>
          <a:ln/>
        </p:spPr>
        <p:txBody>
          <a:bodyPr wrap="square" lIns="635" tIns="635" rIns="635" bIns="635" rtlCol="0" anchor="ctr">
            <a:normAutofit/>
          </a:bodyPr>
          <a:lstStyle/>
          <a:p>
            <a:pPr algn="l" indent="0" marL="0">
              <a:buNone/>
            </a:pPr>
            <a:r>
              <a:rPr lang="en-US" sz="1700" b="1" dirty="0">
                <a:solidFill>
                  <a:srgbClr val="D97706"/>
                </a:solidFill>
                <a:latin typeface="Aptos" pitchFamily="34" charset="0"/>
                <a:ea typeface="Aptos" pitchFamily="34" charset="-122"/>
                <a:cs typeface="Aptos" pitchFamily="34" charset="-120"/>
              </a:rPr>
              <a:t>3 | Quantitative-finance link</a:t>
            </a:r>
            <a:endParaRPr lang="en-US" sz="1700" dirty="0"/>
          </a:p>
        </p:txBody>
      </p:sp>
      <p:sp>
        <p:nvSpPr>
          <p:cNvPr id="17" name="Text 15"/>
          <p:cNvSpPr/>
          <p:nvPr/>
        </p:nvSpPr>
        <p:spPr>
          <a:xfrm>
            <a:off x="8394192" y="2176272"/>
            <a:ext cx="2697480" cy="1298448"/>
          </a:xfrm>
          <a:prstGeom prst="rect">
            <a:avLst/>
          </a:prstGeom>
          <a:noFill/>
          <a:ln/>
        </p:spPr>
        <p:txBody>
          <a:bodyPr wrap="square" lIns="635" tIns="635" rIns="635" bIns="635" rtlCol="0" anchor="t">
            <a:normAutofit/>
          </a:bodyPr>
          <a:lstStyle/>
          <a:p>
            <a:pPr algn="l" indent="0" marL="0">
              <a:buNone/>
            </a:pPr>
            <a:r>
              <a:rPr lang="en-US" sz="1240" dirty="0">
                <a:solidFill>
                  <a:srgbClr val="0B1F33"/>
                </a:solidFill>
                <a:latin typeface="Aptos" pitchFamily="34" charset="0"/>
                <a:ea typeface="Aptos" pitchFamily="34" charset="-122"/>
                <a:cs typeface="Aptos" pitchFamily="34" charset="-120"/>
              </a:rPr>
              <a:t>The project combines derivatives theory, time-series feature engineering, machine learning, out-of-sample validation and scenario-based risk analysis.</a:t>
            </a:r>
            <a:endParaRPr lang="en-US" sz="1240" dirty="0"/>
          </a:p>
        </p:txBody>
      </p:sp>
      <p:sp>
        <p:nvSpPr>
          <p:cNvPr id="18" name="Text 16"/>
          <p:cNvSpPr/>
          <p:nvPr/>
        </p:nvSpPr>
        <p:spPr>
          <a:xfrm>
            <a:off x="8394192" y="3685032"/>
            <a:ext cx="2560320" cy="237744"/>
          </a:xfrm>
          <a:prstGeom prst="rect">
            <a:avLst/>
          </a:prstGeom>
          <a:noFill/>
          <a:ln/>
        </p:spPr>
        <p:txBody>
          <a:bodyPr wrap="square" lIns="635" tIns="635" rIns="635" bIns="635" rtlCol="0" anchor="ctr">
            <a:normAutofit/>
          </a:bodyPr>
          <a:lstStyle/>
          <a:p>
            <a:pPr algn="l" indent="0" marL="0">
              <a:buNone/>
            </a:pPr>
            <a:r>
              <a:rPr lang="en-US" sz="1000" b="1" dirty="0">
                <a:solidFill>
                  <a:srgbClr val="5F6B78"/>
                </a:solidFill>
                <a:latin typeface="Aptos" pitchFamily="34" charset="0"/>
                <a:ea typeface="Aptos" pitchFamily="34" charset="-122"/>
                <a:cs typeface="Aptos" pitchFamily="34" charset="-120"/>
              </a:rPr>
              <a:t>Decision support</a:t>
            </a:r>
            <a:endParaRPr lang="en-US" sz="1000" dirty="0"/>
          </a:p>
        </p:txBody>
      </p:sp>
      <p:sp>
        <p:nvSpPr>
          <p:cNvPr id="19" name="Text 17"/>
          <p:cNvSpPr/>
          <p:nvPr/>
        </p:nvSpPr>
        <p:spPr>
          <a:xfrm>
            <a:off x="8394192" y="3986784"/>
            <a:ext cx="2697480" cy="749808"/>
          </a:xfrm>
          <a:prstGeom prst="rect">
            <a:avLst/>
          </a:prstGeom>
          <a:noFill/>
          <a:ln/>
        </p:spPr>
        <p:txBody>
          <a:bodyPr wrap="square" lIns="635" tIns="635" rIns="635" bIns="635" rtlCol="0" anchor="t">
            <a:normAutofit/>
          </a:bodyPr>
          <a:lstStyle/>
          <a:p>
            <a:pPr algn="l" indent="0" marL="0">
              <a:buNone/>
            </a:pPr>
            <a:r>
              <a:rPr lang="en-US" sz="1310" b="1" dirty="0">
                <a:solidFill>
                  <a:srgbClr val="17324D"/>
                </a:solidFill>
                <a:latin typeface="Aptos" pitchFamily="34" charset="0"/>
                <a:ea typeface="Aptos" pitchFamily="34" charset="-122"/>
                <a:cs typeface="Aptos" pitchFamily="34" charset="-120"/>
              </a:rPr>
              <a:t>Forecasts are treated as research signals, not guaranteed buy/sell recommendations.</a:t>
            </a:r>
            <a:endParaRPr lang="en-US" sz="131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Problem statement and motivation</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sp>
        <p:nvSpPr>
          <p:cNvPr id="4" name="Shape 2"/>
          <p:cNvSpPr/>
          <p:nvPr/>
        </p:nvSpPr>
        <p:spPr>
          <a:xfrm>
            <a:off x="749808" y="1481328"/>
            <a:ext cx="6583680" cy="4370832"/>
          </a:xfrm>
          <a:prstGeom prst="roundRect">
            <a:avLst>
              <a:gd name="adj" fmla="val 2510"/>
            </a:avLst>
          </a:prstGeom>
          <a:solidFill>
            <a:srgbClr val="FFFFFF"/>
          </a:solidFill>
          <a:ln w="11430">
            <a:solidFill>
              <a:srgbClr val="D8E0E8"/>
            </a:solidFill>
            <a:prstDash val="solid"/>
          </a:ln>
        </p:spPr>
      </p:sp>
      <p:sp>
        <p:nvSpPr>
          <p:cNvPr id="5" name="Text 3"/>
          <p:cNvSpPr/>
          <p:nvPr/>
        </p:nvSpPr>
        <p:spPr>
          <a:xfrm>
            <a:off x="1024128" y="1792224"/>
            <a:ext cx="1828800" cy="274320"/>
          </a:xfrm>
          <a:prstGeom prst="rect">
            <a:avLst/>
          </a:prstGeom>
          <a:noFill/>
          <a:ln/>
        </p:spPr>
        <p:txBody>
          <a:bodyPr wrap="square" lIns="635" tIns="635" rIns="635" bIns="635" rtlCol="0" anchor="ctr">
            <a:normAutofit/>
          </a:bodyPr>
          <a:lstStyle/>
          <a:p>
            <a:pPr algn="l" indent="0" marL="0">
              <a:buNone/>
            </a:pPr>
            <a:r>
              <a:rPr lang="en-US" sz="1100" b="1" dirty="0">
                <a:solidFill>
                  <a:srgbClr val="0F8B8D"/>
                </a:solidFill>
                <a:latin typeface="Aptos" pitchFamily="34" charset="0"/>
                <a:ea typeface="Aptos" pitchFamily="34" charset="-122"/>
                <a:cs typeface="Aptos" pitchFamily="34" charset="-120"/>
              </a:rPr>
              <a:t>Research problem</a:t>
            </a:r>
            <a:endParaRPr lang="en-US" sz="1100" dirty="0"/>
          </a:p>
        </p:txBody>
      </p:sp>
      <p:sp>
        <p:nvSpPr>
          <p:cNvPr id="6" name="Text 4"/>
          <p:cNvSpPr/>
          <p:nvPr/>
        </p:nvSpPr>
        <p:spPr>
          <a:xfrm>
            <a:off x="1024128" y="2167128"/>
            <a:ext cx="5989320" cy="1024128"/>
          </a:xfrm>
          <a:prstGeom prst="rect">
            <a:avLst/>
          </a:prstGeom>
          <a:noFill/>
          <a:ln/>
        </p:spPr>
        <p:txBody>
          <a:bodyPr wrap="square" lIns="635" tIns="635" rIns="635" bIns="635" rtlCol="0" anchor="t">
            <a:normAutofit/>
          </a:bodyPr>
          <a:lstStyle/>
          <a:p>
            <a:pPr algn="l" indent="0" marL="0">
              <a:buNone/>
            </a:pPr>
            <a:r>
              <a:rPr lang="en-US" sz="2100" b="1" dirty="0">
                <a:solidFill>
                  <a:srgbClr val="0B1F33"/>
                </a:solidFill>
                <a:latin typeface="Aptos" pitchFamily="34" charset="0"/>
                <a:ea typeface="Aptos" pitchFamily="34" charset="-122"/>
                <a:cs typeface="Aptos" pitchFamily="34" charset="-120"/>
              </a:rPr>
              <a:t>Can short-horizon changes in NIFTY 50 option implied volatility be forecast more effectively than a simple “IV stays unchanged” benchmark?</a:t>
            </a:r>
            <a:endParaRPr lang="en-US" sz="2100" dirty="0"/>
          </a:p>
        </p:txBody>
      </p:sp>
      <p:sp>
        <p:nvSpPr>
          <p:cNvPr id="7" name="Text 5"/>
          <p:cNvSpPr/>
          <p:nvPr/>
        </p:nvSpPr>
        <p:spPr>
          <a:xfrm>
            <a:off x="1024128" y="3529584"/>
            <a:ext cx="1828800" cy="256032"/>
          </a:xfrm>
          <a:prstGeom prst="rect">
            <a:avLst/>
          </a:prstGeom>
          <a:noFill/>
          <a:ln/>
        </p:spPr>
        <p:txBody>
          <a:bodyPr wrap="square" lIns="635" tIns="635" rIns="635" bIns="635" rtlCol="0" anchor="ctr">
            <a:normAutofit/>
          </a:bodyPr>
          <a:lstStyle/>
          <a:p>
            <a:pPr algn="l" indent="0" marL="0">
              <a:buNone/>
            </a:pPr>
            <a:r>
              <a:rPr lang="en-US" sz="1100" b="1" dirty="0">
                <a:solidFill>
                  <a:srgbClr val="5F6B78"/>
                </a:solidFill>
                <a:latin typeface="Aptos" pitchFamily="34" charset="0"/>
                <a:ea typeface="Aptos" pitchFamily="34" charset="-122"/>
                <a:cs typeface="Aptos" pitchFamily="34" charset="-120"/>
              </a:rPr>
              <a:t>Why this matters</a:t>
            </a:r>
            <a:endParaRPr lang="en-US" sz="1100" dirty="0"/>
          </a:p>
        </p:txBody>
      </p:sp>
      <p:sp>
        <p:nvSpPr>
          <p:cNvPr id="8" name="Text 6"/>
          <p:cNvSpPr/>
          <p:nvPr/>
        </p:nvSpPr>
        <p:spPr>
          <a:xfrm>
            <a:off x="1024128" y="3840480"/>
            <a:ext cx="5897880" cy="1600200"/>
          </a:xfrm>
          <a:prstGeom prst="rect">
            <a:avLst/>
          </a:prstGeom>
          <a:noFill/>
          <a:ln/>
        </p:spPr>
        <p:txBody>
          <a:bodyPr wrap="square" lIns="508" tIns="508" rIns="508" bIns="508" rtlCol="0" anchor="t">
            <a:normAutofit/>
          </a:bodyPr>
          <a:lstStyle/>
          <a:p>
            <a:pPr marL="190500" indent="-190500">
              <a:buSzPct val="100000"/>
              <a:buChar char="•"/>
            </a:pPr>
            <a:r>
              <a:rPr lang="en-US" sz="1280" dirty="0">
                <a:solidFill>
                  <a:srgbClr val="0B1F33"/>
                </a:solidFill>
                <a:latin typeface="Aptos" pitchFamily="34" charset="0"/>
                <a:ea typeface="Aptos" pitchFamily="34" charset="-122"/>
                <a:cs typeface="Aptos" pitchFamily="34" charset="-120"/>
              </a:rPr>
              <a:t>Current IV alone does not indicate whether volatility is likely to rise or fall in the next few minutes.</a:t>
            </a:r>
            <a:endParaRPr lang="en-US" sz="1280" dirty="0"/>
          </a:p>
          <a:p>
            <a:pPr marL="190500" indent="-190500">
              <a:buSzPct val="100000"/>
              <a:buChar char="•"/>
            </a:pPr>
            <a:r>
              <a:rPr lang="en-US" sz="1280" dirty="0">
                <a:solidFill>
                  <a:srgbClr val="0B1F33"/>
                </a:solidFill>
                <a:latin typeface="Aptos" pitchFamily="34" charset="0"/>
                <a:ea typeface="Aptos" pitchFamily="34" charset="-122"/>
                <a:cs typeface="Aptos" pitchFamily="34" charset="-120"/>
              </a:rPr>
              <a:t>Option premiums are sensitive to IV, spot movement and time decay, so forecast interpretation must be paired with risk analysis.</a:t>
            </a:r>
            <a:endParaRPr lang="en-US" sz="1280" dirty="0"/>
          </a:p>
          <a:p>
            <a:pPr marL="190500" indent="-190500">
              <a:buSzPct val="100000"/>
              <a:buChar char="•"/>
            </a:pPr>
            <a:r>
              <a:rPr lang="en-US" sz="1280" dirty="0">
                <a:solidFill>
                  <a:srgbClr val="0B1F33"/>
                </a:solidFill>
                <a:latin typeface="Aptos" pitchFamily="34" charset="0"/>
                <a:ea typeface="Aptos" pitchFamily="34" charset="-122"/>
                <a:cs typeface="Aptos" pitchFamily="34" charset="-120"/>
              </a:rPr>
              <a:t>A useful model must be validated chronologically and compared with a strong persistence baseline.</a:t>
            </a:r>
            <a:endParaRPr lang="en-US" sz="1280" dirty="0"/>
          </a:p>
        </p:txBody>
      </p:sp>
      <p:sp>
        <p:nvSpPr>
          <p:cNvPr id="9" name="Shape 7"/>
          <p:cNvSpPr/>
          <p:nvPr/>
        </p:nvSpPr>
        <p:spPr>
          <a:xfrm>
            <a:off x="7644384" y="1481328"/>
            <a:ext cx="3794760" cy="4370832"/>
          </a:xfrm>
          <a:prstGeom prst="roundRect">
            <a:avLst>
              <a:gd name="adj" fmla="val 2892"/>
            </a:avLst>
          </a:prstGeom>
          <a:solidFill>
            <a:srgbClr val="0B1F33"/>
          </a:solidFill>
          <a:ln w="11430">
            <a:solidFill>
              <a:srgbClr val="0B1F33"/>
            </a:solidFill>
            <a:prstDash val="solid"/>
          </a:ln>
        </p:spPr>
      </p:sp>
      <p:sp>
        <p:nvSpPr>
          <p:cNvPr id="10" name="Text 8"/>
          <p:cNvSpPr/>
          <p:nvPr/>
        </p:nvSpPr>
        <p:spPr>
          <a:xfrm>
            <a:off x="7955280" y="1810512"/>
            <a:ext cx="3017520" cy="310896"/>
          </a:xfrm>
          <a:prstGeom prst="rect">
            <a:avLst/>
          </a:prstGeom>
          <a:noFill/>
          <a:ln/>
        </p:spPr>
        <p:txBody>
          <a:bodyPr wrap="square" lIns="635" tIns="635" rIns="635" bIns="635" rtlCol="0" anchor="ctr">
            <a:normAutofit/>
          </a:bodyPr>
          <a:lstStyle/>
          <a:p>
            <a:pPr algn="l" indent="0" marL="0">
              <a:buNone/>
            </a:pPr>
            <a:r>
              <a:rPr lang="en-US" sz="1700" b="1" dirty="0">
                <a:solidFill>
                  <a:srgbClr val="FFFFFF"/>
                </a:solidFill>
                <a:latin typeface="Aptos" pitchFamily="34" charset="0"/>
                <a:ea typeface="Aptos" pitchFamily="34" charset="-122"/>
                <a:cs typeface="Aptos" pitchFamily="34" charset="-120"/>
              </a:rPr>
              <a:t>Motivation</a:t>
            </a:r>
            <a:endParaRPr lang="en-US" sz="1700" dirty="0"/>
          </a:p>
        </p:txBody>
      </p:sp>
      <p:sp>
        <p:nvSpPr>
          <p:cNvPr id="11" name="Text 9"/>
          <p:cNvSpPr/>
          <p:nvPr/>
        </p:nvSpPr>
        <p:spPr>
          <a:xfrm>
            <a:off x="7955280" y="2331720"/>
            <a:ext cx="2926080" cy="822960"/>
          </a:xfrm>
          <a:prstGeom prst="rect">
            <a:avLst/>
          </a:prstGeom>
          <a:noFill/>
          <a:ln/>
        </p:spPr>
        <p:txBody>
          <a:bodyPr wrap="square" lIns="635" tIns="635" rIns="635" bIns="635" rtlCol="0" anchor="t">
            <a:normAutofit/>
          </a:bodyPr>
          <a:lstStyle/>
          <a:p>
            <a:pPr algn="l" indent="0" marL="0">
              <a:buNone/>
            </a:pPr>
            <a:r>
              <a:rPr lang="en-US" sz="1800" b="1" dirty="0">
                <a:solidFill>
                  <a:srgbClr val="FFFFFF"/>
                </a:solidFill>
                <a:latin typeface="Aptos" pitchFamily="34" charset="0"/>
                <a:ea typeface="Aptos" pitchFamily="34" charset="-122"/>
                <a:cs typeface="Aptos" pitchFamily="34" charset="-120"/>
              </a:rPr>
              <a:t>From raw option-chain data to a usable decision-support prototype</a:t>
            </a:r>
            <a:endParaRPr lang="en-US" sz="1800" dirty="0"/>
          </a:p>
        </p:txBody>
      </p:sp>
      <p:sp>
        <p:nvSpPr>
          <p:cNvPr id="12" name="Shape 10"/>
          <p:cNvSpPr/>
          <p:nvPr/>
        </p:nvSpPr>
        <p:spPr>
          <a:xfrm>
            <a:off x="7973568" y="3456432"/>
            <a:ext cx="164592" cy="164592"/>
          </a:xfrm>
          <a:prstGeom prst="ellipse">
            <a:avLst/>
          </a:prstGeom>
          <a:solidFill>
            <a:srgbClr val="2AA7A8"/>
          </a:solidFill>
          <a:ln w="12700">
            <a:solidFill>
              <a:srgbClr val="2AA7A8"/>
            </a:solidFill>
            <a:prstDash val="solid"/>
          </a:ln>
        </p:spPr>
      </p:sp>
      <p:sp>
        <p:nvSpPr>
          <p:cNvPr id="13" name="Text 11"/>
          <p:cNvSpPr/>
          <p:nvPr/>
        </p:nvSpPr>
        <p:spPr>
          <a:xfrm>
            <a:off x="8257032" y="3429000"/>
            <a:ext cx="2606040" cy="228600"/>
          </a:xfrm>
          <a:prstGeom prst="rect">
            <a:avLst/>
          </a:prstGeom>
          <a:noFill/>
          <a:ln/>
        </p:spPr>
        <p:txBody>
          <a:bodyPr wrap="square" lIns="635" tIns="635" rIns="635" bIns="635" rtlCol="0" anchor="ctr">
            <a:normAutofit/>
          </a:bodyPr>
          <a:lstStyle/>
          <a:p>
            <a:pPr algn="l" indent="0" marL="0">
              <a:buNone/>
            </a:pPr>
            <a:r>
              <a:rPr lang="en-US" sz="1180" b="1" dirty="0">
                <a:solidFill>
                  <a:srgbClr val="E7F2F6"/>
                </a:solidFill>
                <a:latin typeface="Aptos" pitchFamily="34" charset="0"/>
                <a:ea typeface="Aptos" pitchFamily="34" charset="-122"/>
                <a:cs typeface="Aptos" pitchFamily="34" charset="-120"/>
              </a:rPr>
              <a:t>5-minute IV forecast</a:t>
            </a:r>
            <a:endParaRPr lang="en-US" sz="1180" dirty="0"/>
          </a:p>
        </p:txBody>
      </p:sp>
      <p:sp>
        <p:nvSpPr>
          <p:cNvPr id="14" name="Shape 12"/>
          <p:cNvSpPr/>
          <p:nvPr/>
        </p:nvSpPr>
        <p:spPr>
          <a:xfrm>
            <a:off x="7973568" y="4005072"/>
            <a:ext cx="164592" cy="164592"/>
          </a:xfrm>
          <a:prstGeom prst="ellipse">
            <a:avLst/>
          </a:prstGeom>
          <a:solidFill>
            <a:srgbClr val="2AA7A8"/>
          </a:solidFill>
          <a:ln w="12700">
            <a:solidFill>
              <a:srgbClr val="2AA7A8"/>
            </a:solidFill>
            <a:prstDash val="solid"/>
          </a:ln>
        </p:spPr>
      </p:sp>
      <p:sp>
        <p:nvSpPr>
          <p:cNvPr id="15" name="Text 13"/>
          <p:cNvSpPr/>
          <p:nvPr/>
        </p:nvSpPr>
        <p:spPr>
          <a:xfrm>
            <a:off x="8257032" y="3977640"/>
            <a:ext cx="2606040" cy="228600"/>
          </a:xfrm>
          <a:prstGeom prst="rect">
            <a:avLst/>
          </a:prstGeom>
          <a:noFill/>
          <a:ln/>
        </p:spPr>
        <p:txBody>
          <a:bodyPr wrap="square" lIns="635" tIns="635" rIns="635" bIns="635" rtlCol="0" anchor="ctr">
            <a:normAutofit/>
          </a:bodyPr>
          <a:lstStyle/>
          <a:p>
            <a:pPr algn="l" indent="0" marL="0">
              <a:buNone/>
            </a:pPr>
            <a:r>
              <a:rPr lang="en-US" sz="1180" b="1" dirty="0">
                <a:solidFill>
                  <a:srgbClr val="E7F2F6"/>
                </a:solidFill>
                <a:latin typeface="Aptos" pitchFamily="34" charset="0"/>
                <a:ea typeface="Aptos" pitchFamily="34" charset="-122"/>
                <a:cs typeface="Aptos" pitchFamily="34" charset="-120"/>
              </a:rPr>
              <a:t>Relative-IV interpretation</a:t>
            </a:r>
            <a:endParaRPr lang="en-US" sz="1180" dirty="0"/>
          </a:p>
        </p:txBody>
      </p:sp>
      <p:sp>
        <p:nvSpPr>
          <p:cNvPr id="16" name="Shape 14"/>
          <p:cNvSpPr/>
          <p:nvPr/>
        </p:nvSpPr>
        <p:spPr>
          <a:xfrm>
            <a:off x="7973568" y="4553712"/>
            <a:ext cx="164592" cy="164592"/>
          </a:xfrm>
          <a:prstGeom prst="ellipse">
            <a:avLst/>
          </a:prstGeom>
          <a:solidFill>
            <a:srgbClr val="2AA7A8"/>
          </a:solidFill>
          <a:ln w="12700">
            <a:solidFill>
              <a:srgbClr val="2AA7A8"/>
            </a:solidFill>
            <a:prstDash val="solid"/>
          </a:ln>
        </p:spPr>
      </p:sp>
      <p:sp>
        <p:nvSpPr>
          <p:cNvPr id="17" name="Text 15"/>
          <p:cNvSpPr/>
          <p:nvPr/>
        </p:nvSpPr>
        <p:spPr>
          <a:xfrm>
            <a:off x="8257032" y="4526280"/>
            <a:ext cx="2606040" cy="228600"/>
          </a:xfrm>
          <a:prstGeom prst="rect">
            <a:avLst/>
          </a:prstGeom>
          <a:noFill/>
          <a:ln/>
        </p:spPr>
        <p:txBody>
          <a:bodyPr wrap="square" lIns="635" tIns="635" rIns="635" bIns="635" rtlCol="0" anchor="ctr">
            <a:normAutofit/>
          </a:bodyPr>
          <a:lstStyle/>
          <a:p>
            <a:pPr algn="l" indent="0" marL="0">
              <a:buNone/>
            </a:pPr>
            <a:r>
              <a:rPr lang="en-US" sz="1180" b="1" dirty="0">
                <a:solidFill>
                  <a:srgbClr val="E7F2F6"/>
                </a:solidFill>
                <a:latin typeface="Aptos" pitchFamily="34" charset="0"/>
                <a:ea typeface="Aptos" pitchFamily="34" charset="-122"/>
                <a:cs typeface="Aptos" pitchFamily="34" charset="-120"/>
              </a:rPr>
              <a:t>Option stress testing</a:t>
            </a:r>
            <a:endParaRPr lang="en-US" sz="1180" dirty="0"/>
          </a:p>
        </p:txBody>
      </p:sp>
      <p:sp>
        <p:nvSpPr>
          <p:cNvPr id="18" name="Shape 16"/>
          <p:cNvSpPr/>
          <p:nvPr/>
        </p:nvSpPr>
        <p:spPr>
          <a:xfrm>
            <a:off x="7973568" y="5102352"/>
            <a:ext cx="164592" cy="164592"/>
          </a:xfrm>
          <a:prstGeom prst="ellipse">
            <a:avLst/>
          </a:prstGeom>
          <a:solidFill>
            <a:srgbClr val="2AA7A8"/>
          </a:solidFill>
          <a:ln w="12700">
            <a:solidFill>
              <a:srgbClr val="2AA7A8"/>
            </a:solidFill>
            <a:prstDash val="solid"/>
          </a:ln>
        </p:spPr>
      </p:sp>
      <p:sp>
        <p:nvSpPr>
          <p:cNvPr id="19" name="Text 17"/>
          <p:cNvSpPr/>
          <p:nvPr/>
        </p:nvSpPr>
        <p:spPr>
          <a:xfrm>
            <a:off x="8257032" y="5074920"/>
            <a:ext cx="2606040" cy="228600"/>
          </a:xfrm>
          <a:prstGeom prst="rect">
            <a:avLst/>
          </a:prstGeom>
          <a:noFill/>
          <a:ln/>
        </p:spPr>
        <p:txBody>
          <a:bodyPr wrap="square" lIns="635" tIns="635" rIns="635" bIns="635" rtlCol="0" anchor="ctr">
            <a:normAutofit/>
          </a:bodyPr>
          <a:lstStyle/>
          <a:p>
            <a:pPr algn="l" indent="0" marL="0">
              <a:buNone/>
            </a:pPr>
            <a:r>
              <a:rPr lang="en-US" sz="1180" b="1" dirty="0">
                <a:solidFill>
                  <a:srgbClr val="E7F2F6"/>
                </a:solidFill>
                <a:latin typeface="Aptos" pitchFamily="34" charset="0"/>
                <a:ea typeface="Aptos" pitchFamily="34" charset="-122"/>
                <a:cs typeface="Aptos" pitchFamily="34" charset="-120"/>
              </a:rPr>
              <a:t>Interactive dashboard</a:t>
            </a:r>
            <a:endParaRPr lang="en-US" sz="118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Objectives of the project</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sp>
        <p:nvSpPr>
          <p:cNvPr id="4" name="Shape 2"/>
          <p:cNvSpPr/>
          <p:nvPr/>
        </p:nvSpPr>
        <p:spPr>
          <a:xfrm>
            <a:off x="777240" y="1444752"/>
            <a:ext cx="10652760" cy="731520"/>
          </a:xfrm>
          <a:prstGeom prst="roundRect">
            <a:avLst>
              <a:gd name="adj" fmla="val 15000"/>
            </a:avLst>
          </a:prstGeom>
          <a:solidFill>
            <a:srgbClr val="FFFFFF"/>
          </a:solidFill>
          <a:ln w="11430">
            <a:solidFill>
              <a:srgbClr val="D8E0E8"/>
            </a:solidFill>
            <a:prstDash val="solid"/>
          </a:ln>
        </p:spPr>
      </p:sp>
      <p:sp>
        <p:nvSpPr>
          <p:cNvPr id="5" name="Shape 3"/>
          <p:cNvSpPr/>
          <p:nvPr/>
        </p:nvSpPr>
        <p:spPr>
          <a:xfrm>
            <a:off x="960120" y="1645920"/>
            <a:ext cx="438912" cy="292608"/>
          </a:xfrm>
          <a:prstGeom prst="roundRect">
            <a:avLst>
              <a:gd name="adj" fmla="val 25000"/>
            </a:avLst>
          </a:prstGeom>
          <a:solidFill>
            <a:srgbClr val="0F8B8D"/>
          </a:solidFill>
          <a:ln w="12700">
            <a:solidFill>
              <a:srgbClr val="0F8B8D"/>
            </a:solidFill>
            <a:prstDash val="solid"/>
          </a:ln>
        </p:spPr>
      </p:sp>
      <p:sp>
        <p:nvSpPr>
          <p:cNvPr id="6" name="Text 4"/>
          <p:cNvSpPr/>
          <p:nvPr/>
        </p:nvSpPr>
        <p:spPr>
          <a:xfrm>
            <a:off x="960120" y="1655064"/>
            <a:ext cx="438912" cy="237744"/>
          </a:xfrm>
          <a:prstGeom prst="rect">
            <a:avLst/>
          </a:prstGeom>
          <a:noFill/>
          <a:ln/>
        </p:spPr>
        <p:txBody>
          <a:bodyPr wrap="square" lIns="635" tIns="635" rIns="635" bIns="635"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01</a:t>
            </a:r>
            <a:endParaRPr lang="en-US" sz="920" dirty="0"/>
          </a:p>
        </p:txBody>
      </p:sp>
      <p:sp>
        <p:nvSpPr>
          <p:cNvPr id="7" name="Text 5"/>
          <p:cNvSpPr/>
          <p:nvPr/>
        </p:nvSpPr>
        <p:spPr>
          <a:xfrm>
            <a:off x="1591056" y="1563624"/>
            <a:ext cx="1645920" cy="310896"/>
          </a:xfrm>
          <a:prstGeom prst="rect">
            <a:avLst/>
          </a:prstGeom>
          <a:noFill/>
          <a:ln/>
        </p:spPr>
        <p:txBody>
          <a:bodyPr wrap="square" lIns="635" tIns="635" rIns="635" bIns="635" rtlCol="0" anchor="ctr">
            <a:normAutofit/>
          </a:bodyPr>
          <a:lstStyle/>
          <a:p>
            <a:pPr algn="l" indent="0" marL="0">
              <a:buNone/>
            </a:pPr>
            <a:r>
              <a:rPr lang="en-US" sz="1450" b="1" dirty="0">
                <a:solidFill>
                  <a:srgbClr val="0B1F33"/>
                </a:solidFill>
                <a:latin typeface="Aptos" pitchFamily="34" charset="0"/>
                <a:ea typeface="Aptos" pitchFamily="34" charset="-122"/>
                <a:cs typeface="Aptos" pitchFamily="34" charset="-120"/>
              </a:rPr>
              <a:t>Collect</a:t>
            </a:r>
            <a:endParaRPr lang="en-US" sz="1450" dirty="0"/>
          </a:p>
        </p:txBody>
      </p:sp>
      <p:sp>
        <p:nvSpPr>
          <p:cNvPr id="8" name="Text 6"/>
          <p:cNvSpPr/>
          <p:nvPr/>
        </p:nvSpPr>
        <p:spPr>
          <a:xfrm>
            <a:off x="2971800" y="1536192"/>
            <a:ext cx="8001000" cy="457200"/>
          </a:xfrm>
          <a:prstGeom prst="rect">
            <a:avLst/>
          </a:prstGeom>
          <a:noFill/>
          <a:ln/>
        </p:spPr>
        <p:txBody>
          <a:bodyPr wrap="square" lIns="635" tIns="635" rIns="635" bIns="635" rtlCol="0" anchor="t">
            <a:normAutofit/>
          </a:bodyPr>
          <a:lstStyle/>
          <a:p>
            <a:pPr algn="l" indent="0" marL="0">
              <a:buNone/>
            </a:pPr>
            <a:r>
              <a:rPr lang="en-US" sz="1170" dirty="0">
                <a:solidFill>
                  <a:srgbClr val="5F6B78"/>
                </a:solidFill>
                <a:latin typeface="Aptos" pitchFamily="34" charset="0"/>
                <a:ea typeface="Aptos" pitchFamily="34" charset="-122"/>
                <a:cs typeface="Aptos" pitchFamily="34" charset="-120"/>
              </a:rPr>
              <a:t>Build a repeatable NIFTY 50 option-chain data pipeline using NSE CSV snapshots and Upstox API connectivity.</a:t>
            </a:r>
            <a:endParaRPr lang="en-US" sz="1170" dirty="0"/>
          </a:p>
        </p:txBody>
      </p:sp>
      <p:sp>
        <p:nvSpPr>
          <p:cNvPr id="9" name="Shape 7"/>
          <p:cNvSpPr/>
          <p:nvPr/>
        </p:nvSpPr>
        <p:spPr>
          <a:xfrm>
            <a:off x="777240" y="2377440"/>
            <a:ext cx="10652760" cy="731520"/>
          </a:xfrm>
          <a:prstGeom prst="roundRect">
            <a:avLst>
              <a:gd name="adj" fmla="val 15000"/>
            </a:avLst>
          </a:prstGeom>
          <a:solidFill>
            <a:srgbClr val="F2F6F9"/>
          </a:solidFill>
          <a:ln w="11430">
            <a:solidFill>
              <a:srgbClr val="D8E0E8"/>
            </a:solidFill>
            <a:prstDash val="solid"/>
          </a:ln>
        </p:spPr>
      </p:sp>
      <p:sp>
        <p:nvSpPr>
          <p:cNvPr id="10" name="Shape 8"/>
          <p:cNvSpPr/>
          <p:nvPr/>
        </p:nvSpPr>
        <p:spPr>
          <a:xfrm>
            <a:off x="960120" y="2578608"/>
            <a:ext cx="438912" cy="292608"/>
          </a:xfrm>
          <a:prstGeom prst="roundRect">
            <a:avLst>
              <a:gd name="adj" fmla="val 25000"/>
            </a:avLst>
          </a:prstGeom>
          <a:solidFill>
            <a:srgbClr val="0F8B8D"/>
          </a:solidFill>
          <a:ln w="12700">
            <a:solidFill>
              <a:srgbClr val="0F8B8D"/>
            </a:solidFill>
            <a:prstDash val="solid"/>
          </a:ln>
        </p:spPr>
      </p:sp>
      <p:sp>
        <p:nvSpPr>
          <p:cNvPr id="11" name="Text 9"/>
          <p:cNvSpPr/>
          <p:nvPr/>
        </p:nvSpPr>
        <p:spPr>
          <a:xfrm>
            <a:off x="960120" y="2587752"/>
            <a:ext cx="438912" cy="237744"/>
          </a:xfrm>
          <a:prstGeom prst="rect">
            <a:avLst/>
          </a:prstGeom>
          <a:noFill/>
          <a:ln/>
        </p:spPr>
        <p:txBody>
          <a:bodyPr wrap="square" lIns="635" tIns="635" rIns="635" bIns="635"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02</a:t>
            </a:r>
            <a:endParaRPr lang="en-US" sz="920" dirty="0"/>
          </a:p>
        </p:txBody>
      </p:sp>
      <p:sp>
        <p:nvSpPr>
          <p:cNvPr id="12" name="Text 10"/>
          <p:cNvSpPr/>
          <p:nvPr/>
        </p:nvSpPr>
        <p:spPr>
          <a:xfrm>
            <a:off x="1591056" y="2496312"/>
            <a:ext cx="1645920" cy="310896"/>
          </a:xfrm>
          <a:prstGeom prst="rect">
            <a:avLst/>
          </a:prstGeom>
          <a:noFill/>
          <a:ln/>
        </p:spPr>
        <p:txBody>
          <a:bodyPr wrap="square" lIns="635" tIns="635" rIns="635" bIns="635" rtlCol="0" anchor="ctr">
            <a:normAutofit/>
          </a:bodyPr>
          <a:lstStyle/>
          <a:p>
            <a:pPr algn="l" indent="0" marL="0">
              <a:buNone/>
            </a:pPr>
            <a:r>
              <a:rPr lang="en-US" sz="1450" b="1" dirty="0">
                <a:solidFill>
                  <a:srgbClr val="0B1F33"/>
                </a:solidFill>
                <a:latin typeface="Aptos" pitchFamily="34" charset="0"/>
                <a:ea typeface="Aptos" pitchFamily="34" charset="-122"/>
                <a:cs typeface="Aptos" pitchFamily="34" charset="-120"/>
              </a:rPr>
              <a:t>Engineer</a:t>
            </a:r>
            <a:endParaRPr lang="en-US" sz="1450" dirty="0"/>
          </a:p>
        </p:txBody>
      </p:sp>
      <p:sp>
        <p:nvSpPr>
          <p:cNvPr id="13" name="Text 11"/>
          <p:cNvSpPr/>
          <p:nvPr/>
        </p:nvSpPr>
        <p:spPr>
          <a:xfrm>
            <a:off x="2971800" y="2468880"/>
            <a:ext cx="8001000" cy="457200"/>
          </a:xfrm>
          <a:prstGeom prst="rect">
            <a:avLst/>
          </a:prstGeom>
          <a:noFill/>
          <a:ln/>
        </p:spPr>
        <p:txBody>
          <a:bodyPr wrap="square" lIns="635" tIns="635" rIns="635" bIns="635" rtlCol="0" anchor="t">
            <a:normAutofit/>
          </a:bodyPr>
          <a:lstStyle/>
          <a:p>
            <a:pPr algn="l" indent="0" marL="0">
              <a:buNone/>
            </a:pPr>
            <a:r>
              <a:rPr lang="en-US" sz="1170" dirty="0">
                <a:solidFill>
                  <a:srgbClr val="5F6B78"/>
                </a:solidFill>
                <a:latin typeface="Aptos" pitchFamily="34" charset="0"/>
                <a:ea typeface="Aptos" pitchFamily="34" charset="-122"/>
                <a:cs typeface="Aptos" pitchFamily="34" charset="-120"/>
              </a:rPr>
              <a:t>Create moneyness, liquidity, lag, momentum and exact time-alignment features without look-ahead leakage.</a:t>
            </a:r>
            <a:endParaRPr lang="en-US" sz="1170" dirty="0"/>
          </a:p>
        </p:txBody>
      </p:sp>
      <p:sp>
        <p:nvSpPr>
          <p:cNvPr id="14" name="Shape 12"/>
          <p:cNvSpPr/>
          <p:nvPr/>
        </p:nvSpPr>
        <p:spPr>
          <a:xfrm>
            <a:off x="777240" y="3310128"/>
            <a:ext cx="10652760" cy="731520"/>
          </a:xfrm>
          <a:prstGeom prst="roundRect">
            <a:avLst>
              <a:gd name="adj" fmla="val 15000"/>
            </a:avLst>
          </a:prstGeom>
          <a:solidFill>
            <a:srgbClr val="FFFFFF"/>
          </a:solidFill>
          <a:ln w="11430">
            <a:solidFill>
              <a:srgbClr val="D8E0E8"/>
            </a:solidFill>
            <a:prstDash val="solid"/>
          </a:ln>
        </p:spPr>
      </p:sp>
      <p:sp>
        <p:nvSpPr>
          <p:cNvPr id="15" name="Shape 13"/>
          <p:cNvSpPr/>
          <p:nvPr/>
        </p:nvSpPr>
        <p:spPr>
          <a:xfrm>
            <a:off x="960120" y="3511296"/>
            <a:ext cx="438912" cy="292608"/>
          </a:xfrm>
          <a:prstGeom prst="roundRect">
            <a:avLst>
              <a:gd name="adj" fmla="val 25000"/>
            </a:avLst>
          </a:prstGeom>
          <a:solidFill>
            <a:srgbClr val="0F8B8D"/>
          </a:solidFill>
          <a:ln w="12700">
            <a:solidFill>
              <a:srgbClr val="0F8B8D"/>
            </a:solidFill>
            <a:prstDash val="solid"/>
          </a:ln>
        </p:spPr>
      </p:sp>
      <p:sp>
        <p:nvSpPr>
          <p:cNvPr id="16" name="Text 14"/>
          <p:cNvSpPr/>
          <p:nvPr/>
        </p:nvSpPr>
        <p:spPr>
          <a:xfrm>
            <a:off x="960120" y="3520440"/>
            <a:ext cx="438912" cy="237744"/>
          </a:xfrm>
          <a:prstGeom prst="rect">
            <a:avLst/>
          </a:prstGeom>
          <a:noFill/>
          <a:ln/>
        </p:spPr>
        <p:txBody>
          <a:bodyPr wrap="square" lIns="635" tIns="635" rIns="635" bIns="635"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03</a:t>
            </a:r>
            <a:endParaRPr lang="en-US" sz="920" dirty="0"/>
          </a:p>
        </p:txBody>
      </p:sp>
      <p:sp>
        <p:nvSpPr>
          <p:cNvPr id="17" name="Text 15"/>
          <p:cNvSpPr/>
          <p:nvPr/>
        </p:nvSpPr>
        <p:spPr>
          <a:xfrm>
            <a:off x="1591056" y="3429000"/>
            <a:ext cx="1645920" cy="310896"/>
          </a:xfrm>
          <a:prstGeom prst="rect">
            <a:avLst/>
          </a:prstGeom>
          <a:noFill/>
          <a:ln/>
        </p:spPr>
        <p:txBody>
          <a:bodyPr wrap="square" lIns="635" tIns="635" rIns="635" bIns="635" rtlCol="0" anchor="ctr">
            <a:normAutofit/>
          </a:bodyPr>
          <a:lstStyle/>
          <a:p>
            <a:pPr algn="l" indent="0" marL="0">
              <a:buNone/>
            </a:pPr>
            <a:r>
              <a:rPr lang="en-US" sz="1450" b="1" dirty="0">
                <a:solidFill>
                  <a:srgbClr val="0B1F33"/>
                </a:solidFill>
                <a:latin typeface="Aptos" pitchFamily="34" charset="0"/>
                <a:ea typeface="Aptos" pitchFamily="34" charset="-122"/>
                <a:cs typeface="Aptos" pitchFamily="34" charset="-120"/>
              </a:rPr>
              <a:t>Forecast</a:t>
            </a:r>
            <a:endParaRPr lang="en-US" sz="1450" dirty="0"/>
          </a:p>
        </p:txBody>
      </p:sp>
      <p:sp>
        <p:nvSpPr>
          <p:cNvPr id="18" name="Text 16"/>
          <p:cNvSpPr/>
          <p:nvPr/>
        </p:nvSpPr>
        <p:spPr>
          <a:xfrm>
            <a:off x="2971800" y="3401568"/>
            <a:ext cx="8001000" cy="457200"/>
          </a:xfrm>
          <a:prstGeom prst="rect">
            <a:avLst/>
          </a:prstGeom>
          <a:noFill/>
          <a:ln/>
        </p:spPr>
        <p:txBody>
          <a:bodyPr wrap="square" lIns="635" tIns="635" rIns="635" bIns="635" rtlCol="0" anchor="t">
            <a:normAutofit/>
          </a:bodyPr>
          <a:lstStyle/>
          <a:p>
            <a:pPr algn="l" indent="0" marL="0">
              <a:buNone/>
            </a:pPr>
            <a:r>
              <a:rPr lang="en-US" sz="1170" dirty="0">
                <a:solidFill>
                  <a:srgbClr val="5F6B78"/>
                </a:solidFill>
                <a:latin typeface="Aptos" pitchFamily="34" charset="0"/>
                <a:ea typeface="Aptos" pitchFamily="34" charset="-122"/>
                <a:cs typeface="Aptos" pitchFamily="34" charset="-120"/>
              </a:rPr>
              <a:t>Predict 5-minute-ahead IV change and compare machine-learning models with persistence.</a:t>
            </a:r>
            <a:endParaRPr lang="en-US" sz="1170" dirty="0"/>
          </a:p>
        </p:txBody>
      </p:sp>
      <p:sp>
        <p:nvSpPr>
          <p:cNvPr id="19" name="Shape 17"/>
          <p:cNvSpPr/>
          <p:nvPr/>
        </p:nvSpPr>
        <p:spPr>
          <a:xfrm>
            <a:off x="777240" y="4242816"/>
            <a:ext cx="10652760" cy="731520"/>
          </a:xfrm>
          <a:prstGeom prst="roundRect">
            <a:avLst>
              <a:gd name="adj" fmla="val 15000"/>
            </a:avLst>
          </a:prstGeom>
          <a:solidFill>
            <a:srgbClr val="F2F6F9"/>
          </a:solidFill>
          <a:ln w="11430">
            <a:solidFill>
              <a:srgbClr val="D8E0E8"/>
            </a:solidFill>
            <a:prstDash val="solid"/>
          </a:ln>
        </p:spPr>
      </p:sp>
      <p:sp>
        <p:nvSpPr>
          <p:cNvPr id="20" name="Shape 18"/>
          <p:cNvSpPr/>
          <p:nvPr/>
        </p:nvSpPr>
        <p:spPr>
          <a:xfrm>
            <a:off x="960120" y="4443984"/>
            <a:ext cx="438912" cy="292608"/>
          </a:xfrm>
          <a:prstGeom prst="roundRect">
            <a:avLst>
              <a:gd name="adj" fmla="val 25000"/>
            </a:avLst>
          </a:prstGeom>
          <a:solidFill>
            <a:srgbClr val="0F8B8D"/>
          </a:solidFill>
          <a:ln w="12700">
            <a:solidFill>
              <a:srgbClr val="0F8B8D"/>
            </a:solidFill>
            <a:prstDash val="solid"/>
          </a:ln>
        </p:spPr>
      </p:sp>
      <p:sp>
        <p:nvSpPr>
          <p:cNvPr id="21" name="Text 19"/>
          <p:cNvSpPr/>
          <p:nvPr/>
        </p:nvSpPr>
        <p:spPr>
          <a:xfrm>
            <a:off x="960120" y="4453128"/>
            <a:ext cx="438912" cy="237744"/>
          </a:xfrm>
          <a:prstGeom prst="rect">
            <a:avLst/>
          </a:prstGeom>
          <a:noFill/>
          <a:ln/>
        </p:spPr>
        <p:txBody>
          <a:bodyPr wrap="square" lIns="635" tIns="635" rIns="635" bIns="635"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04</a:t>
            </a:r>
            <a:endParaRPr lang="en-US" sz="920" dirty="0"/>
          </a:p>
        </p:txBody>
      </p:sp>
      <p:sp>
        <p:nvSpPr>
          <p:cNvPr id="22" name="Text 20"/>
          <p:cNvSpPr/>
          <p:nvPr/>
        </p:nvSpPr>
        <p:spPr>
          <a:xfrm>
            <a:off x="1591056" y="4361688"/>
            <a:ext cx="1645920" cy="310896"/>
          </a:xfrm>
          <a:prstGeom prst="rect">
            <a:avLst/>
          </a:prstGeom>
          <a:noFill/>
          <a:ln/>
        </p:spPr>
        <p:txBody>
          <a:bodyPr wrap="square" lIns="635" tIns="635" rIns="635" bIns="635" rtlCol="0" anchor="ctr">
            <a:normAutofit/>
          </a:bodyPr>
          <a:lstStyle/>
          <a:p>
            <a:pPr algn="l" indent="0" marL="0">
              <a:buNone/>
            </a:pPr>
            <a:r>
              <a:rPr lang="en-US" sz="1450" b="1" dirty="0">
                <a:solidFill>
                  <a:srgbClr val="0B1F33"/>
                </a:solidFill>
                <a:latin typeface="Aptos" pitchFamily="34" charset="0"/>
                <a:ea typeface="Aptos" pitchFamily="34" charset="-122"/>
                <a:cs typeface="Aptos" pitchFamily="34" charset="-120"/>
              </a:rPr>
              <a:t>Interpret</a:t>
            </a:r>
            <a:endParaRPr lang="en-US" sz="1450" dirty="0"/>
          </a:p>
        </p:txBody>
      </p:sp>
      <p:sp>
        <p:nvSpPr>
          <p:cNvPr id="23" name="Text 21"/>
          <p:cNvSpPr/>
          <p:nvPr/>
        </p:nvSpPr>
        <p:spPr>
          <a:xfrm>
            <a:off x="2971800" y="4334256"/>
            <a:ext cx="8001000" cy="457200"/>
          </a:xfrm>
          <a:prstGeom prst="rect">
            <a:avLst/>
          </a:prstGeom>
          <a:noFill/>
          <a:ln/>
        </p:spPr>
        <p:txBody>
          <a:bodyPr wrap="square" lIns="635" tIns="635" rIns="635" bIns="635" rtlCol="0" anchor="t">
            <a:normAutofit/>
          </a:bodyPr>
          <a:lstStyle/>
          <a:p>
            <a:pPr algn="l" indent="0" marL="0">
              <a:buNone/>
            </a:pPr>
            <a:r>
              <a:rPr lang="en-US" sz="1170" dirty="0">
                <a:solidFill>
                  <a:srgbClr val="5F6B78"/>
                </a:solidFill>
                <a:latin typeface="Aptos" pitchFamily="34" charset="0"/>
                <a:ea typeface="Aptos" pitchFamily="34" charset="-122"/>
                <a:cs typeface="Aptos" pitchFamily="34" charset="-120"/>
              </a:rPr>
              <a:t>Translate the IV forecast into relative low / neutral / high IV versus the model expectation.</a:t>
            </a:r>
            <a:endParaRPr lang="en-US" sz="1170" dirty="0"/>
          </a:p>
        </p:txBody>
      </p:sp>
      <p:sp>
        <p:nvSpPr>
          <p:cNvPr id="24" name="Shape 22"/>
          <p:cNvSpPr/>
          <p:nvPr/>
        </p:nvSpPr>
        <p:spPr>
          <a:xfrm>
            <a:off x="777240" y="5175504"/>
            <a:ext cx="10652760" cy="731520"/>
          </a:xfrm>
          <a:prstGeom prst="roundRect">
            <a:avLst>
              <a:gd name="adj" fmla="val 15000"/>
            </a:avLst>
          </a:prstGeom>
          <a:solidFill>
            <a:srgbClr val="FFFFFF"/>
          </a:solidFill>
          <a:ln w="11430">
            <a:solidFill>
              <a:srgbClr val="D8E0E8"/>
            </a:solidFill>
            <a:prstDash val="solid"/>
          </a:ln>
        </p:spPr>
      </p:sp>
      <p:sp>
        <p:nvSpPr>
          <p:cNvPr id="25" name="Shape 23"/>
          <p:cNvSpPr/>
          <p:nvPr/>
        </p:nvSpPr>
        <p:spPr>
          <a:xfrm>
            <a:off x="960120" y="5376672"/>
            <a:ext cx="438912" cy="292608"/>
          </a:xfrm>
          <a:prstGeom prst="roundRect">
            <a:avLst>
              <a:gd name="adj" fmla="val 25000"/>
            </a:avLst>
          </a:prstGeom>
          <a:solidFill>
            <a:srgbClr val="0F8B8D"/>
          </a:solidFill>
          <a:ln w="12700">
            <a:solidFill>
              <a:srgbClr val="0F8B8D"/>
            </a:solidFill>
            <a:prstDash val="solid"/>
          </a:ln>
        </p:spPr>
      </p:sp>
      <p:sp>
        <p:nvSpPr>
          <p:cNvPr id="26" name="Text 24"/>
          <p:cNvSpPr/>
          <p:nvPr/>
        </p:nvSpPr>
        <p:spPr>
          <a:xfrm>
            <a:off x="960120" y="5385816"/>
            <a:ext cx="438912" cy="237744"/>
          </a:xfrm>
          <a:prstGeom prst="rect">
            <a:avLst/>
          </a:prstGeom>
          <a:noFill/>
          <a:ln/>
        </p:spPr>
        <p:txBody>
          <a:bodyPr wrap="square" lIns="635" tIns="635" rIns="635" bIns="635"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05</a:t>
            </a:r>
            <a:endParaRPr lang="en-US" sz="920" dirty="0"/>
          </a:p>
        </p:txBody>
      </p:sp>
      <p:sp>
        <p:nvSpPr>
          <p:cNvPr id="27" name="Text 25"/>
          <p:cNvSpPr/>
          <p:nvPr/>
        </p:nvSpPr>
        <p:spPr>
          <a:xfrm>
            <a:off x="1591056" y="5294376"/>
            <a:ext cx="1645920" cy="310896"/>
          </a:xfrm>
          <a:prstGeom prst="rect">
            <a:avLst/>
          </a:prstGeom>
          <a:noFill/>
          <a:ln/>
        </p:spPr>
        <p:txBody>
          <a:bodyPr wrap="square" lIns="635" tIns="635" rIns="635" bIns="635" rtlCol="0" anchor="ctr">
            <a:normAutofit/>
          </a:bodyPr>
          <a:lstStyle/>
          <a:p>
            <a:pPr algn="l" indent="0" marL="0">
              <a:buNone/>
            </a:pPr>
            <a:r>
              <a:rPr lang="en-US" sz="1450" b="1" dirty="0">
                <a:solidFill>
                  <a:srgbClr val="0B1F33"/>
                </a:solidFill>
                <a:latin typeface="Aptos" pitchFamily="34" charset="0"/>
                <a:ea typeface="Aptos" pitchFamily="34" charset="-122"/>
                <a:cs typeface="Aptos" pitchFamily="34" charset="-120"/>
              </a:rPr>
              <a:t>Risk-test &amp; deploy</a:t>
            </a:r>
            <a:endParaRPr lang="en-US" sz="1450" dirty="0"/>
          </a:p>
        </p:txBody>
      </p:sp>
      <p:sp>
        <p:nvSpPr>
          <p:cNvPr id="28" name="Text 26"/>
          <p:cNvSpPr/>
          <p:nvPr/>
        </p:nvSpPr>
        <p:spPr>
          <a:xfrm>
            <a:off x="2971800" y="5266944"/>
            <a:ext cx="8001000" cy="457200"/>
          </a:xfrm>
          <a:prstGeom prst="rect">
            <a:avLst/>
          </a:prstGeom>
          <a:noFill/>
          <a:ln/>
        </p:spPr>
        <p:txBody>
          <a:bodyPr wrap="square" lIns="635" tIns="635" rIns="635" bIns="635" rtlCol="0" anchor="t">
            <a:normAutofit/>
          </a:bodyPr>
          <a:lstStyle/>
          <a:p>
            <a:pPr algn="l" indent="0" marL="0">
              <a:buNone/>
            </a:pPr>
            <a:r>
              <a:rPr lang="en-US" sz="1170" dirty="0">
                <a:solidFill>
                  <a:srgbClr val="5F6B78"/>
                </a:solidFill>
                <a:latin typeface="Aptos" pitchFamily="34" charset="0"/>
                <a:ea typeface="Aptos" pitchFamily="34" charset="-122"/>
                <a:cs typeface="Aptos" pitchFamily="34" charset="-120"/>
              </a:rPr>
              <a:t>Stress option value under spot, IV and time shocks and present results in a Streamlit dashboard.</a:t>
            </a:r>
            <a:endParaRPr lang="en-US" sz="117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Theoretical background</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indent="0" marL="0">
              <a:buNone/>
            </a:pPr>
            <a:r>
              <a:rPr lang="en-US" sz="1050" dirty="0">
                <a:solidFill>
                  <a:srgbClr val="5F6B78"/>
                </a:solidFill>
              </a:rPr>
              <a:t>Key financial and quantitative concepts used in the project</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sp>
        <p:nvSpPr>
          <p:cNvPr id="5" name="Shape 3"/>
          <p:cNvSpPr/>
          <p:nvPr/>
        </p:nvSpPr>
        <p:spPr>
          <a:xfrm>
            <a:off x="713232" y="1417320"/>
            <a:ext cx="3657600" cy="4526280"/>
          </a:xfrm>
          <a:prstGeom prst="roundRect">
            <a:avLst>
              <a:gd name="adj" fmla="val 3000"/>
            </a:avLst>
          </a:prstGeom>
          <a:solidFill>
            <a:srgbClr val="FFFFFF"/>
          </a:solidFill>
          <a:ln w="11430">
            <a:solidFill>
              <a:srgbClr val="D8E0E8"/>
            </a:solidFill>
            <a:prstDash val="solid"/>
          </a:ln>
        </p:spPr>
      </p:sp>
      <p:sp>
        <p:nvSpPr>
          <p:cNvPr id="6" name="Text 4"/>
          <p:cNvSpPr/>
          <p:nvPr/>
        </p:nvSpPr>
        <p:spPr>
          <a:xfrm>
            <a:off x="987552" y="1737360"/>
            <a:ext cx="3108960" cy="310896"/>
          </a:xfrm>
          <a:prstGeom prst="rect">
            <a:avLst/>
          </a:prstGeom>
          <a:noFill/>
          <a:ln/>
        </p:spPr>
        <p:txBody>
          <a:bodyPr wrap="square" lIns="635" tIns="635" rIns="635" bIns="635" rtlCol="0" anchor="ctr">
            <a:normAutofit/>
          </a:bodyPr>
          <a:lstStyle/>
          <a:p>
            <a:pPr algn="l" indent="0" marL="0">
              <a:buNone/>
            </a:pPr>
            <a:r>
              <a:rPr lang="en-US" sz="1650" b="1" dirty="0">
                <a:solidFill>
                  <a:srgbClr val="0B1F33"/>
                </a:solidFill>
                <a:latin typeface="Aptos" pitchFamily="34" charset="0"/>
                <a:ea typeface="Aptos" pitchFamily="34" charset="-122"/>
                <a:cs typeface="Aptos" pitchFamily="34" charset="-120"/>
              </a:rPr>
              <a:t>Black-Scholes and implied volatility</a:t>
            </a:r>
            <a:endParaRPr lang="en-US" sz="1650" dirty="0"/>
          </a:p>
        </p:txBody>
      </p:sp>
      <p:sp>
        <p:nvSpPr>
          <p:cNvPr id="7" name="Text 5"/>
          <p:cNvSpPr/>
          <p:nvPr/>
        </p:nvSpPr>
        <p:spPr>
          <a:xfrm>
            <a:off x="987552" y="2286000"/>
            <a:ext cx="3108960" cy="384048"/>
          </a:xfrm>
          <a:prstGeom prst="rect">
            <a:avLst/>
          </a:prstGeom>
          <a:noFill/>
          <a:ln/>
        </p:spPr>
        <p:txBody>
          <a:bodyPr wrap="square" lIns="635" tIns="635" rIns="635" bIns="635" rtlCol="0" anchor="ctr">
            <a:normAutofit/>
          </a:bodyPr>
          <a:lstStyle/>
          <a:p>
            <a:pPr algn="ctr" indent="0" marL="0">
              <a:buNone/>
            </a:pPr>
            <a:r>
              <a:rPr lang="en-US" sz="2000" b="1" dirty="0">
                <a:solidFill>
                  <a:srgbClr val="2C6EBA"/>
                </a:solidFill>
                <a:latin typeface="Aptos" pitchFamily="34" charset="0"/>
                <a:ea typeface="Aptos" pitchFamily="34" charset="-122"/>
                <a:cs typeface="Aptos" pitchFamily="34" charset="-120"/>
              </a:rPr>
              <a:t>C = S N(d₁) - K e⁻ʳᵀ N(d₂)</a:t>
            </a:r>
            <a:endParaRPr lang="en-US" sz="2000" dirty="0"/>
          </a:p>
        </p:txBody>
      </p:sp>
      <p:sp>
        <p:nvSpPr>
          <p:cNvPr id="8" name="Text 6"/>
          <p:cNvSpPr/>
          <p:nvPr/>
        </p:nvSpPr>
        <p:spPr>
          <a:xfrm>
            <a:off x="987552" y="2834640"/>
            <a:ext cx="3063240" cy="1143000"/>
          </a:xfrm>
          <a:prstGeom prst="rect">
            <a:avLst/>
          </a:prstGeom>
          <a:noFill/>
          <a:ln/>
        </p:spPr>
        <p:txBody>
          <a:bodyPr wrap="square" lIns="635" tIns="635" rIns="635" bIns="635" rtlCol="0" anchor="t">
            <a:normAutofit/>
          </a:bodyPr>
          <a:lstStyle/>
          <a:p>
            <a:pPr algn="l" indent="0" marL="0">
              <a:buNone/>
            </a:pPr>
            <a:r>
              <a:rPr lang="en-US" sz="1160" dirty="0">
                <a:solidFill>
                  <a:srgbClr val="0B1F33"/>
                </a:solidFill>
                <a:latin typeface="Aptos" pitchFamily="34" charset="0"/>
                <a:ea typeface="Aptos" pitchFamily="34" charset="-122"/>
                <a:cs typeface="Aptos" pitchFamily="34" charset="-120"/>
              </a:rPr>
              <a:t>IV is the value of σ that makes the theoretical option price match the observed market price. There is no direct closed-form inversion, so numerical root-finding is normally required.</a:t>
            </a:r>
            <a:endParaRPr lang="en-US" sz="1160" dirty="0"/>
          </a:p>
        </p:txBody>
      </p:sp>
      <p:sp>
        <p:nvSpPr>
          <p:cNvPr id="9" name="Text 7"/>
          <p:cNvSpPr/>
          <p:nvPr/>
        </p:nvSpPr>
        <p:spPr>
          <a:xfrm>
            <a:off x="987552" y="4370832"/>
            <a:ext cx="3063240" cy="411480"/>
          </a:xfrm>
          <a:prstGeom prst="rect">
            <a:avLst/>
          </a:prstGeom>
          <a:noFill/>
          <a:ln/>
        </p:spPr>
        <p:txBody>
          <a:bodyPr wrap="square" lIns="635" tIns="635" rIns="635" bIns="635" rtlCol="0" anchor="ctr">
            <a:normAutofit/>
          </a:bodyPr>
          <a:lstStyle/>
          <a:p>
            <a:pPr algn="ctr" indent="0" marL="0">
              <a:buNone/>
            </a:pPr>
            <a:r>
              <a:rPr lang="en-US" sz="1280" b="1" dirty="0">
                <a:solidFill>
                  <a:srgbClr val="14866D"/>
                </a:solidFill>
                <a:latin typeface="Aptos" pitchFamily="34" charset="0"/>
                <a:ea typeface="Aptos" pitchFamily="34" charset="-122"/>
                <a:cs typeface="Aptos" pitchFamily="34" charset="-120"/>
              </a:rPr>
              <a:t>σ ↑  ⇒  option value usually ↑, all else equal</a:t>
            </a:r>
            <a:endParaRPr lang="en-US" sz="1280" dirty="0"/>
          </a:p>
        </p:txBody>
      </p:sp>
      <p:sp>
        <p:nvSpPr>
          <p:cNvPr id="10" name="Shape 8"/>
          <p:cNvSpPr/>
          <p:nvPr/>
        </p:nvSpPr>
        <p:spPr>
          <a:xfrm>
            <a:off x="4553712" y="1417320"/>
            <a:ext cx="3246120" cy="4526280"/>
          </a:xfrm>
          <a:prstGeom prst="roundRect">
            <a:avLst>
              <a:gd name="adj" fmla="val 3380"/>
            </a:avLst>
          </a:prstGeom>
          <a:solidFill>
            <a:srgbClr val="E9F6F5"/>
          </a:solidFill>
          <a:ln w="11430">
            <a:solidFill>
              <a:srgbClr val="C3E2DF"/>
            </a:solidFill>
            <a:prstDash val="solid"/>
          </a:ln>
        </p:spPr>
      </p:sp>
      <p:sp>
        <p:nvSpPr>
          <p:cNvPr id="11" name="Text 9"/>
          <p:cNvSpPr/>
          <p:nvPr/>
        </p:nvSpPr>
        <p:spPr>
          <a:xfrm>
            <a:off x="4828032" y="1737360"/>
            <a:ext cx="2560320" cy="310896"/>
          </a:xfrm>
          <a:prstGeom prst="rect">
            <a:avLst/>
          </a:prstGeom>
          <a:noFill/>
          <a:ln/>
        </p:spPr>
        <p:txBody>
          <a:bodyPr wrap="square" lIns="635" tIns="635" rIns="635" bIns="635" rtlCol="0" anchor="ctr">
            <a:normAutofit/>
          </a:bodyPr>
          <a:lstStyle/>
          <a:p>
            <a:pPr algn="l" indent="0" marL="0">
              <a:buNone/>
            </a:pPr>
            <a:r>
              <a:rPr lang="en-US" sz="1650" b="1" dirty="0">
                <a:solidFill>
                  <a:srgbClr val="0F8B8D"/>
                </a:solidFill>
                <a:latin typeface="Aptos" pitchFamily="34" charset="0"/>
                <a:ea typeface="Aptos" pitchFamily="34" charset="-122"/>
                <a:cs typeface="Aptos" pitchFamily="34" charset="-120"/>
              </a:rPr>
              <a:t>Moneyness</a:t>
            </a:r>
            <a:endParaRPr lang="en-US" sz="1650" dirty="0"/>
          </a:p>
        </p:txBody>
      </p:sp>
      <p:sp>
        <p:nvSpPr>
          <p:cNvPr id="12" name="Text 10"/>
          <p:cNvSpPr/>
          <p:nvPr/>
        </p:nvSpPr>
        <p:spPr>
          <a:xfrm>
            <a:off x="4828032" y="2267712"/>
            <a:ext cx="2560320" cy="457200"/>
          </a:xfrm>
          <a:prstGeom prst="rect">
            <a:avLst/>
          </a:prstGeom>
          <a:noFill/>
          <a:ln/>
        </p:spPr>
        <p:txBody>
          <a:bodyPr wrap="square" lIns="635" tIns="635" rIns="635" bIns="635" rtlCol="0" anchor="ctr">
            <a:normAutofit/>
          </a:bodyPr>
          <a:lstStyle/>
          <a:p>
            <a:pPr algn="ctr" indent="0" marL="0">
              <a:buNone/>
            </a:pPr>
            <a:r>
              <a:rPr lang="en-US" sz="2200" b="1" dirty="0">
                <a:solidFill>
                  <a:srgbClr val="0F8B8D"/>
                </a:solidFill>
                <a:latin typeface="Aptos" pitchFamily="34" charset="0"/>
                <a:ea typeface="Aptos" pitchFamily="34" charset="-122"/>
                <a:cs typeface="Aptos" pitchFamily="34" charset="-120"/>
              </a:rPr>
              <a:t>M = K / S</a:t>
            </a:r>
            <a:endParaRPr lang="en-US" sz="2200" dirty="0"/>
          </a:p>
        </p:txBody>
      </p:sp>
      <p:sp>
        <p:nvSpPr>
          <p:cNvPr id="13" name="Text 11"/>
          <p:cNvSpPr/>
          <p:nvPr/>
        </p:nvSpPr>
        <p:spPr>
          <a:xfrm>
            <a:off x="4828032" y="2907792"/>
            <a:ext cx="2514600" cy="914400"/>
          </a:xfrm>
          <a:prstGeom prst="rect">
            <a:avLst/>
          </a:prstGeom>
          <a:noFill/>
          <a:ln/>
        </p:spPr>
        <p:txBody>
          <a:bodyPr wrap="square" lIns="635" tIns="635" rIns="635" bIns="635" rtlCol="0" anchor="t">
            <a:normAutofit/>
          </a:bodyPr>
          <a:lstStyle/>
          <a:p>
            <a:pPr algn="ctr" indent="0" marL="0">
              <a:buNone/>
            </a:pPr>
            <a:r>
              <a:rPr lang="en-US" sz="1180" dirty="0">
                <a:solidFill>
                  <a:srgbClr val="0B1F33"/>
                </a:solidFill>
                <a:latin typeface="Aptos" pitchFamily="34" charset="0"/>
                <a:ea typeface="Aptos" pitchFamily="34" charset="-122"/>
                <a:cs typeface="Aptos" pitchFamily="34" charset="-120"/>
              </a:rPr>
              <a:t>M ≈ 1 : near ATM</a:t>
            </a:r>
            <a:endParaRPr lang="en-US" sz="1180" dirty="0"/>
          </a:p>
          <a:p>
            <a:pPr algn="ctr" indent="0" marL="0">
              <a:buNone/>
            </a:pPr>
            <a:r>
              <a:rPr lang="en-US" sz="1180" dirty="0">
                <a:solidFill>
                  <a:srgbClr val="0B1F33"/>
                </a:solidFill>
                <a:latin typeface="Aptos" pitchFamily="34" charset="0"/>
                <a:ea typeface="Aptos" pitchFamily="34" charset="-122"/>
                <a:cs typeface="Aptos" pitchFamily="34" charset="-120"/>
              </a:rPr>
              <a:t>M &lt; 1 or &gt; 1 : different relative strike positions depending on option type</a:t>
            </a:r>
            <a:endParaRPr lang="en-US" sz="1180" dirty="0"/>
          </a:p>
        </p:txBody>
      </p:sp>
      <p:sp>
        <p:nvSpPr>
          <p:cNvPr id="14" name="Text 12"/>
          <p:cNvSpPr/>
          <p:nvPr/>
        </p:nvSpPr>
        <p:spPr>
          <a:xfrm>
            <a:off x="4828032" y="4251960"/>
            <a:ext cx="2514600" cy="219456"/>
          </a:xfrm>
          <a:prstGeom prst="rect">
            <a:avLst/>
          </a:prstGeom>
          <a:noFill/>
          <a:ln/>
        </p:spPr>
        <p:txBody>
          <a:bodyPr wrap="square" lIns="635" tIns="635" rIns="635" bIns="635" rtlCol="0" anchor="ctr">
            <a:normAutofit/>
          </a:bodyPr>
          <a:lstStyle/>
          <a:p>
            <a:pPr algn="ctr" indent="0" marL="0">
              <a:buNone/>
            </a:pPr>
            <a:r>
              <a:rPr lang="en-US" sz="950" b="1" dirty="0">
                <a:solidFill>
                  <a:srgbClr val="5F6B78"/>
                </a:solidFill>
                <a:latin typeface="Aptos" pitchFamily="34" charset="0"/>
                <a:ea typeface="Aptos" pitchFamily="34" charset="-122"/>
                <a:cs typeface="Aptos" pitchFamily="34" charset="-120"/>
              </a:rPr>
              <a:t>Near-ATM filter used:</a:t>
            </a:r>
            <a:endParaRPr lang="en-US" sz="950" dirty="0"/>
          </a:p>
        </p:txBody>
      </p:sp>
      <p:sp>
        <p:nvSpPr>
          <p:cNvPr id="15" name="Text 13"/>
          <p:cNvSpPr/>
          <p:nvPr/>
        </p:nvSpPr>
        <p:spPr>
          <a:xfrm>
            <a:off x="4828032" y="4553712"/>
            <a:ext cx="2514600" cy="384048"/>
          </a:xfrm>
          <a:prstGeom prst="rect">
            <a:avLst/>
          </a:prstGeom>
          <a:noFill/>
          <a:ln/>
        </p:spPr>
        <p:txBody>
          <a:bodyPr wrap="square" lIns="635" tIns="635" rIns="635" bIns="635" rtlCol="0" anchor="ctr">
            <a:normAutofit/>
          </a:bodyPr>
          <a:lstStyle/>
          <a:p>
            <a:pPr algn="ctr" indent="0" marL="0">
              <a:buNone/>
            </a:pPr>
            <a:r>
              <a:rPr lang="en-US" sz="1800" b="1" dirty="0">
                <a:solidFill>
                  <a:srgbClr val="0B1F33"/>
                </a:solidFill>
                <a:latin typeface="Aptos" pitchFamily="34" charset="0"/>
                <a:ea typeface="Aptos" pitchFamily="34" charset="-122"/>
                <a:cs typeface="Aptos" pitchFamily="34" charset="-120"/>
              </a:rPr>
              <a:t>0.95 ≤ M ≤ 1.05</a:t>
            </a:r>
            <a:endParaRPr lang="en-US" sz="1800" dirty="0"/>
          </a:p>
        </p:txBody>
      </p:sp>
      <p:sp>
        <p:nvSpPr>
          <p:cNvPr id="16" name="Shape 14"/>
          <p:cNvSpPr/>
          <p:nvPr/>
        </p:nvSpPr>
        <p:spPr>
          <a:xfrm>
            <a:off x="8001000" y="1417320"/>
            <a:ext cx="3493008" cy="4526280"/>
          </a:xfrm>
          <a:prstGeom prst="roundRect">
            <a:avLst>
              <a:gd name="adj" fmla="val 3141"/>
            </a:avLst>
          </a:prstGeom>
          <a:solidFill>
            <a:srgbClr val="EDF4FB"/>
          </a:solidFill>
          <a:ln w="11430">
            <a:solidFill>
              <a:srgbClr val="C8D9EB"/>
            </a:solidFill>
            <a:prstDash val="solid"/>
          </a:ln>
        </p:spPr>
      </p:sp>
      <p:sp>
        <p:nvSpPr>
          <p:cNvPr id="17" name="Text 15"/>
          <p:cNvSpPr/>
          <p:nvPr/>
        </p:nvSpPr>
        <p:spPr>
          <a:xfrm>
            <a:off x="8275320" y="1737360"/>
            <a:ext cx="2926080" cy="310896"/>
          </a:xfrm>
          <a:prstGeom prst="rect">
            <a:avLst/>
          </a:prstGeom>
          <a:noFill/>
          <a:ln/>
        </p:spPr>
        <p:txBody>
          <a:bodyPr wrap="square" lIns="635" tIns="635" rIns="635" bIns="635" rtlCol="0" anchor="ctr">
            <a:normAutofit/>
          </a:bodyPr>
          <a:lstStyle/>
          <a:p>
            <a:pPr algn="l" indent="0" marL="0">
              <a:buNone/>
            </a:pPr>
            <a:r>
              <a:rPr lang="en-US" sz="1650" b="1" dirty="0">
                <a:solidFill>
                  <a:srgbClr val="2C6EBA"/>
                </a:solidFill>
                <a:latin typeface="Aptos" pitchFamily="34" charset="0"/>
                <a:ea typeface="Aptos" pitchFamily="34" charset="-122"/>
                <a:cs typeface="Aptos" pitchFamily="34" charset="-120"/>
              </a:rPr>
              <a:t>Forecast target and benchmark</a:t>
            </a:r>
            <a:endParaRPr lang="en-US" sz="1650" dirty="0"/>
          </a:p>
        </p:txBody>
      </p:sp>
      <p:sp>
        <p:nvSpPr>
          <p:cNvPr id="18" name="Text 16"/>
          <p:cNvSpPr/>
          <p:nvPr/>
        </p:nvSpPr>
        <p:spPr>
          <a:xfrm>
            <a:off x="8275320" y="2286000"/>
            <a:ext cx="2926080" cy="402336"/>
          </a:xfrm>
          <a:prstGeom prst="rect">
            <a:avLst/>
          </a:prstGeom>
          <a:noFill/>
          <a:ln/>
        </p:spPr>
        <p:txBody>
          <a:bodyPr wrap="square" lIns="635" tIns="635" rIns="635" bIns="635" rtlCol="0" anchor="ctr">
            <a:normAutofit/>
          </a:bodyPr>
          <a:lstStyle/>
          <a:p>
            <a:pPr algn="ctr" indent="0" marL="0">
              <a:buNone/>
            </a:pPr>
            <a:r>
              <a:rPr lang="en-US" sz="2000" b="1" dirty="0">
                <a:solidFill>
                  <a:srgbClr val="2C6EBA"/>
                </a:solidFill>
                <a:latin typeface="Aptos" pitchFamily="34" charset="0"/>
                <a:ea typeface="Aptos" pitchFamily="34" charset="-122"/>
                <a:cs typeface="Aptos" pitchFamily="34" charset="-120"/>
              </a:rPr>
              <a:t>ΔIVₜ₊₅ = IVₜ₊₅ - IVₜ</a:t>
            </a:r>
            <a:endParaRPr lang="en-US" sz="2000" dirty="0"/>
          </a:p>
        </p:txBody>
      </p:sp>
      <p:sp>
        <p:nvSpPr>
          <p:cNvPr id="19" name="Text 17"/>
          <p:cNvSpPr/>
          <p:nvPr/>
        </p:nvSpPr>
        <p:spPr>
          <a:xfrm>
            <a:off x="8275320" y="3035808"/>
            <a:ext cx="2926080" cy="228600"/>
          </a:xfrm>
          <a:prstGeom prst="rect">
            <a:avLst/>
          </a:prstGeom>
          <a:noFill/>
          <a:ln/>
        </p:spPr>
        <p:txBody>
          <a:bodyPr wrap="square" lIns="635" tIns="635" rIns="635" bIns="635" rtlCol="0" anchor="ctr">
            <a:normAutofit/>
          </a:bodyPr>
          <a:lstStyle/>
          <a:p>
            <a:pPr algn="ctr" indent="0" marL="0">
              <a:buNone/>
            </a:pPr>
            <a:r>
              <a:rPr lang="en-US" sz="1000" b="1" dirty="0">
                <a:solidFill>
                  <a:srgbClr val="5F6B78"/>
                </a:solidFill>
                <a:latin typeface="Aptos" pitchFamily="34" charset="0"/>
                <a:ea typeface="Aptos" pitchFamily="34" charset="-122"/>
                <a:cs typeface="Aptos" pitchFamily="34" charset="-120"/>
              </a:rPr>
              <a:t>Persistence forecast:</a:t>
            </a:r>
            <a:endParaRPr lang="en-US" sz="1000" dirty="0"/>
          </a:p>
        </p:txBody>
      </p:sp>
      <p:sp>
        <p:nvSpPr>
          <p:cNvPr id="20" name="Text 18"/>
          <p:cNvSpPr/>
          <p:nvPr/>
        </p:nvSpPr>
        <p:spPr>
          <a:xfrm>
            <a:off x="8275320" y="3364992"/>
            <a:ext cx="2926080" cy="384048"/>
          </a:xfrm>
          <a:prstGeom prst="rect">
            <a:avLst/>
          </a:prstGeom>
          <a:noFill/>
          <a:ln/>
        </p:spPr>
        <p:txBody>
          <a:bodyPr wrap="square" lIns="635" tIns="635" rIns="635" bIns="635" rtlCol="0" anchor="ctr">
            <a:normAutofit/>
          </a:bodyPr>
          <a:lstStyle/>
          <a:p>
            <a:pPr algn="ctr" indent="0" marL="0">
              <a:buNone/>
            </a:pPr>
            <a:r>
              <a:rPr lang="en-US" sz="1800" b="1" dirty="0">
                <a:solidFill>
                  <a:srgbClr val="0B1F33"/>
                </a:solidFill>
                <a:latin typeface="Aptos" pitchFamily="34" charset="0"/>
                <a:ea typeface="Aptos" pitchFamily="34" charset="-122"/>
                <a:cs typeface="Aptos" pitchFamily="34" charset="-120"/>
              </a:rPr>
              <a:t>IV̂ₜ₊₅ = IVₜ</a:t>
            </a:r>
            <a:endParaRPr lang="en-US" sz="1800" dirty="0"/>
          </a:p>
        </p:txBody>
      </p:sp>
      <p:sp>
        <p:nvSpPr>
          <p:cNvPr id="21" name="Text 19"/>
          <p:cNvSpPr/>
          <p:nvPr/>
        </p:nvSpPr>
        <p:spPr>
          <a:xfrm>
            <a:off x="8275320" y="4041648"/>
            <a:ext cx="2926080" cy="768096"/>
          </a:xfrm>
          <a:prstGeom prst="rect">
            <a:avLst/>
          </a:prstGeom>
          <a:noFill/>
          <a:ln/>
        </p:spPr>
        <p:txBody>
          <a:bodyPr wrap="square" lIns="635" tIns="635" rIns="635" bIns="635" rtlCol="0" anchor="t">
            <a:normAutofit/>
          </a:bodyPr>
          <a:lstStyle/>
          <a:p>
            <a:pPr algn="ctr" indent="0" marL="0">
              <a:buNone/>
            </a:pPr>
            <a:r>
              <a:rPr lang="en-US" sz="1180" dirty="0">
                <a:solidFill>
                  <a:srgbClr val="0B1F33"/>
                </a:solidFill>
                <a:latin typeface="Aptos" pitchFamily="34" charset="0"/>
                <a:ea typeface="Aptos" pitchFamily="34" charset="-122"/>
                <a:cs typeface="Aptos" pitchFamily="34" charset="-120"/>
              </a:rPr>
              <a:t>The ML model adds value only if its out-of-sample error is lower than this benchmark.</a:t>
            </a:r>
            <a:endParaRPr lang="en-US" sz="118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Data description and sources</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indent="0" marL="0">
              <a:buNone/>
            </a:pPr>
            <a:r>
              <a:rPr lang="en-US" sz="1050" dirty="0">
                <a:solidFill>
                  <a:srgbClr val="5F6B78"/>
                </a:solidFill>
              </a:rPr>
              <a:t>NIFTY 50 option-chain snapshots, cleaning and modelling sample</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13232" y="1417320"/>
          <a:ext cx="5806440" cy="4526280"/>
        </p:xfrm>
        <a:graphic>
          <a:graphicData uri="http://schemas.openxmlformats.org/drawingml/2006/table">
            <a:tbl>
              <a:tblPr/>
              <a:tblGrid>
                <a:gridCol w="1600200"/>
                <a:gridCol w="4206240"/>
              </a:tblGrid>
              <a:tr h="566928">
                <a:tc>
                  <a:txBody>
                    <a:bodyPr/>
                    <a:lstStyle/>
                    <a:p>
                      <a:pPr indent="0" marL="0">
                        <a:buNone/>
                      </a:pPr>
                      <a:r>
                        <a:rPr lang="en-US" sz="1080" b="1" dirty="0">
                          <a:solidFill>
                            <a:srgbClr val="0B1F33"/>
                          </a:solidFill>
                          <a:latin typeface="Aptos" pitchFamily="34" charset="0"/>
                          <a:ea typeface="Aptos" pitchFamily="34" charset="-122"/>
                          <a:cs typeface="Aptos" pitchFamily="34" charset="-120"/>
                        </a:rPr>
                        <a:t>Source</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80" dirty="0">
                          <a:solidFill>
                            <a:srgbClr val="0B1F33"/>
                          </a:solidFill>
                          <a:latin typeface="Aptos" pitchFamily="34" charset="0"/>
                          <a:ea typeface="Aptos" pitchFamily="34" charset="-122"/>
                          <a:cs typeface="Aptos" pitchFamily="34" charset="-120"/>
                        </a:rPr>
                        <a:t>NSE option-chain CSV snapshots; Upstox option-chain API for live prototype</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566928">
                <a:tc>
                  <a:txBody>
                    <a:bodyPr/>
                    <a:lstStyle/>
                    <a:p>
                      <a:pPr indent="0" marL="0">
                        <a:buNone/>
                      </a:pPr>
                      <a:r>
                        <a:rPr lang="en-US" sz="1080" b="1" dirty="0">
                          <a:solidFill>
                            <a:srgbClr val="0B1F33"/>
                          </a:solidFill>
                          <a:latin typeface="Aptos" pitchFamily="34" charset="0"/>
                          <a:ea typeface="Aptos" pitchFamily="34" charset="-122"/>
                          <a:cs typeface="Aptos" pitchFamily="34" charset="-120"/>
                        </a:rPr>
                        <a:t>Instrument</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80" dirty="0">
                          <a:solidFill>
                            <a:srgbClr val="0B1F33"/>
                          </a:solidFill>
                          <a:latin typeface="Aptos" pitchFamily="34" charset="0"/>
                          <a:ea typeface="Aptos" pitchFamily="34" charset="-122"/>
                          <a:cs typeface="Aptos" pitchFamily="34" charset="-120"/>
                        </a:rPr>
                        <a:t>NIFTY 50 weekly index options (CE and PE)</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566928">
                <a:tc>
                  <a:txBody>
                    <a:bodyPr/>
                    <a:lstStyle/>
                    <a:p>
                      <a:pPr indent="0" marL="0">
                        <a:buNone/>
                      </a:pPr>
                      <a:r>
                        <a:rPr lang="en-US" sz="1080" b="1" dirty="0">
                          <a:solidFill>
                            <a:srgbClr val="0B1F33"/>
                          </a:solidFill>
                          <a:latin typeface="Aptos" pitchFamily="34" charset="0"/>
                          <a:ea typeface="Aptos" pitchFamily="34" charset="-122"/>
                          <a:cs typeface="Aptos" pitchFamily="34" charset="-120"/>
                        </a:rPr>
                        <a:t>Development period</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80" dirty="0">
                          <a:solidFill>
                            <a:srgbClr val="0B1F33"/>
                          </a:solidFill>
                          <a:latin typeface="Aptos" pitchFamily="34" charset="0"/>
                          <a:ea typeface="Aptos" pitchFamily="34" charset="-122"/>
                          <a:cs typeface="Aptos" pitchFamily="34" charset="-120"/>
                        </a:rPr>
                        <a:t>15-16 Oct 2026; expiry 19 Oct 2026</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566928">
                <a:tc>
                  <a:txBody>
                    <a:bodyPr/>
                    <a:lstStyle/>
                    <a:p>
                      <a:pPr indent="0" marL="0">
                        <a:buNone/>
                      </a:pPr>
                      <a:r>
                        <a:rPr lang="en-US" sz="1080" b="1" dirty="0">
                          <a:solidFill>
                            <a:srgbClr val="0B1F33"/>
                          </a:solidFill>
                          <a:latin typeface="Aptos" pitchFamily="34" charset="0"/>
                          <a:ea typeface="Aptos" pitchFamily="34" charset="-122"/>
                          <a:cs typeface="Aptos" pitchFamily="34" charset="-120"/>
                        </a:rPr>
                        <a:t>Development raw master</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80" dirty="0">
                          <a:solidFill>
                            <a:srgbClr val="0B1F33"/>
                          </a:solidFill>
                          <a:latin typeface="Aptos" pitchFamily="34" charset="0"/>
                          <a:ea typeface="Aptos" pitchFamily="34" charset="-122"/>
                          <a:cs typeface="Aptos" pitchFamily="34" charset="-120"/>
                        </a:rPr>
                        <a:t>8,424 rows across 81 successful snapshots</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566928">
                <a:tc>
                  <a:txBody>
                    <a:bodyPr/>
                    <a:lstStyle/>
                    <a:p>
                      <a:pPr indent="0" marL="0">
                        <a:buNone/>
                      </a:pPr>
                      <a:r>
                        <a:rPr lang="en-US" sz="1080" b="1" dirty="0">
                          <a:solidFill>
                            <a:srgbClr val="0B1F33"/>
                          </a:solidFill>
                          <a:latin typeface="Aptos" pitchFamily="34" charset="0"/>
                          <a:ea typeface="Aptos" pitchFamily="34" charset="-122"/>
                          <a:cs typeface="Aptos" pitchFamily="34" charset="-120"/>
                        </a:rPr>
                        <a:t>Final lag-ready sample</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80" dirty="0">
                          <a:solidFill>
                            <a:srgbClr val="0B1F33"/>
                          </a:solidFill>
                          <a:latin typeface="Aptos" pitchFamily="34" charset="0"/>
                          <a:ea typeface="Aptos" pitchFamily="34" charset="-122"/>
                          <a:cs typeface="Aptos" pitchFamily="34" charset="-120"/>
                        </a:rPr>
                        <a:t>4,853 near-ATM rows across 64 timestamps</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566928">
                <a:tc>
                  <a:txBody>
                    <a:bodyPr/>
                    <a:lstStyle/>
                    <a:p>
                      <a:pPr indent="0" marL="0">
                        <a:buNone/>
                      </a:pPr>
                      <a:r>
                        <a:rPr lang="en-US" sz="1080" b="1" dirty="0">
                          <a:solidFill>
                            <a:srgbClr val="0B1F33"/>
                          </a:solidFill>
                          <a:latin typeface="Aptos" pitchFamily="34" charset="0"/>
                          <a:ea typeface="Aptos" pitchFamily="34" charset="-122"/>
                          <a:cs typeface="Aptos" pitchFamily="34" charset="-120"/>
                        </a:rPr>
                        <a:t>Expiry-day robustness sample</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80" dirty="0">
                          <a:solidFill>
                            <a:srgbClr val="0B1F33"/>
                          </a:solidFill>
                          <a:latin typeface="Aptos" pitchFamily="34" charset="0"/>
                          <a:ea typeface="Aptos" pitchFamily="34" charset="-122"/>
                          <a:cs typeface="Aptos" pitchFamily="34" charset="-120"/>
                        </a:rPr>
                        <a:t>1,137 rows across 18 lag-ready timestamps on 19 Oct 2026</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566928">
                <a:tc>
                  <a:txBody>
                    <a:bodyPr/>
                    <a:lstStyle/>
                    <a:p>
                      <a:pPr indent="0" marL="0">
                        <a:buNone/>
                      </a:pPr>
                      <a:r>
                        <a:rPr lang="en-US" sz="1080" b="1" dirty="0">
                          <a:solidFill>
                            <a:srgbClr val="0B1F33"/>
                          </a:solidFill>
                          <a:latin typeface="Aptos" pitchFamily="34" charset="0"/>
                          <a:ea typeface="Aptos" pitchFamily="34" charset="-122"/>
                          <a:cs typeface="Aptos" pitchFamily="34" charset="-120"/>
                        </a:rPr>
                        <a:t>Core variables</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1080" dirty="0">
                          <a:solidFill>
                            <a:srgbClr val="0B1F33"/>
                          </a:solidFill>
                          <a:latin typeface="Aptos" pitchFamily="34" charset="0"/>
                          <a:ea typeface="Aptos" pitchFamily="34" charset="-122"/>
                          <a:cs typeface="Aptos" pitchFamily="34" charset="-120"/>
                        </a:rPr>
                        <a:t>IV, LTP, volume, OI, bid, ask, strike, spot; plus engineered features</a:t>
                      </a:r>
                      <a:endParaRPr lang="en-US" sz="1080" dirty="0">
                        <a:latin typeface="Aptos" charset="0"/>
                        <a:ea typeface="Aptos" charset="0"/>
                        <a:cs typeface="Aptos" charset="0"/>
                      </a:endParaRPr>
                    </a:p>
                  </a:txBody>
                  <a:tcPr marL="73152" marR="73152" marT="73152" marB="73152">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bl>
          </a:graphicData>
        </a:graphic>
      </p:graphicFrame>
      <p:sp>
        <p:nvSpPr>
          <p:cNvPr id="6" name="Shape 3"/>
          <p:cNvSpPr/>
          <p:nvPr/>
        </p:nvSpPr>
        <p:spPr>
          <a:xfrm>
            <a:off x="6793992" y="1417320"/>
            <a:ext cx="4663440" cy="4526280"/>
          </a:xfrm>
          <a:prstGeom prst="roundRect">
            <a:avLst>
              <a:gd name="adj" fmla="val 2424"/>
            </a:avLst>
          </a:prstGeom>
          <a:solidFill>
            <a:srgbClr val="EEF2F6"/>
          </a:solidFill>
          <a:ln w="11430">
            <a:solidFill>
              <a:srgbClr val="D7E0E8"/>
            </a:solidFill>
            <a:prstDash val="solid"/>
          </a:ln>
        </p:spPr>
      </p:sp>
      <p:sp>
        <p:nvSpPr>
          <p:cNvPr id="7" name="Text 4"/>
          <p:cNvSpPr/>
          <p:nvPr/>
        </p:nvSpPr>
        <p:spPr>
          <a:xfrm>
            <a:off x="7095744" y="1737360"/>
            <a:ext cx="3977640" cy="292608"/>
          </a:xfrm>
          <a:prstGeom prst="rect">
            <a:avLst/>
          </a:prstGeom>
          <a:noFill/>
          <a:ln/>
        </p:spPr>
        <p:txBody>
          <a:bodyPr wrap="square" lIns="635" tIns="635" rIns="635" bIns="635" rtlCol="0" anchor="ctr">
            <a:normAutofit/>
          </a:bodyPr>
          <a:lstStyle/>
          <a:p>
            <a:pPr algn="l" indent="0" marL="0">
              <a:buNone/>
            </a:pPr>
            <a:r>
              <a:rPr lang="en-US" sz="1700" b="1" dirty="0">
                <a:solidFill>
                  <a:srgbClr val="0B1F33"/>
                </a:solidFill>
                <a:latin typeface="Aptos" pitchFamily="34" charset="0"/>
                <a:ea typeface="Aptos" pitchFamily="34" charset="-122"/>
                <a:cs typeface="Aptos" pitchFamily="34" charset="-120"/>
              </a:rPr>
              <a:t>Preprocessing funnel</a:t>
            </a:r>
            <a:endParaRPr lang="en-US" sz="1700" dirty="0"/>
          </a:p>
        </p:txBody>
      </p:sp>
      <p:sp>
        <p:nvSpPr>
          <p:cNvPr id="8" name="Shape 5"/>
          <p:cNvSpPr/>
          <p:nvPr/>
        </p:nvSpPr>
        <p:spPr>
          <a:xfrm>
            <a:off x="7452360" y="2267712"/>
            <a:ext cx="3749040" cy="438912"/>
          </a:xfrm>
          <a:prstGeom prst="roundRect">
            <a:avLst>
              <a:gd name="adj" fmla="val 25000"/>
            </a:avLst>
          </a:prstGeom>
          <a:solidFill>
            <a:srgbClr val="FFFFFF"/>
          </a:solidFill>
          <a:ln w="11430">
            <a:solidFill>
              <a:srgbClr val="CBD5DF"/>
            </a:solidFill>
            <a:prstDash val="solid"/>
          </a:ln>
        </p:spPr>
      </p:sp>
      <p:sp>
        <p:nvSpPr>
          <p:cNvPr id="9" name="Text 6"/>
          <p:cNvSpPr/>
          <p:nvPr/>
        </p:nvSpPr>
        <p:spPr>
          <a:xfrm>
            <a:off x="7635240" y="2313432"/>
            <a:ext cx="1965960" cy="201168"/>
          </a:xfrm>
          <a:prstGeom prst="rect">
            <a:avLst/>
          </a:prstGeom>
          <a:noFill/>
          <a:ln/>
        </p:spPr>
        <p:txBody>
          <a:bodyPr wrap="square" lIns="635" tIns="635" rIns="635" bIns="635" rtlCol="0" anchor="ctr">
            <a:normAutofit/>
          </a:bodyPr>
          <a:lstStyle/>
          <a:p>
            <a:pPr algn="l" indent="0" marL="0">
              <a:buNone/>
            </a:pPr>
            <a:r>
              <a:rPr lang="en-US" sz="1080" b="1" dirty="0">
                <a:solidFill>
                  <a:srgbClr val="2C6EBA"/>
                </a:solidFill>
                <a:latin typeface="Aptos" pitchFamily="34" charset="0"/>
                <a:ea typeface="Aptos" pitchFamily="34" charset="-122"/>
                <a:cs typeface="Aptos" pitchFamily="34" charset="-120"/>
              </a:rPr>
              <a:t>Raw snapshots</a:t>
            </a:r>
            <a:endParaRPr lang="en-US" sz="1080" dirty="0"/>
          </a:p>
        </p:txBody>
      </p:sp>
      <p:sp>
        <p:nvSpPr>
          <p:cNvPr id="10" name="Text 7"/>
          <p:cNvSpPr/>
          <p:nvPr/>
        </p:nvSpPr>
        <p:spPr>
          <a:xfrm>
            <a:off x="9372600" y="2313432"/>
            <a:ext cx="1481328" cy="201168"/>
          </a:xfrm>
          <a:prstGeom prst="rect">
            <a:avLst/>
          </a:prstGeom>
          <a:noFill/>
          <a:ln/>
        </p:spPr>
        <p:txBody>
          <a:bodyPr wrap="square" lIns="635" tIns="635" rIns="635" bIns="635" rtlCol="0" anchor="ctr">
            <a:normAutofit/>
          </a:bodyPr>
          <a:lstStyle/>
          <a:p>
            <a:pPr algn="r" indent="0" marL="0">
              <a:buNone/>
            </a:pPr>
            <a:r>
              <a:rPr lang="en-US" sz="1000" dirty="0">
                <a:solidFill>
                  <a:srgbClr val="5F6B78"/>
                </a:solidFill>
                <a:latin typeface="Aptos" pitchFamily="34" charset="0"/>
                <a:ea typeface="Aptos" pitchFamily="34" charset="-122"/>
                <a:cs typeface="Aptos" pitchFamily="34" charset="-120"/>
              </a:rPr>
              <a:t>81 timestamps</a:t>
            </a:r>
            <a:endParaRPr lang="en-US" sz="1000" dirty="0"/>
          </a:p>
        </p:txBody>
      </p:sp>
      <p:sp>
        <p:nvSpPr>
          <p:cNvPr id="11" name="Shape 8"/>
          <p:cNvSpPr/>
          <p:nvPr/>
        </p:nvSpPr>
        <p:spPr>
          <a:xfrm>
            <a:off x="7607808" y="2926080"/>
            <a:ext cx="3429000" cy="438912"/>
          </a:xfrm>
          <a:prstGeom prst="roundRect">
            <a:avLst>
              <a:gd name="adj" fmla="val 25000"/>
            </a:avLst>
          </a:prstGeom>
          <a:solidFill>
            <a:srgbClr val="FFFFFF"/>
          </a:solidFill>
          <a:ln w="11430">
            <a:solidFill>
              <a:srgbClr val="CBD5DF"/>
            </a:solidFill>
            <a:prstDash val="solid"/>
          </a:ln>
        </p:spPr>
      </p:sp>
      <p:sp>
        <p:nvSpPr>
          <p:cNvPr id="12" name="Text 9"/>
          <p:cNvSpPr/>
          <p:nvPr/>
        </p:nvSpPr>
        <p:spPr>
          <a:xfrm>
            <a:off x="7790688" y="2971800"/>
            <a:ext cx="1965960" cy="201168"/>
          </a:xfrm>
          <a:prstGeom prst="rect">
            <a:avLst/>
          </a:prstGeom>
          <a:noFill/>
          <a:ln/>
        </p:spPr>
        <p:txBody>
          <a:bodyPr wrap="square" lIns="635" tIns="635" rIns="635" bIns="635" rtlCol="0" anchor="ctr">
            <a:normAutofit/>
          </a:bodyPr>
          <a:lstStyle/>
          <a:p>
            <a:pPr algn="l" indent="0" marL="0">
              <a:buNone/>
            </a:pPr>
            <a:r>
              <a:rPr lang="en-US" sz="1080" b="1" dirty="0">
                <a:solidFill>
                  <a:srgbClr val="0F8B8D"/>
                </a:solidFill>
                <a:latin typeface="Aptos" pitchFamily="34" charset="0"/>
                <a:ea typeface="Aptos" pitchFamily="34" charset="-122"/>
                <a:cs typeface="Aptos" pitchFamily="34" charset="-120"/>
              </a:rPr>
              <a:t>Long-format CE/PE</a:t>
            </a:r>
            <a:endParaRPr lang="en-US" sz="1080" dirty="0"/>
          </a:p>
        </p:txBody>
      </p:sp>
      <p:sp>
        <p:nvSpPr>
          <p:cNvPr id="13" name="Text 10"/>
          <p:cNvSpPr/>
          <p:nvPr/>
        </p:nvSpPr>
        <p:spPr>
          <a:xfrm>
            <a:off x="9372600" y="2971800"/>
            <a:ext cx="1481328" cy="201168"/>
          </a:xfrm>
          <a:prstGeom prst="rect">
            <a:avLst/>
          </a:prstGeom>
          <a:noFill/>
          <a:ln/>
        </p:spPr>
        <p:txBody>
          <a:bodyPr wrap="square" lIns="635" tIns="635" rIns="635" bIns="635" rtlCol="0" anchor="ctr">
            <a:normAutofit/>
          </a:bodyPr>
          <a:lstStyle/>
          <a:p>
            <a:pPr algn="r" indent="0" marL="0">
              <a:buNone/>
            </a:pPr>
            <a:r>
              <a:rPr lang="en-US" sz="1000" dirty="0">
                <a:solidFill>
                  <a:srgbClr val="5F6B78"/>
                </a:solidFill>
                <a:latin typeface="Aptos" pitchFamily="34" charset="0"/>
                <a:ea typeface="Aptos" pitchFamily="34" charset="-122"/>
                <a:cs typeface="Aptos" pitchFamily="34" charset="-120"/>
              </a:rPr>
              <a:t>12,816 valid IV rows</a:t>
            </a:r>
            <a:endParaRPr lang="en-US" sz="1000" dirty="0"/>
          </a:p>
        </p:txBody>
      </p:sp>
      <p:sp>
        <p:nvSpPr>
          <p:cNvPr id="14" name="Shape 11"/>
          <p:cNvSpPr/>
          <p:nvPr/>
        </p:nvSpPr>
        <p:spPr>
          <a:xfrm>
            <a:off x="7763256" y="3584448"/>
            <a:ext cx="3108960" cy="438912"/>
          </a:xfrm>
          <a:prstGeom prst="roundRect">
            <a:avLst>
              <a:gd name="adj" fmla="val 25000"/>
            </a:avLst>
          </a:prstGeom>
          <a:solidFill>
            <a:srgbClr val="FFFFFF"/>
          </a:solidFill>
          <a:ln w="11430">
            <a:solidFill>
              <a:srgbClr val="CBD5DF"/>
            </a:solidFill>
            <a:prstDash val="solid"/>
          </a:ln>
        </p:spPr>
      </p:sp>
      <p:sp>
        <p:nvSpPr>
          <p:cNvPr id="15" name="Text 12"/>
          <p:cNvSpPr/>
          <p:nvPr/>
        </p:nvSpPr>
        <p:spPr>
          <a:xfrm>
            <a:off x="7946136" y="3630168"/>
            <a:ext cx="1965960" cy="201168"/>
          </a:xfrm>
          <a:prstGeom prst="rect">
            <a:avLst/>
          </a:prstGeom>
          <a:noFill/>
          <a:ln/>
        </p:spPr>
        <p:txBody>
          <a:bodyPr wrap="square" lIns="635" tIns="635" rIns="635" bIns="635" rtlCol="0" anchor="ctr">
            <a:normAutofit/>
          </a:bodyPr>
          <a:lstStyle/>
          <a:p>
            <a:pPr algn="l" indent="0" marL="0">
              <a:buNone/>
            </a:pPr>
            <a:r>
              <a:rPr lang="en-US" sz="1080" b="1" dirty="0">
                <a:solidFill>
                  <a:srgbClr val="D97706"/>
                </a:solidFill>
                <a:latin typeface="Aptos" pitchFamily="34" charset="0"/>
                <a:ea typeface="Aptos" pitchFamily="34" charset="-122"/>
                <a:cs typeface="Aptos" pitchFamily="34" charset="-120"/>
              </a:rPr>
              <a:t>Exact +5m target</a:t>
            </a:r>
            <a:endParaRPr lang="en-US" sz="1080" dirty="0"/>
          </a:p>
        </p:txBody>
      </p:sp>
      <p:sp>
        <p:nvSpPr>
          <p:cNvPr id="16" name="Text 13"/>
          <p:cNvSpPr/>
          <p:nvPr/>
        </p:nvSpPr>
        <p:spPr>
          <a:xfrm>
            <a:off x="9372600" y="3630168"/>
            <a:ext cx="1481328" cy="201168"/>
          </a:xfrm>
          <a:prstGeom prst="rect">
            <a:avLst/>
          </a:prstGeom>
          <a:noFill/>
          <a:ln/>
        </p:spPr>
        <p:txBody>
          <a:bodyPr wrap="square" lIns="635" tIns="635" rIns="635" bIns="635" rtlCol="0" anchor="ctr">
            <a:normAutofit/>
          </a:bodyPr>
          <a:lstStyle/>
          <a:p>
            <a:pPr algn="r" indent="0" marL="0">
              <a:buNone/>
            </a:pPr>
            <a:r>
              <a:rPr lang="en-US" sz="1000" dirty="0">
                <a:solidFill>
                  <a:srgbClr val="5F6B78"/>
                </a:solidFill>
                <a:latin typeface="Aptos" pitchFamily="34" charset="0"/>
                <a:ea typeface="Aptos" pitchFamily="34" charset="-122"/>
                <a:cs typeface="Aptos" pitchFamily="34" charset="-120"/>
              </a:rPr>
              <a:t>11,130 matches</a:t>
            </a:r>
            <a:endParaRPr lang="en-US" sz="1000" dirty="0"/>
          </a:p>
        </p:txBody>
      </p:sp>
      <p:sp>
        <p:nvSpPr>
          <p:cNvPr id="17" name="Shape 14"/>
          <p:cNvSpPr/>
          <p:nvPr/>
        </p:nvSpPr>
        <p:spPr>
          <a:xfrm>
            <a:off x="7918704" y="4242816"/>
            <a:ext cx="2788920" cy="438912"/>
          </a:xfrm>
          <a:prstGeom prst="roundRect">
            <a:avLst>
              <a:gd name="adj" fmla="val 25000"/>
            </a:avLst>
          </a:prstGeom>
          <a:solidFill>
            <a:srgbClr val="FFFFFF"/>
          </a:solidFill>
          <a:ln w="11430">
            <a:solidFill>
              <a:srgbClr val="CBD5DF"/>
            </a:solidFill>
            <a:prstDash val="solid"/>
          </a:ln>
        </p:spPr>
      </p:sp>
      <p:sp>
        <p:nvSpPr>
          <p:cNvPr id="18" name="Text 15"/>
          <p:cNvSpPr/>
          <p:nvPr/>
        </p:nvSpPr>
        <p:spPr>
          <a:xfrm>
            <a:off x="8101584" y="4288536"/>
            <a:ext cx="1965960" cy="201168"/>
          </a:xfrm>
          <a:prstGeom prst="rect">
            <a:avLst/>
          </a:prstGeom>
          <a:noFill/>
          <a:ln/>
        </p:spPr>
        <p:txBody>
          <a:bodyPr wrap="square" lIns="635" tIns="635" rIns="635" bIns="635" rtlCol="0" anchor="ctr">
            <a:normAutofit/>
          </a:bodyPr>
          <a:lstStyle/>
          <a:p>
            <a:pPr algn="l" indent="0" marL="0">
              <a:buNone/>
            </a:pPr>
            <a:r>
              <a:rPr lang="en-US" sz="1080" b="1" dirty="0">
                <a:solidFill>
                  <a:srgbClr val="14866D"/>
                </a:solidFill>
                <a:latin typeface="Aptos" pitchFamily="34" charset="0"/>
                <a:ea typeface="Aptos" pitchFamily="34" charset="-122"/>
                <a:cs typeface="Aptos" pitchFamily="34" charset="-120"/>
              </a:rPr>
              <a:t>Near-ATM universe</a:t>
            </a:r>
            <a:endParaRPr lang="en-US" sz="1080" dirty="0"/>
          </a:p>
        </p:txBody>
      </p:sp>
      <p:sp>
        <p:nvSpPr>
          <p:cNvPr id="19" name="Text 16"/>
          <p:cNvSpPr/>
          <p:nvPr/>
        </p:nvSpPr>
        <p:spPr>
          <a:xfrm>
            <a:off x="9372600" y="4288536"/>
            <a:ext cx="1481328" cy="201168"/>
          </a:xfrm>
          <a:prstGeom prst="rect">
            <a:avLst/>
          </a:prstGeom>
          <a:noFill/>
          <a:ln/>
        </p:spPr>
        <p:txBody>
          <a:bodyPr wrap="square" lIns="635" tIns="635" rIns="635" bIns="635" rtlCol="0" anchor="ctr">
            <a:normAutofit/>
          </a:bodyPr>
          <a:lstStyle/>
          <a:p>
            <a:pPr algn="r" indent="0" marL="0">
              <a:buNone/>
            </a:pPr>
            <a:r>
              <a:rPr lang="en-US" sz="1000" dirty="0">
                <a:solidFill>
                  <a:srgbClr val="5F6B78"/>
                </a:solidFill>
                <a:latin typeface="Aptos" pitchFamily="34" charset="0"/>
                <a:ea typeface="Aptos" pitchFamily="34" charset="-122"/>
                <a:cs typeface="Aptos" pitchFamily="34" charset="-120"/>
              </a:rPr>
              <a:t>5,620 rows</a:t>
            </a:r>
            <a:endParaRPr lang="en-US" sz="1000" dirty="0"/>
          </a:p>
        </p:txBody>
      </p:sp>
      <p:sp>
        <p:nvSpPr>
          <p:cNvPr id="20" name="Shape 17"/>
          <p:cNvSpPr/>
          <p:nvPr/>
        </p:nvSpPr>
        <p:spPr>
          <a:xfrm>
            <a:off x="8074152" y="4901184"/>
            <a:ext cx="2468880" cy="438912"/>
          </a:xfrm>
          <a:prstGeom prst="roundRect">
            <a:avLst>
              <a:gd name="adj" fmla="val 25000"/>
            </a:avLst>
          </a:prstGeom>
          <a:solidFill>
            <a:srgbClr val="FFFFFF"/>
          </a:solidFill>
          <a:ln w="11430">
            <a:solidFill>
              <a:srgbClr val="CBD5DF"/>
            </a:solidFill>
            <a:prstDash val="solid"/>
          </a:ln>
        </p:spPr>
      </p:sp>
      <p:sp>
        <p:nvSpPr>
          <p:cNvPr id="21" name="Text 18"/>
          <p:cNvSpPr/>
          <p:nvPr/>
        </p:nvSpPr>
        <p:spPr>
          <a:xfrm>
            <a:off x="8257032" y="4946904"/>
            <a:ext cx="1965960" cy="201168"/>
          </a:xfrm>
          <a:prstGeom prst="rect">
            <a:avLst/>
          </a:prstGeom>
          <a:noFill/>
          <a:ln/>
        </p:spPr>
        <p:txBody>
          <a:bodyPr wrap="square" lIns="635" tIns="635" rIns="635" bIns="635" rtlCol="0" anchor="ctr">
            <a:normAutofit/>
          </a:bodyPr>
          <a:lstStyle/>
          <a:p>
            <a:pPr algn="l" indent="0" marL="0">
              <a:buNone/>
            </a:pPr>
            <a:r>
              <a:rPr lang="en-US" sz="1080" b="1" dirty="0">
                <a:solidFill>
                  <a:srgbClr val="17324D"/>
                </a:solidFill>
                <a:latin typeface="Aptos" pitchFamily="34" charset="0"/>
                <a:ea typeface="Aptos" pitchFamily="34" charset="-122"/>
                <a:cs typeface="Aptos" pitchFamily="34" charset="-120"/>
              </a:rPr>
              <a:t>Exact 5m/10m lags</a:t>
            </a:r>
            <a:endParaRPr lang="en-US" sz="1080" dirty="0"/>
          </a:p>
        </p:txBody>
      </p:sp>
      <p:sp>
        <p:nvSpPr>
          <p:cNvPr id="22" name="Text 19"/>
          <p:cNvSpPr/>
          <p:nvPr/>
        </p:nvSpPr>
        <p:spPr>
          <a:xfrm>
            <a:off x="9372600" y="4946904"/>
            <a:ext cx="1481328" cy="201168"/>
          </a:xfrm>
          <a:prstGeom prst="rect">
            <a:avLst/>
          </a:prstGeom>
          <a:noFill/>
          <a:ln/>
        </p:spPr>
        <p:txBody>
          <a:bodyPr wrap="square" lIns="635" tIns="635" rIns="635" bIns="635" rtlCol="0" anchor="ctr">
            <a:normAutofit/>
          </a:bodyPr>
          <a:lstStyle/>
          <a:p>
            <a:pPr algn="r" indent="0" marL="0">
              <a:buNone/>
            </a:pPr>
            <a:r>
              <a:rPr lang="en-US" sz="1000" dirty="0">
                <a:solidFill>
                  <a:srgbClr val="5F6B78"/>
                </a:solidFill>
                <a:latin typeface="Aptos" pitchFamily="34" charset="0"/>
                <a:ea typeface="Aptos" pitchFamily="34" charset="-122"/>
                <a:cs typeface="Aptos" pitchFamily="34" charset="-120"/>
              </a:rPr>
              <a:t>4,853 rows</a:t>
            </a:r>
            <a:endParaRPr lang="en-US" sz="1000" dirty="0"/>
          </a:p>
        </p:txBody>
      </p:sp>
      <p:sp>
        <p:nvSpPr>
          <p:cNvPr id="23" name="Text 20"/>
          <p:cNvSpPr/>
          <p:nvPr/>
        </p:nvSpPr>
        <p:spPr>
          <a:xfrm>
            <a:off x="7114032" y="5504688"/>
            <a:ext cx="3977640" cy="365760"/>
          </a:xfrm>
          <a:prstGeom prst="rect">
            <a:avLst/>
          </a:prstGeom>
          <a:noFill/>
          <a:ln/>
        </p:spPr>
        <p:txBody>
          <a:bodyPr wrap="square" lIns="635" tIns="635" rIns="635" bIns="635" rtlCol="0" anchor="t">
            <a:normAutofit/>
          </a:bodyPr>
          <a:lstStyle/>
          <a:p>
            <a:pPr algn="l" indent="0" marL="0">
              <a:buNone/>
            </a:pPr>
            <a:r>
              <a:rPr lang="en-US" sz="940" i="1" dirty="0">
                <a:solidFill>
                  <a:srgbClr val="5F6B78"/>
                </a:solidFill>
                <a:latin typeface="Aptos" pitchFamily="34" charset="0"/>
                <a:ea typeface="Aptos" pitchFamily="34" charset="-122"/>
                <a:cs typeface="Aptos" pitchFamily="34" charset="-120"/>
              </a:rPr>
              <a:t>Key cleaning choices: positive IV only, near-ATM economic filter, exact time matching, and no target-based outlier deletion.</a:t>
            </a:r>
            <a:endParaRPr lang="en-US" sz="94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Methodology and analytical framework</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sp>
        <p:nvSpPr>
          <p:cNvPr id="4" name="Shape 2"/>
          <p:cNvSpPr/>
          <p:nvPr/>
        </p:nvSpPr>
        <p:spPr>
          <a:xfrm>
            <a:off x="640080" y="1508760"/>
            <a:ext cx="1965960" cy="1051560"/>
          </a:xfrm>
          <a:prstGeom prst="roundRect">
            <a:avLst>
              <a:gd name="adj" fmla="val 10435"/>
            </a:avLst>
          </a:prstGeom>
          <a:solidFill>
            <a:srgbClr val="FFFFFF"/>
          </a:solidFill>
          <a:ln w="11430">
            <a:solidFill>
              <a:srgbClr val="CFD9E3"/>
            </a:solidFill>
            <a:prstDash val="solid"/>
          </a:ln>
        </p:spPr>
      </p:sp>
      <p:sp>
        <p:nvSpPr>
          <p:cNvPr id="5" name="Shape 3"/>
          <p:cNvSpPr/>
          <p:nvPr/>
        </p:nvSpPr>
        <p:spPr>
          <a:xfrm>
            <a:off x="749808" y="1618488"/>
            <a:ext cx="329184" cy="292608"/>
          </a:xfrm>
          <a:prstGeom prst="roundRect">
            <a:avLst>
              <a:gd name="adj" fmla="val 25000"/>
            </a:avLst>
          </a:prstGeom>
          <a:solidFill>
            <a:srgbClr val="0F8B8D"/>
          </a:solidFill>
          <a:ln w="12700">
            <a:solidFill>
              <a:srgbClr val="0F8B8D"/>
            </a:solidFill>
            <a:prstDash val="solid"/>
          </a:ln>
        </p:spPr>
      </p:sp>
      <p:sp>
        <p:nvSpPr>
          <p:cNvPr id="6" name="Text 4"/>
          <p:cNvSpPr/>
          <p:nvPr/>
        </p:nvSpPr>
        <p:spPr>
          <a:xfrm>
            <a:off x="749808" y="1627632"/>
            <a:ext cx="329184" cy="237744"/>
          </a:xfrm>
          <a:prstGeom prst="rect">
            <a:avLst/>
          </a:prstGeom>
          <a:noFill/>
          <a:ln/>
        </p:spPr>
        <p:txBody>
          <a:bodyPr wrap="square" lIns="635" tIns="635" rIns="635" bIns="635"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1</a:t>
            </a:r>
            <a:endParaRPr lang="en-US" sz="920" dirty="0"/>
          </a:p>
        </p:txBody>
      </p:sp>
      <p:sp>
        <p:nvSpPr>
          <p:cNvPr id="7" name="Text 5"/>
          <p:cNvSpPr/>
          <p:nvPr/>
        </p:nvSpPr>
        <p:spPr>
          <a:xfrm>
            <a:off x="1161288" y="1600200"/>
            <a:ext cx="1234440" cy="237744"/>
          </a:xfrm>
          <a:prstGeom prst="rect">
            <a:avLst/>
          </a:prstGeom>
          <a:noFill/>
          <a:ln/>
        </p:spPr>
        <p:txBody>
          <a:bodyPr wrap="square" lIns="635" tIns="635" rIns="635" bIns="635"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Acquire</a:t>
            </a:r>
            <a:endParaRPr lang="en-US" sz="1250" dirty="0"/>
          </a:p>
        </p:txBody>
      </p:sp>
      <p:sp>
        <p:nvSpPr>
          <p:cNvPr id="8" name="Text 6"/>
          <p:cNvSpPr/>
          <p:nvPr/>
        </p:nvSpPr>
        <p:spPr>
          <a:xfrm>
            <a:off x="804672" y="1993392"/>
            <a:ext cx="1627632" cy="384048"/>
          </a:xfrm>
          <a:prstGeom prst="rect">
            <a:avLst/>
          </a:prstGeom>
          <a:noFill/>
          <a:ln/>
        </p:spPr>
        <p:txBody>
          <a:bodyPr wrap="square" lIns="635" tIns="635" rIns="635" bIns="635" rtlCol="0" anchor="t">
            <a:normAutofit/>
          </a:bodyPr>
          <a:lstStyle/>
          <a:p>
            <a:pPr algn="ctr" indent="0" marL="0">
              <a:buNone/>
            </a:pPr>
            <a:r>
              <a:rPr lang="en-US" sz="950" dirty="0">
                <a:solidFill>
                  <a:srgbClr val="5F6B78"/>
                </a:solidFill>
                <a:latin typeface="Aptos" pitchFamily="34" charset="0"/>
                <a:ea typeface="Aptos" pitchFamily="34" charset="-122"/>
                <a:cs typeface="Aptos" pitchFamily="34" charset="-120"/>
              </a:rPr>
              <a:t>Option-chain snapshots</a:t>
            </a:r>
            <a:endParaRPr lang="en-US" sz="950" dirty="0"/>
          </a:p>
        </p:txBody>
      </p:sp>
      <p:sp>
        <p:nvSpPr>
          <p:cNvPr id="9" name="Shape 7"/>
          <p:cNvSpPr/>
          <p:nvPr/>
        </p:nvSpPr>
        <p:spPr>
          <a:xfrm>
            <a:off x="2880360" y="1508760"/>
            <a:ext cx="1965960" cy="1051560"/>
          </a:xfrm>
          <a:prstGeom prst="roundRect">
            <a:avLst>
              <a:gd name="adj" fmla="val 10435"/>
            </a:avLst>
          </a:prstGeom>
          <a:solidFill>
            <a:srgbClr val="FFFFFF"/>
          </a:solidFill>
          <a:ln w="11430">
            <a:solidFill>
              <a:srgbClr val="CFD9E3"/>
            </a:solidFill>
            <a:prstDash val="solid"/>
          </a:ln>
        </p:spPr>
      </p:sp>
      <p:sp>
        <p:nvSpPr>
          <p:cNvPr id="10" name="Shape 8"/>
          <p:cNvSpPr/>
          <p:nvPr/>
        </p:nvSpPr>
        <p:spPr>
          <a:xfrm>
            <a:off x="2990088" y="1618488"/>
            <a:ext cx="329184" cy="292608"/>
          </a:xfrm>
          <a:prstGeom prst="roundRect">
            <a:avLst>
              <a:gd name="adj" fmla="val 25000"/>
            </a:avLst>
          </a:prstGeom>
          <a:solidFill>
            <a:srgbClr val="0F8B8D"/>
          </a:solidFill>
          <a:ln w="12700">
            <a:solidFill>
              <a:srgbClr val="0F8B8D"/>
            </a:solidFill>
            <a:prstDash val="solid"/>
          </a:ln>
        </p:spPr>
      </p:sp>
      <p:sp>
        <p:nvSpPr>
          <p:cNvPr id="11" name="Text 9"/>
          <p:cNvSpPr/>
          <p:nvPr/>
        </p:nvSpPr>
        <p:spPr>
          <a:xfrm>
            <a:off x="2990088" y="1627632"/>
            <a:ext cx="329184" cy="237744"/>
          </a:xfrm>
          <a:prstGeom prst="rect">
            <a:avLst/>
          </a:prstGeom>
          <a:noFill/>
          <a:ln/>
        </p:spPr>
        <p:txBody>
          <a:bodyPr wrap="square" lIns="635" tIns="635" rIns="635" bIns="635"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2</a:t>
            </a:r>
            <a:endParaRPr lang="en-US" sz="920" dirty="0"/>
          </a:p>
        </p:txBody>
      </p:sp>
      <p:sp>
        <p:nvSpPr>
          <p:cNvPr id="12" name="Text 10"/>
          <p:cNvSpPr/>
          <p:nvPr/>
        </p:nvSpPr>
        <p:spPr>
          <a:xfrm>
            <a:off x="3401568" y="1600200"/>
            <a:ext cx="1234440" cy="237744"/>
          </a:xfrm>
          <a:prstGeom prst="rect">
            <a:avLst/>
          </a:prstGeom>
          <a:noFill/>
          <a:ln/>
        </p:spPr>
        <p:txBody>
          <a:bodyPr wrap="square" lIns="635" tIns="635" rIns="635" bIns="635"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Clean</a:t>
            </a:r>
            <a:endParaRPr lang="en-US" sz="1250" dirty="0"/>
          </a:p>
        </p:txBody>
      </p:sp>
      <p:sp>
        <p:nvSpPr>
          <p:cNvPr id="13" name="Text 11"/>
          <p:cNvSpPr/>
          <p:nvPr/>
        </p:nvSpPr>
        <p:spPr>
          <a:xfrm>
            <a:off x="3044952" y="1993392"/>
            <a:ext cx="1627632" cy="384048"/>
          </a:xfrm>
          <a:prstGeom prst="rect">
            <a:avLst/>
          </a:prstGeom>
          <a:noFill/>
          <a:ln/>
        </p:spPr>
        <p:txBody>
          <a:bodyPr wrap="square" lIns="635" tIns="635" rIns="635" bIns="635" rtlCol="0" anchor="t">
            <a:normAutofit/>
          </a:bodyPr>
          <a:lstStyle/>
          <a:p>
            <a:pPr algn="ctr" indent="0" marL="0">
              <a:buNone/>
            </a:pPr>
            <a:r>
              <a:rPr lang="en-US" sz="950" dirty="0">
                <a:solidFill>
                  <a:srgbClr val="5F6B78"/>
                </a:solidFill>
                <a:latin typeface="Aptos" pitchFamily="34" charset="0"/>
                <a:ea typeface="Aptos" pitchFamily="34" charset="-122"/>
                <a:cs typeface="Aptos" pitchFamily="34" charset="-120"/>
              </a:rPr>
              <a:t>CE/PE long format</a:t>
            </a:r>
            <a:endParaRPr lang="en-US" sz="950" dirty="0"/>
          </a:p>
        </p:txBody>
      </p:sp>
      <p:sp>
        <p:nvSpPr>
          <p:cNvPr id="14" name="Shape 12"/>
          <p:cNvSpPr/>
          <p:nvPr/>
        </p:nvSpPr>
        <p:spPr>
          <a:xfrm>
            <a:off x="5120640" y="1508760"/>
            <a:ext cx="1965960" cy="1051560"/>
          </a:xfrm>
          <a:prstGeom prst="roundRect">
            <a:avLst>
              <a:gd name="adj" fmla="val 10435"/>
            </a:avLst>
          </a:prstGeom>
          <a:solidFill>
            <a:srgbClr val="FFFFFF"/>
          </a:solidFill>
          <a:ln w="11430">
            <a:solidFill>
              <a:srgbClr val="CFD9E3"/>
            </a:solidFill>
            <a:prstDash val="solid"/>
          </a:ln>
        </p:spPr>
      </p:sp>
      <p:sp>
        <p:nvSpPr>
          <p:cNvPr id="15" name="Shape 13"/>
          <p:cNvSpPr/>
          <p:nvPr/>
        </p:nvSpPr>
        <p:spPr>
          <a:xfrm>
            <a:off x="5230368" y="1618488"/>
            <a:ext cx="329184" cy="292608"/>
          </a:xfrm>
          <a:prstGeom prst="roundRect">
            <a:avLst>
              <a:gd name="adj" fmla="val 25000"/>
            </a:avLst>
          </a:prstGeom>
          <a:solidFill>
            <a:srgbClr val="0F8B8D"/>
          </a:solidFill>
          <a:ln w="12700">
            <a:solidFill>
              <a:srgbClr val="0F8B8D"/>
            </a:solidFill>
            <a:prstDash val="solid"/>
          </a:ln>
        </p:spPr>
      </p:sp>
      <p:sp>
        <p:nvSpPr>
          <p:cNvPr id="16" name="Text 14"/>
          <p:cNvSpPr/>
          <p:nvPr/>
        </p:nvSpPr>
        <p:spPr>
          <a:xfrm>
            <a:off x="5230368" y="1627632"/>
            <a:ext cx="329184" cy="237744"/>
          </a:xfrm>
          <a:prstGeom prst="rect">
            <a:avLst/>
          </a:prstGeom>
          <a:noFill/>
          <a:ln/>
        </p:spPr>
        <p:txBody>
          <a:bodyPr wrap="square" lIns="635" tIns="635" rIns="635" bIns="635"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3</a:t>
            </a:r>
            <a:endParaRPr lang="en-US" sz="920" dirty="0"/>
          </a:p>
        </p:txBody>
      </p:sp>
      <p:sp>
        <p:nvSpPr>
          <p:cNvPr id="17" name="Text 15"/>
          <p:cNvSpPr/>
          <p:nvPr/>
        </p:nvSpPr>
        <p:spPr>
          <a:xfrm>
            <a:off x="5641848" y="1600200"/>
            <a:ext cx="1234440" cy="237744"/>
          </a:xfrm>
          <a:prstGeom prst="rect">
            <a:avLst/>
          </a:prstGeom>
          <a:noFill/>
          <a:ln/>
        </p:spPr>
        <p:txBody>
          <a:bodyPr wrap="square" lIns="635" tIns="635" rIns="635" bIns="635"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Engineer</a:t>
            </a:r>
            <a:endParaRPr lang="en-US" sz="1250" dirty="0"/>
          </a:p>
        </p:txBody>
      </p:sp>
      <p:sp>
        <p:nvSpPr>
          <p:cNvPr id="18" name="Text 16"/>
          <p:cNvSpPr/>
          <p:nvPr/>
        </p:nvSpPr>
        <p:spPr>
          <a:xfrm>
            <a:off x="5285232" y="1993392"/>
            <a:ext cx="1627632" cy="384048"/>
          </a:xfrm>
          <a:prstGeom prst="rect">
            <a:avLst/>
          </a:prstGeom>
          <a:noFill/>
          <a:ln/>
        </p:spPr>
        <p:txBody>
          <a:bodyPr wrap="square" lIns="635" tIns="635" rIns="635" bIns="635" rtlCol="0" anchor="t">
            <a:normAutofit/>
          </a:bodyPr>
          <a:lstStyle/>
          <a:p>
            <a:pPr algn="ctr" indent="0" marL="0">
              <a:buNone/>
            </a:pPr>
            <a:r>
              <a:rPr lang="en-US" sz="950" dirty="0">
                <a:solidFill>
                  <a:srgbClr val="5F6B78"/>
                </a:solidFill>
                <a:latin typeface="Aptos" pitchFamily="34" charset="0"/>
                <a:ea typeface="Aptos" pitchFamily="34" charset="-122"/>
                <a:cs typeface="Aptos" pitchFamily="34" charset="-120"/>
              </a:rPr>
              <a:t>39 current + lag features</a:t>
            </a:r>
            <a:endParaRPr lang="en-US" sz="950" dirty="0"/>
          </a:p>
        </p:txBody>
      </p:sp>
      <p:sp>
        <p:nvSpPr>
          <p:cNvPr id="19" name="Shape 17"/>
          <p:cNvSpPr/>
          <p:nvPr/>
        </p:nvSpPr>
        <p:spPr>
          <a:xfrm>
            <a:off x="7360920" y="1508760"/>
            <a:ext cx="1965960" cy="1051560"/>
          </a:xfrm>
          <a:prstGeom prst="roundRect">
            <a:avLst>
              <a:gd name="adj" fmla="val 10435"/>
            </a:avLst>
          </a:prstGeom>
          <a:solidFill>
            <a:srgbClr val="FFFFFF"/>
          </a:solidFill>
          <a:ln w="11430">
            <a:solidFill>
              <a:srgbClr val="CFD9E3"/>
            </a:solidFill>
            <a:prstDash val="solid"/>
          </a:ln>
        </p:spPr>
      </p:sp>
      <p:sp>
        <p:nvSpPr>
          <p:cNvPr id="20" name="Shape 18"/>
          <p:cNvSpPr/>
          <p:nvPr/>
        </p:nvSpPr>
        <p:spPr>
          <a:xfrm>
            <a:off x="7470648" y="1618488"/>
            <a:ext cx="329184" cy="292608"/>
          </a:xfrm>
          <a:prstGeom prst="roundRect">
            <a:avLst>
              <a:gd name="adj" fmla="val 25000"/>
            </a:avLst>
          </a:prstGeom>
          <a:solidFill>
            <a:srgbClr val="0F8B8D"/>
          </a:solidFill>
          <a:ln w="12700">
            <a:solidFill>
              <a:srgbClr val="0F8B8D"/>
            </a:solidFill>
            <a:prstDash val="solid"/>
          </a:ln>
        </p:spPr>
      </p:sp>
      <p:sp>
        <p:nvSpPr>
          <p:cNvPr id="21" name="Text 19"/>
          <p:cNvSpPr/>
          <p:nvPr/>
        </p:nvSpPr>
        <p:spPr>
          <a:xfrm>
            <a:off x="7470648" y="1627632"/>
            <a:ext cx="329184" cy="237744"/>
          </a:xfrm>
          <a:prstGeom prst="rect">
            <a:avLst/>
          </a:prstGeom>
          <a:noFill/>
          <a:ln/>
        </p:spPr>
        <p:txBody>
          <a:bodyPr wrap="square" lIns="635" tIns="635" rIns="635" bIns="635"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4</a:t>
            </a:r>
            <a:endParaRPr lang="en-US" sz="920" dirty="0"/>
          </a:p>
        </p:txBody>
      </p:sp>
      <p:sp>
        <p:nvSpPr>
          <p:cNvPr id="22" name="Text 20"/>
          <p:cNvSpPr/>
          <p:nvPr/>
        </p:nvSpPr>
        <p:spPr>
          <a:xfrm>
            <a:off x="7882128" y="1600200"/>
            <a:ext cx="1234440" cy="237744"/>
          </a:xfrm>
          <a:prstGeom prst="rect">
            <a:avLst/>
          </a:prstGeom>
          <a:noFill/>
          <a:ln/>
        </p:spPr>
        <p:txBody>
          <a:bodyPr wrap="square" lIns="635" tIns="635" rIns="635" bIns="635"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Target</a:t>
            </a:r>
            <a:endParaRPr lang="en-US" sz="1250" dirty="0"/>
          </a:p>
        </p:txBody>
      </p:sp>
      <p:sp>
        <p:nvSpPr>
          <p:cNvPr id="23" name="Text 21"/>
          <p:cNvSpPr/>
          <p:nvPr/>
        </p:nvSpPr>
        <p:spPr>
          <a:xfrm>
            <a:off x="7525512" y="1993392"/>
            <a:ext cx="1627632" cy="384048"/>
          </a:xfrm>
          <a:prstGeom prst="rect">
            <a:avLst/>
          </a:prstGeom>
          <a:noFill/>
          <a:ln/>
        </p:spPr>
        <p:txBody>
          <a:bodyPr wrap="square" lIns="635" tIns="635" rIns="635" bIns="635" rtlCol="0" anchor="t">
            <a:normAutofit/>
          </a:bodyPr>
          <a:lstStyle/>
          <a:p>
            <a:pPr algn="ctr" indent="0" marL="0">
              <a:buNone/>
            </a:pPr>
            <a:r>
              <a:rPr lang="en-US" sz="950" dirty="0">
                <a:solidFill>
                  <a:srgbClr val="5F6B78"/>
                </a:solidFill>
                <a:latin typeface="Aptos" pitchFamily="34" charset="0"/>
                <a:ea typeface="Aptos" pitchFamily="34" charset="-122"/>
                <a:cs typeface="Aptos" pitchFamily="34" charset="-120"/>
              </a:rPr>
              <a:t>Exact ΔIV at t+5</a:t>
            </a:r>
            <a:endParaRPr lang="en-US" sz="950" dirty="0"/>
          </a:p>
        </p:txBody>
      </p:sp>
      <p:sp>
        <p:nvSpPr>
          <p:cNvPr id="24" name="Shape 22"/>
          <p:cNvSpPr/>
          <p:nvPr/>
        </p:nvSpPr>
        <p:spPr>
          <a:xfrm>
            <a:off x="9601200" y="1508760"/>
            <a:ext cx="1965960" cy="1051560"/>
          </a:xfrm>
          <a:prstGeom prst="roundRect">
            <a:avLst>
              <a:gd name="adj" fmla="val 10435"/>
            </a:avLst>
          </a:prstGeom>
          <a:solidFill>
            <a:srgbClr val="EDF4FB"/>
          </a:solidFill>
          <a:ln w="11430">
            <a:solidFill>
              <a:srgbClr val="CFD9E3"/>
            </a:solidFill>
            <a:prstDash val="solid"/>
          </a:ln>
        </p:spPr>
      </p:sp>
      <p:sp>
        <p:nvSpPr>
          <p:cNvPr id="25" name="Shape 23"/>
          <p:cNvSpPr/>
          <p:nvPr/>
        </p:nvSpPr>
        <p:spPr>
          <a:xfrm>
            <a:off x="9710928" y="1618488"/>
            <a:ext cx="329184" cy="292608"/>
          </a:xfrm>
          <a:prstGeom prst="roundRect">
            <a:avLst>
              <a:gd name="adj" fmla="val 25000"/>
            </a:avLst>
          </a:prstGeom>
          <a:solidFill>
            <a:srgbClr val="2C6EBA"/>
          </a:solidFill>
          <a:ln w="12700">
            <a:solidFill>
              <a:srgbClr val="2C6EBA"/>
            </a:solidFill>
            <a:prstDash val="solid"/>
          </a:ln>
        </p:spPr>
      </p:sp>
      <p:sp>
        <p:nvSpPr>
          <p:cNvPr id="26" name="Text 24"/>
          <p:cNvSpPr/>
          <p:nvPr/>
        </p:nvSpPr>
        <p:spPr>
          <a:xfrm>
            <a:off x="9710928" y="1627632"/>
            <a:ext cx="329184" cy="237744"/>
          </a:xfrm>
          <a:prstGeom prst="rect">
            <a:avLst/>
          </a:prstGeom>
          <a:noFill/>
          <a:ln/>
        </p:spPr>
        <p:txBody>
          <a:bodyPr wrap="square" lIns="635" tIns="635" rIns="635" bIns="635"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5</a:t>
            </a:r>
            <a:endParaRPr lang="en-US" sz="920" dirty="0"/>
          </a:p>
        </p:txBody>
      </p:sp>
      <p:sp>
        <p:nvSpPr>
          <p:cNvPr id="27" name="Text 25"/>
          <p:cNvSpPr/>
          <p:nvPr/>
        </p:nvSpPr>
        <p:spPr>
          <a:xfrm>
            <a:off x="10122408" y="1600200"/>
            <a:ext cx="1234440" cy="237744"/>
          </a:xfrm>
          <a:prstGeom prst="rect">
            <a:avLst/>
          </a:prstGeom>
          <a:noFill/>
          <a:ln/>
        </p:spPr>
        <p:txBody>
          <a:bodyPr wrap="square" lIns="635" tIns="635" rIns="635" bIns="635"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Validate</a:t>
            </a:r>
            <a:endParaRPr lang="en-US" sz="1250" dirty="0"/>
          </a:p>
        </p:txBody>
      </p:sp>
      <p:sp>
        <p:nvSpPr>
          <p:cNvPr id="28" name="Text 26"/>
          <p:cNvSpPr/>
          <p:nvPr/>
        </p:nvSpPr>
        <p:spPr>
          <a:xfrm>
            <a:off x="9765792" y="1993392"/>
            <a:ext cx="1627632" cy="384048"/>
          </a:xfrm>
          <a:prstGeom prst="rect">
            <a:avLst/>
          </a:prstGeom>
          <a:noFill/>
          <a:ln/>
        </p:spPr>
        <p:txBody>
          <a:bodyPr wrap="square" lIns="635" tIns="635" rIns="635" bIns="635" rtlCol="0" anchor="t">
            <a:normAutofit/>
          </a:bodyPr>
          <a:lstStyle/>
          <a:p>
            <a:pPr algn="ctr" indent="0" marL="0">
              <a:buNone/>
            </a:pPr>
            <a:r>
              <a:rPr lang="en-US" sz="950" dirty="0">
                <a:solidFill>
                  <a:srgbClr val="5F6B78"/>
                </a:solidFill>
                <a:latin typeface="Aptos" pitchFamily="34" charset="0"/>
                <a:ea typeface="Aptos" pitchFamily="34" charset="-122"/>
                <a:cs typeface="Aptos" pitchFamily="34" charset="-120"/>
              </a:rPr>
              <a:t>Chronological split</a:t>
            </a:r>
            <a:endParaRPr lang="en-US" sz="950" dirty="0"/>
          </a:p>
        </p:txBody>
      </p:sp>
      <p:sp>
        <p:nvSpPr>
          <p:cNvPr id="29" name="Shape 27"/>
          <p:cNvSpPr/>
          <p:nvPr/>
        </p:nvSpPr>
        <p:spPr>
          <a:xfrm>
            <a:off x="7360920" y="3429000"/>
            <a:ext cx="1965960" cy="1051560"/>
          </a:xfrm>
          <a:prstGeom prst="roundRect">
            <a:avLst>
              <a:gd name="adj" fmla="val 10435"/>
            </a:avLst>
          </a:prstGeom>
          <a:solidFill>
            <a:srgbClr val="EDF4FB"/>
          </a:solidFill>
          <a:ln w="11430">
            <a:solidFill>
              <a:srgbClr val="CFD9E3"/>
            </a:solidFill>
            <a:prstDash val="solid"/>
          </a:ln>
        </p:spPr>
      </p:sp>
      <p:sp>
        <p:nvSpPr>
          <p:cNvPr id="30" name="Shape 28"/>
          <p:cNvSpPr/>
          <p:nvPr/>
        </p:nvSpPr>
        <p:spPr>
          <a:xfrm>
            <a:off x="7470648" y="3538728"/>
            <a:ext cx="329184" cy="292608"/>
          </a:xfrm>
          <a:prstGeom prst="roundRect">
            <a:avLst>
              <a:gd name="adj" fmla="val 25000"/>
            </a:avLst>
          </a:prstGeom>
          <a:solidFill>
            <a:srgbClr val="2C6EBA"/>
          </a:solidFill>
          <a:ln w="12700">
            <a:solidFill>
              <a:srgbClr val="2C6EBA"/>
            </a:solidFill>
            <a:prstDash val="solid"/>
          </a:ln>
        </p:spPr>
      </p:sp>
      <p:sp>
        <p:nvSpPr>
          <p:cNvPr id="31" name="Text 29"/>
          <p:cNvSpPr/>
          <p:nvPr/>
        </p:nvSpPr>
        <p:spPr>
          <a:xfrm>
            <a:off x="7470648" y="3547872"/>
            <a:ext cx="329184" cy="237744"/>
          </a:xfrm>
          <a:prstGeom prst="rect">
            <a:avLst/>
          </a:prstGeom>
          <a:noFill/>
          <a:ln/>
        </p:spPr>
        <p:txBody>
          <a:bodyPr wrap="square" lIns="635" tIns="635" rIns="635" bIns="635"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6</a:t>
            </a:r>
            <a:endParaRPr lang="en-US" sz="920" dirty="0"/>
          </a:p>
        </p:txBody>
      </p:sp>
      <p:sp>
        <p:nvSpPr>
          <p:cNvPr id="32" name="Text 30"/>
          <p:cNvSpPr/>
          <p:nvPr/>
        </p:nvSpPr>
        <p:spPr>
          <a:xfrm>
            <a:off x="7882128" y="3520440"/>
            <a:ext cx="1234440" cy="237744"/>
          </a:xfrm>
          <a:prstGeom prst="rect">
            <a:avLst/>
          </a:prstGeom>
          <a:noFill/>
          <a:ln/>
        </p:spPr>
        <p:txBody>
          <a:bodyPr wrap="square" lIns="635" tIns="635" rIns="635" bIns="635"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Compare</a:t>
            </a:r>
            <a:endParaRPr lang="en-US" sz="1250" dirty="0"/>
          </a:p>
        </p:txBody>
      </p:sp>
      <p:sp>
        <p:nvSpPr>
          <p:cNvPr id="33" name="Text 31"/>
          <p:cNvSpPr/>
          <p:nvPr/>
        </p:nvSpPr>
        <p:spPr>
          <a:xfrm>
            <a:off x="7525512" y="3913632"/>
            <a:ext cx="1627632" cy="384048"/>
          </a:xfrm>
          <a:prstGeom prst="rect">
            <a:avLst/>
          </a:prstGeom>
          <a:noFill/>
          <a:ln/>
        </p:spPr>
        <p:txBody>
          <a:bodyPr wrap="square" lIns="635" tIns="635" rIns="635" bIns="635" rtlCol="0" anchor="t">
            <a:normAutofit/>
          </a:bodyPr>
          <a:lstStyle/>
          <a:p>
            <a:pPr algn="ctr" indent="0" marL="0">
              <a:buNone/>
            </a:pPr>
            <a:r>
              <a:rPr lang="en-US" sz="950" dirty="0">
                <a:solidFill>
                  <a:srgbClr val="5F6B78"/>
                </a:solidFill>
                <a:latin typeface="Aptos" pitchFamily="34" charset="0"/>
                <a:ea typeface="Aptos" pitchFamily="34" charset="-122"/>
                <a:cs typeface="Aptos" pitchFamily="34" charset="-120"/>
              </a:rPr>
              <a:t>Persistence / RF / XGB</a:t>
            </a:r>
            <a:endParaRPr lang="en-US" sz="950" dirty="0"/>
          </a:p>
        </p:txBody>
      </p:sp>
      <p:sp>
        <p:nvSpPr>
          <p:cNvPr id="34" name="Shape 32"/>
          <p:cNvSpPr/>
          <p:nvPr/>
        </p:nvSpPr>
        <p:spPr>
          <a:xfrm>
            <a:off x="5120640" y="3429000"/>
            <a:ext cx="1965960" cy="1051560"/>
          </a:xfrm>
          <a:prstGeom prst="roundRect">
            <a:avLst>
              <a:gd name="adj" fmla="val 10435"/>
            </a:avLst>
          </a:prstGeom>
          <a:solidFill>
            <a:srgbClr val="EDF4FB"/>
          </a:solidFill>
          <a:ln w="11430">
            <a:solidFill>
              <a:srgbClr val="CFD9E3"/>
            </a:solidFill>
            <a:prstDash val="solid"/>
          </a:ln>
        </p:spPr>
      </p:sp>
      <p:sp>
        <p:nvSpPr>
          <p:cNvPr id="35" name="Shape 33"/>
          <p:cNvSpPr/>
          <p:nvPr/>
        </p:nvSpPr>
        <p:spPr>
          <a:xfrm>
            <a:off x="5230368" y="3538728"/>
            <a:ext cx="329184" cy="292608"/>
          </a:xfrm>
          <a:prstGeom prst="roundRect">
            <a:avLst>
              <a:gd name="adj" fmla="val 25000"/>
            </a:avLst>
          </a:prstGeom>
          <a:solidFill>
            <a:srgbClr val="2C6EBA"/>
          </a:solidFill>
          <a:ln w="12700">
            <a:solidFill>
              <a:srgbClr val="2C6EBA"/>
            </a:solidFill>
            <a:prstDash val="solid"/>
          </a:ln>
        </p:spPr>
      </p:sp>
      <p:sp>
        <p:nvSpPr>
          <p:cNvPr id="36" name="Text 34"/>
          <p:cNvSpPr/>
          <p:nvPr/>
        </p:nvSpPr>
        <p:spPr>
          <a:xfrm>
            <a:off x="5230368" y="3547872"/>
            <a:ext cx="329184" cy="237744"/>
          </a:xfrm>
          <a:prstGeom prst="rect">
            <a:avLst/>
          </a:prstGeom>
          <a:noFill/>
          <a:ln/>
        </p:spPr>
        <p:txBody>
          <a:bodyPr wrap="square" lIns="635" tIns="635" rIns="635" bIns="635"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7</a:t>
            </a:r>
            <a:endParaRPr lang="en-US" sz="920" dirty="0"/>
          </a:p>
        </p:txBody>
      </p:sp>
      <p:sp>
        <p:nvSpPr>
          <p:cNvPr id="37" name="Text 35"/>
          <p:cNvSpPr/>
          <p:nvPr/>
        </p:nvSpPr>
        <p:spPr>
          <a:xfrm>
            <a:off x="5641848" y="3520440"/>
            <a:ext cx="1234440" cy="237744"/>
          </a:xfrm>
          <a:prstGeom prst="rect">
            <a:avLst/>
          </a:prstGeom>
          <a:noFill/>
          <a:ln/>
        </p:spPr>
        <p:txBody>
          <a:bodyPr wrap="square" lIns="635" tIns="635" rIns="635" bIns="635"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Interpret</a:t>
            </a:r>
            <a:endParaRPr lang="en-US" sz="1250" dirty="0"/>
          </a:p>
        </p:txBody>
      </p:sp>
      <p:sp>
        <p:nvSpPr>
          <p:cNvPr id="38" name="Text 36"/>
          <p:cNvSpPr/>
          <p:nvPr/>
        </p:nvSpPr>
        <p:spPr>
          <a:xfrm>
            <a:off x="5285232" y="3913632"/>
            <a:ext cx="1627632" cy="384048"/>
          </a:xfrm>
          <a:prstGeom prst="rect">
            <a:avLst/>
          </a:prstGeom>
          <a:noFill/>
          <a:ln/>
        </p:spPr>
        <p:txBody>
          <a:bodyPr wrap="square" lIns="635" tIns="635" rIns="635" bIns="635" rtlCol="0" anchor="t">
            <a:normAutofit/>
          </a:bodyPr>
          <a:lstStyle/>
          <a:p>
            <a:pPr algn="ctr" indent="0" marL="0">
              <a:buNone/>
            </a:pPr>
            <a:r>
              <a:rPr lang="en-US" sz="950" dirty="0">
                <a:solidFill>
                  <a:srgbClr val="5F6B78"/>
                </a:solidFill>
                <a:latin typeface="Aptos" pitchFamily="34" charset="0"/>
                <a:ea typeface="Aptos" pitchFamily="34" charset="-122"/>
                <a:cs typeface="Aptos" pitchFamily="34" charset="-120"/>
              </a:rPr>
              <a:t>Relative-IV signals</a:t>
            </a:r>
            <a:endParaRPr lang="en-US" sz="950" dirty="0"/>
          </a:p>
        </p:txBody>
      </p:sp>
      <p:sp>
        <p:nvSpPr>
          <p:cNvPr id="39" name="Shape 37"/>
          <p:cNvSpPr/>
          <p:nvPr/>
        </p:nvSpPr>
        <p:spPr>
          <a:xfrm>
            <a:off x="2880360" y="3429000"/>
            <a:ext cx="1965960" cy="1051560"/>
          </a:xfrm>
          <a:prstGeom prst="roundRect">
            <a:avLst>
              <a:gd name="adj" fmla="val 10435"/>
            </a:avLst>
          </a:prstGeom>
          <a:solidFill>
            <a:srgbClr val="EDF4FB"/>
          </a:solidFill>
          <a:ln w="11430">
            <a:solidFill>
              <a:srgbClr val="CFD9E3"/>
            </a:solidFill>
            <a:prstDash val="solid"/>
          </a:ln>
        </p:spPr>
      </p:sp>
      <p:sp>
        <p:nvSpPr>
          <p:cNvPr id="40" name="Shape 38"/>
          <p:cNvSpPr/>
          <p:nvPr/>
        </p:nvSpPr>
        <p:spPr>
          <a:xfrm>
            <a:off x="2990088" y="3538728"/>
            <a:ext cx="329184" cy="292608"/>
          </a:xfrm>
          <a:prstGeom prst="roundRect">
            <a:avLst>
              <a:gd name="adj" fmla="val 25000"/>
            </a:avLst>
          </a:prstGeom>
          <a:solidFill>
            <a:srgbClr val="2C6EBA"/>
          </a:solidFill>
          <a:ln w="12700">
            <a:solidFill>
              <a:srgbClr val="2C6EBA"/>
            </a:solidFill>
            <a:prstDash val="solid"/>
          </a:ln>
        </p:spPr>
      </p:sp>
      <p:sp>
        <p:nvSpPr>
          <p:cNvPr id="41" name="Text 39"/>
          <p:cNvSpPr/>
          <p:nvPr/>
        </p:nvSpPr>
        <p:spPr>
          <a:xfrm>
            <a:off x="2990088" y="3547872"/>
            <a:ext cx="329184" cy="237744"/>
          </a:xfrm>
          <a:prstGeom prst="rect">
            <a:avLst/>
          </a:prstGeom>
          <a:noFill/>
          <a:ln/>
        </p:spPr>
        <p:txBody>
          <a:bodyPr wrap="square" lIns="635" tIns="635" rIns="635" bIns="635" rtlCol="0" anchor="ctr">
            <a:normAutofit/>
          </a:bodyPr>
          <a:lstStyle/>
          <a:p>
            <a:pPr algn="ctr" indent="0" marL="0">
              <a:buNone/>
            </a:pPr>
            <a:r>
              <a:rPr lang="en-US" sz="920" b="1" dirty="0">
                <a:solidFill>
                  <a:srgbClr val="FFFFFF"/>
                </a:solidFill>
                <a:latin typeface="Aptos" pitchFamily="34" charset="0"/>
                <a:ea typeface="Aptos" pitchFamily="34" charset="-122"/>
                <a:cs typeface="Aptos" pitchFamily="34" charset="-120"/>
              </a:rPr>
              <a:t>8</a:t>
            </a:r>
            <a:endParaRPr lang="en-US" sz="920" dirty="0"/>
          </a:p>
        </p:txBody>
      </p:sp>
      <p:sp>
        <p:nvSpPr>
          <p:cNvPr id="42" name="Text 40"/>
          <p:cNvSpPr/>
          <p:nvPr/>
        </p:nvSpPr>
        <p:spPr>
          <a:xfrm>
            <a:off x="3401568" y="3520440"/>
            <a:ext cx="1234440" cy="237744"/>
          </a:xfrm>
          <a:prstGeom prst="rect">
            <a:avLst/>
          </a:prstGeom>
          <a:noFill/>
          <a:ln/>
        </p:spPr>
        <p:txBody>
          <a:bodyPr wrap="square" lIns="635" tIns="635" rIns="635" bIns="635"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Risk test</a:t>
            </a:r>
            <a:endParaRPr lang="en-US" sz="1250" dirty="0"/>
          </a:p>
        </p:txBody>
      </p:sp>
      <p:sp>
        <p:nvSpPr>
          <p:cNvPr id="43" name="Text 41"/>
          <p:cNvSpPr/>
          <p:nvPr/>
        </p:nvSpPr>
        <p:spPr>
          <a:xfrm>
            <a:off x="3044952" y="3913632"/>
            <a:ext cx="1627632" cy="384048"/>
          </a:xfrm>
          <a:prstGeom prst="rect">
            <a:avLst/>
          </a:prstGeom>
          <a:noFill/>
          <a:ln/>
        </p:spPr>
        <p:txBody>
          <a:bodyPr wrap="square" lIns="635" tIns="635" rIns="635" bIns="635" rtlCol="0" anchor="t">
            <a:normAutofit/>
          </a:bodyPr>
          <a:lstStyle/>
          <a:p>
            <a:pPr algn="ctr" indent="0" marL="0">
              <a:buNone/>
            </a:pPr>
            <a:r>
              <a:rPr lang="en-US" sz="950" dirty="0">
                <a:solidFill>
                  <a:srgbClr val="5F6B78"/>
                </a:solidFill>
                <a:latin typeface="Aptos" pitchFamily="34" charset="0"/>
                <a:ea typeface="Aptos" pitchFamily="34" charset="-122"/>
                <a:cs typeface="Aptos" pitchFamily="34" charset="-120"/>
              </a:rPr>
              <a:t>Black-Scholes scenarios</a:t>
            </a:r>
            <a:endParaRPr lang="en-US" sz="950" dirty="0"/>
          </a:p>
        </p:txBody>
      </p:sp>
      <p:sp>
        <p:nvSpPr>
          <p:cNvPr id="44" name="Shape 42"/>
          <p:cNvSpPr/>
          <p:nvPr/>
        </p:nvSpPr>
        <p:spPr>
          <a:xfrm>
            <a:off x="2615184" y="2029968"/>
            <a:ext cx="219456" cy="0"/>
          </a:xfrm>
          <a:prstGeom prst="line">
            <a:avLst/>
          </a:prstGeom>
          <a:noFill/>
          <a:ln w="19050">
            <a:solidFill>
              <a:srgbClr val="0F8B8D"/>
            </a:solidFill>
            <a:prstDash val="solid"/>
            <a:headEnd type="none"/>
            <a:tailEnd type="triangle"/>
          </a:ln>
        </p:spPr>
      </p:sp>
      <p:sp>
        <p:nvSpPr>
          <p:cNvPr id="45" name="Shape 43"/>
          <p:cNvSpPr/>
          <p:nvPr/>
        </p:nvSpPr>
        <p:spPr>
          <a:xfrm>
            <a:off x="4855464" y="2029968"/>
            <a:ext cx="219456" cy="0"/>
          </a:xfrm>
          <a:prstGeom prst="line">
            <a:avLst/>
          </a:prstGeom>
          <a:noFill/>
          <a:ln w="19050">
            <a:solidFill>
              <a:srgbClr val="0F8B8D"/>
            </a:solidFill>
            <a:prstDash val="solid"/>
            <a:headEnd type="none"/>
            <a:tailEnd type="triangle"/>
          </a:ln>
        </p:spPr>
      </p:sp>
      <p:sp>
        <p:nvSpPr>
          <p:cNvPr id="46" name="Shape 44"/>
          <p:cNvSpPr/>
          <p:nvPr/>
        </p:nvSpPr>
        <p:spPr>
          <a:xfrm>
            <a:off x="7095744" y="2029968"/>
            <a:ext cx="219456" cy="0"/>
          </a:xfrm>
          <a:prstGeom prst="line">
            <a:avLst/>
          </a:prstGeom>
          <a:noFill/>
          <a:ln w="19050">
            <a:solidFill>
              <a:srgbClr val="0F8B8D"/>
            </a:solidFill>
            <a:prstDash val="solid"/>
            <a:headEnd type="none"/>
            <a:tailEnd type="triangle"/>
          </a:ln>
        </p:spPr>
      </p:sp>
      <p:sp>
        <p:nvSpPr>
          <p:cNvPr id="47" name="Shape 45"/>
          <p:cNvSpPr/>
          <p:nvPr/>
        </p:nvSpPr>
        <p:spPr>
          <a:xfrm>
            <a:off x="9336024" y="2029968"/>
            <a:ext cx="219456" cy="0"/>
          </a:xfrm>
          <a:prstGeom prst="line">
            <a:avLst/>
          </a:prstGeom>
          <a:noFill/>
          <a:ln w="19050">
            <a:solidFill>
              <a:srgbClr val="0F8B8D"/>
            </a:solidFill>
            <a:prstDash val="solid"/>
            <a:headEnd type="none"/>
            <a:tailEnd type="triangle"/>
          </a:ln>
        </p:spPr>
      </p:sp>
      <p:sp>
        <p:nvSpPr>
          <p:cNvPr id="48" name="Shape 46"/>
          <p:cNvSpPr/>
          <p:nvPr/>
        </p:nvSpPr>
        <p:spPr>
          <a:xfrm>
            <a:off x="10588752" y="2578608"/>
            <a:ext cx="-2231136" cy="786384"/>
          </a:xfrm>
          <a:prstGeom prst="line">
            <a:avLst/>
          </a:prstGeom>
          <a:noFill/>
          <a:ln w="19050">
            <a:solidFill>
              <a:srgbClr val="2C6EBA"/>
            </a:solidFill>
            <a:prstDash val="solid"/>
            <a:headEnd type="none"/>
            <a:tailEnd type="triangle"/>
          </a:ln>
        </p:spPr>
      </p:sp>
      <p:sp>
        <p:nvSpPr>
          <p:cNvPr id="49" name="Shape 47"/>
          <p:cNvSpPr/>
          <p:nvPr/>
        </p:nvSpPr>
        <p:spPr>
          <a:xfrm>
            <a:off x="7269480" y="3950208"/>
            <a:ext cx="-173736" cy="0"/>
          </a:xfrm>
          <a:prstGeom prst="line">
            <a:avLst/>
          </a:prstGeom>
          <a:noFill/>
          <a:ln w="19050">
            <a:solidFill>
              <a:srgbClr val="2C6EBA"/>
            </a:solidFill>
            <a:prstDash val="solid"/>
            <a:headEnd type="none"/>
            <a:tailEnd type="triangle"/>
          </a:ln>
        </p:spPr>
      </p:sp>
      <p:sp>
        <p:nvSpPr>
          <p:cNvPr id="50" name="Shape 48"/>
          <p:cNvSpPr/>
          <p:nvPr/>
        </p:nvSpPr>
        <p:spPr>
          <a:xfrm>
            <a:off x="5029200" y="3950208"/>
            <a:ext cx="-173736" cy="0"/>
          </a:xfrm>
          <a:prstGeom prst="line">
            <a:avLst/>
          </a:prstGeom>
          <a:noFill/>
          <a:ln w="19050">
            <a:solidFill>
              <a:srgbClr val="2C6EBA"/>
            </a:solidFill>
            <a:prstDash val="solid"/>
            <a:headEnd type="none"/>
            <a:tailEnd type="triangle"/>
          </a:ln>
        </p:spPr>
      </p:sp>
      <p:sp>
        <p:nvSpPr>
          <p:cNvPr id="51" name="Shape 49"/>
          <p:cNvSpPr/>
          <p:nvPr/>
        </p:nvSpPr>
        <p:spPr>
          <a:xfrm>
            <a:off x="713232" y="4983480"/>
            <a:ext cx="10744200" cy="804672"/>
          </a:xfrm>
          <a:prstGeom prst="roundRect">
            <a:avLst>
              <a:gd name="adj" fmla="val 13636"/>
            </a:avLst>
          </a:prstGeom>
          <a:solidFill>
            <a:srgbClr val="E9F6F5"/>
          </a:solidFill>
          <a:ln w="11430">
            <a:solidFill>
              <a:srgbClr val="C3E2DF"/>
            </a:solidFill>
            <a:prstDash val="solid"/>
          </a:ln>
        </p:spPr>
      </p:sp>
      <p:sp>
        <p:nvSpPr>
          <p:cNvPr id="52" name="Text 50"/>
          <p:cNvSpPr/>
          <p:nvPr/>
        </p:nvSpPr>
        <p:spPr>
          <a:xfrm>
            <a:off x="969264" y="5212080"/>
            <a:ext cx="10149840" cy="310896"/>
          </a:xfrm>
          <a:prstGeom prst="rect">
            <a:avLst/>
          </a:prstGeom>
          <a:noFill/>
          <a:ln/>
        </p:spPr>
        <p:txBody>
          <a:bodyPr wrap="square" lIns="635" tIns="635" rIns="635" bIns="635" rtlCol="0" anchor="ctr">
            <a:normAutofit/>
          </a:bodyPr>
          <a:lstStyle/>
          <a:p>
            <a:pPr algn="ctr" indent="0" marL="0">
              <a:buNone/>
            </a:pPr>
            <a:r>
              <a:rPr lang="en-US" sz="1230" b="1" dirty="0">
                <a:solidFill>
                  <a:srgbClr val="0F8B8D"/>
                </a:solidFill>
                <a:latin typeface="Aptos" pitchFamily="34" charset="0"/>
                <a:ea typeface="Aptos" pitchFamily="34" charset="-122"/>
                <a:cs typeface="Aptos" pitchFamily="34" charset="-120"/>
              </a:rPr>
              <a:t>Validation principle: split by unique timestamps, not random rows. Cross-sectional strikes at the same timestamp are not independent time periods.</a:t>
            </a:r>
            <a:endParaRPr lang="en-US" sz="123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Implementation and model specifications</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sp>
        <p:nvSpPr>
          <p:cNvPr id="4" name="Shape 2"/>
          <p:cNvSpPr/>
          <p:nvPr/>
        </p:nvSpPr>
        <p:spPr>
          <a:xfrm>
            <a:off x="713232" y="1417320"/>
            <a:ext cx="3657600" cy="4526280"/>
          </a:xfrm>
          <a:prstGeom prst="roundRect">
            <a:avLst>
              <a:gd name="adj" fmla="val 3000"/>
            </a:avLst>
          </a:prstGeom>
          <a:solidFill>
            <a:srgbClr val="FFFFFF"/>
          </a:solidFill>
          <a:ln w="11430">
            <a:solidFill>
              <a:srgbClr val="D8E0E8"/>
            </a:solidFill>
            <a:prstDash val="solid"/>
          </a:ln>
        </p:spPr>
      </p:sp>
      <p:sp>
        <p:nvSpPr>
          <p:cNvPr id="5" name="Text 3"/>
          <p:cNvSpPr/>
          <p:nvPr/>
        </p:nvSpPr>
        <p:spPr>
          <a:xfrm>
            <a:off x="987552" y="1737360"/>
            <a:ext cx="3063240" cy="310896"/>
          </a:xfrm>
          <a:prstGeom prst="rect">
            <a:avLst/>
          </a:prstGeom>
          <a:noFill/>
          <a:ln/>
        </p:spPr>
        <p:txBody>
          <a:bodyPr wrap="square" lIns="635" tIns="635" rIns="635" bIns="635" rtlCol="0" anchor="ctr">
            <a:normAutofit/>
          </a:bodyPr>
          <a:lstStyle/>
          <a:p>
            <a:pPr algn="l" indent="0" marL="0">
              <a:buNone/>
            </a:pPr>
            <a:r>
              <a:rPr lang="en-US" sz="1650" b="1" dirty="0">
                <a:solidFill>
                  <a:srgbClr val="0B1F33"/>
                </a:solidFill>
                <a:latin typeface="Aptos" pitchFamily="34" charset="0"/>
                <a:ea typeface="Aptos" pitchFamily="34" charset="-122"/>
                <a:cs typeface="Aptos" pitchFamily="34" charset="-120"/>
              </a:rPr>
              <a:t>Random Forest - selected model</a:t>
            </a:r>
            <a:endParaRPr lang="en-US" sz="1650" dirty="0"/>
          </a:p>
        </p:txBody>
      </p:sp>
      <p:sp>
        <p:nvSpPr>
          <p:cNvPr id="6" name="Text 4"/>
          <p:cNvSpPr/>
          <p:nvPr/>
        </p:nvSpPr>
        <p:spPr>
          <a:xfrm>
            <a:off x="1005840" y="2267712"/>
            <a:ext cx="1417320" cy="219456"/>
          </a:xfrm>
          <a:prstGeom prst="rect">
            <a:avLst/>
          </a:prstGeom>
          <a:noFill/>
          <a:ln/>
        </p:spPr>
        <p:txBody>
          <a:bodyPr wrap="square" lIns="635" tIns="635" rIns="635" bIns="635" rtlCol="0" anchor="ctr">
            <a:normAutofit/>
          </a:bodyPr>
          <a:lstStyle/>
          <a:p>
            <a:pPr algn="l" indent="0" marL="0">
              <a:buNone/>
            </a:pPr>
            <a:r>
              <a:rPr lang="en-US" sz="1050" b="1" dirty="0">
                <a:solidFill>
                  <a:srgbClr val="5F6B78"/>
                </a:solidFill>
                <a:latin typeface="Aptos" pitchFamily="34" charset="0"/>
                <a:ea typeface="Aptos" pitchFamily="34" charset="-122"/>
                <a:cs typeface="Aptos" pitchFamily="34" charset="-120"/>
              </a:rPr>
              <a:t>Trees</a:t>
            </a:r>
            <a:endParaRPr lang="en-US" sz="1050" dirty="0"/>
          </a:p>
        </p:txBody>
      </p:sp>
      <p:sp>
        <p:nvSpPr>
          <p:cNvPr id="7" name="Text 5"/>
          <p:cNvSpPr/>
          <p:nvPr/>
        </p:nvSpPr>
        <p:spPr>
          <a:xfrm>
            <a:off x="2487168" y="2267712"/>
            <a:ext cx="1143000" cy="219456"/>
          </a:xfrm>
          <a:prstGeom prst="rect">
            <a:avLst/>
          </a:prstGeom>
          <a:noFill/>
          <a:ln/>
        </p:spPr>
        <p:txBody>
          <a:bodyPr wrap="square" lIns="635" tIns="635" rIns="635" bIns="635" rtlCol="0" anchor="ctr">
            <a:normAutofit/>
          </a:bodyPr>
          <a:lstStyle/>
          <a:p>
            <a:pPr algn="r" indent="0" marL="0">
              <a:buNone/>
            </a:pPr>
            <a:r>
              <a:rPr lang="en-US" sz="1150" b="1" dirty="0">
                <a:solidFill>
                  <a:srgbClr val="0B1F33"/>
                </a:solidFill>
                <a:latin typeface="Aptos" pitchFamily="34" charset="0"/>
                <a:ea typeface="Aptos" pitchFamily="34" charset="-122"/>
                <a:cs typeface="Aptos" pitchFamily="34" charset="-120"/>
              </a:rPr>
              <a:t>300</a:t>
            </a:r>
            <a:endParaRPr lang="en-US" sz="1150" dirty="0"/>
          </a:p>
        </p:txBody>
      </p:sp>
      <p:sp>
        <p:nvSpPr>
          <p:cNvPr id="8" name="Text 6"/>
          <p:cNvSpPr/>
          <p:nvPr/>
        </p:nvSpPr>
        <p:spPr>
          <a:xfrm>
            <a:off x="1005840" y="2734056"/>
            <a:ext cx="1417320" cy="219456"/>
          </a:xfrm>
          <a:prstGeom prst="rect">
            <a:avLst/>
          </a:prstGeom>
          <a:noFill/>
          <a:ln/>
        </p:spPr>
        <p:txBody>
          <a:bodyPr wrap="square" lIns="635" tIns="635" rIns="635" bIns="635" rtlCol="0" anchor="ctr">
            <a:normAutofit/>
          </a:bodyPr>
          <a:lstStyle/>
          <a:p>
            <a:pPr algn="l" indent="0" marL="0">
              <a:buNone/>
            </a:pPr>
            <a:r>
              <a:rPr lang="en-US" sz="1050" b="1" dirty="0">
                <a:solidFill>
                  <a:srgbClr val="5F6B78"/>
                </a:solidFill>
                <a:latin typeface="Aptos" pitchFamily="34" charset="0"/>
                <a:ea typeface="Aptos" pitchFamily="34" charset="-122"/>
                <a:cs typeface="Aptos" pitchFamily="34" charset="-120"/>
              </a:rPr>
              <a:t>Max depth</a:t>
            </a:r>
            <a:endParaRPr lang="en-US" sz="1050" dirty="0"/>
          </a:p>
        </p:txBody>
      </p:sp>
      <p:sp>
        <p:nvSpPr>
          <p:cNvPr id="9" name="Text 7"/>
          <p:cNvSpPr/>
          <p:nvPr/>
        </p:nvSpPr>
        <p:spPr>
          <a:xfrm>
            <a:off x="2487168" y="2734056"/>
            <a:ext cx="1143000" cy="219456"/>
          </a:xfrm>
          <a:prstGeom prst="rect">
            <a:avLst/>
          </a:prstGeom>
          <a:noFill/>
          <a:ln/>
        </p:spPr>
        <p:txBody>
          <a:bodyPr wrap="square" lIns="635" tIns="635" rIns="635" bIns="635" rtlCol="0" anchor="ctr">
            <a:normAutofit/>
          </a:bodyPr>
          <a:lstStyle/>
          <a:p>
            <a:pPr algn="r" indent="0" marL="0">
              <a:buNone/>
            </a:pPr>
            <a:r>
              <a:rPr lang="en-US" sz="1150" b="1" dirty="0">
                <a:solidFill>
                  <a:srgbClr val="0B1F33"/>
                </a:solidFill>
                <a:latin typeface="Aptos" pitchFamily="34" charset="0"/>
                <a:ea typeface="Aptos" pitchFamily="34" charset="-122"/>
                <a:cs typeface="Aptos" pitchFamily="34" charset="-120"/>
              </a:rPr>
              <a:t>12</a:t>
            </a:r>
            <a:endParaRPr lang="en-US" sz="1150" dirty="0"/>
          </a:p>
        </p:txBody>
      </p:sp>
      <p:sp>
        <p:nvSpPr>
          <p:cNvPr id="10" name="Text 8"/>
          <p:cNvSpPr/>
          <p:nvPr/>
        </p:nvSpPr>
        <p:spPr>
          <a:xfrm>
            <a:off x="1005840" y="3200400"/>
            <a:ext cx="1417320" cy="219456"/>
          </a:xfrm>
          <a:prstGeom prst="rect">
            <a:avLst/>
          </a:prstGeom>
          <a:noFill/>
          <a:ln/>
        </p:spPr>
        <p:txBody>
          <a:bodyPr wrap="square" lIns="635" tIns="635" rIns="635" bIns="635" rtlCol="0" anchor="ctr">
            <a:normAutofit/>
          </a:bodyPr>
          <a:lstStyle/>
          <a:p>
            <a:pPr algn="l" indent="0" marL="0">
              <a:buNone/>
            </a:pPr>
            <a:r>
              <a:rPr lang="en-US" sz="1050" b="1" dirty="0">
                <a:solidFill>
                  <a:srgbClr val="5F6B78"/>
                </a:solidFill>
                <a:latin typeface="Aptos" pitchFamily="34" charset="0"/>
                <a:ea typeface="Aptos" pitchFamily="34" charset="-122"/>
                <a:cs typeface="Aptos" pitchFamily="34" charset="-120"/>
              </a:rPr>
              <a:t>Min leaf</a:t>
            </a:r>
            <a:endParaRPr lang="en-US" sz="1050" dirty="0"/>
          </a:p>
        </p:txBody>
      </p:sp>
      <p:sp>
        <p:nvSpPr>
          <p:cNvPr id="11" name="Text 9"/>
          <p:cNvSpPr/>
          <p:nvPr/>
        </p:nvSpPr>
        <p:spPr>
          <a:xfrm>
            <a:off x="2487168" y="3200400"/>
            <a:ext cx="1143000" cy="219456"/>
          </a:xfrm>
          <a:prstGeom prst="rect">
            <a:avLst/>
          </a:prstGeom>
          <a:noFill/>
          <a:ln/>
        </p:spPr>
        <p:txBody>
          <a:bodyPr wrap="square" lIns="635" tIns="635" rIns="635" bIns="635" rtlCol="0" anchor="ctr">
            <a:normAutofit/>
          </a:bodyPr>
          <a:lstStyle/>
          <a:p>
            <a:pPr algn="r" indent="0" marL="0">
              <a:buNone/>
            </a:pPr>
            <a:r>
              <a:rPr lang="en-US" sz="1150" b="1" dirty="0">
                <a:solidFill>
                  <a:srgbClr val="0B1F33"/>
                </a:solidFill>
                <a:latin typeface="Aptos" pitchFamily="34" charset="0"/>
                <a:ea typeface="Aptos" pitchFamily="34" charset="-122"/>
                <a:cs typeface="Aptos" pitchFamily="34" charset="-120"/>
              </a:rPr>
              <a:t>3</a:t>
            </a:r>
            <a:endParaRPr lang="en-US" sz="1150" dirty="0"/>
          </a:p>
        </p:txBody>
      </p:sp>
      <p:sp>
        <p:nvSpPr>
          <p:cNvPr id="12" name="Text 10"/>
          <p:cNvSpPr/>
          <p:nvPr/>
        </p:nvSpPr>
        <p:spPr>
          <a:xfrm>
            <a:off x="1005840" y="3666744"/>
            <a:ext cx="1417320" cy="219456"/>
          </a:xfrm>
          <a:prstGeom prst="rect">
            <a:avLst/>
          </a:prstGeom>
          <a:noFill/>
          <a:ln/>
        </p:spPr>
        <p:txBody>
          <a:bodyPr wrap="square" lIns="635" tIns="635" rIns="635" bIns="635" rtlCol="0" anchor="ctr">
            <a:normAutofit/>
          </a:bodyPr>
          <a:lstStyle/>
          <a:p>
            <a:pPr algn="l" indent="0" marL="0">
              <a:buNone/>
            </a:pPr>
            <a:r>
              <a:rPr lang="en-US" sz="1050" b="1" dirty="0">
                <a:solidFill>
                  <a:srgbClr val="5F6B78"/>
                </a:solidFill>
                <a:latin typeface="Aptos" pitchFamily="34" charset="0"/>
                <a:ea typeface="Aptos" pitchFamily="34" charset="-122"/>
                <a:cs typeface="Aptos" pitchFamily="34" charset="-120"/>
              </a:rPr>
              <a:t>Max features</a:t>
            </a:r>
            <a:endParaRPr lang="en-US" sz="1050" dirty="0"/>
          </a:p>
        </p:txBody>
      </p:sp>
      <p:sp>
        <p:nvSpPr>
          <p:cNvPr id="13" name="Text 11"/>
          <p:cNvSpPr/>
          <p:nvPr/>
        </p:nvSpPr>
        <p:spPr>
          <a:xfrm>
            <a:off x="2487168" y="3666744"/>
            <a:ext cx="1143000" cy="219456"/>
          </a:xfrm>
          <a:prstGeom prst="rect">
            <a:avLst/>
          </a:prstGeom>
          <a:noFill/>
          <a:ln/>
        </p:spPr>
        <p:txBody>
          <a:bodyPr wrap="square" lIns="635" tIns="635" rIns="635" bIns="635" rtlCol="0" anchor="ctr">
            <a:normAutofit/>
          </a:bodyPr>
          <a:lstStyle/>
          <a:p>
            <a:pPr algn="r" indent="0" marL="0">
              <a:buNone/>
            </a:pPr>
            <a:r>
              <a:rPr lang="en-US" sz="1150" b="1" dirty="0">
                <a:solidFill>
                  <a:srgbClr val="0B1F33"/>
                </a:solidFill>
                <a:latin typeface="Aptos" pitchFamily="34" charset="0"/>
                <a:ea typeface="Aptos" pitchFamily="34" charset="-122"/>
                <a:cs typeface="Aptos" pitchFamily="34" charset="-120"/>
              </a:rPr>
              <a:t>sqrt</a:t>
            </a:r>
            <a:endParaRPr lang="en-US" sz="1150" dirty="0"/>
          </a:p>
        </p:txBody>
      </p:sp>
      <p:sp>
        <p:nvSpPr>
          <p:cNvPr id="14" name="Text 12"/>
          <p:cNvSpPr/>
          <p:nvPr/>
        </p:nvSpPr>
        <p:spPr>
          <a:xfrm>
            <a:off x="1005840" y="4133088"/>
            <a:ext cx="1417320" cy="219456"/>
          </a:xfrm>
          <a:prstGeom prst="rect">
            <a:avLst/>
          </a:prstGeom>
          <a:noFill/>
          <a:ln/>
        </p:spPr>
        <p:txBody>
          <a:bodyPr wrap="square" lIns="635" tIns="635" rIns="635" bIns="635" rtlCol="0" anchor="ctr">
            <a:normAutofit/>
          </a:bodyPr>
          <a:lstStyle/>
          <a:p>
            <a:pPr algn="l" indent="0" marL="0">
              <a:buNone/>
            </a:pPr>
            <a:r>
              <a:rPr lang="en-US" sz="1050" b="1" dirty="0">
                <a:solidFill>
                  <a:srgbClr val="5F6B78"/>
                </a:solidFill>
                <a:latin typeface="Aptos" pitchFamily="34" charset="0"/>
                <a:ea typeface="Aptos" pitchFamily="34" charset="-122"/>
                <a:cs typeface="Aptos" pitchFamily="34" charset="-120"/>
              </a:rPr>
              <a:t>Target</a:t>
            </a:r>
            <a:endParaRPr lang="en-US" sz="1050" dirty="0"/>
          </a:p>
        </p:txBody>
      </p:sp>
      <p:sp>
        <p:nvSpPr>
          <p:cNvPr id="15" name="Text 13"/>
          <p:cNvSpPr/>
          <p:nvPr/>
        </p:nvSpPr>
        <p:spPr>
          <a:xfrm>
            <a:off x="2487168" y="4133088"/>
            <a:ext cx="1143000" cy="219456"/>
          </a:xfrm>
          <a:prstGeom prst="rect">
            <a:avLst/>
          </a:prstGeom>
          <a:noFill/>
          <a:ln/>
        </p:spPr>
        <p:txBody>
          <a:bodyPr wrap="square" lIns="635" tIns="635" rIns="635" bIns="635" rtlCol="0" anchor="ctr">
            <a:normAutofit/>
          </a:bodyPr>
          <a:lstStyle/>
          <a:p>
            <a:pPr algn="r" indent="0" marL="0">
              <a:buNone/>
            </a:pPr>
            <a:r>
              <a:rPr lang="en-US" sz="1150" b="1" dirty="0">
                <a:solidFill>
                  <a:srgbClr val="0B1F33"/>
                </a:solidFill>
                <a:latin typeface="Aptos" pitchFamily="34" charset="0"/>
                <a:ea typeface="Aptos" pitchFamily="34" charset="-122"/>
                <a:cs typeface="Aptos" pitchFamily="34" charset="-120"/>
              </a:rPr>
              <a:t>ΔIV₍t+5₎</a:t>
            </a:r>
            <a:endParaRPr lang="en-US" sz="1150" dirty="0"/>
          </a:p>
        </p:txBody>
      </p:sp>
      <p:sp>
        <p:nvSpPr>
          <p:cNvPr id="16" name="Text 14"/>
          <p:cNvSpPr/>
          <p:nvPr/>
        </p:nvSpPr>
        <p:spPr>
          <a:xfrm>
            <a:off x="987552" y="4800600"/>
            <a:ext cx="914400" cy="201168"/>
          </a:xfrm>
          <a:prstGeom prst="rect">
            <a:avLst/>
          </a:prstGeom>
          <a:noFill/>
          <a:ln/>
        </p:spPr>
        <p:txBody>
          <a:bodyPr wrap="square" lIns="635" tIns="635" rIns="635" bIns="635" rtlCol="0" anchor="ctr">
            <a:normAutofit/>
          </a:bodyPr>
          <a:lstStyle/>
          <a:p>
            <a:pPr algn="l" indent="0" marL="0">
              <a:buNone/>
            </a:pPr>
            <a:r>
              <a:rPr lang="en-US" sz="950" b="1" dirty="0">
                <a:solidFill>
                  <a:srgbClr val="0F8B8D"/>
                </a:solidFill>
                <a:latin typeface="Aptos" pitchFamily="34" charset="0"/>
                <a:ea typeface="Aptos" pitchFamily="34" charset="-122"/>
                <a:cs typeface="Aptos" pitchFamily="34" charset="-120"/>
              </a:rPr>
              <a:t>Why RF?</a:t>
            </a:r>
            <a:endParaRPr lang="en-US" sz="950" dirty="0"/>
          </a:p>
        </p:txBody>
      </p:sp>
      <p:sp>
        <p:nvSpPr>
          <p:cNvPr id="17" name="Text 15"/>
          <p:cNvSpPr/>
          <p:nvPr/>
        </p:nvSpPr>
        <p:spPr>
          <a:xfrm>
            <a:off x="987552" y="5065776"/>
            <a:ext cx="2971800" cy="594360"/>
          </a:xfrm>
          <a:prstGeom prst="rect">
            <a:avLst/>
          </a:prstGeom>
          <a:noFill/>
          <a:ln/>
        </p:spPr>
        <p:txBody>
          <a:bodyPr wrap="square" lIns="635" tIns="635" rIns="635" bIns="635" rtlCol="0" anchor="t">
            <a:normAutofit/>
          </a:bodyPr>
          <a:lstStyle/>
          <a:p>
            <a:pPr algn="l" indent="0" marL="0">
              <a:buNone/>
            </a:pPr>
            <a:r>
              <a:rPr lang="en-US" sz="1070" dirty="0">
                <a:solidFill>
                  <a:srgbClr val="0B1F33"/>
                </a:solidFill>
                <a:latin typeface="Aptos" pitchFamily="34" charset="0"/>
                <a:ea typeface="Aptos" pitchFamily="34" charset="-122"/>
                <a:cs typeface="Aptos" pitchFamily="34" charset="-120"/>
              </a:rPr>
              <a:t>Nonlinear tree ensemble suitable for interactions among IV, moneyness, liquidity and recent market movement.</a:t>
            </a:r>
            <a:endParaRPr lang="en-US" sz="1070" dirty="0"/>
          </a:p>
        </p:txBody>
      </p:sp>
      <p:sp>
        <p:nvSpPr>
          <p:cNvPr id="18" name="Shape 16"/>
          <p:cNvSpPr/>
          <p:nvPr/>
        </p:nvSpPr>
        <p:spPr>
          <a:xfrm>
            <a:off x="4553712" y="1417320"/>
            <a:ext cx="3246120" cy="4526280"/>
          </a:xfrm>
          <a:prstGeom prst="roundRect">
            <a:avLst>
              <a:gd name="adj" fmla="val 3380"/>
            </a:avLst>
          </a:prstGeom>
          <a:solidFill>
            <a:srgbClr val="EDF4FB"/>
          </a:solidFill>
          <a:ln w="11430">
            <a:solidFill>
              <a:srgbClr val="C8D9EB"/>
            </a:solidFill>
            <a:prstDash val="solid"/>
          </a:ln>
        </p:spPr>
      </p:sp>
      <p:sp>
        <p:nvSpPr>
          <p:cNvPr id="19" name="Text 17"/>
          <p:cNvSpPr/>
          <p:nvPr/>
        </p:nvSpPr>
        <p:spPr>
          <a:xfrm>
            <a:off x="4818888" y="1737360"/>
            <a:ext cx="2651760" cy="310896"/>
          </a:xfrm>
          <a:prstGeom prst="rect">
            <a:avLst/>
          </a:prstGeom>
          <a:noFill/>
          <a:ln/>
        </p:spPr>
        <p:txBody>
          <a:bodyPr wrap="square" lIns="635" tIns="635" rIns="635" bIns="635" rtlCol="0" anchor="ctr">
            <a:normAutofit/>
          </a:bodyPr>
          <a:lstStyle/>
          <a:p>
            <a:pPr algn="l" indent="0" marL="0">
              <a:buNone/>
            </a:pPr>
            <a:r>
              <a:rPr lang="en-US" sz="1650" b="1" dirty="0">
                <a:solidFill>
                  <a:srgbClr val="2C6EBA"/>
                </a:solidFill>
                <a:latin typeface="Aptos" pitchFamily="34" charset="0"/>
                <a:ea typeface="Aptos" pitchFamily="34" charset="-122"/>
                <a:cs typeface="Aptos" pitchFamily="34" charset="-120"/>
              </a:rPr>
              <a:t>Feature set</a:t>
            </a:r>
            <a:endParaRPr lang="en-US" sz="1650" dirty="0"/>
          </a:p>
        </p:txBody>
      </p:sp>
      <p:sp>
        <p:nvSpPr>
          <p:cNvPr id="20" name="Shape 18"/>
          <p:cNvSpPr/>
          <p:nvPr/>
        </p:nvSpPr>
        <p:spPr>
          <a:xfrm>
            <a:off x="4818888" y="2212848"/>
            <a:ext cx="1170432" cy="822960"/>
          </a:xfrm>
          <a:prstGeom prst="roundRect">
            <a:avLst>
              <a:gd name="adj" fmla="val 13333"/>
            </a:avLst>
          </a:prstGeom>
          <a:solidFill>
            <a:srgbClr val="FFFFFF"/>
          </a:solidFill>
          <a:ln w="11430">
            <a:solidFill>
              <a:srgbClr val="D8E0E8"/>
            </a:solidFill>
            <a:prstDash val="solid"/>
          </a:ln>
        </p:spPr>
      </p:sp>
      <p:sp>
        <p:nvSpPr>
          <p:cNvPr id="21" name="Shape 19"/>
          <p:cNvSpPr/>
          <p:nvPr/>
        </p:nvSpPr>
        <p:spPr>
          <a:xfrm>
            <a:off x="4818888" y="2212848"/>
            <a:ext cx="64008" cy="822960"/>
          </a:xfrm>
          <a:prstGeom prst="rect">
            <a:avLst/>
          </a:prstGeom>
          <a:solidFill>
            <a:srgbClr val="2C6EBA"/>
          </a:solidFill>
          <a:ln w="12700">
            <a:solidFill>
              <a:srgbClr val="2C6EBA"/>
            </a:solidFill>
            <a:prstDash val="solid"/>
          </a:ln>
        </p:spPr>
      </p:sp>
      <p:sp>
        <p:nvSpPr>
          <p:cNvPr id="22" name="Text 20"/>
          <p:cNvSpPr/>
          <p:nvPr/>
        </p:nvSpPr>
        <p:spPr>
          <a:xfrm>
            <a:off x="4983480" y="2322576"/>
            <a:ext cx="914400" cy="201168"/>
          </a:xfrm>
          <a:prstGeom prst="rect">
            <a:avLst/>
          </a:prstGeom>
          <a:noFill/>
          <a:ln/>
        </p:spPr>
        <p:txBody>
          <a:bodyPr wrap="square" lIns="635" tIns="635" rIns="635" bIns="635" rtlCol="0" anchor="ctr">
            <a:normAutofit/>
          </a:bodyPr>
          <a:lstStyle/>
          <a:p>
            <a:pPr algn="l" indent="0" marL="0">
              <a:buNone/>
            </a:pPr>
            <a:r>
              <a:rPr lang="en-US" sz="950" b="1" dirty="0">
                <a:solidFill>
                  <a:srgbClr val="5F6B78"/>
                </a:solidFill>
                <a:latin typeface="Aptos" pitchFamily="34" charset="0"/>
                <a:ea typeface="Aptos" pitchFamily="34" charset="-122"/>
                <a:cs typeface="Aptos" pitchFamily="34" charset="-120"/>
              </a:rPr>
              <a:t>CURRENT</a:t>
            </a:r>
            <a:endParaRPr lang="en-US" sz="950" dirty="0"/>
          </a:p>
        </p:txBody>
      </p:sp>
      <p:sp>
        <p:nvSpPr>
          <p:cNvPr id="23" name="Text 21"/>
          <p:cNvSpPr/>
          <p:nvPr/>
        </p:nvSpPr>
        <p:spPr>
          <a:xfrm>
            <a:off x="4983480" y="2551176"/>
            <a:ext cx="896112" cy="310896"/>
          </a:xfrm>
          <a:prstGeom prst="rect">
            <a:avLst/>
          </a:prstGeom>
          <a:noFill/>
          <a:ln/>
        </p:spPr>
        <p:txBody>
          <a:bodyPr wrap="square" lIns="635" tIns="635" rIns="635" bIns="635"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15</a:t>
            </a:r>
            <a:endParaRPr lang="en-US" sz="2000" dirty="0"/>
          </a:p>
        </p:txBody>
      </p:sp>
      <p:sp>
        <p:nvSpPr>
          <p:cNvPr id="24" name="Text 22"/>
          <p:cNvSpPr/>
          <p:nvPr/>
        </p:nvSpPr>
        <p:spPr>
          <a:xfrm>
            <a:off x="4983480" y="2788920"/>
            <a:ext cx="896112" cy="164592"/>
          </a:xfrm>
          <a:prstGeom prst="rect">
            <a:avLst/>
          </a:prstGeom>
          <a:noFill/>
          <a:ln/>
        </p:spPr>
        <p:txBody>
          <a:bodyPr wrap="square" lIns="635" tIns="635" rIns="635" bIns="635" rtlCol="0" anchor="ctr">
            <a:normAutofit/>
          </a:bodyPr>
          <a:lstStyle/>
          <a:p>
            <a:pPr algn="l" indent="0" marL="0">
              <a:buNone/>
            </a:pPr>
            <a:r>
              <a:rPr lang="en-US" sz="780" dirty="0">
                <a:solidFill>
                  <a:srgbClr val="2C6EBA"/>
                </a:solidFill>
                <a:latin typeface="Aptos" pitchFamily="34" charset="0"/>
                <a:ea typeface="Aptos" pitchFamily="34" charset="-122"/>
                <a:cs typeface="Aptos" pitchFamily="34" charset="-120"/>
              </a:rPr>
              <a:t>IV, spot, strike...</a:t>
            </a:r>
            <a:endParaRPr lang="en-US" sz="780" dirty="0"/>
          </a:p>
        </p:txBody>
      </p:sp>
      <p:sp>
        <p:nvSpPr>
          <p:cNvPr id="25" name="Shape 23"/>
          <p:cNvSpPr/>
          <p:nvPr/>
        </p:nvSpPr>
        <p:spPr>
          <a:xfrm>
            <a:off x="6190488" y="2212848"/>
            <a:ext cx="1170432" cy="822960"/>
          </a:xfrm>
          <a:prstGeom prst="roundRect">
            <a:avLst>
              <a:gd name="adj" fmla="val 13333"/>
            </a:avLst>
          </a:prstGeom>
          <a:solidFill>
            <a:srgbClr val="FFFFFF"/>
          </a:solidFill>
          <a:ln w="11430">
            <a:solidFill>
              <a:srgbClr val="D8E0E8"/>
            </a:solidFill>
            <a:prstDash val="solid"/>
          </a:ln>
        </p:spPr>
      </p:sp>
      <p:sp>
        <p:nvSpPr>
          <p:cNvPr id="26" name="Shape 24"/>
          <p:cNvSpPr/>
          <p:nvPr/>
        </p:nvSpPr>
        <p:spPr>
          <a:xfrm>
            <a:off x="6190488" y="2212848"/>
            <a:ext cx="64008" cy="822960"/>
          </a:xfrm>
          <a:prstGeom prst="rect">
            <a:avLst/>
          </a:prstGeom>
          <a:solidFill>
            <a:srgbClr val="0F8B8D"/>
          </a:solidFill>
          <a:ln w="12700">
            <a:solidFill>
              <a:srgbClr val="0F8B8D"/>
            </a:solidFill>
            <a:prstDash val="solid"/>
          </a:ln>
        </p:spPr>
      </p:sp>
      <p:sp>
        <p:nvSpPr>
          <p:cNvPr id="27" name="Text 25"/>
          <p:cNvSpPr/>
          <p:nvPr/>
        </p:nvSpPr>
        <p:spPr>
          <a:xfrm>
            <a:off x="6355080" y="2322576"/>
            <a:ext cx="914400" cy="201168"/>
          </a:xfrm>
          <a:prstGeom prst="rect">
            <a:avLst/>
          </a:prstGeom>
          <a:noFill/>
          <a:ln/>
        </p:spPr>
        <p:txBody>
          <a:bodyPr wrap="square" lIns="635" tIns="635" rIns="635" bIns="635" rtlCol="0" anchor="ctr">
            <a:normAutofit/>
          </a:bodyPr>
          <a:lstStyle/>
          <a:p>
            <a:pPr algn="l" indent="0" marL="0">
              <a:buNone/>
            </a:pPr>
            <a:r>
              <a:rPr lang="en-US" sz="950" b="1" dirty="0">
                <a:solidFill>
                  <a:srgbClr val="5F6B78"/>
                </a:solidFill>
                <a:latin typeface="Aptos" pitchFamily="34" charset="0"/>
                <a:ea typeface="Aptos" pitchFamily="34" charset="-122"/>
                <a:cs typeface="Aptos" pitchFamily="34" charset="-120"/>
              </a:rPr>
              <a:t>LAG/MOM.</a:t>
            </a:r>
            <a:endParaRPr lang="en-US" sz="950" dirty="0"/>
          </a:p>
        </p:txBody>
      </p:sp>
      <p:sp>
        <p:nvSpPr>
          <p:cNvPr id="28" name="Text 26"/>
          <p:cNvSpPr/>
          <p:nvPr/>
        </p:nvSpPr>
        <p:spPr>
          <a:xfrm>
            <a:off x="6355080" y="2551176"/>
            <a:ext cx="896112" cy="310896"/>
          </a:xfrm>
          <a:prstGeom prst="rect">
            <a:avLst/>
          </a:prstGeom>
          <a:noFill/>
          <a:ln/>
        </p:spPr>
        <p:txBody>
          <a:bodyPr wrap="square" lIns="635" tIns="635" rIns="635" bIns="635"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24</a:t>
            </a:r>
            <a:endParaRPr lang="en-US" sz="2000" dirty="0"/>
          </a:p>
        </p:txBody>
      </p:sp>
      <p:sp>
        <p:nvSpPr>
          <p:cNvPr id="29" name="Text 27"/>
          <p:cNvSpPr/>
          <p:nvPr/>
        </p:nvSpPr>
        <p:spPr>
          <a:xfrm>
            <a:off x="6355080" y="2788920"/>
            <a:ext cx="896112" cy="164592"/>
          </a:xfrm>
          <a:prstGeom prst="rect">
            <a:avLst/>
          </a:prstGeom>
          <a:noFill/>
          <a:ln/>
        </p:spPr>
        <p:txBody>
          <a:bodyPr wrap="square" lIns="635" tIns="635" rIns="635" bIns="635" rtlCol="0" anchor="ctr">
            <a:normAutofit/>
          </a:bodyPr>
          <a:lstStyle/>
          <a:p>
            <a:pPr algn="l" indent="0" marL="0">
              <a:buNone/>
            </a:pPr>
            <a:r>
              <a:rPr lang="en-US" sz="780" dirty="0">
                <a:solidFill>
                  <a:srgbClr val="0F8B8D"/>
                </a:solidFill>
                <a:latin typeface="Aptos" pitchFamily="34" charset="0"/>
                <a:ea typeface="Aptos" pitchFamily="34" charset="-122"/>
                <a:cs typeface="Aptos" pitchFamily="34" charset="-120"/>
              </a:rPr>
              <a:t>5m &amp; 10m</a:t>
            </a:r>
            <a:endParaRPr lang="en-US" sz="780" dirty="0"/>
          </a:p>
        </p:txBody>
      </p:sp>
      <p:sp>
        <p:nvSpPr>
          <p:cNvPr id="30" name="Text 28"/>
          <p:cNvSpPr/>
          <p:nvPr/>
        </p:nvSpPr>
        <p:spPr>
          <a:xfrm>
            <a:off x="4818888" y="3328416"/>
            <a:ext cx="2651760" cy="219456"/>
          </a:xfrm>
          <a:prstGeom prst="rect">
            <a:avLst/>
          </a:prstGeom>
          <a:noFill/>
          <a:ln/>
        </p:spPr>
        <p:txBody>
          <a:bodyPr wrap="square" lIns="635" tIns="635" rIns="635" bIns="635" rtlCol="0" anchor="ctr">
            <a:normAutofit/>
          </a:bodyPr>
          <a:lstStyle/>
          <a:p>
            <a:pPr algn="l" indent="0" marL="0">
              <a:buNone/>
            </a:pPr>
            <a:r>
              <a:rPr lang="en-US" sz="950" b="1" dirty="0">
                <a:solidFill>
                  <a:srgbClr val="5F6B78"/>
                </a:solidFill>
                <a:latin typeface="Aptos" pitchFamily="34" charset="0"/>
                <a:ea typeface="Aptos" pitchFamily="34" charset="-122"/>
                <a:cs typeface="Aptos" pitchFamily="34" charset="-120"/>
              </a:rPr>
              <a:t>Lagged variables</a:t>
            </a:r>
            <a:endParaRPr lang="en-US" sz="950" dirty="0"/>
          </a:p>
        </p:txBody>
      </p:sp>
      <p:sp>
        <p:nvSpPr>
          <p:cNvPr id="31" name="Text 29"/>
          <p:cNvSpPr/>
          <p:nvPr/>
        </p:nvSpPr>
        <p:spPr>
          <a:xfrm>
            <a:off x="4818888" y="3602736"/>
            <a:ext cx="2615184" cy="640080"/>
          </a:xfrm>
          <a:prstGeom prst="rect">
            <a:avLst/>
          </a:prstGeom>
          <a:noFill/>
          <a:ln/>
        </p:spPr>
        <p:txBody>
          <a:bodyPr wrap="square" lIns="635" tIns="635" rIns="635" bIns="635" rtlCol="0" anchor="t">
            <a:normAutofit/>
          </a:bodyPr>
          <a:lstStyle/>
          <a:p>
            <a:pPr algn="l" indent="0" marL="0">
              <a:buNone/>
            </a:pPr>
            <a:r>
              <a:rPr lang="en-US" sz="1130" dirty="0">
                <a:solidFill>
                  <a:srgbClr val="0B1F33"/>
                </a:solidFill>
                <a:latin typeface="Aptos" pitchFamily="34" charset="0"/>
                <a:ea typeface="Aptos" pitchFamily="34" charset="-122"/>
                <a:cs typeface="Aptos" pitchFamily="34" charset="-120"/>
              </a:rPr>
              <a:t>IV, spot, LTP, volume, OI, bid-ask spread</a:t>
            </a:r>
            <a:endParaRPr lang="en-US" sz="1130" dirty="0"/>
          </a:p>
        </p:txBody>
      </p:sp>
      <p:sp>
        <p:nvSpPr>
          <p:cNvPr id="32" name="Text 30"/>
          <p:cNvSpPr/>
          <p:nvPr/>
        </p:nvSpPr>
        <p:spPr>
          <a:xfrm>
            <a:off x="4818888" y="4480560"/>
            <a:ext cx="2651760" cy="219456"/>
          </a:xfrm>
          <a:prstGeom prst="rect">
            <a:avLst/>
          </a:prstGeom>
          <a:noFill/>
          <a:ln/>
        </p:spPr>
        <p:txBody>
          <a:bodyPr wrap="square" lIns="635" tIns="635" rIns="635" bIns="635" rtlCol="0" anchor="ctr">
            <a:normAutofit/>
          </a:bodyPr>
          <a:lstStyle/>
          <a:p>
            <a:pPr algn="l" indent="0" marL="0">
              <a:buNone/>
            </a:pPr>
            <a:r>
              <a:rPr lang="en-US" sz="950" b="1" dirty="0">
                <a:solidFill>
                  <a:srgbClr val="5F6B78"/>
                </a:solidFill>
                <a:latin typeface="Aptos" pitchFamily="34" charset="0"/>
                <a:ea typeface="Aptos" pitchFamily="34" charset="-122"/>
                <a:cs typeface="Aptos" pitchFamily="34" charset="-120"/>
              </a:rPr>
              <a:t>Exact time-to-expiry</a:t>
            </a:r>
            <a:endParaRPr lang="en-US" sz="950" dirty="0"/>
          </a:p>
        </p:txBody>
      </p:sp>
      <p:sp>
        <p:nvSpPr>
          <p:cNvPr id="33" name="Text 31"/>
          <p:cNvSpPr/>
          <p:nvPr/>
        </p:nvSpPr>
        <p:spPr>
          <a:xfrm>
            <a:off x="4818888" y="4745736"/>
            <a:ext cx="2615184" cy="640080"/>
          </a:xfrm>
          <a:prstGeom prst="rect">
            <a:avLst/>
          </a:prstGeom>
          <a:noFill/>
          <a:ln/>
        </p:spPr>
        <p:txBody>
          <a:bodyPr wrap="square" lIns="635" tIns="635" rIns="635" bIns="635" rtlCol="0" anchor="t">
            <a:normAutofit/>
          </a:bodyPr>
          <a:lstStyle/>
          <a:p>
            <a:pPr algn="l" indent="0" marL="0">
              <a:buNone/>
            </a:pPr>
            <a:r>
              <a:rPr lang="en-US" sz="1070" dirty="0">
                <a:solidFill>
                  <a:srgbClr val="0B1F33"/>
                </a:solidFill>
                <a:latin typeface="Aptos" pitchFamily="34" charset="0"/>
                <a:ea typeface="Aptos" pitchFamily="34" charset="-122"/>
                <a:cs typeface="Aptos" pitchFamily="34" charset="-120"/>
              </a:rPr>
              <a:t>Engineered later for expiry-day analysis and option-pricing stress tests.</a:t>
            </a:r>
            <a:endParaRPr lang="en-US" sz="1070" dirty="0"/>
          </a:p>
        </p:txBody>
      </p:sp>
      <p:sp>
        <p:nvSpPr>
          <p:cNvPr id="34" name="Shape 32"/>
          <p:cNvSpPr/>
          <p:nvPr/>
        </p:nvSpPr>
        <p:spPr>
          <a:xfrm>
            <a:off x="8001000" y="1417320"/>
            <a:ext cx="3493008" cy="4526280"/>
          </a:xfrm>
          <a:prstGeom prst="roundRect">
            <a:avLst>
              <a:gd name="adj" fmla="val 3141"/>
            </a:avLst>
          </a:prstGeom>
          <a:solidFill>
            <a:srgbClr val="FFF3E5"/>
          </a:solidFill>
          <a:ln w="11430">
            <a:solidFill>
              <a:srgbClr val="F1D5AC"/>
            </a:solidFill>
            <a:prstDash val="solid"/>
          </a:ln>
        </p:spPr>
      </p:sp>
      <p:sp>
        <p:nvSpPr>
          <p:cNvPr id="35" name="Text 33"/>
          <p:cNvSpPr/>
          <p:nvPr/>
        </p:nvSpPr>
        <p:spPr>
          <a:xfrm>
            <a:off x="8266176" y="1737360"/>
            <a:ext cx="2926080" cy="310896"/>
          </a:xfrm>
          <a:prstGeom prst="rect">
            <a:avLst/>
          </a:prstGeom>
          <a:noFill/>
          <a:ln/>
        </p:spPr>
        <p:txBody>
          <a:bodyPr wrap="square" lIns="635" tIns="635" rIns="635" bIns="635" rtlCol="0" anchor="ctr">
            <a:normAutofit/>
          </a:bodyPr>
          <a:lstStyle/>
          <a:p>
            <a:pPr algn="l" indent="0" marL="0">
              <a:buNone/>
            </a:pPr>
            <a:r>
              <a:rPr lang="en-US" sz="1650" b="1" dirty="0">
                <a:solidFill>
                  <a:srgbClr val="D97706"/>
                </a:solidFill>
                <a:latin typeface="Aptos" pitchFamily="34" charset="0"/>
                <a:ea typeface="Aptos" pitchFamily="34" charset="-122"/>
                <a:cs typeface="Aptos" pitchFamily="34" charset="-120"/>
              </a:rPr>
              <a:t>Additional implementation</a:t>
            </a:r>
            <a:endParaRPr lang="en-US" sz="1650" dirty="0"/>
          </a:p>
        </p:txBody>
      </p:sp>
      <p:sp>
        <p:nvSpPr>
          <p:cNvPr id="36" name="Text 34"/>
          <p:cNvSpPr/>
          <p:nvPr/>
        </p:nvSpPr>
        <p:spPr>
          <a:xfrm>
            <a:off x="8275320" y="2194560"/>
            <a:ext cx="2852928" cy="2697480"/>
          </a:xfrm>
          <a:prstGeom prst="rect">
            <a:avLst/>
          </a:prstGeom>
          <a:noFill/>
          <a:ln/>
        </p:spPr>
        <p:txBody>
          <a:bodyPr wrap="square" lIns="508" tIns="508" rIns="508" bIns="508" rtlCol="0" anchor="t">
            <a:normAutofit/>
          </a:bodyPr>
          <a:lstStyle/>
          <a:p>
            <a:pPr marL="190500" indent="-190500">
              <a:buSzPct val="100000"/>
              <a:buChar char="•"/>
            </a:pPr>
            <a:r>
              <a:rPr lang="en-US" sz="1130" dirty="0">
                <a:solidFill>
                  <a:srgbClr val="0B1F33"/>
                </a:solidFill>
                <a:latin typeface="Aptos" pitchFamily="34" charset="0"/>
                <a:ea typeface="Aptos" pitchFamily="34" charset="-122"/>
                <a:cs typeface="Aptos" pitchFamily="34" charset="-120"/>
              </a:rPr>
              <a:t>XGBoost regression used as a nonlinear benchmark.</a:t>
            </a:r>
            <a:endParaRPr lang="en-US" sz="1130" dirty="0"/>
          </a:p>
          <a:p>
            <a:pPr marL="190500" indent="-190500">
              <a:buSzPct val="100000"/>
              <a:buChar char="•"/>
            </a:pPr>
            <a:r>
              <a:rPr lang="en-US" sz="1130" dirty="0">
                <a:solidFill>
                  <a:srgbClr val="0B1F33"/>
                </a:solidFill>
                <a:latin typeface="Aptos" pitchFamily="34" charset="0"/>
                <a:ea typeface="Aptos" pitchFamily="34" charset="-122"/>
                <a:cs typeface="Aptos" pitchFamily="34" charset="-120"/>
              </a:rPr>
              <a:t>Experimental 3-class direction classifier tested for probabilities.</a:t>
            </a:r>
            <a:endParaRPr lang="en-US" sz="1130" dirty="0"/>
          </a:p>
          <a:p>
            <a:pPr marL="190500" indent="-190500">
              <a:buSzPct val="100000"/>
              <a:buChar char="•"/>
            </a:pPr>
            <a:r>
              <a:rPr lang="en-US" sz="1130" dirty="0">
                <a:solidFill>
                  <a:srgbClr val="0B1F33"/>
                </a:solidFill>
                <a:latin typeface="Aptos" pitchFamily="34" charset="0"/>
                <a:ea typeface="Aptos" pitchFamily="34" charset="-122"/>
                <a:cs typeface="Aptos" pitchFamily="34" charset="-120"/>
              </a:rPr>
              <a:t>Black-Scholes stress testing used a 6% annual risk-free-rate assumption.</a:t>
            </a:r>
            <a:endParaRPr lang="en-US" sz="1130" dirty="0"/>
          </a:p>
          <a:p>
            <a:pPr marL="190500" indent="-190500">
              <a:buSzPct val="100000"/>
              <a:buChar char="•"/>
            </a:pPr>
            <a:r>
              <a:rPr lang="en-US" sz="1130" dirty="0">
                <a:solidFill>
                  <a:srgbClr val="0B1F33"/>
                </a:solidFill>
                <a:latin typeface="Aptos" pitchFamily="34" charset="0"/>
                <a:ea typeface="Aptos" pitchFamily="34" charset="-122"/>
                <a:cs typeface="Aptos" pitchFamily="34" charset="-120"/>
              </a:rPr>
              <a:t>Saved model + feature list + training medians exported with joblib.</a:t>
            </a:r>
            <a:endParaRPr lang="en-US" sz="1130" dirty="0"/>
          </a:p>
          <a:p>
            <a:pPr marL="190500" indent="-190500">
              <a:buSzPct val="100000"/>
              <a:buChar char="•"/>
            </a:pPr>
            <a:r>
              <a:rPr lang="en-US" sz="1130" dirty="0">
                <a:solidFill>
                  <a:srgbClr val="0B1F33"/>
                </a:solidFill>
                <a:latin typeface="Aptos" pitchFamily="34" charset="0"/>
                <a:ea typeface="Aptos" pitchFamily="34" charset="-122"/>
                <a:cs typeface="Aptos" pitchFamily="34" charset="-120"/>
              </a:rPr>
              <a:t>Upstox API connection and automatic 5-minute collection loop implemented.</a:t>
            </a:r>
            <a:endParaRPr lang="en-US" sz="113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Results and key findings</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indent="0" marL="0">
              <a:buNone/>
            </a:pPr>
            <a:r>
              <a:rPr lang="en-US" sz="1050" dirty="0">
                <a:solidFill>
                  <a:srgbClr val="5F6B78"/>
                </a:solidFill>
              </a:rPr>
              <a:t>Comparable out-of-sample results on the final chronological development holdout</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graphicFrame>
        <p:nvGraphicFramePr>
          <p:cNvPr id="5" name="Chart 0" descr=""/>
          <p:cNvGraphicFramePr/>
          <p:nvPr/>
        </p:nvGraphicFramePr>
        <p:xfrm>
          <a:off x="685800" y="1417320"/>
          <a:ext cx="6309360" cy="41605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269480" y="1417320"/>
            <a:ext cx="4160520" cy="4160520"/>
          </a:xfrm>
          <a:prstGeom prst="roundRect">
            <a:avLst>
              <a:gd name="adj" fmla="val 2637"/>
            </a:avLst>
          </a:prstGeom>
          <a:solidFill>
            <a:srgbClr val="FFFFFF"/>
          </a:solidFill>
          <a:ln w="11430">
            <a:solidFill>
              <a:srgbClr val="D8E0E8"/>
            </a:solidFill>
            <a:prstDash val="solid"/>
          </a:ln>
        </p:spPr>
      </p:sp>
      <p:sp>
        <p:nvSpPr>
          <p:cNvPr id="7" name="Text 4"/>
          <p:cNvSpPr/>
          <p:nvPr/>
        </p:nvSpPr>
        <p:spPr>
          <a:xfrm>
            <a:off x="7543800" y="1737360"/>
            <a:ext cx="3566160" cy="310896"/>
          </a:xfrm>
          <a:prstGeom prst="rect">
            <a:avLst/>
          </a:prstGeom>
          <a:noFill/>
          <a:ln/>
        </p:spPr>
        <p:txBody>
          <a:bodyPr wrap="square" lIns="635" tIns="635" rIns="635" bIns="635" rtlCol="0" anchor="ctr">
            <a:normAutofit/>
          </a:bodyPr>
          <a:lstStyle/>
          <a:p>
            <a:pPr algn="l" indent="0" marL="0">
              <a:buNone/>
            </a:pPr>
            <a:r>
              <a:rPr lang="en-US" sz="1700" b="1" dirty="0">
                <a:solidFill>
                  <a:srgbClr val="0B1F33"/>
                </a:solidFill>
                <a:latin typeface="Aptos" pitchFamily="34" charset="0"/>
                <a:ea typeface="Aptos" pitchFamily="34" charset="-122"/>
                <a:cs typeface="Aptos" pitchFamily="34" charset="-120"/>
              </a:rPr>
              <a:t>Final comparison</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516368" y="2267712"/>
          <a:ext cx="3639312" cy="1508760"/>
        </p:xfrm>
        <a:graphic>
          <a:graphicData uri="http://schemas.openxmlformats.org/drawingml/2006/table">
            <a:tbl>
              <a:tblPr/>
              <a:tblGrid>
                <a:gridCol w="1600200"/>
                <a:gridCol w="640080"/>
                <a:gridCol w="713232"/>
                <a:gridCol w="594360"/>
              </a:tblGrid>
              <a:tr h="377190">
                <a:tc>
                  <a:txBody>
                    <a:bodyPr/>
                    <a:lstStyle/>
                    <a:p>
                      <a:pPr indent="0" marL="0">
                        <a:buNone/>
                      </a:pPr>
                      <a:r>
                        <a:rPr lang="en-US" sz="980" b="1" dirty="0">
                          <a:solidFill>
                            <a:srgbClr val="0B1F33"/>
                          </a:solidFill>
                          <a:latin typeface="Aptos" pitchFamily="34" charset="0"/>
                          <a:ea typeface="Aptos" pitchFamily="34" charset="-122"/>
                          <a:cs typeface="Aptos" pitchFamily="34" charset="-120"/>
                        </a:rPr>
                        <a:t>Model</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980" b="1" dirty="0">
                          <a:solidFill>
                            <a:srgbClr val="0B1F33"/>
                          </a:solidFill>
                          <a:latin typeface="Aptos" pitchFamily="34" charset="0"/>
                          <a:ea typeface="Aptos" pitchFamily="34" charset="-122"/>
                          <a:cs typeface="Aptos" pitchFamily="34" charset="-120"/>
                        </a:rPr>
                        <a:t>MAE</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980" b="1" dirty="0">
                          <a:solidFill>
                            <a:srgbClr val="0B1F33"/>
                          </a:solidFill>
                          <a:latin typeface="Aptos" pitchFamily="34" charset="0"/>
                          <a:ea typeface="Aptos" pitchFamily="34" charset="-122"/>
                          <a:cs typeface="Aptos" pitchFamily="34" charset="-120"/>
                        </a:rPr>
                        <a:t>RMSE</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980" b="1" dirty="0">
                          <a:solidFill>
                            <a:srgbClr val="0B1F33"/>
                          </a:solidFill>
                          <a:latin typeface="Aptos" pitchFamily="34" charset="0"/>
                          <a:ea typeface="Aptos" pitchFamily="34" charset="-122"/>
                          <a:cs typeface="Aptos" pitchFamily="34" charset="-120"/>
                        </a:rPr>
                        <a:t>R²</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377190">
                <a:tc>
                  <a:txBody>
                    <a:bodyPr/>
                    <a:lstStyle/>
                    <a:p>
                      <a:pPr indent="0" marL="0">
                        <a:buNone/>
                      </a:pPr>
                      <a:r>
                        <a:rPr lang="en-US" sz="980" dirty="0">
                          <a:solidFill>
                            <a:srgbClr val="0B1F33"/>
                          </a:solidFill>
                          <a:latin typeface="Aptos" pitchFamily="34" charset="0"/>
                          <a:ea typeface="Aptos" pitchFamily="34" charset="-122"/>
                          <a:cs typeface="Aptos" pitchFamily="34" charset="-120"/>
                        </a:rPr>
                        <a:t>Persistence</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980" dirty="0">
                          <a:solidFill>
                            <a:srgbClr val="0B1F33"/>
                          </a:solidFill>
                          <a:latin typeface="Aptos" pitchFamily="34" charset="0"/>
                          <a:ea typeface="Aptos" pitchFamily="34" charset="-122"/>
                          <a:cs typeface="Aptos" pitchFamily="34" charset="-120"/>
                        </a:rPr>
                        <a:t>0.5505</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980" dirty="0">
                          <a:solidFill>
                            <a:srgbClr val="0B1F33"/>
                          </a:solidFill>
                          <a:latin typeface="Aptos" pitchFamily="34" charset="0"/>
                          <a:ea typeface="Aptos" pitchFamily="34" charset="-122"/>
                          <a:cs typeface="Aptos" pitchFamily="34" charset="-120"/>
                        </a:rPr>
                        <a:t>1.3207</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980" dirty="0">
                          <a:solidFill>
                            <a:srgbClr val="0B1F33"/>
                          </a:solidFill>
                          <a:latin typeface="Aptos" pitchFamily="34" charset="0"/>
                          <a:ea typeface="Aptos" pitchFamily="34" charset="-122"/>
                          <a:cs typeface="Aptos" pitchFamily="34" charset="-120"/>
                        </a:rPr>
                        <a:t>0.9843</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377190">
                <a:tc>
                  <a:txBody>
                    <a:bodyPr/>
                    <a:lstStyle/>
                    <a:p>
                      <a:pPr indent="0" marL="0">
                        <a:buNone/>
                      </a:pPr>
                      <a:r>
                        <a:rPr lang="en-US" sz="980" dirty="0">
                          <a:solidFill>
                            <a:srgbClr val="0B1F33"/>
                          </a:solidFill>
                          <a:latin typeface="Aptos" pitchFamily="34" charset="0"/>
                          <a:ea typeface="Aptos" pitchFamily="34" charset="-122"/>
                          <a:cs typeface="Aptos" pitchFamily="34" charset="-120"/>
                        </a:rPr>
                        <a:t>Random Forest + Lag</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980" dirty="0">
                          <a:solidFill>
                            <a:srgbClr val="0B1F33"/>
                          </a:solidFill>
                          <a:latin typeface="Aptos" pitchFamily="34" charset="0"/>
                          <a:ea typeface="Aptos" pitchFamily="34" charset="-122"/>
                          <a:cs typeface="Aptos" pitchFamily="34" charset="-120"/>
                        </a:rPr>
                        <a:t>0.5214</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980" dirty="0">
                          <a:solidFill>
                            <a:srgbClr val="0B1F33"/>
                          </a:solidFill>
                          <a:latin typeface="Aptos" pitchFamily="34" charset="0"/>
                          <a:ea typeface="Aptos" pitchFamily="34" charset="-122"/>
                          <a:cs typeface="Aptos" pitchFamily="34" charset="-120"/>
                        </a:rPr>
                        <a:t>1.2188</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980" dirty="0">
                          <a:solidFill>
                            <a:srgbClr val="0B1F33"/>
                          </a:solidFill>
                          <a:latin typeface="Aptos" pitchFamily="34" charset="0"/>
                          <a:ea typeface="Aptos" pitchFamily="34" charset="-122"/>
                          <a:cs typeface="Aptos" pitchFamily="34" charset="-120"/>
                        </a:rPr>
                        <a:t>0.9866</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377190">
                <a:tc>
                  <a:txBody>
                    <a:bodyPr/>
                    <a:lstStyle/>
                    <a:p>
                      <a:pPr indent="0" marL="0">
                        <a:buNone/>
                      </a:pPr>
                      <a:r>
                        <a:rPr lang="en-US" sz="980" dirty="0">
                          <a:solidFill>
                            <a:srgbClr val="0B1F33"/>
                          </a:solidFill>
                          <a:latin typeface="Aptos" pitchFamily="34" charset="0"/>
                          <a:ea typeface="Aptos" pitchFamily="34" charset="-122"/>
                          <a:cs typeface="Aptos" pitchFamily="34" charset="-120"/>
                        </a:rPr>
                        <a:t>XGBoost + Lag</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980" dirty="0">
                          <a:solidFill>
                            <a:srgbClr val="0B1F33"/>
                          </a:solidFill>
                          <a:latin typeface="Aptos" pitchFamily="34" charset="0"/>
                          <a:ea typeface="Aptos" pitchFamily="34" charset="-122"/>
                          <a:cs typeface="Aptos" pitchFamily="34" charset="-120"/>
                        </a:rPr>
                        <a:t>0.5530</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980" dirty="0">
                          <a:solidFill>
                            <a:srgbClr val="0B1F33"/>
                          </a:solidFill>
                          <a:latin typeface="Aptos" pitchFamily="34" charset="0"/>
                          <a:ea typeface="Aptos" pitchFamily="34" charset="-122"/>
                          <a:cs typeface="Aptos" pitchFamily="34" charset="-120"/>
                        </a:rPr>
                        <a:t>1.2964</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980" dirty="0">
                          <a:solidFill>
                            <a:srgbClr val="0B1F33"/>
                          </a:solidFill>
                          <a:latin typeface="Aptos" pitchFamily="34" charset="0"/>
                          <a:ea typeface="Aptos" pitchFamily="34" charset="-122"/>
                          <a:cs typeface="Aptos" pitchFamily="34" charset="-120"/>
                        </a:rPr>
                        <a:t>0.9849</a:t>
                      </a:r>
                      <a:endParaRPr lang="en-US" sz="980" dirty="0">
                        <a:latin typeface="Aptos" charset="0"/>
                        <a:ea typeface="Aptos" charset="0"/>
                        <a:cs typeface="Aptos" charset="0"/>
                      </a:endParaRPr>
                    </a:p>
                  </a:txBody>
                  <a:tcPr marL="45720" marR="45720" marT="45720" marB="45720">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bl>
          </a:graphicData>
        </a:graphic>
      </p:graphicFrame>
      <p:sp>
        <p:nvSpPr>
          <p:cNvPr id="9" name="Shape 5"/>
          <p:cNvSpPr/>
          <p:nvPr/>
        </p:nvSpPr>
        <p:spPr>
          <a:xfrm>
            <a:off x="7516368" y="4096512"/>
            <a:ext cx="1627632" cy="896112"/>
          </a:xfrm>
          <a:prstGeom prst="roundRect">
            <a:avLst>
              <a:gd name="adj" fmla="val 12245"/>
            </a:avLst>
          </a:prstGeom>
          <a:solidFill>
            <a:srgbClr val="E9F6F5"/>
          </a:solidFill>
          <a:ln w="11430">
            <a:solidFill>
              <a:srgbClr val="D8E0E8"/>
            </a:solidFill>
            <a:prstDash val="solid"/>
          </a:ln>
        </p:spPr>
      </p:sp>
      <p:sp>
        <p:nvSpPr>
          <p:cNvPr id="10" name="Shape 6"/>
          <p:cNvSpPr/>
          <p:nvPr/>
        </p:nvSpPr>
        <p:spPr>
          <a:xfrm>
            <a:off x="7516368" y="4096512"/>
            <a:ext cx="64008" cy="896112"/>
          </a:xfrm>
          <a:prstGeom prst="rect">
            <a:avLst/>
          </a:prstGeom>
          <a:solidFill>
            <a:srgbClr val="14866D"/>
          </a:solidFill>
          <a:ln w="12700">
            <a:solidFill>
              <a:srgbClr val="14866D"/>
            </a:solidFill>
            <a:prstDash val="solid"/>
          </a:ln>
        </p:spPr>
      </p:sp>
      <p:sp>
        <p:nvSpPr>
          <p:cNvPr id="11" name="Text 7"/>
          <p:cNvSpPr/>
          <p:nvPr/>
        </p:nvSpPr>
        <p:spPr>
          <a:xfrm>
            <a:off x="7680960" y="4206240"/>
            <a:ext cx="1371600" cy="201168"/>
          </a:xfrm>
          <a:prstGeom prst="rect">
            <a:avLst/>
          </a:prstGeom>
          <a:noFill/>
          <a:ln/>
        </p:spPr>
        <p:txBody>
          <a:bodyPr wrap="square" lIns="635" tIns="635" rIns="635" bIns="635" rtlCol="0" anchor="ctr">
            <a:normAutofit/>
          </a:bodyPr>
          <a:lstStyle/>
          <a:p>
            <a:pPr algn="l" indent="0" marL="0">
              <a:buNone/>
            </a:pPr>
            <a:r>
              <a:rPr lang="en-US" sz="950" b="1" dirty="0">
                <a:solidFill>
                  <a:srgbClr val="5F6B78"/>
                </a:solidFill>
                <a:latin typeface="Aptos" pitchFamily="34" charset="0"/>
                <a:ea typeface="Aptos" pitchFamily="34" charset="-122"/>
                <a:cs typeface="Aptos" pitchFamily="34" charset="-120"/>
              </a:rPr>
              <a:t>MAE IMPROVEMENT</a:t>
            </a:r>
            <a:endParaRPr lang="en-US" sz="950" dirty="0"/>
          </a:p>
        </p:txBody>
      </p:sp>
      <p:sp>
        <p:nvSpPr>
          <p:cNvPr id="12" name="Text 8"/>
          <p:cNvSpPr/>
          <p:nvPr/>
        </p:nvSpPr>
        <p:spPr>
          <a:xfrm>
            <a:off x="7680960" y="4434840"/>
            <a:ext cx="1353312" cy="310896"/>
          </a:xfrm>
          <a:prstGeom prst="rect">
            <a:avLst/>
          </a:prstGeom>
          <a:noFill/>
          <a:ln/>
        </p:spPr>
        <p:txBody>
          <a:bodyPr wrap="square" lIns="635" tIns="635" rIns="635" bIns="635"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5.28%</a:t>
            </a:r>
            <a:endParaRPr lang="en-US" sz="2000" dirty="0"/>
          </a:p>
        </p:txBody>
      </p:sp>
      <p:sp>
        <p:nvSpPr>
          <p:cNvPr id="13" name="Text 9"/>
          <p:cNvSpPr/>
          <p:nvPr/>
        </p:nvSpPr>
        <p:spPr>
          <a:xfrm>
            <a:off x="7680960" y="4745736"/>
            <a:ext cx="1353312" cy="164592"/>
          </a:xfrm>
          <a:prstGeom prst="rect">
            <a:avLst/>
          </a:prstGeom>
          <a:noFill/>
          <a:ln/>
        </p:spPr>
        <p:txBody>
          <a:bodyPr wrap="square" lIns="635" tIns="635" rIns="635" bIns="635" rtlCol="0" anchor="ctr">
            <a:normAutofit/>
          </a:bodyPr>
          <a:lstStyle/>
          <a:p>
            <a:pPr algn="l" indent="0" marL="0">
              <a:buNone/>
            </a:pPr>
            <a:r>
              <a:rPr lang="en-US" sz="780" dirty="0">
                <a:solidFill>
                  <a:srgbClr val="14866D"/>
                </a:solidFill>
                <a:latin typeface="Aptos" pitchFamily="34" charset="0"/>
                <a:ea typeface="Aptos" pitchFamily="34" charset="-122"/>
                <a:cs typeface="Aptos" pitchFamily="34" charset="-120"/>
              </a:rPr>
              <a:t>RF vs persistence</a:t>
            </a:r>
            <a:endParaRPr lang="en-US" sz="780" dirty="0"/>
          </a:p>
        </p:txBody>
      </p:sp>
      <p:sp>
        <p:nvSpPr>
          <p:cNvPr id="14" name="Shape 10"/>
          <p:cNvSpPr/>
          <p:nvPr/>
        </p:nvSpPr>
        <p:spPr>
          <a:xfrm>
            <a:off x="9326880" y="4096512"/>
            <a:ext cx="1627632" cy="896112"/>
          </a:xfrm>
          <a:prstGeom prst="roundRect">
            <a:avLst>
              <a:gd name="adj" fmla="val 12245"/>
            </a:avLst>
          </a:prstGeom>
          <a:solidFill>
            <a:srgbClr val="E9F6F5"/>
          </a:solidFill>
          <a:ln w="11430">
            <a:solidFill>
              <a:srgbClr val="D8E0E8"/>
            </a:solidFill>
            <a:prstDash val="solid"/>
          </a:ln>
        </p:spPr>
      </p:sp>
      <p:sp>
        <p:nvSpPr>
          <p:cNvPr id="15" name="Shape 11"/>
          <p:cNvSpPr/>
          <p:nvPr/>
        </p:nvSpPr>
        <p:spPr>
          <a:xfrm>
            <a:off x="9326880" y="4096512"/>
            <a:ext cx="64008" cy="896112"/>
          </a:xfrm>
          <a:prstGeom prst="rect">
            <a:avLst/>
          </a:prstGeom>
          <a:solidFill>
            <a:srgbClr val="14866D"/>
          </a:solidFill>
          <a:ln w="12700">
            <a:solidFill>
              <a:srgbClr val="14866D"/>
            </a:solidFill>
            <a:prstDash val="solid"/>
          </a:ln>
        </p:spPr>
      </p:sp>
      <p:sp>
        <p:nvSpPr>
          <p:cNvPr id="16" name="Text 12"/>
          <p:cNvSpPr/>
          <p:nvPr/>
        </p:nvSpPr>
        <p:spPr>
          <a:xfrm>
            <a:off x="9491472" y="4206240"/>
            <a:ext cx="1371600" cy="201168"/>
          </a:xfrm>
          <a:prstGeom prst="rect">
            <a:avLst/>
          </a:prstGeom>
          <a:noFill/>
          <a:ln/>
        </p:spPr>
        <p:txBody>
          <a:bodyPr wrap="square" lIns="635" tIns="635" rIns="635" bIns="635" rtlCol="0" anchor="ctr">
            <a:normAutofit/>
          </a:bodyPr>
          <a:lstStyle/>
          <a:p>
            <a:pPr algn="l" indent="0" marL="0">
              <a:buNone/>
            </a:pPr>
            <a:r>
              <a:rPr lang="en-US" sz="950" b="1" dirty="0">
                <a:solidFill>
                  <a:srgbClr val="5F6B78"/>
                </a:solidFill>
                <a:latin typeface="Aptos" pitchFamily="34" charset="0"/>
                <a:ea typeface="Aptos" pitchFamily="34" charset="-122"/>
                <a:cs typeface="Aptos" pitchFamily="34" charset="-120"/>
              </a:rPr>
              <a:t>RMSE IMPROVEMENT</a:t>
            </a:r>
            <a:endParaRPr lang="en-US" sz="950" dirty="0"/>
          </a:p>
        </p:txBody>
      </p:sp>
      <p:sp>
        <p:nvSpPr>
          <p:cNvPr id="17" name="Text 13"/>
          <p:cNvSpPr/>
          <p:nvPr/>
        </p:nvSpPr>
        <p:spPr>
          <a:xfrm>
            <a:off x="9491472" y="4434840"/>
            <a:ext cx="1353312" cy="310896"/>
          </a:xfrm>
          <a:prstGeom prst="rect">
            <a:avLst/>
          </a:prstGeom>
          <a:noFill/>
          <a:ln/>
        </p:spPr>
        <p:txBody>
          <a:bodyPr wrap="square" lIns="635" tIns="635" rIns="635" bIns="635"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7.72%</a:t>
            </a:r>
            <a:endParaRPr lang="en-US" sz="2000" dirty="0"/>
          </a:p>
        </p:txBody>
      </p:sp>
      <p:sp>
        <p:nvSpPr>
          <p:cNvPr id="18" name="Text 14"/>
          <p:cNvSpPr/>
          <p:nvPr/>
        </p:nvSpPr>
        <p:spPr>
          <a:xfrm>
            <a:off x="9491472" y="4745736"/>
            <a:ext cx="1353312" cy="164592"/>
          </a:xfrm>
          <a:prstGeom prst="rect">
            <a:avLst/>
          </a:prstGeom>
          <a:noFill/>
          <a:ln/>
        </p:spPr>
        <p:txBody>
          <a:bodyPr wrap="square" lIns="635" tIns="635" rIns="635" bIns="635" rtlCol="0" anchor="ctr">
            <a:normAutofit/>
          </a:bodyPr>
          <a:lstStyle/>
          <a:p>
            <a:pPr algn="l" indent="0" marL="0">
              <a:buNone/>
            </a:pPr>
            <a:r>
              <a:rPr lang="en-US" sz="780" dirty="0">
                <a:solidFill>
                  <a:srgbClr val="14866D"/>
                </a:solidFill>
                <a:latin typeface="Aptos" pitchFamily="34" charset="0"/>
                <a:ea typeface="Aptos" pitchFamily="34" charset="-122"/>
                <a:cs typeface="Aptos" pitchFamily="34" charset="-120"/>
              </a:rPr>
              <a:t>RF vs persistence</a:t>
            </a:r>
            <a:endParaRPr lang="en-US" sz="780" dirty="0"/>
          </a:p>
        </p:txBody>
      </p:sp>
      <p:sp>
        <p:nvSpPr>
          <p:cNvPr id="19" name="Text 15"/>
          <p:cNvSpPr/>
          <p:nvPr/>
        </p:nvSpPr>
        <p:spPr>
          <a:xfrm>
            <a:off x="7516368" y="5193792"/>
            <a:ext cx="3611880" cy="329184"/>
          </a:xfrm>
          <a:prstGeom prst="rect">
            <a:avLst/>
          </a:prstGeom>
          <a:noFill/>
          <a:ln/>
        </p:spPr>
        <p:txBody>
          <a:bodyPr wrap="square" lIns="635" tIns="635" rIns="635" bIns="635" rtlCol="0" anchor="t">
            <a:normAutofit/>
          </a:bodyPr>
          <a:lstStyle/>
          <a:p>
            <a:pPr algn="l" indent="0" marL="0">
              <a:buNone/>
            </a:pPr>
            <a:r>
              <a:rPr lang="en-US" sz="950" i="1" dirty="0">
                <a:solidFill>
                  <a:srgbClr val="5F6B78"/>
                </a:solidFill>
                <a:latin typeface="Aptos" pitchFamily="34" charset="0"/>
                <a:ea typeface="Aptos" pitchFamily="34" charset="-122"/>
                <a:cs typeface="Aptos" pitchFamily="34" charset="-120"/>
              </a:rPr>
              <a:t>Initial direct-level Linear Regression was much weaker (MAE ≈ 6.17), motivating nonlinear tree models.</a:t>
            </a:r>
            <a:endParaRPr lang="en-US" sz="95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Results analysis and interpretation</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graphicFrame>
        <p:nvGraphicFramePr>
          <p:cNvPr id="4" name="Chart 0" descr=""/>
          <p:cNvGraphicFramePr/>
          <p:nvPr/>
        </p:nvGraphicFramePr>
        <p:xfrm>
          <a:off x="658368" y="1417320"/>
          <a:ext cx="5486400" cy="2971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841248" y="1591056"/>
            <a:ext cx="2011680" cy="228600"/>
          </a:xfrm>
          <a:prstGeom prst="rect">
            <a:avLst/>
          </a:prstGeom>
          <a:noFill/>
          <a:ln/>
        </p:spPr>
        <p:txBody>
          <a:bodyPr wrap="square" lIns="635" tIns="635" rIns="635" bIns="635" rtlCol="0" anchor="ctr">
            <a:normAutofit/>
          </a:bodyPr>
          <a:lstStyle/>
          <a:p>
            <a:pPr algn="l" indent="0" marL="0">
              <a:buNone/>
            </a:pPr>
            <a:r>
              <a:rPr lang="en-US" sz="1300" b="1" dirty="0">
                <a:solidFill>
                  <a:srgbClr val="0B1F33"/>
                </a:solidFill>
                <a:latin typeface="Aptos" pitchFamily="34" charset="0"/>
                <a:ea typeface="Aptos" pitchFamily="34" charset="-122"/>
                <a:cs typeface="Aptos" pitchFamily="34" charset="-120"/>
              </a:rPr>
              <a:t>Feature importance</a:t>
            </a:r>
            <a:endParaRPr lang="en-US" sz="1300" dirty="0"/>
          </a:p>
        </p:txBody>
      </p:sp>
      <p:sp>
        <p:nvSpPr>
          <p:cNvPr id="6" name="Shape 3"/>
          <p:cNvSpPr/>
          <p:nvPr/>
        </p:nvSpPr>
        <p:spPr>
          <a:xfrm>
            <a:off x="6382512" y="1417320"/>
            <a:ext cx="5074920" cy="2971800"/>
          </a:xfrm>
          <a:prstGeom prst="roundRect">
            <a:avLst>
              <a:gd name="adj" fmla="val 3692"/>
            </a:avLst>
          </a:prstGeom>
          <a:solidFill>
            <a:srgbClr val="EEF2F6"/>
          </a:solidFill>
          <a:ln w="11430">
            <a:solidFill>
              <a:srgbClr val="D5DEE7"/>
            </a:solidFill>
            <a:prstDash val="solid"/>
          </a:ln>
        </p:spPr>
      </p:sp>
      <p:sp>
        <p:nvSpPr>
          <p:cNvPr id="7" name="Text 4"/>
          <p:cNvSpPr/>
          <p:nvPr/>
        </p:nvSpPr>
        <p:spPr>
          <a:xfrm>
            <a:off x="6656832" y="1700784"/>
            <a:ext cx="4526280" cy="310896"/>
          </a:xfrm>
          <a:prstGeom prst="rect">
            <a:avLst/>
          </a:prstGeom>
          <a:noFill/>
          <a:ln/>
        </p:spPr>
        <p:txBody>
          <a:bodyPr wrap="square" lIns="635" tIns="635" rIns="635" bIns="635" rtlCol="0" anchor="ctr">
            <a:normAutofit/>
          </a:bodyPr>
          <a:lstStyle/>
          <a:p>
            <a:pPr algn="l" indent="0" marL="0">
              <a:buNone/>
            </a:pPr>
            <a:r>
              <a:rPr lang="en-US" sz="1650" b="1" dirty="0">
                <a:solidFill>
                  <a:srgbClr val="0B1F33"/>
                </a:solidFill>
                <a:latin typeface="Aptos" pitchFamily="34" charset="0"/>
                <a:ea typeface="Aptos" pitchFamily="34" charset="-122"/>
                <a:cs typeface="Aptos" pitchFamily="34" charset="-120"/>
              </a:rPr>
              <a:t>Relative-IV interpretation</a:t>
            </a:r>
            <a:endParaRPr lang="en-US" sz="1650" dirty="0"/>
          </a:p>
        </p:txBody>
      </p:sp>
      <p:sp>
        <p:nvSpPr>
          <p:cNvPr id="8" name="Text 5"/>
          <p:cNvSpPr/>
          <p:nvPr/>
        </p:nvSpPr>
        <p:spPr>
          <a:xfrm>
            <a:off x="6675120" y="2240280"/>
            <a:ext cx="2468880" cy="237744"/>
          </a:xfrm>
          <a:prstGeom prst="rect">
            <a:avLst/>
          </a:prstGeom>
          <a:noFill/>
          <a:ln/>
        </p:spPr>
        <p:txBody>
          <a:bodyPr wrap="square" lIns="635" tIns="635" rIns="635" bIns="635" rtlCol="0" anchor="ctr">
            <a:normAutofit/>
          </a:bodyPr>
          <a:lstStyle/>
          <a:p>
            <a:pPr algn="l" indent="0" marL="0">
              <a:buNone/>
            </a:pPr>
            <a:r>
              <a:rPr lang="en-US" sz="1120" b="1" dirty="0">
                <a:solidFill>
                  <a:srgbClr val="5F6B78"/>
                </a:solidFill>
                <a:latin typeface="Aptos" pitchFamily="34" charset="0"/>
                <a:ea typeface="Aptos" pitchFamily="34" charset="-122"/>
                <a:cs typeface="Aptos" pitchFamily="34" charset="-120"/>
              </a:rPr>
              <a:t>Fair / Neutral</a:t>
            </a:r>
            <a:endParaRPr lang="en-US" sz="1120" dirty="0"/>
          </a:p>
        </p:txBody>
      </p:sp>
      <p:sp>
        <p:nvSpPr>
          <p:cNvPr id="9" name="Text 6"/>
          <p:cNvSpPr/>
          <p:nvPr/>
        </p:nvSpPr>
        <p:spPr>
          <a:xfrm>
            <a:off x="9217152" y="2240280"/>
            <a:ext cx="621792" cy="237744"/>
          </a:xfrm>
          <a:prstGeom prst="rect">
            <a:avLst/>
          </a:prstGeom>
          <a:noFill/>
          <a:ln/>
        </p:spPr>
        <p:txBody>
          <a:bodyPr wrap="square" lIns="635" tIns="635" rIns="635" bIns="635" rtlCol="0" anchor="ctr">
            <a:normAutofit/>
          </a:bodyPr>
          <a:lstStyle/>
          <a:p>
            <a:pPr algn="r" indent="0" marL="0">
              <a:buNone/>
            </a:pPr>
            <a:r>
              <a:rPr lang="en-US" sz="1120" b="1" dirty="0">
                <a:solidFill>
                  <a:srgbClr val="0B1F33"/>
                </a:solidFill>
                <a:latin typeface="Aptos" pitchFamily="34" charset="0"/>
                <a:ea typeface="Aptos" pitchFamily="34" charset="-122"/>
                <a:cs typeface="Aptos" pitchFamily="34" charset="-120"/>
              </a:rPr>
              <a:t>766</a:t>
            </a:r>
            <a:endParaRPr lang="en-US" sz="1120" dirty="0"/>
          </a:p>
        </p:txBody>
      </p:sp>
      <p:sp>
        <p:nvSpPr>
          <p:cNvPr id="10" name="Text 7"/>
          <p:cNvSpPr/>
          <p:nvPr/>
        </p:nvSpPr>
        <p:spPr>
          <a:xfrm>
            <a:off x="9985248" y="2240280"/>
            <a:ext cx="841248" cy="237744"/>
          </a:xfrm>
          <a:prstGeom prst="rect">
            <a:avLst/>
          </a:prstGeom>
          <a:noFill/>
          <a:ln/>
        </p:spPr>
        <p:txBody>
          <a:bodyPr wrap="square" lIns="635" tIns="635" rIns="635" bIns="635" rtlCol="0" anchor="ctr">
            <a:normAutofit/>
          </a:bodyPr>
          <a:lstStyle/>
          <a:p>
            <a:pPr algn="r" indent="0" marL="0">
              <a:buNone/>
            </a:pPr>
            <a:r>
              <a:rPr lang="en-US" sz="1050" dirty="0">
                <a:solidFill>
                  <a:srgbClr val="5F6B78"/>
                </a:solidFill>
                <a:latin typeface="Aptos" pitchFamily="34" charset="0"/>
                <a:ea typeface="Aptos" pitchFamily="34" charset="-122"/>
                <a:cs typeface="Aptos" pitchFamily="34" charset="-120"/>
              </a:rPr>
              <a:t>77.92%</a:t>
            </a:r>
            <a:endParaRPr lang="en-US" sz="1050" dirty="0"/>
          </a:p>
        </p:txBody>
      </p:sp>
      <p:sp>
        <p:nvSpPr>
          <p:cNvPr id="11" name="Text 8"/>
          <p:cNvSpPr/>
          <p:nvPr/>
        </p:nvSpPr>
        <p:spPr>
          <a:xfrm>
            <a:off x="6675120" y="2852928"/>
            <a:ext cx="2468880" cy="237744"/>
          </a:xfrm>
          <a:prstGeom prst="rect">
            <a:avLst/>
          </a:prstGeom>
          <a:noFill/>
          <a:ln/>
        </p:spPr>
        <p:txBody>
          <a:bodyPr wrap="square" lIns="635" tIns="635" rIns="635" bIns="635" rtlCol="0" anchor="ctr">
            <a:normAutofit/>
          </a:bodyPr>
          <a:lstStyle/>
          <a:p>
            <a:pPr algn="l" indent="0" marL="0">
              <a:buNone/>
            </a:pPr>
            <a:r>
              <a:rPr lang="en-US" sz="1120" b="1" dirty="0">
                <a:solidFill>
                  <a:srgbClr val="B42318"/>
                </a:solidFill>
                <a:latin typeface="Aptos" pitchFamily="34" charset="0"/>
                <a:ea typeface="Aptos" pitchFamily="34" charset="-122"/>
                <a:cs typeface="Aptos" pitchFamily="34" charset="-120"/>
              </a:rPr>
              <a:t>High IV vs forecast</a:t>
            </a:r>
            <a:endParaRPr lang="en-US" sz="1120" dirty="0"/>
          </a:p>
        </p:txBody>
      </p:sp>
      <p:sp>
        <p:nvSpPr>
          <p:cNvPr id="12" name="Text 9"/>
          <p:cNvSpPr/>
          <p:nvPr/>
        </p:nvSpPr>
        <p:spPr>
          <a:xfrm>
            <a:off x="9217152" y="2852928"/>
            <a:ext cx="621792" cy="237744"/>
          </a:xfrm>
          <a:prstGeom prst="rect">
            <a:avLst/>
          </a:prstGeom>
          <a:noFill/>
          <a:ln/>
        </p:spPr>
        <p:txBody>
          <a:bodyPr wrap="square" lIns="635" tIns="635" rIns="635" bIns="635" rtlCol="0" anchor="ctr">
            <a:normAutofit/>
          </a:bodyPr>
          <a:lstStyle/>
          <a:p>
            <a:pPr algn="r" indent="0" marL="0">
              <a:buNone/>
            </a:pPr>
            <a:r>
              <a:rPr lang="en-US" sz="1120" b="1" dirty="0">
                <a:solidFill>
                  <a:srgbClr val="0B1F33"/>
                </a:solidFill>
                <a:latin typeface="Aptos" pitchFamily="34" charset="0"/>
                <a:ea typeface="Aptos" pitchFamily="34" charset="-122"/>
                <a:cs typeface="Aptos" pitchFamily="34" charset="-120"/>
              </a:rPr>
              <a:t>152</a:t>
            </a:r>
            <a:endParaRPr lang="en-US" sz="1120" dirty="0"/>
          </a:p>
        </p:txBody>
      </p:sp>
      <p:sp>
        <p:nvSpPr>
          <p:cNvPr id="13" name="Text 10"/>
          <p:cNvSpPr/>
          <p:nvPr/>
        </p:nvSpPr>
        <p:spPr>
          <a:xfrm>
            <a:off x="9985248" y="2852928"/>
            <a:ext cx="841248" cy="237744"/>
          </a:xfrm>
          <a:prstGeom prst="rect">
            <a:avLst/>
          </a:prstGeom>
          <a:noFill/>
          <a:ln/>
        </p:spPr>
        <p:txBody>
          <a:bodyPr wrap="square" lIns="635" tIns="635" rIns="635" bIns="635" rtlCol="0" anchor="ctr">
            <a:normAutofit/>
          </a:bodyPr>
          <a:lstStyle/>
          <a:p>
            <a:pPr algn="r" indent="0" marL="0">
              <a:buNone/>
            </a:pPr>
            <a:r>
              <a:rPr lang="en-US" sz="1050" dirty="0">
                <a:solidFill>
                  <a:srgbClr val="5F6B78"/>
                </a:solidFill>
                <a:latin typeface="Aptos" pitchFamily="34" charset="0"/>
                <a:ea typeface="Aptos" pitchFamily="34" charset="-122"/>
                <a:cs typeface="Aptos" pitchFamily="34" charset="-120"/>
              </a:rPr>
              <a:t>15.46%</a:t>
            </a:r>
            <a:endParaRPr lang="en-US" sz="1050" dirty="0"/>
          </a:p>
        </p:txBody>
      </p:sp>
      <p:sp>
        <p:nvSpPr>
          <p:cNvPr id="14" name="Text 11"/>
          <p:cNvSpPr/>
          <p:nvPr/>
        </p:nvSpPr>
        <p:spPr>
          <a:xfrm>
            <a:off x="6675120" y="3465576"/>
            <a:ext cx="2468880" cy="237744"/>
          </a:xfrm>
          <a:prstGeom prst="rect">
            <a:avLst/>
          </a:prstGeom>
          <a:noFill/>
          <a:ln/>
        </p:spPr>
        <p:txBody>
          <a:bodyPr wrap="square" lIns="635" tIns="635" rIns="635" bIns="635" rtlCol="0" anchor="ctr">
            <a:normAutofit/>
          </a:bodyPr>
          <a:lstStyle/>
          <a:p>
            <a:pPr algn="l" indent="0" marL="0">
              <a:buNone/>
            </a:pPr>
            <a:r>
              <a:rPr lang="en-US" sz="1120" b="1" dirty="0">
                <a:solidFill>
                  <a:srgbClr val="14866D"/>
                </a:solidFill>
                <a:latin typeface="Aptos" pitchFamily="34" charset="0"/>
                <a:ea typeface="Aptos" pitchFamily="34" charset="-122"/>
                <a:cs typeface="Aptos" pitchFamily="34" charset="-120"/>
              </a:rPr>
              <a:t>Low IV vs forecast</a:t>
            </a:r>
            <a:endParaRPr lang="en-US" sz="1120" dirty="0"/>
          </a:p>
        </p:txBody>
      </p:sp>
      <p:sp>
        <p:nvSpPr>
          <p:cNvPr id="15" name="Text 12"/>
          <p:cNvSpPr/>
          <p:nvPr/>
        </p:nvSpPr>
        <p:spPr>
          <a:xfrm>
            <a:off x="9217152" y="3465576"/>
            <a:ext cx="621792" cy="237744"/>
          </a:xfrm>
          <a:prstGeom prst="rect">
            <a:avLst/>
          </a:prstGeom>
          <a:noFill/>
          <a:ln/>
        </p:spPr>
        <p:txBody>
          <a:bodyPr wrap="square" lIns="635" tIns="635" rIns="635" bIns="635" rtlCol="0" anchor="ctr">
            <a:normAutofit/>
          </a:bodyPr>
          <a:lstStyle/>
          <a:p>
            <a:pPr algn="r" indent="0" marL="0">
              <a:buNone/>
            </a:pPr>
            <a:r>
              <a:rPr lang="en-US" sz="1120" b="1" dirty="0">
                <a:solidFill>
                  <a:srgbClr val="0B1F33"/>
                </a:solidFill>
                <a:latin typeface="Aptos" pitchFamily="34" charset="0"/>
                <a:ea typeface="Aptos" pitchFamily="34" charset="-122"/>
                <a:cs typeface="Aptos" pitchFamily="34" charset="-120"/>
              </a:rPr>
              <a:t>65</a:t>
            </a:r>
            <a:endParaRPr lang="en-US" sz="1120" dirty="0"/>
          </a:p>
        </p:txBody>
      </p:sp>
      <p:sp>
        <p:nvSpPr>
          <p:cNvPr id="16" name="Text 13"/>
          <p:cNvSpPr/>
          <p:nvPr/>
        </p:nvSpPr>
        <p:spPr>
          <a:xfrm>
            <a:off x="9985248" y="3465576"/>
            <a:ext cx="841248" cy="237744"/>
          </a:xfrm>
          <a:prstGeom prst="rect">
            <a:avLst/>
          </a:prstGeom>
          <a:noFill/>
          <a:ln/>
        </p:spPr>
        <p:txBody>
          <a:bodyPr wrap="square" lIns="635" tIns="635" rIns="635" bIns="635" rtlCol="0" anchor="ctr">
            <a:normAutofit/>
          </a:bodyPr>
          <a:lstStyle/>
          <a:p>
            <a:pPr algn="r" indent="0" marL="0">
              <a:buNone/>
            </a:pPr>
            <a:r>
              <a:rPr lang="en-US" sz="1050" dirty="0">
                <a:solidFill>
                  <a:srgbClr val="5F6B78"/>
                </a:solidFill>
                <a:latin typeface="Aptos" pitchFamily="34" charset="0"/>
                <a:ea typeface="Aptos" pitchFamily="34" charset="-122"/>
                <a:cs typeface="Aptos" pitchFamily="34" charset="-120"/>
              </a:rPr>
              <a:t>6.61%</a:t>
            </a:r>
            <a:endParaRPr lang="en-US" sz="1050" dirty="0"/>
          </a:p>
        </p:txBody>
      </p:sp>
      <p:sp>
        <p:nvSpPr>
          <p:cNvPr id="17" name="Text 14"/>
          <p:cNvSpPr/>
          <p:nvPr/>
        </p:nvSpPr>
        <p:spPr>
          <a:xfrm>
            <a:off x="6675120" y="4005072"/>
            <a:ext cx="4407408" cy="292608"/>
          </a:xfrm>
          <a:prstGeom prst="rect">
            <a:avLst/>
          </a:prstGeom>
          <a:noFill/>
          <a:ln/>
        </p:spPr>
        <p:txBody>
          <a:bodyPr wrap="square" lIns="635" tIns="635" rIns="635" bIns="635" rtlCol="0" anchor="ctr">
            <a:normAutofit/>
          </a:bodyPr>
          <a:lstStyle/>
          <a:p>
            <a:pPr algn="l" indent="0" marL="0">
              <a:buNone/>
            </a:pPr>
            <a:r>
              <a:rPr lang="en-US" sz="970" i="1" dirty="0">
                <a:solidFill>
                  <a:srgbClr val="5F6B78"/>
                </a:solidFill>
                <a:latin typeface="Aptos" pitchFamily="34" charset="0"/>
                <a:ea typeface="Aptos" pitchFamily="34" charset="-122"/>
                <a:cs typeface="Aptos" pitchFamily="34" charset="-120"/>
              </a:rPr>
              <a:t>Most observations were neutral because the model forecast only a small near-term IV change.</a:t>
            </a:r>
            <a:endParaRPr lang="en-US" sz="970" dirty="0"/>
          </a:p>
        </p:txBody>
      </p:sp>
      <p:sp>
        <p:nvSpPr>
          <p:cNvPr id="18" name="Shape 15"/>
          <p:cNvSpPr/>
          <p:nvPr/>
        </p:nvSpPr>
        <p:spPr>
          <a:xfrm>
            <a:off x="658368" y="4617720"/>
            <a:ext cx="5376672" cy="1097280"/>
          </a:xfrm>
          <a:prstGeom prst="roundRect">
            <a:avLst>
              <a:gd name="adj" fmla="val 10000"/>
            </a:avLst>
          </a:prstGeom>
          <a:solidFill>
            <a:srgbClr val="E9F6F5"/>
          </a:solidFill>
          <a:ln w="11430">
            <a:solidFill>
              <a:srgbClr val="C3E2DF"/>
            </a:solidFill>
            <a:prstDash val="solid"/>
          </a:ln>
        </p:spPr>
      </p:sp>
      <p:sp>
        <p:nvSpPr>
          <p:cNvPr id="19" name="Text 16"/>
          <p:cNvSpPr/>
          <p:nvPr/>
        </p:nvSpPr>
        <p:spPr>
          <a:xfrm>
            <a:off x="896112" y="4846320"/>
            <a:ext cx="2011680" cy="228600"/>
          </a:xfrm>
          <a:prstGeom prst="rect">
            <a:avLst/>
          </a:prstGeom>
          <a:noFill/>
          <a:ln/>
        </p:spPr>
        <p:txBody>
          <a:bodyPr wrap="square" lIns="635" tIns="635" rIns="635" bIns="635" rtlCol="0" anchor="ctr">
            <a:normAutofit/>
          </a:bodyPr>
          <a:lstStyle/>
          <a:p>
            <a:pPr algn="l" indent="0" marL="0">
              <a:buNone/>
            </a:pPr>
            <a:r>
              <a:rPr lang="en-US" sz="1250" b="1" dirty="0">
                <a:solidFill>
                  <a:srgbClr val="0F8B8D"/>
                </a:solidFill>
                <a:latin typeface="Aptos" pitchFamily="34" charset="0"/>
                <a:ea typeface="Aptos" pitchFamily="34" charset="-122"/>
                <a:cs typeface="Aptos" pitchFamily="34" charset="-120"/>
              </a:rPr>
              <a:t>Directional filtering</a:t>
            </a:r>
            <a:endParaRPr lang="en-US" sz="1250" dirty="0"/>
          </a:p>
        </p:txBody>
      </p:sp>
      <p:sp>
        <p:nvSpPr>
          <p:cNvPr id="20" name="Text 17"/>
          <p:cNvSpPr/>
          <p:nvPr/>
        </p:nvSpPr>
        <p:spPr>
          <a:xfrm>
            <a:off x="896112" y="5166360"/>
            <a:ext cx="4754880" cy="384048"/>
          </a:xfrm>
          <a:prstGeom prst="rect">
            <a:avLst/>
          </a:prstGeom>
          <a:noFill/>
          <a:ln/>
        </p:spPr>
        <p:txBody>
          <a:bodyPr wrap="square" lIns="635" tIns="635" rIns="635" bIns="635" rtlCol="0" anchor="t">
            <a:normAutofit/>
          </a:bodyPr>
          <a:lstStyle/>
          <a:p>
            <a:pPr algn="l" indent="0" marL="0">
              <a:buNone/>
            </a:pPr>
            <a:r>
              <a:rPr lang="en-US" sz="1050" dirty="0">
                <a:solidFill>
                  <a:srgbClr val="0B1F33"/>
                </a:solidFill>
                <a:latin typeface="Aptos" pitchFamily="34" charset="0"/>
                <a:ea typeface="Aptos" pitchFamily="34" charset="-122"/>
                <a:cs typeface="Aptos" pitchFamily="34" charset="-120"/>
              </a:rPr>
              <a:t>Overall RF direction accuracy: 53.20%. For predicted |ΔIV| thresholds of 0.05-0.25, accuracy rose to about 63-64% while coverage fell to about 16-28%.</a:t>
            </a:r>
            <a:endParaRPr lang="en-US" sz="1050" dirty="0"/>
          </a:p>
        </p:txBody>
      </p:sp>
      <p:sp>
        <p:nvSpPr>
          <p:cNvPr id="21" name="Shape 18"/>
          <p:cNvSpPr/>
          <p:nvPr/>
        </p:nvSpPr>
        <p:spPr>
          <a:xfrm>
            <a:off x="6236208" y="4617720"/>
            <a:ext cx="5212080" cy="1097280"/>
          </a:xfrm>
          <a:prstGeom prst="roundRect">
            <a:avLst>
              <a:gd name="adj" fmla="val 10000"/>
            </a:avLst>
          </a:prstGeom>
          <a:solidFill>
            <a:srgbClr val="FFF3E5"/>
          </a:solidFill>
          <a:ln w="11430">
            <a:solidFill>
              <a:srgbClr val="F1D5AC"/>
            </a:solidFill>
            <a:prstDash val="solid"/>
          </a:ln>
        </p:spPr>
      </p:sp>
      <p:sp>
        <p:nvSpPr>
          <p:cNvPr id="22" name="Text 19"/>
          <p:cNvSpPr/>
          <p:nvPr/>
        </p:nvSpPr>
        <p:spPr>
          <a:xfrm>
            <a:off x="6473952" y="4846320"/>
            <a:ext cx="2103120" cy="228600"/>
          </a:xfrm>
          <a:prstGeom prst="rect">
            <a:avLst/>
          </a:prstGeom>
          <a:noFill/>
          <a:ln/>
        </p:spPr>
        <p:txBody>
          <a:bodyPr wrap="square" lIns="635" tIns="635" rIns="635" bIns="635" rtlCol="0" anchor="ctr">
            <a:normAutofit/>
          </a:bodyPr>
          <a:lstStyle/>
          <a:p>
            <a:pPr algn="l" indent="0" marL="0">
              <a:buNone/>
            </a:pPr>
            <a:r>
              <a:rPr lang="en-US" sz="1250" b="1" dirty="0">
                <a:solidFill>
                  <a:srgbClr val="D97706"/>
                </a:solidFill>
                <a:latin typeface="Aptos" pitchFamily="34" charset="0"/>
                <a:ea typeface="Aptos" pitchFamily="34" charset="-122"/>
                <a:cs typeface="Aptos" pitchFamily="34" charset="-120"/>
              </a:rPr>
              <a:t>Probability experiment</a:t>
            </a:r>
            <a:endParaRPr lang="en-US" sz="1250" dirty="0"/>
          </a:p>
        </p:txBody>
      </p:sp>
      <p:sp>
        <p:nvSpPr>
          <p:cNvPr id="23" name="Text 20"/>
          <p:cNvSpPr/>
          <p:nvPr/>
        </p:nvSpPr>
        <p:spPr>
          <a:xfrm>
            <a:off x="6473952" y="5166360"/>
            <a:ext cx="4617720" cy="384048"/>
          </a:xfrm>
          <a:prstGeom prst="rect">
            <a:avLst/>
          </a:prstGeom>
          <a:noFill/>
          <a:ln/>
        </p:spPr>
        <p:txBody>
          <a:bodyPr wrap="square" lIns="635" tIns="635" rIns="635" bIns="635" rtlCol="0" anchor="t">
            <a:normAutofit/>
          </a:bodyPr>
          <a:lstStyle/>
          <a:p>
            <a:pPr algn="l" indent="0" marL="0">
              <a:buNone/>
            </a:pPr>
            <a:r>
              <a:rPr lang="en-US" sz="1050" dirty="0">
                <a:solidFill>
                  <a:srgbClr val="0B1F33"/>
                </a:solidFill>
                <a:latin typeface="Aptos" pitchFamily="34" charset="0"/>
                <a:ea typeface="Aptos" pitchFamily="34" charset="-122"/>
                <a:cs typeface="Aptos" pitchFamily="34" charset="-120"/>
              </a:rPr>
              <a:t>Random Forest classifier: 50.36% overall accuracy; 51.44% balanced accuracy. Probability scores were therefore not treated as reliable trading confidence.</a:t>
            </a:r>
            <a:endParaRPr lang="en-US" sz="105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Practical applications and internship learning</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indent="0" marL="0">
              <a:buNone/>
            </a:pPr>
            <a:r>
              <a:rPr lang="en-US" sz="1050" dirty="0">
                <a:solidFill>
                  <a:srgbClr val="5F6B78"/>
                </a:solidFill>
              </a:rPr>
              <a:t>Linking forecasts to option valuation, risk and a live-market workflow</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sp>
        <p:nvSpPr>
          <p:cNvPr id="5" name="Shape 3"/>
          <p:cNvSpPr/>
          <p:nvPr/>
        </p:nvSpPr>
        <p:spPr>
          <a:xfrm>
            <a:off x="658368" y="1417320"/>
            <a:ext cx="5532120" cy="4480560"/>
          </a:xfrm>
          <a:prstGeom prst="roundRect">
            <a:avLst>
              <a:gd name="adj" fmla="val 2449"/>
            </a:avLst>
          </a:prstGeom>
          <a:solidFill>
            <a:srgbClr val="FFFFFF"/>
          </a:solidFill>
          <a:ln w="11430">
            <a:solidFill>
              <a:srgbClr val="D8E0E8"/>
            </a:solidFill>
            <a:prstDash val="solid"/>
          </a:ln>
        </p:spPr>
      </p:sp>
      <p:sp>
        <p:nvSpPr>
          <p:cNvPr id="6" name="Text 4"/>
          <p:cNvSpPr/>
          <p:nvPr/>
        </p:nvSpPr>
        <p:spPr>
          <a:xfrm>
            <a:off x="932688" y="1719072"/>
            <a:ext cx="4937760" cy="310896"/>
          </a:xfrm>
          <a:prstGeom prst="rect">
            <a:avLst/>
          </a:prstGeom>
          <a:noFill/>
          <a:ln/>
        </p:spPr>
        <p:txBody>
          <a:bodyPr wrap="square" lIns="635" tIns="635" rIns="635" bIns="635" rtlCol="0" anchor="ctr">
            <a:normAutofit/>
          </a:bodyPr>
          <a:lstStyle/>
          <a:p>
            <a:pPr algn="l" indent="0" marL="0">
              <a:buNone/>
            </a:pPr>
            <a:r>
              <a:rPr lang="en-US" sz="1650" b="1" dirty="0">
                <a:solidFill>
                  <a:srgbClr val="0B1F33"/>
                </a:solidFill>
                <a:latin typeface="Aptos" pitchFamily="34" charset="0"/>
                <a:ea typeface="Aptos" pitchFamily="34" charset="-122"/>
                <a:cs typeface="Aptos" pitchFamily="34" charset="-120"/>
              </a:rPr>
              <a:t>Stress-test case: near-ATM 23,150 CE</a:t>
            </a:r>
            <a:endParaRPr lang="en-US" sz="1650" dirty="0"/>
          </a:p>
        </p:txBody>
      </p:sp>
      <p:sp>
        <p:nvSpPr>
          <p:cNvPr id="7" name="Text 5"/>
          <p:cNvSpPr/>
          <p:nvPr/>
        </p:nvSpPr>
        <p:spPr>
          <a:xfrm>
            <a:off x="950976" y="2249424"/>
            <a:ext cx="1965960" cy="210312"/>
          </a:xfrm>
          <a:prstGeom prst="rect">
            <a:avLst/>
          </a:prstGeom>
          <a:noFill/>
          <a:ln/>
        </p:spPr>
        <p:txBody>
          <a:bodyPr wrap="square" lIns="635" tIns="635" rIns="635" bIns="635" rtlCol="0" anchor="ctr">
            <a:normAutofit/>
          </a:bodyPr>
          <a:lstStyle/>
          <a:p>
            <a:pPr algn="l" indent="0" marL="0">
              <a:buNone/>
            </a:pPr>
            <a:r>
              <a:rPr lang="en-US" sz="1050" b="1" dirty="0">
                <a:solidFill>
                  <a:srgbClr val="5F6B78"/>
                </a:solidFill>
                <a:latin typeface="Aptos" pitchFamily="34" charset="0"/>
                <a:ea typeface="Aptos" pitchFamily="34" charset="-122"/>
                <a:cs typeface="Aptos" pitchFamily="34" charset="-120"/>
              </a:rPr>
              <a:t>Spot</a:t>
            </a:r>
            <a:endParaRPr lang="en-US" sz="1050" dirty="0"/>
          </a:p>
        </p:txBody>
      </p:sp>
      <p:sp>
        <p:nvSpPr>
          <p:cNvPr id="8" name="Text 6"/>
          <p:cNvSpPr/>
          <p:nvPr/>
        </p:nvSpPr>
        <p:spPr>
          <a:xfrm>
            <a:off x="2953512" y="2249424"/>
            <a:ext cx="1371600" cy="210312"/>
          </a:xfrm>
          <a:prstGeom prst="rect">
            <a:avLst/>
          </a:prstGeom>
          <a:noFill/>
          <a:ln/>
        </p:spPr>
        <p:txBody>
          <a:bodyPr wrap="square" lIns="635" tIns="635" rIns="635" bIns="635" rtlCol="0" anchor="ctr">
            <a:normAutofit/>
          </a:bodyPr>
          <a:lstStyle/>
          <a:p>
            <a:pPr algn="r" indent="0" marL="0">
              <a:buNone/>
            </a:pPr>
            <a:r>
              <a:rPr lang="en-US" sz="1150" b="1" dirty="0">
                <a:solidFill>
                  <a:srgbClr val="0B1F33"/>
                </a:solidFill>
                <a:latin typeface="Aptos" pitchFamily="34" charset="0"/>
                <a:ea typeface="Aptos" pitchFamily="34" charset="-122"/>
                <a:cs typeface="Aptos" pitchFamily="34" charset="-120"/>
              </a:rPr>
              <a:t>23,125.65</a:t>
            </a:r>
            <a:endParaRPr lang="en-US" sz="1150" dirty="0"/>
          </a:p>
        </p:txBody>
      </p:sp>
      <p:sp>
        <p:nvSpPr>
          <p:cNvPr id="9" name="Text 7"/>
          <p:cNvSpPr/>
          <p:nvPr/>
        </p:nvSpPr>
        <p:spPr>
          <a:xfrm>
            <a:off x="950976" y="2642616"/>
            <a:ext cx="1965960" cy="210312"/>
          </a:xfrm>
          <a:prstGeom prst="rect">
            <a:avLst/>
          </a:prstGeom>
          <a:noFill/>
          <a:ln/>
        </p:spPr>
        <p:txBody>
          <a:bodyPr wrap="square" lIns="635" tIns="635" rIns="635" bIns="635" rtlCol="0" anchor="ctr">
            <a:normAutofit/>
          </a:bodyPr>
          <a:lstStyle/>
          <a:p>
            <a:pPr algn="l" indent="0" marL="0">
              <a:buNone/>
            </a:pPr>
            <a:r>
              <a:rPr lang="en-US" sz="1050" b="1" dirty="0">
                <a:solidFill>
                  <a:srgbClr val="5F6B78"/>
                </a:solidFill>
                <a:latin typeface="Aptos" pitchFamily="34" charset="0"/>
                <a:ea typeface="Aptos" pitchFamily="34" charset="-122"/>
                <a:cs typeface="Aptos" pitchFamily="34" charset="-120"/>
              </a:rPr>
              <a:t>Market LTP</a:t>
            </a:r>
            <a:endParaRPr lang="en-US" sz="1050" dirty="0"/>
          </a:p>
        </p:txBody>
      </p:sp>
      <p:sp>
        <p:nvSpPr>
          <p:cNvPr id="10" name="Text 8"/>
          <p:cNvSpPr/>
          <p:nvPr/>
        </p:nvSpPr>
        <p:spPr>
          <a:xfrm>
            <a:off x="2953512" y="2642616"/>
            <a:ext cx="1371600" cy="210312"/>
          </a:xfrm>
          <a:prstGeom prst="rect">
            <a:avLst/>
          </a:prstGeom>
          <a:noFill/>
          <a:ln/>
        </p:spPr>
        <p:txBody>
          <a:bodyPr wrap="square" lIns="635" tIns="635" rIns="635" bIns="635" rtlCol="0" anchor="ctr">
            <a:normAutofit/>
          </a:bodyPr>
          <a:lstStyle/>
          <a:p>
            <a:pPr algn="r" indent="0" marL="0">
              <a:buNone/>
            </a:pPr>
            <a:r>
              <a:rPr lang="en-US" sz="1150" b="1" dirty="0">
                <a:solidFill>
                  <a:srgbClr val="0B1F33"/>
                </a:solidFill>
                <a:latin typeface="Aptos" pitchFamily="34" charset="0"/>
                <a:ea typeface="Aptos" pitchFamily="34" charset="-122"/>
                <a:cs typeface="Aptos" pitchFamily="34" charset="-120"/>
              </a:rPr>
              <a:t>₹81.70</a:t>
            </a:r>
            <a:endParaRPr lang="en-US" sz="1150" dirty="0"/>
          </a:p>
        </p:txBody>
      </p:sp>
      <p:sp>
        <p:nvSpPr>
          <p:cNvPr id="11" name="Text 9"/>
          <p:cNvSpPr/>
          <p:nvPr/>
        </p:nvSpPr>
        <p:spPr>
          <a:xfrm>
            <a:off x="950976" y="3035808"/>
            <a:ext cx="1965960" cy="210312"/>
          </a:xfrm>
          <a:prstGeom prst="rect">
            <a:avLst/>
          </a:prstGeom>
          <a:noFill/>
          <a:ln/>
        </p:spPr>
        <p:txBody>
          <a:bodyPr wrap="square" lIns="635" tIns="635" rIns="635" bIns="635" rtlCol="0" anchor="ctr">
            <a:normAutofit/>
          </a:bodyPr>
          <a:lstStyle/>
          <a:p>
            <a:pPr algn="l" indent="0" marL="0">
              <a:buNone/>
            </a:pPr>
            <a:r>
              <a:rPr lang="en-US" sz="1050" b="1" dirty="0">
                <a:solidFill>
                  <a:srgbClr val="5F6B78"/>
                </a:solidFill>
                <a:latin typeface="Aptos" pitchFamily="34" charset="0"/>
                <a:ea typeface="Aptos" pitchFamily="34" charset="-122"/>
                <a:cs typeface="Aptos" pitchFamily="34" charset="-120"/>
              </a:rPr>
              <a:t>IV</a:t>
            </a:r>
            <a:endParaRPr lang="en-US" sz="1050" dirty="0"/>
          </a:p>
        </p:txBody>
      </p:sp>
      <p:sp>
        <p:nvSpPr>
          <p:cNvPr id="12" name="Text 10"/>
          <p:cNvSpPr/>
          <p:nvPr/>
        </p:nvSpPr>
        <p:spPr>
          <a:xfrm>
            <a:off x="2953512" y="3035808"/>
            <a:ext cx="1371600" cy="210312"/>
          </a:xfrm>
          <a:prstGeom prst="rect">
            <a:avLst/>
          </a:prstGeom>
          <a:noFill/>
          <a:ln/>
        </p:spPr>
        <p:txBody>
          <a:bodyPr wrap="square" lIns="635" tIns="635" rIns="635" bIns="635" rtlCol="0" anchor="ctr">
            <a:normAutofit/>
          </a:bodyPr>
          <a:lstStyle/>
          <a:p>
            <a:pPr algn="r" indent="0" marL="0">
              <a:buNone/>
            </a:pPr>
            <a:r>
              <a:rPr lang="en-US" sz="1150" b="1" dirty="0">
                <a:solidFill>
                  <a:srgbClr val="0B1F33"/>
                </a:solidFill>
                <a:latin typeface="Aptos" pitchFamily="34" charset="0"/>
                <a:ea typeface="Aptos" pitchFamily="34" charset="-122"/>
                <a:cs typeface="Aptos" pitchFamily="34" charset="-120"/>
              </a:rPr>
              <a:t>10.71%</a:t>
            </a:r>
            <a:endParaRPr lang="en-US" sz="1150" dirty="0"/>
          </a:p>
        </p:txBody>
      </p:sp>
      <p:sp>
        <p:nvSpPr>
          <p:cNvPr id="13" name="Text 11"/>
          <p:cNvSpPr/>
          <p:nvPr/>
        </p:nvSpPr>
        <p:spPr>
          <a:xfrm>
            <a:off x="950976" y="3429000"/>
            <a:ext cx="1965960" cy="210312"/>
          </a:xfrm>
          <a:prstGeom prst="rect">
            <a:avLst/>
          </a:prstGeom>
          <a:noFill/>
          <a:ln/>
        </p:spPr>
        <p:txBody>
          <a:bodyPr wrap="square" lIns="635" tIns="635" rIns="635" bIns="635" rtlCol="0" anchor="ctr">
            <a:normAutofit/>
          </a:bodyPr>
          <a:lstStyle/>
          <a:p>
            <a:pPr algn="l" indent="0" marL="0">
              <a:buNone/>
            </a:pPr>
            <a:r>
              <a:rPr lang="en-US" sz="1050" b="1" dirty="0">
                <a:solidFill>
                  <a:srgbClr val="5F6B78"/>
                </a:solidFill>
                <a:latin typeface="Aptos" pitchFamily="34" charset="0"/>
                <a:ea typeface="Aptos" pitchFamily="34" charset="-122"/>
                <a:cs typeface="Aptos" pitchFamily="34" charset="-120"/>
              </a:rPr>
              <a:t>Time to expiry</a:t>
            </a:r>
            <a:endParaRPr lang="en-US" sz="1050" dirty="0"/>
          </a:p>
        </p:txBody>
      </p:sp>
      <p:sp>
        <p:nvSpPr>
          <p:cNvPr id="14" name="Text 12"/>
          <p:cNvSpPr/>
          <p:nvPr/>
        </p:nvSpPr>
        <p:spPr>
          <a:xfrm>
            <a:off x="2953512" y="3429000"/>
            <a:ext cx="1371600" cy="210312"/>
          </a:xfrm>
          <a:prstGeom prst="rect">
            <a:avLst/>
          </a:prstGeom>
          <a:noFill/>
          <a:ln/>
        </p:spPr>
        <p:txBody>
          <a:bodyPr wrap="square" lIns="635" tIns="635" rIns="635" bIns="635" rtlCol="0" anchor="ctr">
            <a:normAutofit/>
          </a:bodyPr>
          <a:lstStyle/>
          <a:p>
            <a:pPr algn="r" indent="0" marL="0">
              <a:buNone/>
            </a:pPr>
            <a:r>
              <a:rPr lang="en-US" sz="1150" b="1" dirty="0">
                <a:solidFill>
                  <a:srgbClr val="0B1F33"/>
                </a:solidFill>
                <a:latin typeface="Aptos" pitchFamily="34" charset="0"/>
                <a:ea typeface="Aptos" pitchFamily="34" charset="-122"/>
                <a:cs typeface="Aptos" pitchFamily="34" charset="-120"/>
              </a:rPr>
              <a:t>74.58 hours</a:t>
            </a:r>
            <a:endParaRPr lang="en-US" sz="1150" dirty="0"/>
          </a:p>
        </p:txBody>
      </p:sp>
      <p:sp>
        <p:nvSpPr>
          <p:cNvPr id="15" name="Text 13"/>
          <p:cNvSpPr/>
          <p:nvPr/>
        </p:nvSpPr>
        <p:spPr>
          <a:xfrm>
            <a:off x="950976" y="3822192"/>
            <a:ext cx="1965960" cy="210312"/>
          </a:xfrm>
          <a:prstGeom prst="rect">
            <a:avLst/>
          </a:prstGeom>
          <a:noFill/>
          <a:ln/>
        </p:spPr>
        <p:txBody>
          <a:bodyPr wrap="square" lIns="635" tIns="635" rIns="635" bIns="635" rtlCol="0" anchor="ctr">
            <a:normAutofit/>
          </a:bodyPr>
          <a:lstStyle/>
          <a:p>
            <a:pPr algn="l" indent="0" marL="0">
              <a:buNone/>
            </a:pPr>
            <a:r>
              <a:rPr lang="en-US" sz="1050" b="1" dirty="0">
                <a:solidFill>
                  <a:srgbClr val="5F6B78"/>
                </a:solidFill>
                <a:latin typeface="Aptos" pitchFamily="34" charset="0"/>
                <a:ea typeface="Aptos" pitchFamily="34" charset="-122"/>
                <a:cs typeface="Aptos" pitchFamily="34" charset="-120"/>
              </a:rPr>
              <a:t>Black-Scholes value</a:t>
            </a:r>
            <a:endParaRPr lang="en-US" sz="1050" dirty="0"/>
          </a:p>
        </p:txBody>
      </p:sp>
      <p:sp>
        <p:nvSpPr>
          <p:cNvPr id="16" name="Text 14"/>
          <p:cNvSpPr/>
          <p:nvPr/>
        </p:nvSpPr>
        <p:spPr>
          <a:xfrm>
            <a:off x="2953512" y="3822192"/>
            <a:ext cx="1371600" cy="210312"/>
          </a:xfrm>
          <a:prstGeom prst="rect">
            <a:avLst/>
          </a:prstGeom>
          <a:noFill/>
          <a:ln/>
        </p:spPr>
        <p:txBody>
          <a:bodyPr wrap="square" lIns="635" tIns="635" rIns="635" bIns="635" rtlCol="0" anchor="ctr">
            <a:normAutofit/>
          </a:bodyPr>
          <a:lstStyle/>
          <a:p>
            <a:pPr algn="r" indent="0" marL="0">
              <a:buNone/>
            </a:pPr>
            <a:r>
              <a:rPr lang="en-US" sz="1150" b="1" dirty="0">
                <a:solidFill>
                  <a:srgbClr val="0B1F33"/>
                </a:solidFill>
                <a:latin typeface="Aptos" pitchFamily="34" charset="0"/>
                <a:ea typeface="Aptos" pitchFamily="34" charset="-122"/>
                <a:cs typeface="Aptos" pitchFamily="34" charset="-120"/>
              </a:rPr>
              <a:t>₹85.07</a:t>
            </a:r>
            <a:endParaRPr lang="en-US" sz="1150" dirty="0"/>
          </a:p>
        </p:txBody>
      </p:sp>
      <p:sp>
        <p:nvSpPr>
          <p:cNvPr id="17" name="Text 15"/>
          <p:cNvSpPr/>
          <p:nvPr/>
        </p:nvSpPr>
        <p:spPr>
          <a:xfrm>
            <a:off x="941832" y="4407408"/>
            <a:ext cx="2286000" cy="219456"/>
          </a:xfrm>
          <a:prstGeom prst="rect">
            <a:avLst/>
          </a:prstGeom>
          <a:noFill/>
          <a:ln/>
        </p:spPr>
        <p:txBody>
          <a:bodyPr wrap="square" lIns="635" tIns="635" rIns="635" bIns="635" rtlCol="0" anchor="ctr">
            <a:normAutofit/>
          </a:bodyPr>
          <a:lstStyle/>
          <a:p>
            <a:pPr algn="l" indent="0" marL="0">
              <a:buNone/>
            </a:pPr>
            <a:r>
              <a:rPr lang="en-US" sz="1000" b="1" dirty="0">
                <a:solidFill>
                  <a:srgbClr val="5F6B78"/>
                </a:solidFill>
                <a:latin typeface="Aptos" pitchFamily="34" charset="0"/>
                <a:ea typeface="Aptos" pitchFamily="34" charset="-122"/>
                <a:cs typeface="Aptos" pitchFamily="34" charset="-120"/>
              </a:rPr>
              <a:t>Selected scenario results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32688" y="4700016"/>
          <a:ext cx="4892040" cy="960120"/>
        </p:xfrm>
        <a:graphic>
          <a:graphicData uri="http://schemas.openxmlformats.org/drawingml/2006/table">
            <a:tbl>
              <a:tblPr/>
              <a:tblGrid>
                <a:gridCol w="2331720"/>
                <a:gridCol w="1143000"/>
                <a:gridCol w="1143000"/>
              </a:tblGrid>
              <a:tr h="192024">
                <a:tc>
                  <a:txBody>
                    <a:bodyPr/>
                    <a:lstStyle/>
                    <a:p>
                      <a:pPr indent="0" marL="0">
                        <a:buNone/>
                      </a:pPr>
                      <a:r>
                        <a:rPr lang="en-US" sz="840" b="1" dirty="0">
                          <a:solidFill>
                            <a:srgbClr val="0B1F33"/>
                          </a:solidFill>
                          <a:latin typeface="Aptos" pitchFamily="34" charset="0"/>
                          <a:ea typeface="Aptos" pitchFamily="34" charset="-122"/>
                          <a:cs typeface="Aptos" pitchFamily="34" charset="-120"/>
                        </a:rPr>
                        <a:t>Scenario</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840" b="1" dirty="0">
                          <a:solidFill>
                            <a:srgbClr val="0B1F33"/>
                          </a:solidFill>
                          <a:latin typeface="Aptos" pitchFamily="34" charset="0"/>
                          <a:ea typeface="Aptos" pitchFamily="34" charset="-122"/>
                          <a:cs typeface="Aptos" pitchFamily="34" charset="-120"/>
                        </a:rPr>
                        <a:t>Option value</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840" b="1" dirty="0">
                          <a:solidFill>
                            <a:srgbClr val="0B1F33"/>
                          </a:solidFill>
                          <a:latin typeface="Aptos" pitchFamily="34" charset="0"/>
                          <a:ea typeface="Aptos" pitchFamily="34" charset="-122"/>
                          <a:cs typeface="Aptos" pitchFamily="34" charset="-120"/>
                        </a:rPr>
                        <a:t>Change</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192024">
                <a:tc>
                  <a:txBody>
                    <a:bodyPr/>
                    <a:lstStyle/>
                    <a:p>
                      <a:pPr indent="0" marL="0">
                        <a:buNone/>
                      </a:pPr>
                      <a:r>
                        <a:rPr lang="en-US" sz="840" dirty="0">
                          <a:solidFill>
                            <a:srgbClr val="0B1F33"/>
                          </a:solidFill>
                          <a:latin typeface="Aptos" pitchFamily="34" charset="0"/>
                          <a:ea typeface="Aptos" pitchFamily="34" charset="-122"/>
                          <a:cs typeface="Aptos" pitchFamily="34" charset="-120"/>
                        </a:rPr>
                        <a:t>Spot -2%</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840" dirty="0">
                          <a:solidFill>
                            <a:srgbClr val="0B1F33"/>
                          </a:solidFill>
                          <a:latin typeface="Aptos" pitchFamily="34" charset="0"/>
                          <a:ea typeface="Aptos" pitchFamily="34" charset="-122"/>
                          <a:cs typeface="Aptos" pitchFamily="34" charset="-120"/>
                        </a:rPr>
                        <a:t>₹1.47</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840" dirty="0">
                          <a:solidFill>
                            <a:srgbClr val="0B1F33"/>
                          </a:solidFill>
                          <a:latin typeface="Aptos" pitchFamily="34" charset="0"/>
                          <a:ea typeface="Aptos" pitchFamily="34" charset="-122"/>
                          <a:cs typeface="Aptos" pitchFamily="34" charset="-120"/>
                        </a:rPr>
                        <a:t>-98.28%</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192024">
                <a:tc>
                  <a:txBody>
                    <a:bodyPr/>
                    <a:lstStyle/>
                    <a:p>
                      <a:pPr indent="0" marL="0">
                        <a:buNone/>
                      </a:pPr>
                      <a:r>
                        <a:rPr lang="en-US" sz="840" dirty="0">
                          <a:solidFill>
                            <a:srgbClr val="0B1F33"/>
                          </a:solidFill>
                          <a:latin typeface="Aptos" pitchFamily="34" charset="0"/>
                          <a:ea typeface="Aptos" pitchFamily="34" charset="-122"/>
                          <a:cs typeface="Aptos" pitchFamily="34" charset="-120"/>
                        </a:rPr>
                        <a:t>IV +20%</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840" dirty="0">
                          <a:solidFill>
                            <a:srgbClr val="0B1F33"/>
                          </a:solidFill>
                          <a:latin typeface="Aptos" pitchFamily="34" charset="0"/>
                          <a:ea typeface="Aptos" pitchFamily="34" charset="-122"/>
                          <a:cs typeface="Aptos" pitchFamily="34" charset="-120"/>
                        </a:rPr>
                        <a:t>₹103.29</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840" dirty="0">
                          <a:solidFill>
                            <a:srgbClr val="0B1F33"/>
                          </a:solidFill>
                          <a:latin typeface="Aptos" pitchFamily="34" charset="0"/>
                          <a:ea typeface="Aptos" pitchFamily="34" charset="-122"/>
                          <a:cs typeface="Aptos" pitchFamily="34" charset="-120"/>
                        </a:rPr>
                        <a:t>+21.41%</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192024">
                <a:tc>
                  <a:txBody>
                    <a:bodyPr/>
                    <a:lstStyle/>
                    <a:p>
                      <a:pPr indent="0" marL="0">
                        <a:buNone/>
                      </a:pPr>
                      <a:r>
                        <a:rPr lang="en-US" sz="840" dirty="0">
                          <a:solidFill>
                            <a:srgbClr val="0B1F33"/>
                          </a:solidFill>
                          <a:latin typeface="Aptos" pitchFamily="34" charset="0"/>
                          <a:ea typeface="Aptos" pitchFamily="34" charset="-122"/>
                          <a:cs typeface="Aptos" pitchFamily="34" charset="-120"/>
                        </a:rPr>
                        <a:t>Severe spot fall + IV spike</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840" dirty="0">
                          <a:solidFill>
                            <a:srgbClr val="0B1F33"/>
                          </a:solidFill>
                          <a:latin typeface="Aptos" pitchFamily="34" charset="0"/>
                          <a:ea typeface="Aptos" pitchFamily="34" charset="-122"/>
                          <a:cs typeface="Aptos" pitchFamily="34" charset="-120"/>
                        </a:rPr>
                        <a:t>₹4.39</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840" dirty="0">
                          <a:solidFill>
                            <a:srgbClr val="0B1F33"/>
                          </a:solidFill>
                          <a:latin typeface="Aptos" pitchFamily="34" charset="0"/>
                          <a:ea typeface="Aptos" pitchFamily="34" charset="-122"/>
                          <a:cs typeface="Aptos" pitchFamily="34" charset="-120"/>
                        </a:rPr>
                        <a:t>-94.84%</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r h="192024">
                <a:tc>
                  <a:txBody>
                    <a:bodyPr/>
                    <a:lstStyle/>
                    <a:p>
                      <a:pPr indent="0" marL="0">
                        <a:buNone/>
                      </a:pPr>
                      <a:r>
                        <a:rPr lang="en-US" sz="840" dirty="0">
                          <a:solidFill>
                            <a:srgbClr val="0B1F33"/>
                          </a:solidFill>
                          <a:latin typeface="Aptos" pitchFamily="34" charset="0"/>
                          <a:ea typeface="Aptos" pitchFamily="34" charset="-122"/>
                          <a:cs typeface="Aptos" pitchFamily="34" charset="-120"/>
                        </a:rPr>
                        <a:t>Spot rise + IV crush</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840" dirty="0">
                          <a:solidFill>
                            <a:srgbClr val="0B1F33"/>
                          </a:solidFill>
                          <a:latin typeface="Aptos" pitchFamily="34" charset="0"/>
                          <a:ea typeface="Aptos" pitchFamily="34" charset="-122"/>
                          <a:cs typeface="Aptos" pitchFamily="34" charset="-120"/>
                        </a:rPr>
                        <a:t>₹450.42</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c>
                  <a:txBody>
                    <a:bodyPr/>
                    <a:lstStyle/>
                    <a:p>
                      <a:pPr indent="0" marL="0">
                        <a:buNone/>
                      </a:pPr>
                      <a:r>
                        <a:rPr lang="en-US" sz="840" dirty="0">
                          <a:solidFill>
                            <a:srgbClr val="0B1F33"/>
                          </a:solidFill>
                          <a:latin typeface="Aptos" pitchFamily="34" charset="0"/>
                          <a:ea typeface="Aptos" pitchFamily="34" charset="-122"/>
                          <a:cs typeface="Aptos" pitchFamily="34" charset="-120"/>
                        </a:rPr>
                        <a:t>+429.47%</a:t>
                      </a:r>
                      <a:endParaRPr lang="en-US" sz="840" dirty="0">
                        <a:latin typeface="Aptos" charset="0"/>
                        <a:ea typeface="Aptos" charset="0"/>
                        <a:cs typeface="Aptos" charset="0"/>
                      </a:endParaRPr>
                    </a:p>
                  </a:txBody>
                  <a:tcPr marL="36576" marR="36576" marT="36576" marB="36576">
                    <a:lnL w="12700" cap="flat" cmpd="sng" algn="ctr">
                      <a:solidFill>
                        <a:srgbClr val="D8E0E8"/>
                      </a:solidFill>
                      <a:prstDash val="solid"/>
                      <a:round/>
                      <a:headEnd type="none" w="med" len="med"/>
                      <a:tailEnd type="none" w="med" len="med"/>
                    </a:lnL>
                    <a:lnR w="12700" cap="flat" cmpd="sng" algn="ctr">
                      <a:solidFill>
                        <a:srgbClr val="D8E0E8"/>
                      </a:solidFill>
                      <a:prstDash val="solid"/>
                      <a:round/>
                      <a:headEnd type="none" w="med" len="med"/>
                      <a:tailEnd type="none" w="med" len="med"/>
                    </a:lnR>
                    <a:lnT w="12700" cap="flat" cmpd="sng" algn="ctr">
                      <a:solidFill>
                        <a:srgbClr val="D8E0E8"/>
                      </a:solidFill>
                      <a:prstDash val="solid"/>
                      <a:round/>
                      <a:headEnd type="none" w="med" len="med"/>
                      <a:tailEnd type="none" w="med" len="med"/>
                    </a:lnT>
                    <a:lnB w="12700" cap="flat" cmpd="sng" algn="ctr">
                      <a:solidFill>
                        <a:srgbClr val="D8E0E8"/>
                      </a:solidFill>
                      <a:prstDash val="solid"/>
                      <a:round/>
                      <a:headEnd type="none" w="med" len="med"/>
                      <a:tailEnd type="none" w="med" len="med"/>
                    </a:lnB>
                    <a:solidFill>
                      <a:srgbClr val="FFFFFF"/>
                    </a:solidFill>
                  </a:tcPr>
                </a:tc>
              </a:tr>
            </a:tbl>
          </a:graphicData>
        </a:graphic>
      </p:graphicFrame>
      <p:sp>
        <p:nvSpPr>
          <p:cNvPr id="19" name="Shape 16"/>
          <p:cNvSpPr/>
          <p:nvPr/>
        </p:nvSpPr>
        <p:spPr>
          <a:xfrm>
            <a:off x="6419088" y="1417320"/>
            <a:ext cx="5029200" cy="4480560"/>
          </a:xfrm>
          <a:prstGeom prst="roundRect">
            <a:avLst>
              <a:gd name="adj" fmla="val 2449"/>
            </a:avLst>
          </a:prstGeom>
          <a:solidFill>
            <a:srgbClr val="EDF4FB"/>
          </a:solidFill>
          <a:ln w="11430">
            <a:solidFill>
              <a:srgbClr val="C8D9EB"/>
            </a:solidFill>
            <a:prstDash val="solid"/>
          </a:ln>
        </p:spPr>
      </p:sp>
      <p:sp>
        <p:nvSpPr>
          <p:cNvPr id="20" name="Text 17"/>
          <p:cNvSpPr/>
          <p:nvPr/>
        </p:nvSpPr>
        <p:spPr>
          <a:xfrm>
            <a:off x="6711696" y="1719072"/>
            <a:ext cx="4389120" cy="310896"/>
          </a:xfrm>
          <a:prstGeom prst="rect">
            <a:avLst/>
          </a:prstGeom>
          <a:noFill/>
          <a:ln/>
        </p:spPr>
        <p:txBody>
          <a:bodyPr wrap="square" lIns="635" tIns="635" rIns="635" bIns="635" rtlCol="0" anchor="ctr">
            <a:normAutofit/>
          </a:bodyPr>
          <a:lstStyle/>
          <a:p>
            <a:pPr algn="l" indent="0" marL="0">
              <a:buNone/>
            </a:pPr>
            <a:r>
              <a:rPr lang="en-US" sz="1650" b="1" dirty="0">
                <a:solidFill>
                  <a:srgbClr val="2C6EBA"/>
                </a:solidFill>
                <a:latin typeface="Aptos" pitchFamily="34" charset="0"/>
                <a:ea typeface="Aptos" pitchFamily="34" charset="-122"/>
                <a:cs typeface="Aptos" pitchFamily="34" charset="-120"/>
              </a:rPr>
              <a:t>Practical application</a:t>
            </a:r>
            <a:endParaRPr lang="en-US" sz="1650" dirty="0"/>
          </a:p>
        </p:txBody>
      </p:sp>
      <p:sp>
        <p:nvSpPr>
          <p:cNvPr id="21" name="Text 18"/>
          <p:cNvSpPr/>
          <p:nvPr/>
        </p:nvSpPr>
        <p:spPr>
          <a:xfrm>
            <a:off x="6711696" y="2157984"/>
            <a:ext cx="4315968" cy="1874520"/>
          </a:xfrm>
          <a:prstGeom prst="rect">
            <a:avLst/>
          </a:prstGeom>
          <a:noFill/>
          <a:ln/>
        </p:spPr>
        <p:txBody>
          <a:bodyPr wrap="square" lIns="508" tIns="508" rIns="508" bIns="508" rtlCol="0" anchor="t">
            <a:normAutofit/>
          </a:bodyPr>
          <a:lstStyle/>
          <a:p>
            <a:pPr marL="190500" indent="-190500">
              <a:buSzPct val="100000"/>
              <a:buChar char="•"/>
            </a:pPr>
            <a:r>
              <a:rPr lang="en-US" sz="1150" dirty="0">
                <a:solidFill>
                  <a:srgbClr val="0B1F33"/>
                </a:solidFill>
                <a:latin typeface="Aptos" pitchFamily="34" charset="0"/>
                <a:ea typeface="Aptos" pitchFamily="34" charset="-122"/>
                <a:cs typeface="Aptos" pitchFamily="34" charset="-120"/>
              </a:rPr>
              <a:t>Screen current IV against the model’s expected 5-minute IV.</a:t>
            </a:r>
            <a:endParaRPr lang="en-US" sz="1150" dirty="0"/>
          </a:p>
          <a:p>
            <a:pPr marL="190500" indent="-190500">
              <a:buSzPct val="100000"/>
              <a:buChar char="•"/>
            </a:pPr>
            <a:r>
              <a:rPr lang="en-US" sz="1150" dirty="0">
                <a:solidFill>
                  <a:srgbClr val="0B1F33"/>
                </a:solidFill>
                <a:latin typeface="Aptos" pitchFamily="34" charset="0"/>
                <a:ea typeface="Aptos" pitchFamily="34" charset="-122"/>
                <a:cs typeface="Aptos" pitchFamily="34" charset="-120"/>
              </a:rPr>
              <a:t>Monitor volatility smile, moneyness, liquidity and model output together.</a:t>
            </a:r>
            <a:endParaRPr lang="en-US" sz="1150" dirty="0"/>
          </a:p>
          <a:p>
            <a:pPr marL="190500" indent="-190500">
              <a:buSzPct val="100000"/>
              <a:buChar char="•"/>
            </a:pPr>
            <a:r>
              <a:rPr lang="en-US" sz="1150" dirty="0">
                <a:solidFill>
                  <a:srgbClr val="0B1F33"/>
                </a:solidFill>
                <a:latin typeface="Aptos" pitchFamily="34" charset="0"/>
                <a:ea typeface="Aptos" pitchFamily="34" charset="-122"/>
                <a:cs typeface="Aptos" pitchFamily="34" charset="-120"/>
              </a:rPr>
              <a:t>Stress-test how spot and IV shocks change theoretical option value.</a:t>
            </a:r>
            <a:endParaRPr lang="en-US" sz="1150" dirty="0"/>
          </a:p>
          <a:p>
            <a:pPr marL="190500" indent="-190500">
              <a:buSzPct val="100000"/>
              <a:buChar char="•"/>
            </a:pPr>
            <a:r>
              <a:rPr lang="en-US" sz="1150" dirty="0">
                <a:solidFill>
                  <a:srgbClr val="0B1F33"/>
                </a:solidFill>
                <a:latin typeface="Aptos" pitchFamily="34" charset="0"/>
                <a:ea typeface="Aptos" pitchFamily="34" charset="-122"/>
                <a:cs typeface="Aptos" pitchFamily="34" charset="-120"/>
              </a:rPr>
              <a:t>Run an automated Upstox -&gt; features -&gt; saved RF -&gt; Streamlit workflow.</a:t>
            </a:r>
            <a:endParaRPr lang="en-US" sz="1150" dirty="0"/>
          </a:p>
        </p:txBody>
      </p:sp>
      <p:sp>
        <p:nvSpPr>
          <p:cNvPr id="22" name="Text 19"/>
          <p:cNvSpPr/>
          <p:nvPr/>
        </p:nvSpPr>
        <p:spPr>
          <a:xfrm>
            <a:off x="6711696" y="4242816"/>
            <a:ext cx="4206240" cy="219456"/>
          </a:xfrm>
          <a:prstGeom prst="rect">
            <a:avLst/>
          </a:prstGeom>
          <a:noFill/>
          <a:ln/>
        </p:spPr>
        <p:txBody>
          <a:bodyPr wrap="square" lIns="635" tIns="635" rIns="635" bIns="635" rtlCol="0" anchor="ctr">
            <a:normAutofit/>
          </a:bodyPr>
          <a:lstStyle/>
          <a:p>
            <a:pPr algn="l" indent="0" marL="0">
              <a:buNone/>
            </a:pPr>
            <a:r>
              <a:rPr lang="en-US" sz="1000" b="1" dirty="0">
                <a:solidFill>
                  <a:srgbClr val="5F6B78"/>
                </a:solidFill>
                <a:latin typeface="Aptos" pitchFamily="34" charset="0"/>
                <a:ea typeface="Aptos" pitchFamily="34" charset="-122"/>
                <a:cs typeface="Aptos" pitchFamily="34" charset="-120"/>
              </a:rPr>
              <a:t>Skills developed through the project/internship</a:t>
            </a:r>
            <a:endParaRPr lang="en-US" sz="1000" dirty="0"/>
          </a:p>
        </p:txBody>
      </p:sp>
      <p:sp>
        <p:nvSpPr>
          <p:cNvPr id="23" name="Text 20"/>
          <p:cNvSpPr/>
          <p:nvPr/>
        </p:nvSpPr>
        <p:spPr>
          <a:xfrm>
            <a:off x="6711696" y="4553712"/>
            <a:ext cx="4315968" cy="676656"/>
          </a:xfrm>
          <a:prstGeom prst="rect">
            <a:avLst/>
          </a:prstGeom>
          <a:noFill/>
          <a:ln/>
        </p:spPr>
        <p:txBody>
          <a:bodyPr wrap="square" lIns="635" tIns="635" rIns="635" bIns="635" rtlCol="0" anchor="t">
            <a:normAutofit/>
          </a:bodyPr>
          <a:lstStyle/>
          <a:p>
            <a:pPr algn="l" indent="0" marL="0">
              <a:buNone/>
            </a:pPr>
            <a:r>
              <a:rPr lang="en-US" sz="1130" b="1" dirty="0">
                <a:solidFill>
                  <a:srgbClr val="0B1F33"/>
                </a:solidFill>
                <a:latin typeface="Aptos" pitchFamily="34" charset="0"/>
                <a:ea typeface="Aptos" pitchFamily="34" charset="-122"/>
                <a:cs typeface="Aptos" pitchFamily="34" charset="-120"/>
              </a:rPr>
              <a:t>Options analytics • Python/pandas • API integration • ML validation • risk modelling • Streamlit dashboarding</a:t>
            </a:r>
            <a:endParaRPr lang="en-US" sz="1130" dirty="0"/>
          </a:p>
        </p:txBody>
      </p:sp>
      <p:sp>
        <p:nvSpPr>
          <p:cNvPr id="24" name="Text 21"/>
          <p:cNvSpPr/>
          <p:nvPr/>
        </p:nvSpPr>
        <p:spPr>
          <a:xfrm>
            <a:off x="6711696" y="5340096"/>
            <a:ext cx="4315968" cy="411480"/>
          </a:xfrm>
          <a:prstGeom prst="rect">
            <a:avLst/>
          </a:prstGeom>
          <a:noFill/>
          <a:ln/>
        </p:spPr>
        <p:txBody>
          <a:bodyPr wrap="square" lIns="635" tIns="635" rIns="635" bIns="635" rtlCol="0" anchor="t">
            <a:normAutofit/>
          </a:bodyPr>
          <a:lstStyle/>
          <a:p>
            <a:pPr algn="l" indent="0" marL="0">
              <a:buNone/>
            </a:pPr>
            <a:r>
              <a:rPr lang="en-US" sz="970" i="1" dirty="0">
                <a:solidFill>
                  <a:srgbClr val="5F6B78"/>
                </a:solidFill>
                <a:latin typeface="Aptos" pitchFamily="34" charset="0"/>
                <a:ea typeface="Aptos" pitchFamily="34" charset="-122"/>
                <a:cs typeface="Aptos" pitchFamily="34" charset="-120"/>
              </a:rPr>
              <a:t>Interpretation: for the selected call, spot-price exposure dominated moderate IV and short-horizon time-decay effects.</a:t>
            </a:r>
            <a:endParaRPr lang="en-US" sz="97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Limitations and scope for future research</a:t>
            </a:r>
            <a:endParaRPr lang="en-US" sz="2500" dirty="0"/>
          </a:p>
        </p:txBody>
      </p:sp>
      <p:sp>
        <p:nvSpPr>
          <p:cNvPr id="3" name="Text 1"/>
          <p:cNvSpPr/>
          <p:nvPr/>
        </p:nvSpPr>
        <p:spPr>
          <a:xfrm>
            <a:off x="658368" y="822960"/>
            <a:ext cx="10515600" cy="292608"/>
          </a:xfrm>
          <a:prstGeom prst="rect">
            <a:avLst/>
          </a:prstGeom>
          <a:noFill/>
          <a:ln/>
        </p:spPr>
        <p:txBody>
          <a:bodyPr wrap="square" lIns="0" tIns="0" rIns="0" bIns="0" rtlCol="0" anchor="ctr"/>
          <a:lstStyle/>
          <a:p>
            <a:pPr indent="0" marL="0">
              <a:buNone/>
            </a:pPr>
            <a:r>
              <a:rPr lang="en-US" sz="1050" dirty="0">
                <a:solidFill>
                  <a:srgbClr val="5F6B78"/>
                </a:solidFill>
              </a:rPr>
              <a:t>The expiry-day test exposed a clear regime-shift problem</a:t>
            </a:r>
            <a:endParaRPr lang="en-US" sz="1050" dirty="0"/>
          </a:p>
        </p:txBody>
      </p:sp>
      <p:sp>
        <p:nvSpPr>
          <p:cNvPr id="4" name="Shape 2"/>
          <p:cNvSpPr/>
          <p:nvPr/>
        </p:nvSpPr>
        <p:spPr>
          <a:xfrm>
            <a:off x="658368" y="1170432"/>
            <a:ext cx="1143000" cy="0"/>
          </a:xfrm>
          <a:prstGeom prst="line">
            <a:avLst/>
          </a:prstGeom>
          <a:noFill/>
          <a:ln w="30480">
            <a:solidFill>
              <a:srgbClr val="0F8B8D"/>
            </a:solidFill>
            <a:prstDash val="solid"/>
          </a:ln>
        </p:spPr>
      </p:sp>
      <p:graphicFrame>
        <p:nvGraphicFramePr>
          <p:cNvPr id="5" name="Chart 0" descr=""/>
          <p:cNvGraphicFramePr/>
          <p:nvPr/>
        </p:nvGraphicFramePr>
        <p:xfrm>
          <a:off x="658368" y="1417320"/>
          <a:ext cx="5623560" cy="29260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68680" y="1609344"/>
            <a:ext cx="2926080" cy="219456"/>
          </a:xfrm>
          <a:prstGeom prst="rect">
            <a:avLst/>
          </a:prstGeom>
          <a:noFill/>
          <a:ln/>
        </p:spPr>
        <p:txBody>
          <a:bodyPr wrap="square" lIns="635" tIns="635" rIns="635" bIns="635" rtlCol="0" anchor="ctr">
            <a:normAutofit/>
          </a:bodyPr>
          <a:lstStyle/>
          <a:p>
            <a:pPr algn="l" indent="0" marL="0">
              <a:buNone/>
            </a:pPr>
            <a:r>
              <a:rPr lang="en-US" sz="1300" b="1" dirty="0">
                <a:solidFill>
                  <a:srgbClr val="0B1F33"/>
                </a:solidFill>
                <a:latin typeface="Aptos" pitchFamily="34" charset="0"/>
                <a:ea typeface="Aptos" pitchFamily="34" charset="-122"/>
                <a:cs typeface="Aptos" pitchFamily="34" charset="-120"/>
              </a:rPr>
              <a:t>19 Oct expiry-day deterioration</a:t>
            </a:r>
            <a:endParaRPr lang="en-US" sz="1300" dirty="0"/>
          </a:p>
        </p:txBody>
      </p:sp>
      <p:sp>
        <p:nvSpPr>
          <p:cNvPr id="7" name="Shape 4"/>
          <p:cNvSpPr/>
          <p:nvPr/>
        </p:nvSpPr>
        <p:spPr>
          <a:xfrm>
            <a:off x="6510528" y="1417320"/>
            <a:ext cx="4956048" cy="2926080"/>
          </a:xfrm>
          <a:prstGeom prst="roundRect">
            <a:avLst>
              <a:gd name="adj" fmla="val 3750"/>
            </a:avLst>
          </a:prstGeom>
          <a:solidFill>
            <a:srgbClr val="FCECEB"/>
          </a:solidFill>
          <a:ln w="11430">
            <a:solidFill>
              <a:srgbClr val="F1C5C1"/>
            </a:solidFill>
            <a:prstDash val="solid"/>
          </a:ln>
        </p:spPr>
      </p:sp>
      <p:sp>
        <p:nvSpPr>
          <p:cNvPr id="8" name="Text 5"/>
          <p:cNvSpPr/>
          <p:nvPr/>
        </p:nvSpPr>
        <p:spPr>
          <a:xfrm>
            <a:off x="6784848" y="1700784"/>
            <a:ext cx="4297680" cy="274320"/>
          </a:xfrm>
          <a:prstGeom prst="rect">
            <a:avLst/>
          </a:prstGeom>
          <a:noFill/>
          <a:ln/>
        </p:spPr>
        <p:txBody>
          <a:bodyPr wrap="square" lIns="635" tIns="635" rIns="635" bIns="635" rtlCol="0" anchor="ctr">
            <a:normAutofit/>
          </a:bodyPr>
          <a:lstStyle/>
          <a:p>
            <a:pPr algn="l" indent="0" marL="0">
              <a:buNone/>
            </a:pPr>
            <a:r>
              <a:rPr lang="en-US" sz="1650" b="1" dirty="0">
                <a:solidFill>
                  <a:srgbClr val="B42318"/>
                </a:solidFill>
                <a:latin typeface="Aptos" pitchFamily="34" charset="0"/>
                <a:ea typeface="Aptos" pitchFamily="34" charset="-122"/>
                <a:cs typeface="Aptos" pitchFamily="34" charset="-120"/>
              </a:rPr>
              <a:t>Robustness result</a:t>
            </a:r>
            <a:endParaRPr lang="en-US" sz="1650" dirty="0"/>
          </a:p>
        </p:txBody>
      </p:sp>
      <p:sp>
        <p:nvSpPr>
          <p:cNvPr id="9" name="Shape 6"/>
          <p:cNvSpPr/>
          <p:nvPr/>
        </p:nvSpPr>
        <p:spPr>
          <a:xfrm>
            <a:off x="6784848" y="2157984"/>
            <a:ext cx="1325880" cy="877824"/>
          </a:xfrm>
          <a:prstGeom prst="roundRect">
            <a:avLst>
              <a:gd name="adj" fmla="val 12500"/>
            </a:avLst>
          </a:prstGeom>
          <a:solidFill>
            <a:srgbClr val="FFFFFF"/>
          </a:solidFill>
          <a:ln w="11430">
            <a:solidFill>
              <a:srgbClr val="D8E0E8"/>
            </a:solidFill>
            <a:prstDash val="solid"/>
          </a:ln>
        </p:spPr>
      </p:sp>
      <p:sp>
        <p:nvSpPr>
          <p:cNvPr id="10" name="Shape 7"/>
          <p:cNvSpPr/>
          <p:nvPr/>
        </p:nvSpPr>
        <p:spPr>
          <a:xfrm>
            <a:off x="6784848" y="2157984"/>
            <a:ext cx="64008" cy="877824"/>
          </a:xfrm>
          <a:prstGeom prst="rect">
            <a:avLst/>
          </a:prstGeom>
          <a:solidFill>
            <a:srgbClr val="B42318"/>
          </a:solidFill>
          <a:ln w="12700">
            <a:solidFill>
              <a:srgbClr val="B42318"/>
            </a:solidFill>
            <a:prstDash val="solid"/>
          </a:ln>
        </p:spPr>
      </p:sp>
      <p:sp>
        <p:nvSpPr>
          <p:cNvPr id="11" name="Text 8"/>
          <p:cNvSpPr/>
          <p:nvPr/>
        </p:nvSpPr>
        <p:spPr>
          <a:xfrm>
            <a:off x="6949440" y="2267712"/>
            <a:ext cx="1069848" cy="201168"/>
          </a:xfrm>
          <a:prstGeom prst="rect">
            <a:avLst/>
          </a:prstGeom>
          <a:noFill/>
          <a:ln/>
        </p:spPr>
        <p:txBody>
          <a:bodyPr wrap="square" lIns="635" tIns="635" rIns="635" bIns="635" rtlCol="0" anchor="ctr">
            <a:normAutofit/>
          </a:bodyPr>
          <a:lstStyle/>
          <a:p>
            <a:pPr algn="l" indent="0" marL="0">
              <a:buNone/>
            </a:pPr>
            <a:r>
              <a:rPr lang="en-US" sz="950" b="1" dirty="0">
                <a:solidFill>
                  <a:srgbClr val="5F6B78"/>
                </a:solidFill>
                <a:latin typeface="Aptos" pitchFamily="34" charset="0"/>
                <a:ea typeface="Aptos" pitchFamily="34" charset="-122"/>
                <a:cs typeface="Aptos" pitchFamily="34" charset="-120"/>
              </a:rPr>
              <a:t>RF MAE</a:t>
            </a:r>
            <a:endParaRPr lang="en-US" sz="950" dirty="0"/>
          </a:p>
        </p:txBody>
      </p:sp>
      <p:sp>
        <p:nvSpPr>
          <p:cNvPr id="12" name="Text 9"/>
          <p:cNvSpPr/>
          <p:nvPr/>
        </p:nvSpPr>
        <p:spPr>
          <a:xfrm>
            <a:off x="6949440" y="2496312"/>
            <a:ext cx="1051560" cy="310896"/>
          </a:xfrm>
          <a:prstGeom prst="rect">
            <a:avLst/>
          </a:prstGeom>
          <a:noFill/>
          <a:ln/>
        </p:spPr>
        <p:txBody>
          <a:bodyPr wrap="square" lIns="635" tIns="635" rIns="635" bIns="635"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17.42</a:t>
            </a:r>
            <a:endParaRPr lang="en-US" sz="2000" dirty="0"/>
          </a:p>
        </p:txBody>
      </p:sp>
      <p:sp>
        <p:nvSpPr>
          <p:cNvPr id="13" name="Text 10"/>
          <p:cNvSpPr/>
          <p:nvPr/>
        </p:nvSpPr>
        <p:spPr>
          <a:xfrm>
            <a:off x="6949440" y="2788920"/>
            <a:ext cx="1051560" cy="164592"/>
          </a:xfrm>
          <a:prstGeom prst="rect">
            <a:avLst/>
          </a:prstGeom>
          <a:noFill/>
          <a:ln/>
        </p:spPr>
        <p:txBody>
          <a:bodyPr wrap="square" lIns="635" tIns="635" rIns="635" bIns="635" rtlCol="0" anchor="ctr">
            <a:normAutofit/>
          </a:bodyPr>
          <a:lstStyle/>
          <a:p>
            <a:pPr algn="l" indent="0" marL="0">
              <a:buNone/>
            </a:pPr>
            <a:r>
              <a:rPr lang="en-US" sz="780" dirty="0">
                <a:solidFill>
                  <a:srgbClr val="B42318"/>
                </a:solidFill>
                <a:latin typeface="Aptos" pitchFamily="34" charset="0"/>
                <a:ea typeface="Aptos" pitchFamily="34" charset="-122"/>
                <a:cs typeface="Aptos" pitchFamily="34" charset="-120"/>
              </a:rPr>
              <a:t>expiry day</a:t>
            </a:r>
            <a:endParaRPr lang="en-US" sz="780" dirty="0"/>
          </a:p>
        </p:txBody>
      </p:sp>
      <p:sp>
        <p:nvSpPr>
          <p:cNvPr id="14" name="Shape 11"/>
          <p:cNvSpPr/>
          <p:nvPr/>
        </p:nvSpPr>
        <p:spPr>
          <a:xfrm>
            <a:off x="8247888" y="2157984"/>
            <a:ext cx="1325880" cy="877824"/>
          </a:xfrm>
          <a:prstGeom prst="roundRect">
            <a:avLst>
              <a:gd name="adj" fmla="val 12500"/>
            </a:avLst>
          </a:prstGeom>
          <a:solidFill>
            <a:srgbClr val="FFFFFF"/>
          </a:solidFill>
          <a:ln w="11430">
            <a:solidFill>
              <a:srgbClr val="D8E0E8"/>
            </a:solidFill>
            <a:prstDash val="solid"/>
          </a:ln>
        </p:spPr>
      </p:sp>
      <p:sp>
        <p:nvSpPr>
          <p:cNvPr id="15" name="Shape 12"/>
          <p:cNvSpPr/>
          <p:nvPr/>
        </p:nvSpPr>
        <p:spPr>
          <a:xfrm>
            <a:off x="8247888" y="2157984"/>
            <a:ext cx="64008" cy="877824"/>
          </a:xfrm>
          <a:prstGeom prst="rect">
            <a:avLst/>
          </a:prstGeom>
          <a:solidFill>
            <a:srgbClr val="5F6B78"/>
          </a:solidFill>
          <a:ln w="12700">
            <a:solidFill>
              <a:srgbClr val="5F6B78"/>
            </a:solidFill>
            <a:prstDash val="solid"/>
          </a:ln>
        </p:spPr>
      </p:sp>
      <p:sp>
        <p:nvSpPr>
          <p:cNvPr id="16" name="Text 13"/>
          <p:cNvSpPr/>
          <p:nvPr/>
        </p:nvSpPr>
        <p:spPr>
          <a:xfrm>
            <a:off x="8412480" y="2267712"/>
            <a:ext cx="1069848" cy="201168"/>
          </a:xfrm>
          <a:prstGeom prst="rect">
            <a:avLst/>
          </a:prstGeom>
          <a:noFill/>
          <a:ln/>
        </p:spPr>
        <p:txBody>
          <a:bodyPr wrap="square" lIns="635" tIns="635" rIns="635" bIns="635" rtlCol="0" anchor="ctr">
            <a:normAutofit/>
          </a:bodyPr>
          <a:lstStyle/>
          <a:p>
            <a:pPr algn="l" indent="0" marL="0">
              <a:buNone/>
            </a:pPr>
            <a:r>
              <a:rPr lang="en-US" sz="950" b="1" dirty="0">
                <a:solidFill>
                  <a:srgbClr val="5F6B78"/>
                </a:solidFill>
                <a:latin typeface="Aptos" pitchFamily="34" charset="0"/>
                <a:ea typeface="Aptos" pitchFamily="34" charset="-122"/>
                <a:cs typeface="Aptos" pitchFamily="34" charset="-120"/>
              </a:rPr>
              <a:t>PERSIST.</a:t>
            </a:r>
            <a:endParaRPr lang="en-US" sz="950" dirty="0"/>
          </a:p>
        </p:txBody>
      </p:sp>
      <p:sp>
        <p:nvSpPr>
          <p:cNvPr id="17" name="Text 14"/>
          <p:cNvSpPr/>
          <p:nvPr/>
        </p:nvSpPr>
        <p:spPr>
          <a:xfrm>
            <a:off x="8412480" y="2496312"/>
            <a:ext cx="1051560" cy="310896"/>
          </a:xfrm>
          <a:prstGeom prst="rect">
            <a:avLst/>
          </a:prstGeom>
          <a:noFill/>
          <a:ln/>
        </p:spPr>
        <p:txBody>
          <a:bodyPr wrap="square" lIns="635" tIns="635" rIns="635" bIns="635"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14.47</a:t>
            </a:r>
            <a:endParaRPr lang="en-US" sz="2000" dirty="0"/>
          </a:p>
        </p:txBody>
      </p:sp>
      <p:sp>
        <p:nvSpPr>
          <p:cNvPr id="18" name="Text 15"/>
          <p:cNvSpPr/>
          <p:nvPr/>
        </p:nvSpPr>
        <p:spPr>
          <a:xfrm>
            <a:off x="8412480" y="2788920"/>
            <a:ext cx="1051560" cy="164592"/>
          </a:xfrm>
          <a:prstGeom prst="rect">
            <a:avLst/>
          </a:prstGeom>
          <a:noFill/>
          <a:ln/>
        </p:spPr>
        <p:txBody>
          <a:bodyPr wrap="square" lIns="635" tIns="635" rIns="635" bIns="635" rtlCol="0" anchor="ctr">
            <a:normAutofit/>
          </a:bodyPr>
          <a:lstStyle/>
          <a:p>
            <a:pPr algn="l" indent="0" marL="0">
              <a:buNone/>
            </a:pPr>
            <a:r>
              <a:rPr lang="en-US" sz="780" dirty="0">
                <a:solidFill>
                  <a:srgbClr val="5F6B78"/>
                </a:solidFill>
                <a:latin typeface="Aptos" pitchFamily="34" charset="0"/>
                <a:ea typeface="Aptos" pitchFamily="34" charset="-122"/>
                <a:cs typeface="Aptos" pitchFamily="34" charset="-120"/>
              </a:rPr>
              <a:t>better baseline</a:t>
            </a:r>
            <a:endParaRPr lang="en-US" sz="780" dirty="0"/>
          </a:p>
        </p:txBody>
      </p:sp>
      <p:sp>
        <p:nvSpPr>
          <p:cNvPr id="19" name="Shape 16"/>
          <p:cNvSpPr/>
          <p:nvPr/>
        </p:nvSpPr>
        <p:spPr>
          <a:xfrm>
            <a:off x="9710928" y="2157984"/>
            <a:ext cx="1325880" cy="877824"/>
          </a:xfrm>
          <a:prstGeom prst="roundRect">
            <a:avLst>
              <a:gd name="adj" fmla="val 12500"/>
            </a:avLst>
          </a:prstGeom>
          <a:solidFill>
            <a:srgbClr val="FFFFFF"/>
          </a:solidFill>
          <a:ln w="11430">
            <a:solidFill>
              <a:srgbClr val="D8E0E8"/>
            </a:solidFill>
            <a:prstDash val="solid"/>
          </a:ln>
        </p:spPr>
      </p:sp>
      <p:sp>
        <p:nvSpPr>
          <p:cNvPr id="20" name="Shape 17"/>
          <p:cNvSpPr/>
          <p:nvPr/>
        </p:nvSpPr>
        <p:spPr>
          <a:xfrm>
            <a:off x="9710928" y="2157984"/>
            <a:ext cx="64008" cy="877824"/>
          </a:xfrm>
          <a:prstGeom prst="rect">
            <a:avLst/>
          </a:prstGeom>
          <a:solidFill>
            <a:srgbClr val="B42318"/>
          </a:solidFill>
          <a:ln w="12700">
            <a:solidFill>
              <a:srgbClr val="B42318"/>
            </a:solidFill>
            <a:prstDash val="solid"/>
          </a:ln>
        </p:spPr>
      </p:sp>
      <p:sp>
        <p:nvSpPr>
          <p:cNvPr id="21" name="Text 18"/>
          <p:cNvSpPr/>
          <p:nvPr/>
        </p:nvSpPr>
        <p:spPr>
          <a:xfrm>
            <a:off x="9875520" y="2267712"/>
            <a:ext cx="1069848" cy="201168"/>
          </a:xfrm>
          <a:prstGeom prst="rect">
            <a:avLst/>
          </a:prstGeom>
          <a:noFill/>
          <a:ln/>
        </p:spPr>
        <p:txBody>
          <a:bodyPr wrap="square" lIns="635" tIns="635" rIns="635" bIns="635" rtlCol="0" anchor="ctr">
            <a:normAutofit/>
          </a:bodyPr>
          <a:lstStyle/>
          <a:p>
            <a:pPr algn="l" indent="0" marL="0">
              <a:buNone/>
            </a:pPr>
            <a:r>
              <a:rPr lang="en-US" sz="950" b="1" dirty="0">
                <a:solidFill>
                  <a:srgbClr val="5F6B78"/>
                </a:solidFill>
                <a:latin typeface="Aptos" pitchFamily="34" charset="0"/>
                <a:ea typeface="Aptos" pitchFamily="34" charset="-122"/>
                <a:cs typeface="Aptos" pitchFamily="34" charset="-120"/>
              </a:rPr>
              <a:t>DIRECTION</a:t>
            </a:r>
            <a:endParaRPr lang="en-US" sz="950" dirty="0"/>
          </a:p>
        </p:txBody>
      </p:sp>
      <p:sp>
        <p:nvSpPr>
          <p:cNvPr id="22" name="Text 19"/>
          <p:cNvSpPr/>
          <p:nvPr/>
        </p:nvSpPr>
        <p:spPr>
          <a:xfrm>
            <a:off x="9875520" y="2496312"/>
            <a:ext cx="1051560" cy="310896"/>
          </a:xfrm>
          <a:prstGeom prst="rect">
            <a:avLst/>
          </a:prstGeom>
          <a:noFill/>
          <a:ln/>
        </p:spPr>
        <p:txBody>
          <a:bodyPr wrap="square" lIns="635" tIns="635" rIns="635" bIns="635" rtlCol="0" anchor="ctr">
            <a:normAutofit/>
          </a:bodyPr>
          <a:lstStyle/>
          <a:p>
            <a:pPr algn="l" indent="0" marL="0">
              <a:buNone/>
            </a:pPr>
            <a:r>
              <a:rPr lang="en-US" sz="2000" b="1" dirty="0">
                <a:solidFill>
                  <a:srgbClr val="0B1F33"/>
                </a:solidFill>
                <a:latin typeface="Aptos" pitchFamily="34" charset="0"/>
                <a:ea typeface="Aptos" pitchFamily="34" charset="-122"/>
                <a:cs typeface="Aptos" pitchFamily="34" charset="-120"/>
              </a:rPr>
              <a:t>19.09%</a:t>
            </a:r>
            <a:endParaRPr lang="en-US" sz="2000" dirty="0"/>
          </a:p>
        </p:txBody>
      </p:sp>
      <p:sp>
        <p:nvSpPr>
          <p:cNvPr id="23" name="Text 20"/>
          <p:cNvSpPr/>
          <p:nvPr/>
        </p:nvSpPr>
        <p:spPr>
          <a:xfrm>
            <a:off x="9875520" y="2788920"/>
            <a:ext cx="1051560" cy="164592"/>
          </a:xfrm>
          <a:prstGeom prst="rect">
            <a:avLst/>
          </a:prstGeom>
          <a:noFill/>
          <a:ln/>
        </p:spPr>
        <p:txBody>
          <a:bodyPr wrap="square" lIns="635" tIns="635" rIns="635" bIns="635" rtlCol="0" anchor="ctr">
            <a:normAutofit/>
          </a:bodyPr>
          <a:lstStyle/>
          <a:p>
            <a:pPr algn="l" indent="0" marL="0">
              <a:buNone/>
            </a:pPr>
            <a:r>
              <a:rPr lang="en-US" sz="780" dirty="0">
                <a:solidFill>
                  <a:srgbClr val="B42318"/>
                </a:solidFill>
                <a:latin typeface="Aptos" pitchFamily="34" charset="0"/>
                <a:ea typeface="Aptos" pitchFamily="34" charset="-122"/>
                <a:cs typeface="Aptos" pitchFamily="34" charset="-120"/>
              </a:rPr>
              <a:t>collapsed</a:t>
            </a:r>
            <a:endParaRPr lang="en-US" sz="780" dirty="0"/>
          </a:p>
        </p:txBody>
      </p:sp>
      <p:sp>
        <p:nvSpPr>
          <p:cNvPr id="24" name="Text 21"/>
          <p:cNvSpPr/>
          <p:nvPr/>
        </p:nvSpPr>
        <p:spPr>
          <a:xfrm>
            <a:off x="6784848" y="3273552"/>
            <a:ext cx="4069080" cy="621792"/>
          </a:xfrm>
          <a:prstGeom prst="rect">
            <a:avLst/>
          </a:prstGeom>
          <a:noFill/>
          <a:ln/>
        </p:spPr>
        <p:txBody>
          <a:bodyPr wrap="square" lIns="635" tIns="635" rIns="635" bIns="635" rtlCol="0" anchor="ctr">
            <a:normAutofit/>
          </a:bodyPr>
          <a:lstStyle/>
          <a:p>
            <a:pPr algn="ctr" indent="0" marL="0">
              <a:buNone/>
            </a:pPr>
            <a:r>
              <a:rPr lang="en-US" sz="1150" b="1" dirty="0">
                <a:solidFill>
                  <a:srgbClr val="0B1F33"/>
                </a:solidFill>
                <a:latin typeface="Aptos" pitchFamily="34" charset="0"/>
                <a:ea typeface="Aptos" pitchFamily="34" charset="-122"/>
                <a:cs typeface="Aptos" pitchFamily="34" charset="-120"/>
              </a:rPr>
              <a:t>Development time-to-expiry: 74.6-100.6 hours</a:t>
            </a:r>
            <a:endParaRPr lang="en-US" sz="1150" dirty="0"/>
          </a:p>
          <a:p>
            <a:pPr algn="ctr" indent="0" marL="0">
              <a:buNone/>
            </a:pPr>
            <a:r>
              <a:rPr lang="en-US" sz="1150" b="1" dirty="0">
                <a:solidFill>
                  <a:srgbClr val="0B1F33"/>
                </a:solidFill>
                <a:latin typeface="Aptos" pitchFamily="34" charset="0"/>
                <a:ea typeface="Aptos" pitchFamily="34" charset="-122"/>
                <a:cs typeface="Aptos" pitchFamily="34" charset="-120"/>
              </a:rPr>
              <a:t>19 Oct time-to-expiry: 0.17-1.58 hours</a:t>
            </a:r>
            <a:endParaRPr lang="en-US" sz="1150" dirty="0"/>
          </a:p>
        </p:txBody>
      </p:sp>
      <p:sp>
        <p:nvSpPr>
          <p:cNvPr id="25" name="Text 22"/>
          <p:cNvSpPr/>
          <p:nvPr/>
        </p:nvSpPr>
        <p:spPr>
          <a:xfrm>
            <a:off x="6784848" y="3959352"/>
            <a:ext cx="4069080" cy="256032"/>
          </a:xfrm>
          <a:prstGeom prst="rect">
            <a:avLst/>
          </a:prstGeom>
          <a:noFill/>
          <a:ln/>
        </p:spPr>
        <p:txBody>
          <a:bodyPr wrap="square" lIns="635" tIns="635" rIns="635" bIns="635" rtlCol="0" anchor="ctr">
            <a:normAutofit/>
          </a:bodyPr>
          <a:lstStyle/>
          <a:p>
            <a:pPr algn="ctr" indent="0" marL="0">
              <a:buNone/>
            </a:pPr>
            <a:r>
              <a:rPr lang="en-US" sz="1000" i="1" dirty="0">
                <a:solidFill>
                  <a:srgbClr val="B42318"/>
                </a:solidFill>
                <a:latin typeface="Aptos" pitchFamily="34" charset="0"/>
                <a:ea typeface="Aptos" pitchFamily="34" charset="-122"/>
                <a:cs typeface="Aptos" pitchFamily="34" charset="-120"/>
              </a:rPr>
              <a:t>The model had never seen true expiry-day conditions during training.</a:t>
            </a:r>
            <a:endParaRPr lang="en-US" sz="1000" dirty="0"/>
          </a:p>
        </p:txBody>
      </p:sp>
      <p:sp>
        <p:nvSpPr>
          <p:cNvPr id="26" name="Shape 23"/>
          <p:cNvSpPr/>
          <p:nvPr/>
        </p:nvSpPr>
        <p:spPr>
          <a:xfrm>
            <a:off x="658368" y="4590288"/>
            <a:ext cx="5303520" cy="1115568"/>
          </a:xfrm>
          <a:prstGeom prst="roundRect">
            <a:avLst>
              <a:gd name="adj" fmla="val 9836"/>
            </a:avLst>
          </a:prstGeom>
          <a:solidFill>
            <a:srgbClr val="FFFFFF"/>
          </a:solidFill>
          <a:ln w="11430">
            <a:solidFill>
              <a:srgbClr val="D8E0E8"/>
            </a:solidFill>
            <a:prstDash val="solid"/>
          </a:ln>
        </p:spPr>
      </p:sp>
      <p:sp>
        <p:nvSpPr>
          <p:cNvPr id="27" name="Text 24"/>
          <p:cNvSpPr/>
          <p:nvPr/>
        </p:nvSpPr>
        <p:spPr>
          <a:xfrm>
            <a:off x="914400" y="4818888"/>
            <a:ext cx="2011680" cy="219456"/>
          </a:xfrm>
          <a:prstGeom prst="rect">
            <a:avLst/>
          </a:prstGeom>
          <a:noFill/>
          <a:ln/>
        </p:spPr>
        <p:txBody>
          <a:bodyPr wrap="square" lIns="635" tIns="635" rIns="635" bIns="635" rtlCol="0" anchor="ctr">
            <a:normAutofit/>
          </a:bodyPr>
          <a:lstStyle/>
          <a:p>
            <a:pPr algn="l" indent="0" marL="0">
              <a:buNone/>
            </a:pPr>
            <a:r>
              <a:rPr lang="en-US" sz="1250" b="1" dirty="0">
                <a:solidFill>
                  <a:srgbClr val="0B1F33"/>
                </a:solidFill>
                <a:latin typeface="Aptos" pitchFamily="34" charset="0"/>
                <a:ea typeface="Aptos" pitchFamily="34" charset="-122"/>
                <a:cs typeface="Aptos" pitchFamily="34" charset="-120"/>
              </a:rPr>
              <a:t>Current limitations</a:t>
            </a:r>
            <a:endParaRPr lang="en-US" sz="1250" dirty="0"/>
          </a:p>
        </p:txBody>
      </p:sp>
      <p:sp>
        <p:nvSpPr>
          <p:cNvPr id="28" name="Text 25"/>
          <p:cNvSpPr/>
          <p:nvPr/>
        </p:nvSpPr>
        <p:spPr>
          <a:xfrm>
            <a:off x="914400" y="5138928"/>
            <a:ext cx="4617720" cy="402336"/>
          </a:xfrm>
          <a:prstGeom prst="rect">
            <a:avLst/>
          </a:prstGeom>
          <a:noFill/>
          <a:ln/>
        </p:spPr>
        <p:txBody>
          <a:bodyPr wrap="square" lIns="635" tIns="635" rIns="635" bIns="635" rtlCol="0" anchor="t">
            <a:normAutofit/>
          </a:bodyPr>
          <a:lstStyle/>
          <a:p>
            <a:pPr algn="l" indent="0" marL="0">
              <a:buNone/>
            </a:pPr>
            <a:r>
              <a:rPr lang="en-US" sz="1040" dirty="0">
                <a:solidFill>
                  <a:srgbClr val="0B1F33"/>
                </a:solidFill>
                <a:latin typeface="Aptos" pitchFamily="34" charset="0"/>
                <a:ea typeface="Aptos" pitchFamily="34" charset="-122"/>
                <a:cs typeface="Aptos" pitchFamily="34" charset="-120"/>
              </a:rPr>
              <a:t>Only 64 development timestamps over two days; cross-sectional rows are not independent periods; transaction costs, slippage and execution latency are not modelled.</a:t>
            </a:r>
            <a:endParaRPr lang="en-US" sz="1040" dirty="0"/>
          </a:p>
        </p:txBody>
      </p:sp>
      <p:sp>
        <p:nvSpPr>
          <p:cNvPr id="29" name="Shape 26"/>
          <p:cNvSpPr/>
          <p:nvPr/>
        </p:nvSpPr>
        <p:spPr>
          <a:xfrm>
            <a:off x="6172200" y="4590288"/>
            <a:ext cx="5285232" cy="1115568"/>
          </a:xfrm>
          <a:prstGeom prst="roundRect">
            <a:avLst>
              <a:gd name="adj" fmla="val 9836"/>
            </a:avLst>
          </a:prstGeom>
          <a:solidFill>
            <a:srgbClr val="E9F6F5"/>
          </a:solidFill>
          <a:ln w="11430">
            <a:solidFill>
              <a:srgbClr val="C3E2DF"/>
            </a:solidFill>
            <a:prstDash val="solid"/>
          </a:ln>
        </p:spPr>
      </p:sp>
      <p:sp>
        <p:nvSpPr>
          <p:cNvPr id="30" name="Text 27"/>
          <p:cNvSpPr/>
          <p:nvPr/>
        </p:nvSpPr>
        <p:spPr>
          <a:xfrm>
            <a:off x="6428232" y="4818888"/>
            <a:ext cx="2011680" cy="219456"/>
          </a:xfrm>
          <a:prstGeom prst="rect">
            <a:avLst/>
          </a:prstGeom>
          <a:noFill/>
          <a:ln/>
        </p:spPr>
        <p:txBody>
          <a:bodyPr wrap="square" lIns="635" tIns="635" rIns="635" bIns="635" rtlCol="0" anchor="ctr">
            <a:normAutofit/>
          </a:bodyPr>
          <a:lstStyle/>
          <a:p>
            <a:pPr algn="l" indent="0" marL="0">
              <a:buNone/>
            </a:pPr>
            <a:r>
              <a:rPr lang="en-US" sz="1250" b="1" dirty="0">
                <a:solidFill>
                  <a:srgbClr val="0F8B8D"/>
                </a:solidFill>
                <a:latin typeface="Aptos" pitchFamily="34" charset="0"/>
                <a:ea typeface="Aptos" pitchFamily="34" charset="-122"/>
                <a:cs typeface="Aptos" pitchFamily="34" charset="-120"/>
              </a:rPr>
              <a:t>Future research</a:t>
            </a:r>
            <a:endParaRPr lang="en-US" sz="1250" dirty="0"/>
          </a:p>
        </p:txBody>
      </p:sp>
      <p:sp>
        <p:nvSpPr>
          <p:cNvPr id="31" name="Text 28"/>
          <p:cNvSpPr/>
          <p:nvPr/>
        </p:nvSpPr>
        <p:spPr>
          <a:xfrm>
            <a:off x="6428232" y="5138928"/>
            <a:ext cx="4617720" cy="402336"/>
          </a:xfrm>
          <a:prstGeom prst="rect">
            <a:avLst/>
          </a:prstGeom>
          <a:noFill/>
          <a:ln/>
        </p:spPr>
        <p:txBody>
          <a:bodyPr wrap="square" lIns="635" tIns="635" rIns="635" bIns="635" rtlCol="0" anchor="t">
            <a:normAutofit/>
          </a:bodyPr>
          <a:lstStyle/>
          <a:p>
            <a:pPr algn="l" indent="0" marL="0">
              <a:buNone/>
            </a:pPr>
            <a:r>
              <a:rPr lang="en-US" sz="1040" dirty="0">
                <a:solidFill>
                  <a:srgbClr val="0B1F33"/>
                </a:solidFill>
                <a:latin typeface="Aptos" pitchFamily="34" charset="0"/>
                <a:ea typeface="Aptos" pitchFamily="34" charset="-122"/>
                <a:cs typeface="Aptos" pitchFamily="34" charset="-120"/>
              </a:rPr>
              <a:t>Collect months of 5-minute data including multiple expiry days; use exact time-to-expiry and Greeks; calibrate probabilities; cost-aware backtesting; time-series cross-validation and regime-aware models.</a:t>
            </a:r>
            <a:endParaRPr lang="en-US" sz="104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Conclusion</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sp>
        <p:nvSpPr>
          <p:cNvPr id="4" name="Shape 2"/>
          <p:cNvSpPr/>
          <p:nvPr/>
        </p:nvSpPr>
        <p:spPr>
          <a:xfrm>
            <a:off x="749808" y="1444752"/>
            <a:ext cx="10698480" cy="987552"/>
          </a:xfrm>
          <a:prstGeom prst="roundRect">
            <a:avLst>
              <a:gd name="adj" fmla="val 11111"/>
            </a:avLst>
          </a:prstGeom>
          <a:solidFill>
            <a:srgbClr val="0B1F33"/>
          </a:solidFill>
          <a:ln w="11430">
            <a:solidFill>
              <a:srgbClr val="0B1F33"/>
            </a:solidFill>
            <a:prstDash val="solid"/>
          </a:ln>
        </p:spPr>
      </p:sp>
      <p:sp>
        <p:nvSpPr>
          <p:cNvPr id="5" name="Text 3"/>
          <p:cNvSpPr/>
          <p:nvPr/>
        </p:nvSpPr>
        <p:spPr>
          <a:xfrm>
            <a:off x="1042416" y="1700784"/>
            <a:ext cx="1554480" cy="237744"/>
          </a:xfrm>
          <a:prstGeom prst="rect">
            <a:avLst/>
          </a:prstGeom>
          <a:noFill/>
          <a:ln/>
        </p:spPr>
        <p:txBody>
          <a:bodyPr wrap="square" lIns="635" tIns="635" rIns="635" bIns="635" rtlCol="0" anchor="ctr">
            <a:normAutofit/>
          </a:bodyPr>
          <a:lstStyle/>
          <a:p>
            <a:pPr algn="l" indent="0" marL="0">
              <a:buNone/>
            </a:pPr>
            <a:r>
              <a:rPr lang="en-US" sz="1000" b="1" dirty="0">
                <a:solidFill>
                  <a:srgbClr val="9FD8D8"/>
                </a:solidFill>
                <a:latin typeface="Aptos" pitchFamily="34" charset="0"/>
                <a:ea typeface="Aptos" pitchFamily="34" charset="-122"/>
                <a:cs typeface="Aptos" pitchFamily="34" charset="-120"/>
              </a:rPr>
              <a:t>Main conclusion</a:t>
            </a:r>
            <a:endParaRPr lang="en-US" sz="1000" dirty="0"/>
          </a:p>
        </p:txBody>
      </p:sp>
      <p:sp>
        <p:nvSpPr>
          <p:cNvPr id="6" name="Text 4"/>
          <p:cNvSpPr/>
          <p:nvPr/>
        </p:nvSpPr>
        <p:spPr>
          <a:xfrm>
            <a:off x="1042416" y="1984248"/>
            <a:ext cx="9738360" cy="310896"/>
          </a:xfrm>
          <a:prstGeom prst="rect">
            <a:avLst/>
          </a:prstGeom>
          <a:noFill/>
          <a:ln/>
        </p:spPr>
        <p:txBody>
          <a:bodyPr wrap="square" lIns="635" tIns="635" rIns="635" bIns="635" rtlCol="0" anchor="ctr">
            <a:normAutofit/>
          </a:bodyPr>
          <a:lstStyle/>
          <a:p>
            <a:pPr algn="ctr" indent="0" marL="0">
              <a:buNone/>
            </a:pPr>
            <a:r>
              <a:rPr lang="en-US" sz="1650" b="1" dirty="0">
                <a:solidFill>
                  <a:srgbClr val="FFFFFF"/>
                </a:solidFill>
                <a:latin typeface="Aptos" pitchFamily="34" charset="0"/>
                <a:ea typeface="Aptos" pitchFamily="34" charset="-122"/>
                <a:cs typeface="Aptos" pitchFamily="34" charset="-120"/>
              </a:rPr>
              <a:t>A nonlinear Random Forest with exact lag features produced a modest but measurable improvement over persistence in the normal development regime.</a:t>
            </a:r>
            <a:endParaRPr lang="en-US" sz="1650" dirty="0"/>
          </a:p>
        </p:txBody>
      </p:sp>
      <p:sp>
        <p:nvSpPr>
          <p:cNvPr id="7" name="Shape 5"/>
          <p:cNvSpPr/>
          <p:nvPr/>
        </p:nvSpPr>
        <p:spPr>
          <a:xfrm>
            <a:off x="960120" y="2788920"/>
            <a:ext cx="10195560" cy="548640"/>
          </a:xfrm>
          <a:prstGeom prst="roundRect">
            <a:avLst>
              <a:gd name="adj" fmla="val 20000"/>
            </a:avLst>
          </a:prstGeom>
          <a:solidFill>
            <a:srgbClr val="FFFFFF"/>
          </a:solidFill>
          <a:ln w="11430">
            <a:solidFill>
              <a:srgbClr val="D8E0E8"/>
            </a:solidFill>
            <a:prstDash val="solid"/>
          </a:ln>
        </p:spPr>
      </p:sp>
      <p:sp>
        <p:nvSpPr>
          <p:cNvPr id="8" name="Shape 6"/>
          <p:cNvSpPr/>
          <p:nvPr/>
        </p:nvSpPr>
        <p:spPr>
          <a:xfrm>
            <a:off x="1143000" y="2944368"/>
            <a:ext cx="164592" cy="164592"/>
          </a:xfrm>
          <a:prstGeom prst="ellipse">
            <a:avLst/>
          </a:prstGeom>
          <a:solidFill>
            <a:srgbClr val="14866D"/>
          </a:solidFill>
          <a:ln w="12700">
            <a:solidFill>
              <a:srgbClr val="14866D"/>
            </a:solidFill>
            <a:prstDash val="solid"/>
          </a:ln>
        </p:spPr>
      </p:sp>
      <p:sp>
        <p:nvSpPr>
          <p:cNvPr id="9" name="Text 7"/>
          <p:cNvSpPr/>
          <p:nvPr/>
        </p:nvSpPr>
        <p:spPr>
          <a:xfrm>
            <a:off x="1481328" y="2862072"/>
            <a:ext cx="2011680" cy="274320"/>
          </a:xfrm>
          <a:prstGeom prst="rect">
            <a:avLst/>
          </a:prstGeom>
          <a:noFill/>
          <a:ln/>
        </p:spPr>
        <p:txBody>
          <a:bodyPr wrap="square" lIns="635" tIns="635" rIns="635" bIns="635" rtlCol="0" anchor="ctr">
            <a:normAutofit/>
          </a:bodyPr>
          <a:lstStyle/>
          <a:p>
            <a:pPr algn="l" indent="0" marL="0">
              <a:buNone/>
            </a:pPr>
            <a:r>
              <a:rPr lang="en-US" sz="1130" b="1" dirty="0">
                <a:solidFill>
                  <a:srgbClr val="0B1F33"/>
                </a:solidFill>
                <a:latin typeface="Aptos" pitchFamily="34" charset="0"/>
                <a:ea typeface="Aptos" pitchFamily="34" charset="-122"/>
                <a:cs typeface="Aptos" pitchFamily="34" charset="-120"/>
              </a:rPr>
              <a:t>Forecasting objective</a:t>
            </a:r>
            <a:endParaRPr lang="en-US" sz="1130" dirty="0"/>
          </a:p>
        </p:txBody>
      </p:sp>
      <p:sp>
        <p:nvSpPr>
          <p:cNvPr id="10" name="Text 8"/>
          <p:cNvSpPr/>
          <p:nvPr/>
        </p:nvSpPr>
        <p:spPr>
          <a:xfrm>
            <a:off x="3657600" y="2862072"/>
            <a:ext cx="1600200" cy="274320"/>
          </a:xfrm>
          <a:prstGeom prst="rect">
            <a:avLst/>
          </a:prstGeom>
          <a:noFill/>
          <a:ln/>
        </p:spPr>
        <p:txBody>
          <a:bodyPr wrap="square" lIns="635" tIns="635" rIns="635" bIns="635" rtlCol="0" anchor="ctr">
            <a:normAutofit/>
          </a:bodyPr>
          <a:lstStyle/>
          <a:p>
            <a:pPr algn="l" indent="0" marL="0">
              <a:buNone/>
            </a:pPr>
            <a:r>
              <a:rPr lang="en-US" sz="1130" b="1" dirty="0">
                <a:solidFill>
                  <a:srgbClr val="14866D"/>
                </a:solidFill>
                <a:latin typeface="Aptos" pitchFamily="34" charset="0"/>
                <a:ea typeface="Aptos" pitchFamily="34" charset="-122"/>
                <a:cs typeface="Aptos" pitchFamily="34" charset="-120"/>
              </a:rPr>
              <a:t>Achieved as a prototype</a:t>
            </a:r>
            <a:endParaRPr lang="en-US" sz="1130" dirty="0"/>
          </a:p>
        </p:txBody>
      </p:sp>
      <p:sp>
        <p:nvSpPr>
          <p:cNvPr id="11" name="Text 9"/>
          <p:cNvSpPr/>
          <p:nvPr/>
        </p:nvSpPr>
        <p:spPr>
          <a:xfrm>
            <a:off x="5468112" y="2862072"/>
            <a:ext cx="5074920" cy="274320"/>
          </a:xfrm>
          <a:prstGeom prst="rect">
            <a:avLst/>
          </a:prstGeom>
          <a:noFill/>
          <a:ln/>
        </p:spPr>
        <p:txBody>
          <a:bodyPr wrap="square" lIns="635" tIns="635" rIns="635" bIns="635" rtlCol="0" anchor="ctr">
            <a:normAutofit/>
          </a:bodyPr>
          <a:lstStyle/>
          <a:p>
            <a:pPr algn="l" indent="0" marL="0">
              <a:buNone/>
            </a:pPr>
            <a:r>
              <a:rPr lang="en-US" sz="1050" dirty="0">
                <a:solidFill>
                  <a:srgbClr val="5F6B78"/>
                </a:solidFill>
                <a:latin typeface="Aptos" pitchFamily="34" charset="0"/>
                <a:ea typeface="Aptos" pitchFamily="34" charset="-122"/>
                <a:cs typeface="Aptos" pitchFamily="34" charset="-120"/>
              </a:rPr>
              <a:t>RF MAE 0.5214 vs persistence 0.5505</a:t>
            </a:r>
            <a:endParaRPr lang="en-US" sz="1050" dirty="0"/>
          </a:p>
        </p:txBody>
      </p:sp>
      <p:sp>
        <p:nvSpPr>
          <p:cNvPr id="12" name="Shape 10"/>
          <p:cNvSpPr/>
          <p:nvPr/>
        </p:nvSpPr>
        <p:spPr>
          <a:xfrm>
            <a:off x="960120" y="3502152"/>
            <a:ext cx="10195560" cy="548640"/>
          </a:xfrm>
          <a:prstGeom prst="roundRect">
            <a:avLst>
              <a:gd name="adj" fmla="val 20000"/>
            </a:avLst>
          </a:prstGeom>
          <a:solidFill>
            <a:srgbClr val="F2F6F9"/>
          </a:solidFill>
          <a:ln w="11430">
            <a:solidFill>
              <a:srgbClr val="D8E0E8"/>
            </a:solidFill>
            <a:prstDash val="solid"/>
          </a:ln>
        </p:spPr>
      </p:sp>
      <p:sp>
        <p:nvSpPr>
          <p:cNvPr id="13" name="Shape 11"/>
          <p:cNvSpPr/>
          <p:nvPr/>
        </p:nvSpPr>
        <p:spPr>
          <a:xfrm>
            <a:off x="1143000" y="3657600"/>
            <a:ext cx="164592" cy="164592"/>
          </a:xfrm>
          <a:prstGeom prst="ellipse">
            <a:avLst/>
          </a:prstGeom>
          <a:solidFill>
            <a:srgbClr val="0F8B8D"/>
          </a:solidFill>
          <a:ln w="12700">
            <a:solidFill>
              <a:srgbClr val="0F8B8D"/>
            </a:solidFill>
            <a:prstDash val="solid"/>
          </a:ln>
        </p:spPr>
      </p:sp>
      <p:sp>
        <p:nvSpPr>
          <p:cNvPr id="14" name="Text 12"/>
          <p:cNvSpPr/>
          <p:nvPr/>
        </p:nvSpPr>
        <p:spPr>
          <a:xfrm>
            <a:off x="1481328" y="3575304"/>
            <a:ext cx="2011680" cy="274320"/>
          </a:xfrm>
          <a:prstGeom prst="rect">
            <a:avLst/>
          </a:prstGeom>
          <a:noFill/>
          <a:ln/>
        </p:spPr>
        <p:txBody>
          <a:bodyPr wrap="square" lIns="635" tIns="635" rIns="635" bIns="635" rtlCol="0" anchor="ctr">
            <a:normAutofit/>
          </a:bodyPr>
          <a:lstStyle/>
          <a:p>
            <a:pPr algn="l" indent="0" marL="0">
              <a:buNone/>
            </a:pPr>
            <a:r>
              <a:rPr lang="en-US" sz="1130" b="1" dirty="0">
                <a:solidFill>
                  <a:srgbClr val="0B1F33"/>
                </a:solidFill>
                <a:latin typeface="Aptos" pitchFamily="34" charset="0"/>
                <a:ea typeface="Aptos" pitchFamily="34" charset="-122"/>
                <a:cs typeface="Aptos" pitchFamily="34" charset="-120"/>
              </a:rPr>
              <a:t>Interpretation objective</a:t>
            </a:r>
            <a:endParaRPr lang="en-US" sz="1130" dirty="0"/>
          </a:p>
        </p:txBody>
      </p:sp>
      <p:sp>
        <p:nvSpPr>
          <p:cNvPr id="15" name="Text 13"/>
          <p:cNvSpPr/>
          <p:nvPr/>
        </p:nvSpPr>
        <p:spPr>
          <a:xfrm>
            <a:off x="3657600" y="3575304"/>
            <a:ext cx="1600200" cy="274320"/>
          </a:xfrm>
          <a:prstGeom prst="rect">
            <a:avLst/>
          </a:prstGeom>
          <a:noFill/>
          <a:ln/>
        </p:spPr>
        <p:txBody>
          <a:bodyPr wrap="square" lIns="635" tIns="635" rIns="635" bIns="635" rtlCol="0" anchor="ctr">
            <a:normAutofit/>
          </a:bodyPr>
          <a:lstStyle/>
          <a:p>
            <a:pPr algn="l" indent="0" marL="0">
              <a:buNone/>
            </a:pPr>
            <a:r>
              <a:rPr lang="en-US" sz="1130" b="1" dirty="0">
                <a:solidFill>
                  <a:srgbClr val="0F8B8D"/>
                </a:solidFill>
                <a:latin typeface="Aptos" pitchFamily="34" charset="0"/>
                <a:ea typeface="Aptos" pitchFamily="34" charset="-122"/>
                <a:cs typeface="Aptos" pitchFamily="34" charset="-120"/>
              </a:rPr>
              <a:t>Achieved</a:t>
            </a:r>
            <a:endParaRPr lang="en-US" sz="1130" dirty="0"/>
          </a:p>
        </p:txBody>
      </p:sp>
      <p:sp>
        <p:nvSpPr>
          <p:cNvPr id="16" name="Text 14"/>
          <p:cNvSpPr/>
          <p:nvPr/>
        </p:nvSpPr>
        <p:spPr>
          <a:xfrm>
            <a:off x="5468112" y="3575304"/>
            <a:ext cx="5074920" cy="274320"/>
          </a:xfrm>
          <a:prstGeom prst="rect">
            <a:avLst/>
          </a:prstGeom>
          <a:noFill/>
          <a:ln/>
        </p:spPr>
        <p:txBody>
          <a:bodyPr wrap="square" lIns="635" tIns="635" rIns="635" bIns="635" rtlCol="0" anchor="ctr">
            <a:normAutofit/>
          </a:bodyPr>
          <a:lstStyle/>
          <a:p>
            <a:pPr algn="l" indent="0" marL="0">
              <a:buNone/>
            </a:pPr>
            <a:r>
              <a:rPr lang="en-US" sz="1050" dirty="0">
                <a:solidFill>
                  <a:srgbClr val="5F6B78"/>
                </a:solidFill>
                <a:latin typeface="Aptos" pitchFamily="34" charset="0"/>
                <a:ea typeface="Aptos" pitchFamily="34" charset="-122"/>
                <a:cs typeface="Aptos" pitchFamily="34" charset="-120"/>
              </a:rPr>
              <a:t>Relative low / neutral / high IV layer created</a:t>
            </a:r>
            <a:endParaRPr lang="en-US" sz="1050" dirty="0"/>
          </a:p>
        </p:txBody>
      </p:sp>
      <p:sp>
        <p:nvSpPr>
          <p:cNvPr id="17" name="Shape 15"/>
          <p:cNvSpPr/>
          <p:nvPr/>
        </p:nvSpPr>
        <p:spPr>
          <a:xfrm>
            <a:off x="960120" y="4215384"/>
            <a:ext cx="10195560" cy="548640"/>
          </a:xfrm>
          <a:prstGeom prst="roundRect">
            <a:avLst>
              <a:gd name="adj" fmla="val 20000"/>
            </a:avLst>
          </a:prstGeom>
          <a:solidFill>
            <a:srgbClr val="FFFFFF"/>
          </a:solidFill>
          <a:ln w="11430">
            <a:solidFill>
              <a:srgbClr val="D8E0E8"/>
            </a:solidFill>
            <a:prstDash val="solid"/>
          </a:ln>
        </p:spPr>
      </p:sp>
      <p:sp>
        <p:nvSpPr>
          <p:cNvPr id="18" name="Shape 16"/>
          <p:cNvSpPr/>
          <p:nvPr/>
        </p:nvSpPr>
        <p:spPr>
          <a:xfrm>
            <a:off x="1143000" y="4370832"/>
            <a:ext cx="164592" cy="164592"/>
          </a:xfrm>
          <a:prstGeom prst="ellipse">
            <a:avLst/>
          </a:prstGeom>
          <a:solidFill>
            <a:srgbClr val="2C6EBA"/>
          </a:solidFill>
          <a:ln w="12700">
            <a:solidFill>
              <a:srgbClr val="2C6EBA"/>
            </a:solidFill>
            <a:prstDash val="solid"/>
          </a:ln>
        </p:spPr>
      </p:sp>
      <p:sp>
        <p:nvSpPr>
          <p:cNvPr id="19" name="Text 17"/>
          <p:cNvSpPr/>
          <p:nvPr/>
        </p:nvSpPr>
        <p:spPr>
          <a:xfrm>
            <a:off x="1481328" y="4288536"/>
            <a:ext cx="2011680" cy="274320"/>
          </a:xfrm>
          <a:prstGeom prst="rect">
            <a:avLst/>
          </a:prstGeom>
          <a:noFill/>
          <a:ln/>
        </p:spPr>
        <p:txBody>
          <a:bodyPr wrap="square" lIns="635" tIns="635" rIns="635" bIns="635" rtlCol="0" anchor="ctr">
            <a:normAutofit/>
          </a:bodyPr>
          <a:lstStyle/>
          <a:p>
            <a:pPr algn="l" indent="0" marL="0">
              <a:buNone/>
            </a:pPr>
            <a:r>
              <a:rPr lang="en-US" sz="1130" b="1" dirty="0">
                <a:solidFill>
                  <a:srgbClr val="0B1F33"/>
                </a:solidFill>
                <a:latin typeface="Aptos" pitchFamily="34" charset="0"/>
                <a:ea typeface="Aptos" pitchFamily="34" charset="-122"/>
                <a:cs typeface="Aptos" pitchFamily="34" charset="-120"/>
              </a:rPr>
              <a:t>Risk objective</a:t>
            </a:r>
            <a:endParaRPr lang="en-US" sz="1130" dirty="0"/>
          </a:p>
        </p:txBody>
      </p:sp>
      <p:sp>
        <p:nvSpPr>
          <p:cNvPr id="20" name="Text 18"/>
          <p:cNvSpPr/>
          <p:nvPr/>
        </p:nvSpPr>
        <p:spPr>
          <a:xfrm>
            <a:off x="3657600" y="4288536"/>
            <a:ext cx="1600200" cy="274320"/>
          </a:xfrm>
          <a:prstGeom prst="rect">
            <a:avLst/>
          </a:prstGeom>
          <a:noFill/>
          <a:ln/>
        </p:spPr>
        <p:txBody>
          <a:bodyPr wrap="square" lIns="635" tIns="635" rIns="635" bIns="635" rtlCol="0" anchor="ctr">
            <a:normAutofit/>
          </a:bodyPr>
          <a:lstStyle/>
          <a:p>
            <a:pPr algn="l" indent="0" marL="0">
              <a:buNone/>
            </a:pPr>
            <a:r>
              <a:rPr lang="en-US" sz="1130" b="1" dirty="0">
                <a:solidFill>
                  <a:srgbClr val="2C6EBA"/>
                </a:solidFill>
                <a:latin typeface="Aptos" pitchFamily="34" charset="0"/>
                <a:ea typeface="Aptos" pitchFamily="34" charset="-122"/>
                <a:cs typeface="Aptos" pitchFamily="34" charset="-120"/>
              </a:rPr>
              <a:t>Achieved</a:t>
            </a:r>
            <a:endParaRPr lang="en-US" sz="1130" dirty="0"/>
          </a:p>
        </p:txBody>
      </p:sp>
      <p:sp>
        <p:nvSpPr>
          <p:cNvPr id="21" name="Text 19"/>
          <p:cNvSpPr/>
          <p:nvPr/>
        </p:nvSpPr>
        <p:spPr>
          <a:xfrm>
            <a:off x="5468112" y="4288536"/>
            <a:ext cx="5074920" cy="274320"/>
          </a:xfrm>
          <a:prstGeom prst="rect">
            <a:avLst/>
          </a:prstGeom>
          <a:noFill/>
          <a:ln/>
        </p:spPr>
        <p:txBody>
          <a:bodyPr wrap="square" lIns="635" tIns="635" rIns="635" bIns="635" rtlCol="0" anchor="ctr">
            <a:normAutofit/>
          </a:bodyPr>
          <a:lstStyle/>
          <a:p>
            <a:pPr algn="l" indent="0" marL="0">
              <a:buNone/>
            </a:pPr>
            <a:r>
              <a:rPr lang="en-US" sz="1050" dirty="0">
                <a:solidFill>
                  <a:srgbClr val="5F6B78"/>
                </a:solidFill>
                <a:latin typeface="Aptos" pitchFamily="34" charset="0"/>
                <a:ea typeface="Aptos" pitchFamily="34" charset="-122"/>
                <a:cs typeface="Aptos" pitchFamily="34" charset="-120"/>
              </a:rPr>
              <a:t>Black-Scholes stress scenarios quantified spot and IV exposure</a:t>
            </a:r>
            <a:endParaRPr lang="en-US" sz="1050" dirty="0"/>
          </a:p>
        </p:txBody>
      </p:sp>
      <p:sp>
        <p:nvSpPr>
          <p:cNvPr id="22" name="Shape 20"/>
          <p:cNvSpPr/>
          <p:nvPr/>
        </p:nvSpPr>
        <p:spPr>
          <a:xfrm>
            <a:off x="960120" y="4928616"/>
            <a:ext cx="10195560" cy="548640"/>
          </a:xfrm>
          <a:prstGeom prst="roundRect">
            <a:avLst>
              <a:gd name="adj" fmla="val 20000"/>
            </a:avLst>
          </a:prstGeom>
          <a:solidFill>
            <a:srgbClr val="F2F6F9"/>
          </a:solidFill>
          <a:ln w="11430">
            <a:solidFill>
              <a:srgbClr val="D8E0E8"/>
            </a:solidFill>
            <a:prstDash val="solid"/>
          </a:ln>
        </p:spPr>
      </p:sp>
      <p:sp>
        <p:nvSpPr>
          <p:cNvPr id="23" name="Shape 21"/>
          <p:cNvSpPr/>
          <p:nvPr/>
        </p:nvSpPr>
        <p:spPr>
          <a:xfrm>
            <a:off x="1143000" y="5084064"/>
            <a:ext cx="164592" cy="164592"/>
          </a:xfrm>
          <a:prstGeom prst="ellipse">
            <a:avLst/>
          </a:prstGeom>
          <a:solidFill>
            <a:srgbClr val="D97706"/>
          </a:solidFill>
          <a:ln w="12700">
            <a:solidFill>
              <a:srgbClr val="D97706"/>
            </a:solidFill>
            <a:prstDash val="solid"/>
          </a:ln>
        </p:spPr>
      </p:sp>
      <p:sp>
        <p:nvSpPr>
          <p:cNvPr id="24" name="Text 22"/>
          <p:cNvSpPr/>
          <p:nvPr/>
        </p:nvSpPr>
        <p:spPr>
          <a:xfrm>
            <a:off x="1481328" y="5001768"/>
            <a:ext cx="2011680" cy="274320"/>
          </a:xfrm>
          <a:prstGeom prst="rect">
            <a:avLst/>
          </a:prstGeom>
          <a:noFill/>
          <a:ln/>
        </p:spPr>
        <p:txBody>
          <a:bodyPr wrap="square" lIns="635" tIns="635" rIns="635" bIns="635" rtlCol="0" anchor="ctr">
            <a:normAutofit/>
          </a:bodyPr>
          <a:lstStyle/>
          <a:p>
            <a:pPr algn="l" indent="0" marL="0">
              <a:buNone/>
            </a:pPr>
            <a:r>
              <a:rPr lang="en-US" sz="1130" b="1" dirty="0">
                <a:solidFill>
                  <a:srgbClr val="0B1F33"/>
                </a:solidFill>
                <a:latin typeface="Aptos" pitchFamily="34" charset="0"/>
                <a:ea typeface="Aptos" pitchFamily="34" charset="-122"/>
                <a:cs typeface="Aptos" pitchFamily="34" charset="-120"/>
              </a:rPr>
              <a:t>Deployment objective</a:t>
            </a:r>
            <a:endParaRPr lang="en-US" sz="1130" dirty="0"/>
          </a:p>
        </p:txBody>
      </p:sp>
      <p:sp>
        <p:nvSpPr>
          <p:cNvPr id="25" name="Text 23"/>
          <p:cNvSpPr/>
          <p:nvPr/>
        </p:nvSpPr>
        <p:spPr>
          <a:xfrm>
            <a:off x="3657600" y="5001768"/>
            <a:ext cx="1600200" cy="274320"/>
          </a:xfrm>
          <a:prstGeom prst="rect">
            <a:avLst/>
          </a:prstGeom>
          <a:noFill/>
          <a:ln/>
        </p:spPr>
        <p:txBody>
          <a:bodyPr wrap="square" lIns="635" tIns="635" rIns="635" bIns="635" rtlCol="0" anchor="ctr">
            <a:normAutofit/>
          </a:bodyPr>
          <a:lstStyle/>
          <a:p>
            <a:pPr algn="l" indent="0" marL="0">
              <a:buNone/>
            </a:pPr>
            <a:r>
              <a:rPr lang="en-US" sz="1130" b="1" dirty="0">
                <a:solidFill>
                  <a:srgbClr val="D97706"/>
                </a:solidFill>
                <a:latin typeface="Aptos" pitchFamily="34" charset="0"/>
                <a:ea typeface="Aptos" pitchFamily="34" charset="-122"/>
                <a:cs typeface="Aptos" pitchFamily="34" charset="-120"/>
              </a:rPr>
              <a:t>Partially validated</a:t>
            </a:r>
            <a:endParaRPr lang="en-US" sz="1130" dirty="0"/>
          </a:p>
        </p:txBody>
      </p:sp>
      <p:sp>
        <p:nvSpPr>
          <p:cNvPr id="26" name="Text 24"/>
          <p:cNvSpPr/>
          <p:nvPr/>
        </p:nvSpPr>
        <p:spPr>
          <a:xfrm>
            <a:off x="5468112" y="5001768"/>
            <a:ext cx="5074920" cy="274320"/>
          </a:xfrm>
          <a:prstGeom prst="rect">
            <a:avLst/>
          </a:prstGeom>
          <a:noFill/>
          <a:ln/>
        </p:spPr>
        <p:txBody>
          <a:bodyPr wrap="square" lIns="635" tIns="635" rIns="635" bIns="635" rtlCol="0" anchor="ctr">
            <a:normAutofit/>
          </a:bodyPr>
          <a:lstStyle/>
          <a:p>
            <a:pPr algn="l" indent="0" marL="0">
              <a:buNone/>
            </a:pPr>
            <a:r>
              <a:rPr lang="en-US" sz="1050" dirty="0">
                <a:solidFill>
                  <a:srgbClr val="5F6B78"/>
                </a:solidFill>
                <a:latin typeface="Aptos" pitchFamily="34" charset="0"/>
                <a:ea typeface="Aptos" pitchFamily="34" charset="-122"/>
                <a:cs typeface="Aptos" pitchFamily="34" charset="-120"/>
              </a:rPr>
              <a:t>API connection and 5-minute loop work; full market-hours live validation remains</a:t>
            </a:r>
            <a:endParaRPr lang="en-US" sz="1050" dirty="0"/>
          </a:p>
        </p:txBody>
      </p:sp>
      <p:sp>
        <p:nvSpPr>
          <p:cNvPr id="27" name="Text 25"/>
          <p:cNvSpPr/>
          <p:nvPr/>
        </p:nvSpPr>
        <p:spPr>
          <a:xfrm>
            <a:off x="960120" y="5806440"/>
            <a:ext cx="10195560" cy="438912"/>
          </a:xfrm>
          <a:prstGeom prst="rect">
            <a:avLst/>
          </a:prstGeom>
          <a:noFill/>
          <a:ln/>
        </p:spPr>
        <p:txBody>
          <a:bodyPr wrap="square" lIns="635" tIns="635" rIns="635" bIns="635" rtlCol="0" anchor="t">
            <a:normAutofit/>
          </a:bodyPr>
          <a:lstStyle/>
          <a:p>
            <a:pPr algn="ctr" indent="0" marL="0">
              <a:buNone/>
            </a:pPr>
            <a:r>
              <a:rPr lang="en-US" sz="1120" b="1" dirty="0">
                <a:solidFill>
                  <a:srgbClr val="0B1F33"/>
                </a:solidFill>
                <a:latin typeface="Aptos" pitchFamily="34" charset="0"/>
                <a:ea typeface="Aptos" pitchFamily="34" charset="-122"/>
                <a:cs typeface="Aptos" pitchFamily="34" charset="-120"/>
              </a:rPr>
              <a:t>Overall, the project demonstrates both the usefulness and the limitations of short-horizon IV forecasting: predictive value exists, but it is regime-dependent and should be combined with risk analysis rather than treated as a stand-alone trading rule.</a:t>
            </a:r>
            <a:endParaRPr lang="en-US" sz="112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384048"/>
            <a:ext cx="10881360" cy="411480"/>
          </a:xfrm>
          <a:prstGeom prst="rect">
            <a:avLst/>
          </a:prstGeom>
          <a:noFill/>
          <a:ln/>
        </p:spPr>
        <p:txBody>
          <a:bodyPr wrap="square" lIns="0" tIns="0" rIns="0" bIns="0" rtlCol="0" anchor="ct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References and acknowledgement</a:t>
            </a:r>
            <a:endParaRPr lang="en-US" sz="2500" dirty="0"/>
          </a:p>
        </p:txBody>
      </p:sp>
      <p:sp>
        <p:nvSpPr>
          <p:cNvPr id="3" name="Shape 1"/>
          <p:cNvSpPr/>
          <p:nvPr/>
        </p:nvSpPr>
        <p:spPr>
          <a:xfrm>
            <a:off x="658368" y="1170432"/>
            <a:ext cx="1143000" cy="0"/>
          </a:xfrm>
          <a:prstGeom prst="line">
            <a:avLst/>
          </a:prstGeom>
          <a:noFill/>
          <a:ln w="30480">
            <a:solidFill>
              <a:srgbClr val="0F8B8D"/>
            </a:solidFill>
            <a:prstDash val="solid"/>
          </a:ln>
        </p:spPr>
      </p:sp>
      <p:sp>
        <p:nvSpPr>
          <p:cNvPr id="4" name="Shape 2"/>
          <p:cNvSpPr/>
          <p:nvPr/>
        </p:nvSpPr>
        <p:spPr>
          <a:xfrm>
            <a:off x="658368" y="1353312"/>
            <a:ext cx="7452360" cy="4709160"/>
          </a:xfrm>
          <a:prstGeom prst="roundRect">
            <a:avLst>
              <a:gd name="adj" fmla="val 2330"/>
            </a:avLst>
          </a:prstGeom>
          <a:solidFill>
            <a:srgbClr val="FFFFFF"/>
          </a:solidFill>
          <a:ln w="11430">
            <a:solidFill>
              <a:srgbClr val="D8E0E8"/>
            </a:solidFill>
            <a:prstDash val="solid"/>
          </a:ln>
        </p:spPr>
      </p:sp>
      <p:sp>
        <p:nvSpPr>
          <p:cNvPr id="5" name="Text 3"/>
          <p:cNvSpPr/>
          <p:nvPr/>
        </p:nvSpPr>
        <p:spPr>
          <a:xfrm>
            <a:off x="932688" y="1645920"/>
            <a:ext cx="2377440" cy="292608"/>
          </a:xfrm>
          <a:prstGeom prst="rect">
            <a:avLst/>
          </a:prstGeom>
          <a:noFill/>
          <a:ln/>
        </p:spPr>
        <p:txBody>
          <a:bodyPr wrap="square" lIns="635" tIns="635" rIns="635" bIns="635" rtlCol="0" anchor="ctr">
            <a:normAutofit/>
          </a:bodyPr>
          <a:lstStyle/>
          <a:p>
            <a:pPr algn="l" indent="0" marL="0">
              <a:buNone/>
            </a:pPr>
            <a:r>
              <a:rPr lang="en-US" sz="1600" b="1" dirty="0">
                <a:solidFill>
                  <a:srgbClr val="0B1F33"/>
                </a:solidFill>
                <a:latin typeface="Aptos" pitchFamily="34" charset="0"/>
                <a:ea typeface="Aptos" pitchFamily="34" charset="-122"/>
                <a:cs typeface="Aptos" pitchFamily="34" charset="-120"/>
              </a:rPr>
              <a:t>Selected references</a:t>
            </a:r>
            <a:endParaRPr lang="en-US" sz="1600" dirty="0"/>
          </a:p>
        </p:txBody>
      </p:sp>
      <p:sp>
        <p:nvSpPr>
          <p:cNvPr id="6" name="Text 4"/>
          <p:cNvSpPr/>
          <p:nvPr/>
        </p:nvSpPr>
        <p:spPr>
          <a:xfrm>
            <a:off x="914400" y="2066544"/>
            <a:ext cx="6839712" cy="3584448"/>
          </a:xfrm>
          <a:prstGeom prst="rect">
            <a:avLst/>
          </a:prstGeom>
          <a:noFill/>
          <a:ln/>
        </p:spPr>
        <p:txBody>
          <a:bodyPr wrap="square" lIns="508" tIns="508" rIns="508" bIns="508" rtlCol="0" anchor="t">
            <a:normAutofit/>
          </a:bodyPr>
          <a:lstStyle/>
          <a:p>
            <a:pPr marL="152400" indent="-152400">
              <a:buSzPct val="100000"/>
              <a:buChar char="•"/>
            </a:pPr>
            <a:r>
              <a:rPr lang="en-US" sz="945" dirty="0">
                <a:solidFill>
                  <a:srgbClr val="0B1F33"/>
                </a:solidFill>
                <a:latin typeface="Aptos" pitchFamily="34" charset="0"/>
                <a:ea typeface="Aptos" pitchFamily="34" charset="-122"/>
                <a:cs typeface="Aptos" pitchFamily="34" charset="-120"/>
              </a:rPr>
              <a:t>Black, F., &amp; Scholes, M. (1973). The Pricing of Options and Corporate Liabilities. Journal of Political Economy, 81(3), 637-654. DOI: 10.1086/260062.</a:t>
            </a:r>
            <a:endParaRPr lang="en-US" sz="945" dirty="0"/>
          </a:p>
          <a:p>
            <a:pPr marL="152400" indent="-152400">
              <a:buSzPct val="100000"/>
              <a:buChar char="•"/>
            </a:pPr>
            <a:r>
              <a:rPr lang="en-US" sz="945" dirty="0">
                <a:solidFill>
                  <a:srgbClr val="0B1F33"/>
                </a:solidFill>
                <a:latin typeface="Aptos" pitchFamily="34" charset="0"/>
                <a:ea typeface="Aptos" pitchFamily="34" charset="-122"/>
                <a:cs typeface="Aptos" pitchFamily="34" charset="-120"/>
              </a:rPr>
              <a:t>National Stock Exchange of India. NIFTY Option Chain (Equity Derivatives): https://www.nseindia.com/option-chain</a:t>
            </a:r>
            <a:endParaRPr lang="en-US" sz="945" dirty="0"/>
          </a:p>
          <a:p>
            <a:pPr marL="152400" indent="-152400">
              <a:buSzPct val="100000"/>
              <a:buChar char="•"/>
            </a:pPr>
            <a:r>
              <a:rPr lang="en-US" sz="945" dirty="0">
                <a:solidFill>
                  <a:srgbClr val="0B1F33"/>
                </a:solidFill>
                <a:latin typeface="Aptos" pitchFamily="34" charset="0"/>
                <a:ea typeface="Aptos" pitchFamily="34" charset="-122"/>
                <a:cs typeface="Aptos" pitchFamily="34" charset="-120"/>
              </a:rPr>
              <a:t>Upstox Developer API. Put/Call Option Chain: https://upstox.com/developer/api-documentation/get-pc-option-chain/</a:t>
            </a:r>
            <a:endParaRPr lang="en-US" sz="945" dirty="0"/>
          </a:p>
          <a:p>
            <a:pPr marL="152400" indent="-152400">
              <a:buSzPct val="100000"/>
              <a:buChar char="•"/>
            </a:pPr>
            <a:r>
              <a:rPr lang="en-US" sz="945" dirty="0">
                <a:solidFill>
                  <a:srgbClr val="0B1F33"/>
                </a:solidFill>
                <a:latin typeface="Aptos" pitchFamily="34" charset="0"/>
                <a:ea typeface="Aptos" pitchFamily="34" charset="-122"/>
                <a:cs typeface="Aptos" pitchFamily="34" charset="-120"/>
              </a:rPr>
              <a:t>Upstox Developer API. Option Contracts: https://upstox.com/developer/api-documentation/get-option-contracts/</a:t>
            </a:r>
            <a:endParaRPr lang="en-US" sz="945" dirty="0"/>
          </a:p>
          <a:p>
            <a:pPr marL="152400" indent="-152400">
              <a:buSzPct val="100000"/>
              <a:buChar char="•"/>
            </a:pPr>
            <a:r>
              <a:rPr lang="en-US" sz="945" dirty="0">
                <a:solidFill>
                  <a:srgbClr val="0B1F33"/>
                </a:solidFill>
                <a:latin typeface="Aptos" pitchFamily="34" charset="0"/>
                <a:ea typeface="Aptos" pitchFamily="34" charset="-122"/>
                <a:cs typeface="Aptos" pitchFamily="34" charset="-120"/>
              </a:rPr>
              <a:t>scikit-learn documentation. RandomForestRegressor: https://scikit-learn.org/stable/modules/generated/sklearn.ensemble.RandomForestRegressor.html</a:t>
            </a:r>
            <a:endParaRPr lang="en-US" sz="945" dirty="0"/>
          </a:p>
          <a:p>
            <a:pPr marL="152400" indent="-152400">
              <a:buSzPct val="100000"/>
              <a:buChar char="•"/>
            </a:pPr>
            <a:r>
              <a:rPr lang="en-US" sz="945" dirty="0">
                <a:solidFill>
                  <a:srgbClr val="0B1F33"/>
                </a:solidFill>
                <a:latin typeface="Aptos" pitchFamily="34" charset="0"/>
                <a:ea typeface="Aptos" pitchFamily="34" charset="-122"/>
                <a:cs typeface="Aptos" pitchFamily="34" charset="-120"/>
              </a:rPr>
              <a:t>XGBoost documentation. Python / XGBRegressor API: https://xgboost.readthedocs.io/en/latest/python/python_api.html</a:t>
            </a:r>
            <a:endParaRPr lang="en-US" sz="945" dirty="0"/>
          </a:p>
          <a:p>
            <a:pPr marL="152400" indent="-152400">
              <a:buSzPct val="100000"/>
              <a:buChar char="•"/>
            </a:pPr>
            <a:r>
              <a:rPr lang="en-US" sz="945" dirty="0">
                <a:solidFill>
                  <a:srgbClr val="0B1F33"/>
                </a:solidFill>
                <a:latin typeface="Aptos" pitchFamily="34" charset="0"/>
                <a:ea typeface="Aptos" pitchFamily="34" charset="-122"/>
                <a:cs typeface="Aptos" pitchFamily="34" charset="-120"/>
              </a:rPr>
              <a:t>Streamlit documentation: https://docs.streamlit.io/</a:t>
            </a:r>
            <a:endParaRPr lang="en-US" sz="945" dirty="0"/>
          </a:p>
        </p:txBody>
      </p:sp>
      <p:sp>
        <p:nvSpPr>
          <p:cNvPr id="7" name="Shape 5"/>
          <p:cNvSpPr/>
          <p:nvPr/>
        </p:nvSpPr>
        <p:spPr>
          <a:xfrm>
            <a:off x="8339328" y="1353312"/>
            <a:ext cx="3127248" cy="4709160"/>
          </a:xfrm>
          <a:prstGeom prst="roundRect">
            <a:avLst>
              <a:gd name="adj" fmla="val 3509"/>
            </a:avLst>
          </a:prstGeom>
          <a:solidFill>
            <a:srgbClr val="E9F6F5"/>
          </a:solidFill>
          <a:ln w="11430">
            <a:solidFill>
              <a:srgbClr val="C3E2DF"/>
            </a:solidFill>
            <a:prstDash val="solid"/>
          </a:ln>
        </p:spPr>
      </p:sp>
      <p:sp>
        <p:nvSpPr>
          <p:cNvPr id="8" name="Text 6"/>
          <p:cNvSpPr/>
          <p:nvPr/>
        </p:nvSpPr>
        <p:spPr>
          <a:xfrm>
            <a:off x="8631936" y="1664208"/>
            <a:ext cx="2514600" cy="292608"/>
          </a:xfrm>
          <a:prstGeom prst="rect">
            <a:avLst/>
          </a:prstGeom>
          <a:noFill/>
          <a:ln/>
        </p:spPr>
        <p:txBody>
          <a:bodyPr wrap="square" lIns="635" tIns="635" rIns="635" bIns="635" rtlCol="0" anchor="ctr">
            <a:normAutofit/>
          </a:bodyPr>
          <a:lstStyle/>
          <a:p>
            <a:pPr algn="l" indent="0" marL="0">
              <a:buNone/>
            </a:pPr>
            <a:r>
              <a:rPr lang="en-US" sz="1600" b="1" dirty="0">
                <a:solidFill>
                  <a:srgbClr val="0F8B8D"/>
                </a:solidFill>
                <a:latin typeface="Aptos" pitchFamily="34" charset="0"/>
                <a:ea typeface="Aptos" pitchFamily="34" charset="-122"/>
                <a:cs typeface="Aptos" pitchFamily="34" charset="-120"/>
              </a:rPr>
              <a:t>Acknowledgement</a:t>
            </a:r>
            <a:endParaRPr lang="en-US" sz="1600" dirty="0"/>
          </a:p>
        </p:txBody>
      </p:sp>
      <p:sp>
        <p:nvSpPr>
          <p:cNvPr id="9" name="Text 7"/>
          <p:cNvSpPr/>
          <p:nvPr/>
        </p:nvSpPr>
        <p:spPr>
          <a:xfrm>
            <a:off x="8631936" y="2176272"/>
            <a:ext cx="2487168" cy="1325880"/>
          </a:xfrm>
          <a:prstGeom prst="rect">
            <a:avLst/>
          </a:prstGeom>
          <a:noFill/>
          <a:ln/>
        </p:spPr>
        <p:txBody>
          <a:bodyPr wrap="square" lIns="635" tIns="635" rIns="635" bIns="635" rtlCol="0" anchor="t">
            <a:normAutofit/>
          </a:bodyPr>
          <a:lstStyle/>
          <a:p>
            <a:pPr algn="l" indent="0" marL="0">
              <a:buNone/>
            </a:pPr>
            <a:r>
              <a:rPr lang="en-US" sz="1210" dirty="0">
                <a:solidFill>
                  <a:srgbClr val="0B1F33"/>
                </a:solidFill>
                <a:latin typeface="Aptos" pitchFamily="34" charset="0"/>
                <a:ea typeface="Aptos" pitchFamily="34" charset="-122"/>
                <a:cs typeface="Aptos" pitchFamily="34" charset="-120"/>
              </a:rPr>
              <a:t>I acknowledge Surabhi Investment Services Pvt. Ltd. for the internship exposure in options trading and Pondicherry University for academic guidance and support.</a:t>
            </a:r>
            <a:endParaRPr lang="en-US" sz="1210" dirty="0"/>
          </a:p>
        </p:txBody>
      </p:sp>
      <p:sp>
        <p:nvSpPr>
          <p:cNvPr id="10" name="Text 8"/>
          <p:cNvSpPr/>
          <p:nvPr/>
        </p:nvSpPr>
        <p:spPr>
          <a:xfrm>
            <a:off x="8631936" y="3877056"/>
            <a:ext cx="2468880" cy="219456"/>
          </a:xfrm>
          <a:prstGeom prst="rect">
            <a:avLst/>
          </a:prstGeom>
          <a:noFill/>
          <a:ln/>
        </p:spPr>
        <p:txBody>
          <a:bodyPr wrap="square" lIns="635" tIns="635" rIns="635" bIns="635" rtlCol="0" anchor="ctr">
            <a:normAutofit/>
          </a:bodyPr>
          <a:lstStyle/>
          <a:p>
            <a:pPr algn="l" indent="0" marL="0">
              <a:buNone/>
            </a:pPr>
            <a:r>
              <a:rPr lang="en-US" sz="1000" b="1" dirty="0">
                <a:solidFill>
                  <a:srgbClr val="5F6B78"/>
                </a:solidFill>
                <a:latin typeface="Aptos" pitchFamily="34" charset="0"/>
                <a:ea typeface="Aptos" pitchFamily="34" charset="-122"/>
                <a:cs typeface="Aptos" pitchFamily="34" charset="-120"/>
              </a:rPr>
              <a:t>Software used</a:t>
            </a:r>
            <a:endParaRPr lang="en-US" sz="1000" dirty="0"/>
          </a:p>
        </p:txBody>
      </p:sp>
      <p:sp>
        <p:nvSpPr>
          <p:cNvPr id="11" name="Text 9"/>
          <p:cNvSpPr/>
          <p:nvPr/>
        </p:nvSpPr>
        <p:spPr>
          <a:xfrm>
            <a:off x="8631936" y="4169664"/>
            <a:ext cx="2423160" cy="822960"/>
          </a:xfrm>
          <a:prstGeom prst="rect">
            <a:avLst/>
          </a:prstGeom>
          <a:noFill/>
          <a:ln/>
        </p:spPr>
        <p:txBody>
          <a:bodyPr wrap="square" lIns="635" tIns="635" rIns="635" bIns="635" rtlCol="0" anchor="t">
            <a:normAutofit/>
          </a:bodyPr>
          <a:lstStyle/>
          <a:p>
            <a:pPr algn="l" indent="0" marL="0">
              <a:buNone/>
            </a:pPr>
            <a:r>
              <a:rPr lang="en-US" sz="1130" b="1" dirty="0">
                <a:solidFill>
                  <a:srgbClr val="0B1F33"/>
                </a:solidFill>
                <a:latin typeface="Aptos" pitchFamily="34" charset="0"/>
                <a:ea typeface="Aptos" pitchFamily="34" charset="-122"/>
                <a:cs typeface="Aptos" pitchFamily="34" charset="-120"/>
              </a:rPr>
              <a:t>Python • pandas • NumPy • SciPy • scikit-learn • XGBoost • Matplotlib • Streamlit</a:t>
            </a:r>
            <a:endParaRPr lang="en-US" sz="1130" dirty="0"/>
          </a:p>
        </p:txBody>
      </p:sp>
      <p:sp>
        <p:nvSpPr>
          <p:cNvPr id="12" name="Text 10"/>
          <p:cNvSpPr/>
          <p:nvPr/>
        </p:nvSpPr>
        <p:spPr>
          <a:xfrm>
            <a:off x="8631936" y="5230368"/>
            <a:ext cx="2423160" cy="384048"/>
          </a:xfrm>
          <a:prstGeom prst="rect">
            <a:avLst/>
          </a:prstGeom>
          <a:noFill/>
          <a:ln/>
        </p:spPr>
        <p:txBody>
          <a:bodyPr wrap="square" lIns="635" tIns="635" rIns="635" bIns="635" rtlCol="0" anchor="ctr">
            <a:normAutofit/>
          </a:bodyPr>
          <a:lstStyle/>
          <a:p>
            <a:pPr algn="ctr" indent="0" marL="0">
              <a:buNone/>
            </a:pPr>
            <a:r>
              <a:rPr lang="en-US" sz="2000" b="1" dirty="0">
                <a:solidFill>
                  <a:srgbClr val="0B1F33"/>
                </a:solidFill>
                <a:latin typeface="Aptos" pitchFamily="34" charset="0"/>
                <a:ea typeface="Aptos" pitchFamily="34" charset="-122"/>
                <a:cs typeface="Aptos" pitchFamily="34" charset="-120"/>
              </a:rPr>
              <a:t>Thank you</a:t>
            </a:r>
            <a:endParaRPr lang="en-US" sz="2000" dirty="0"/>
          </a:p>
        </p:txBody>
      </p:sp>
      <p:sp>
        <p:nvSpPr>
          <p:cNvPr id="25" name="Slide Number Placeholder 0"/>
          <p:cNvSpPr>
            <a:spLocks noGrp="1"/>
          </p:cNvSpPr>
          <p:nvPr>
            <p:ph type="sldNum" sz="quarter" idx="4294967295"/>
          </p:nvPr>
        </p:nvSpPr>
        <p:spPr>
          <a:xfrm>
            <a:off x="11201400" y="6455664"/>
            <a:ext cx="365760" cy="164592"/>
          </a:xfrm>
          <a:prstGeom prst="rect">
            <a:avLst/>
          </a:prstGeom>
          <a:extLst>
            <a:ext uri="{C572A759-6A51-4108-AA02-DFA0A04FC94B}">
              <ma14:wrappingTextBoxFlag xmlns:ma14="http://schemas.microsoft.com/office/mac/drawingml/2011/main" val="0"/>
            </a:ext>
          </a:extLst>
        </p:spPr>
        <p:txBody>
          <a:bodyPr/>
          <a:lstStyle>
            <a:lvl1pPr>
              <a:defRPr sz="750">
                <a:solidFill>
                  <a:srgbClr val="7A8795"/>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Pondicherry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Implied Volatility Forecasting and Relative Valuation of NIFTY 50 Options Using Machine Learning</dc:title>
  <dc:subject>Academic Internship Project Presentation</dc:subject>
  <dc:creator>Diviya C.</dc:creator>
  <cp:lastModifiedBy>Diviya C.</cp:lastModifiedBy>
  <cp:revision>1</cp:revision>
  <dcterms:created xsi:type="dcterms:W3CDTF">2026-10-24T22:38:42Z</dcterms:created>
  <dcterms:modified xsi:type="dcterms:W3CDTF">2026-10-24T22:38:42Z</dcterms:modified>
</cp:coreProperties>
</file>